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3AFA-B402-7934-CFFB-EC4DC2E895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Contemporary and Business Management Issues in Computer Ethics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70CC1-A8F0-C134-2A81-B8AA138025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721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FE9D-DD78-A785-FEBC-A49A8DB4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Topic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2CCEE-1125-77A1-B688-88CD5BA13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3200" dirty="0"/>
              <a:t>With the phenomenal growth of the World Wide Web and 24x7 availability of Internet to almost “everybody”, the ethical concern regarding the </a:t>
            </a:r>
            <a:r>
              <a:rPr lang="en-US" sz="3200" b="1" u="sng" dirty="0"/>
              <a:t>widespread use</a:t>
            </a:r>
            <a:r>
              <a:rPr lang="en-US" sz="3200" dirty="0"/>
              <a:t> of information technology is growing day by day. </a:t>
            </a:r>
          </a:p>
          <a:p>
            <a:pPr algn="just"/>
            <a:r>
              <a:rPr lang="en-US" sz="3200" dirty="0"/>
              <a:t>Today, people like to be parallel with the advanced technologies and have adopted Internet as an integral part of their life. In this regard, the need to </a:t>
            </a:r>
            <a:r>
              <a:rPr lang="en-US" sz="3200" b="1" u="sng" dirty="0"/>
              <a:t>manipulate</a:t>
            </a:r>
            <a:r>
              <a:rPr lang="en-US" sz="3200" dirty="0"/>
              <a:t> technology in a way to use information </a:t>
            </a:r>
            <a:r>
              <a:rPr lang="en-US" sz="3200" b="1" u="sng" dirty="0"/>
              <a:t>correctly</a:t>
            </a:r>
            <a:r>
              <a:rPr lang="en-US" sz="3200" dirty="0"/>
              <a:t> and realize information flow effectively is becoming essential (Moor, 2004).</a:t>
            </a:r>
            <a:endParaRPr lang="en-US" sz="3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0758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C460-69DB-ADCC-FB68-454CA1DE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D811-DC35-4CA2-EF79-B1D3029F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Topic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20E15-238A-D860-72A7-B0A64BD22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/>
              <a:t>Even though various Information Technology innovations and tools have many advantages, if properly used but can also prove to be detrimental if </a:t>
            </a:r>
            <a:r>
              <a:rPr lang="en-US" sz="3200" b="1" u="sng" dirty="0"/>
              <a:t>abused</a:t>
            </a:r>
            <a:r>
              <a:rPr lang="en-US" sz="3200" dirty="0"/>
              <a:t>. Cyber slacking (Greengard, 2002), fraudulence, sniffing, hacking, plagiarism, falsification (Mohamed, 2012) are some of the forms of computer abuse. </a:t>
            </a:r>
          </a:p>
          <a:p>
            <a:pPr algn="just"/>
            <a:r>
              <a:rPr lang="en-US" sz="3200" dirty="0"/>
              <a:t>These forms can serve as </a:t>
            </a:r>
            <a:r>
              <a:rPr lang="en-US" sz="3200" b="1" u="sng" dirty="0"/>
              <a:t>grounds</a:t>
            </a:r>
            <a:r>
              <a:rPr lang="en-US" sz="3200" dirty="0"/>
              <a:t> for several societal and ethical problems varying according to the contexts and purposes of ICT use.</a:t>
            </a:r>
            <a:endParaRPr lang="en-US" sz="3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228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1B822-E2AB-E22A-FFA3-7BE52892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143E-2EA8-D7D4-C151-B53073EC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Topic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EDF02-9F4A-F0EB-CC89-FFE425ACE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/>
              <a:t>Privacy and confidentiality of personal information in the virtual environment, integrity of the information used, intellectual property rights and access rights are just a few of the </a:t>
            </a:r>
            <a:r>
              <a:rPr lang="en-US" sz="3200" b="1" u="sng" dirty="0"/>
              <a:t>growing problems</a:t>
            </a:r>
            <a:r>
              <a:rPr lang="en-US" sz="3200" dirty="0"/>
              <a:t> to name. </a:t>
            </a:r>
          </a:p>
          <a:p>
            <a:pPr algn="just"/>
            <a:r>
              <a:rPr lang="en-US" sz="3200" dirty="0"/>
              <a:t>The people using ICT need to be </a:t>
            </a:r>
            <a:r>
              <a:rPr lang="en-US" sz="3200" b="1" u="sng" dirty="0"/>
              <a:t>aware</a:t>
            </a:r>
            <a:r>
              <a:rPr lang="en-US" sz="3200" dirty="0"/>
              <a:t> of the various ethical issues related to these problems so that equality and justice with regard to access, storage and distribution of information can be maintained (Charlesworth, 2000). </a:t>
            </a:r>
            <a:endParaRPr lang="en-US" sz="3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465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2D70-E6F6-EA18-7302-272240DF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00E2-3AB5-A8A3-DB29-675840FA2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Topic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64665-5223-562B-E316-BCD6D9BD9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There’s a need to invoke </a:t>
            </a:r>
            <a:r>
              <a:rPr lang="en-US" sz="3200" b="1" u="sng" dirty="0"/>
              <a:t>awareness</a:t>
            </a:r>
            <a:r>
              <a:rPr lang="en-US" sz="3200" dirty="0"/>
              <a:t> among the users in regards to the ethical issue of human misuse and abuse of technology.</a:t>
            </a:r>
          </a:p>
          <a:p>
            <a:pPr algn="just"/>
            <a:r>
              <a:rPr lang="en-US" sz="3200" dirty="0"/>
              <a:t>Ethics are often confused with etiquettes, skills, knowledge or manners that are essential for any job (Alexandra &amp; Miller, 2010). But, in practice ethics relate to the question of </a:t>
            </a:r>
            <a:r>
              <a:rPr lang="en-US" sz="3200" b="1" u="sng" dirty="0"/>
              <a:t>right and wrong</a:t>
            </a:r>
            <a:r>
              <a:rPr lang="en-US" sz="3200" dirty="0"/>
              <a:t> in human conduct (Benn, 1998; Kizza, 2003). </a:t>
            </a:r>
            <a:endParaRPr lang="en-US" sz="3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3958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F733-765F-DFE8-635B-546041F2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09B0-2283-B9BA-0FE8-8C4BA3F02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Topic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F71B-AC0E-C78F-080F-D0447C2C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This definition of ethics is in respect of general human behavior in various aspects of life but the same definition can also be applied to meet the constantly changing technology-driven scenario of human conduct.</a:t>
            </a:r>
          </a:p>
          <a:p>
            <a:pPr algn="just"/>
            <a:r>
              <a:rPr lang="en-US" sz="3200" dirty="0"/>
              <a:t>Zeid (2009) stated that ‘computer ethics deals with how to make </a:t>
            </a:r>
            <a:r>
              <a:rPr lang="en-US" sz="3200" b="1" u="sng" dirty="0"/>
              <a:t>moral decisions</a:t>
            </a:r>
            <a:r>
              <a:rPr lang="en-US" sz="3200" dirty="0"/>
              <a:t> while using </a:t>
            </a:r>
            <a:r>
              <a:rPr lang="en-US" sz="3200" b="1" u="sng" dirty="0"/>
              <a:t>technology</a:t>
            </a:r>
            <a:r>
              <a:rPr lang="en-US" sz="3200" dirty="0"/>
              <a:t> whether in workplace or in society in general’. </a:t>
            </a:r>
            <a:endParaRPr lang="en-US" sz="3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3292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63F5C-B978-A3E2-FD95-CD7F4E9F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FFF5-2B10-4927-3910-601C9962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Topic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B6997-7FBA-CEA4-564D-B9B496D2C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/>
              <a:t>Rogerson (1997), Goessl (2008) and Lee &amp; Chan (2008) also insisted that the </a:t>
            </a:r>
            <a:r>
              <a:rPr lang="en-US" sz="3200" b="1" u="sng" dirty="0"/>
              <a:t>social and ethical implications</a:t>
            </a:r>
            <a:r>
              <a:rPr lang="en-US" sz="3200" dirty="0"/>
              <a:t> of technology demand special attention and the attitude towards issues like free speech, privacy, anonymity, copyright, etc. need to be revisited.</a:t>
            </a:r>
          </a:p>
          <a:p>
            <a:pPr algn="just"/>
            <a:r>
              <a:rPr lang="en-US" sz="3200" dirty="0"/>
              <a:t>The incidents relating to the </a:t>
            </a:r>
            <a:r>
              <a:rPr lang="en-US" sz="3200" b="1" u="sng" dirty="0"/>
              <a:t>problems</a:t>
            </a:r>
            <a:r>
              <a:rPr lang="en-US" sz="3200" dirty="0"/>
              <a:t> created by the inappropriate usage of technology like hacking, spoofing, cyber crimes, pornography, etc. are increasing day by day.</a:t>
            </a:r>
            <a:endParaRPr lang="en-US" sz="3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9929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A5A3-F09A-816E-113C-1B2FAA8A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8D2-42E8-2164-2515-2A3B79CE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Topic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3B4B3-B00A-1CEF-26C3-923BA6E1C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onus for maintaining a standard protocol in the virtual environment lies with one and all. This has paved the path to a </a:t>
            </a:r>
            <a:r>
              <a:rPr lang="en-US" sz="3200" b="1" u="sng" dirty="0"/>
              <a:t>new concept</a:t>
            </a:r>
            <a:r>
              <a:rPr lang="en-US" sz="3200" dirty="0"/>
              <a:t> that is often referred as “Cyber ethics”, “Cyber Laws”, “IT Ethics”, “Internet ethics” or Information ethics”. </a:t>
            </a:r>
            <a:endParaRPr lang="en-US" sz="3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83431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26322-E8FB-E7E7-4125-8818C6D6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75A13-3840-7957-6514-08CB0736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Cyber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608C0-0966-4E62-EC6C-96C107FA4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Computer technologies and knowledge has transformed society and this transformation has urged a need that should indicate how various participants of the virtual environment </a:t>
            </a:r>
            <a:r>
              <a:rPr lang="en-US" sz="3200" b="1" u="sng" dirty="0"/>
              <a:t>must behave and regulate</a:t>
            </a:r>
            <a:r>
              <a:rPr lang="en-US" sz="3200" dirty="0"/>
              <a:t>. </a:t>
            </a:r>
          </a:p>
          <a:p>
            <a:pPr algn="just"/>
            <a:r>
              <a:rPr lang="en-US" sz="3200" dirty="0"/>
              <a:t>Cyber ethics has been developed since the 1980s, encompassing areas such as computer ethics and global information ethics. As the name implies, cyber ethics is </a:t>
            </a:r>
            <a:r>
              <a:rPr lang="en-US" sz="3200" b="1" u="sng" dirty="0"/>
              <a:t>closely related</a:t>
            </a:r>
            <a:r>
              <a:rPr lang="en-US" sz="3200" dirty="0"/>
              <a:t> to the use of computers by humans.</a:t>
            </a:r>
            <a:endParaRPr lang="en-US" sz="3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78152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9A6BB-EDE2-5839-EE37-FFCAA0C5D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71C8-201E-2E72-66FD-AC4720082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Cyber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69A4-FECB-1B13-AD3B-6E14FC46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James Moor in 1985 dealt with ‘computer ethics’ for the first time in his article ‘What is Computer Ethics?’. He related computer ethics as having two parts, </a:t>
            </a:r>
          </a:p>
          <a:p>
            <a:pPr lvl="1" algn="just"/>
            <a:r>
              <a:rPr lang="en-US" sz="3000" dirty="0"/>
              <a:t>one that is related to the </a:t>
            </a:r>
            <a:r>
              <a:rPr lang="en-US" sz="3000" b="1" u="sng" dirty="0"/>
              <a:t>analysis</a:t>
            </a:r>
            <a:r>
              <a:rPr lang="en-US" sz="3000" dirty="0"/>
              <a:t> of the nature and social impact of computer technology </a:t>
            </a:r>
          </a:p>
          <a:p>
            <a:pPr lvl="1" algn="just"/>
            <a:r>
              <a:rPr lang="en-US" sz="3000" dirty="0"/>
              <a:t>and the other with the corresponding </a:t>
            </a:r>
            <a:r>
              <a:rPr lang="en-US" sz="3000" b="1" u="sng" dirty="0"/>
              <a:t>formulation and justification</a:t>
            </a:r>
            <a:r>
              <a:rPr lang="en-US" sz="3000" dirty="0"/>
              <a:t> of policies for the ethical use of such technology.</a:t>
            </a:r>
            <a:endParaRPr lang="en-US" sz="3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502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5160-DA0E-2E0D-7D53-36494F9D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B3B27-3C24-405A-4FB5-64B2792E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Cyber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BD18D-10FB-019B-EF72-5CE88DF06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He insisted that as human beings have to deal with </a:t>
            </a:r>
            <a:r>
              <a:rPr lang="en-US" sz="3200" b="1" u="sng" dirty="0"/>
              <a:t>moral decisions</a:t>
            </a:r>
            <a:r>
              <a:rPr lang="en-US" sz="3200" dirty="0"/>
              <a:t> both as individuals and as a society, similarly computer ethics also involves the ethical use of information at both personal and social front. </a:t>
            </a:r>
          </a:p>
          <a:p>
            <a:pPr algn="just"/>
            <a:r>
              <a:rPr lang="en-US" sz="3200" dirty="0"/>
              <a:t>Moor (1988) Richard Spinello (2003) stated cyber ethics as a guide that suggests ways for ‘‘acting well in this new realm of </a:t>
            </a:r>
            <a:r>
              <a:rPr lang="en-US" sz="3200" b="1" u="sng" dirty="0"/>
              <a:t>cyberspace</a:t>
            </a:r>
            <a:r>
              <a:rPr lang="en-US" sz="3200" dirty="0"/>
              <a:t>’’.</a:t>
            </a:r>
            <a:endParaRPr lang="en-US" sz="3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392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C9AD5-3139-A5BC-746C-FF7AC4EA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B104-5EDF-EDB5-D575-27BBC006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Cyber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4000F-5918-B202-4A99-0B085FAC3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/>
              <a:t>Hence, cyber ethics must involve </a:t>
            </a:r>
            <a:r>
              <a:rPr lang="en-US" sz="3200" b="1" u="sng" dirty="0"/>
              <a:t>principles of morality</a:t>
            </a:r>
            <a:r>
              <a:rPr lang="en-US" sz="3200" dirty="0"/>
              <a:t> that can guide human action so as to maintain a sustainable, participatory global information society. </a:t>
            </a:r>
          </a:p>
          <a:p>
            <a:pPr algn="just"/>
            <a:r>
              <a:rPr lang="en-US" sz="3200" dirty="0"/>
              <a:t>There are various terms that are often used interchangeably to describe cyber ethics. Some of these are:</a:t>
            </a:r>
          </a:p>
          <a:p>
            <a:pPr algn="just"/>
            <a:r>
              <a:rPr lang="en-US" sz="3200" b="1" i="1" dirty="0"/>
              <a:t>Computer ethics</a:t>
            </a:r>
            <a:r>
              <a:rPr lang="en-US" sz="3200" dirty="0"/>
              <a:t>: It is basically related to the </a:t>
            </a:r>
            <a:r>
              <a:rPr lang="en-US" sz="3200" b="1" u="sng" dirty="0"/>
              <a:t>ethical and social impact</a:t>
            </a:r>
            <a:r>
              <a:rPr lang="en-US" sz="3200" dirty="0"/>
              <a:t> of computers and computer networks in the information society.</a:t>
            </a:r>
            <a:endParaRPr lang="en-US" sz="3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81190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D3BD-BA6F-6E9D-54AB-E614A83E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F053-DE64-375C-95DC-11BD778F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Cyber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D853D-1D35-8433-68B7-010DF1476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b="1" i="1" dirty="0"/>
              <a:t>Cyber Ethics</a:t>
            </a:r>
            <a:r>
              <a:rPr lang="en-US" sz="3200" dirty="0"/>
              <a:t>: It is a </a:t>
            </a:r>
            <a:r>
              <a:rPr lang="en-US" sz="3200" b="1" u="sng" dirty="0"/>
              <a:t>system of standards</a:t>
            </a:r>
            <a:r>
              <a:rPr lang="en-US" sz="3200" dirty="0"/>
              <a:t> prescribing morality and immorality in cyberspace, in order to preserve freedom of expression, intellectual property, and privacy. </a:t>
            </a:r>
          </a:p>
          <a:p>
            <a:pPr algn="just"/>
            <a:r>
              <a:rPr lang="en-US" sz="3200" b="1" i="1" dirty="0"/>
              <a:t>Internet ethics</a:t>
            </a:r>
            <a:r>
              <a:rPr lang="en-US" sz="3200" dirty="0"/>
              <a:t>: This includes various </a:t>
            </a:r>
            <a:r>
              <a:rPr lang="en-US" sz="3200" b="1" u="sng" dirty="0"/>
              <a:t>issues related to usage of internet</a:t>
            </a:r>
            <a:r>
              <a:rPr lang="en-US" sz="3200" dirty="0"/>
              <a:t> and finding their solutions. </a:t>
            </a:r>
          </a:p>
          <a:p>
            <a:pPr algn="just"/>
            <a:r>
              <a:rPr lang="en-US" sz="3200" b="1" i="1" dirty="0"/>
              <a:t>Information ethics</a:t>
            </a:r>
            <a:r>
              <a:rPr lang="en-US" sz="3200" dirty="0"/>
              <a:t>: This signifies ethics in terms of information or an information-oriented society. It relates to laying down </a:t>
            </a:r>
            <a:r>
              <a:rPr lang="en-US" sz="3200" b="1" u="sng" dirty="0"/>
              <a:t>various standards</a:t>
            </a:r>
            <a:r>
              <a:rPr lang="en-US" sz="3200" dirty="0"/>
              <a:t> for judging behavior of an individual or a member of community and classifying these as moral or immoral.</a:t>
            </a:r>
            <a:endParaRPr lang="en-US" sz="3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497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B432E-97C3-A03E-CA15-587F4FA9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DF50-A00F-A2FA-6D10-AA41E733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Cyber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7E112-72BB-76C5-E36A-6BEE43217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Cyber ethics primarily focus on the following: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/>
              <a:t>Prescribe the do’s and don’ts in information society.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/>
              <a:t>Provide due </a:t>
            </a:r>
            <a:r>
              <a:rPr lang="en-US" sz="3200" b="1" u="sng" dirty="0"/>
              <a:t>consideration</a:t>
            </a:r>
            <a:r>
              <a:rPr lang="en-US" sz="3200" dirty="0"/>
              <a:t> on the various ethical problems introduced due to the development of information and communications technology.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/>
              <a:t>Emphasize the need of human interaction, experience and the transformation of the system and policy. </a:t>
            </a:r>
            <a:endParaRPr lang="en-US" sz="3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98201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F70E-0ED2-FB10-02F4-9F0C57FB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0154-885A-797C-FB95-058A4B134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Cyber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4B79F-549E-AA26-5379-91892DDD0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4"/>
            </a:pPr>
            <a:r>
              <a:rPr lang="en-US" sz="3200" dirty="0"/>
              <a:t>Include both global and local disciplines. 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US" sz="3200" dirty="0"/>
              <a:t>Promote action/behavior of the participants as a sense of responsibility 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US" sz="3200" dirty="0"/>
              <a:t>Formulate various ethical theories that are useful in solving ethical problems in both direct and indirect ways.</a:t>
            </a:r>
            <a:endParaRPr lang="en-US" sz="3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9422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B677-53E3-01D9-4FAD-8AF4B40A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E6EF-DCD4-59D6-45EE-E8274151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Key Contemporary and Business Management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344A5-B0F7-3D48-F363-B323C034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fontScale="92500"/>
          </a:bodyPr>
          <a:lstStyle/>
          <a:p>
            <a:pPr algn="just">
              <a:buFont typeface="+mj-lt"/>
              <a:buAutoNum type="arabicPeriod"/>
            </a:pPr>
            <a:r>
              <a:rPr lang="en-US" sz="3200" b="1" dirty="0">
                <a:effectLst/>
              </a:rPr>
              <a:t>Data Privacy and Security</a:t>
            </a:r>
            <a:r>
              <a:rPr lang="en-US" sz="3200" dirty="0">
                <a:effectLst/>
              </a:rPr>
              <a:t>: With businesses </a:t>
            </a:r>
            <a:r>
              <a:rPr lang="en-US" sz="3200" b="1" u="sng" dirty="0">
                <a:effectLst/>
              </a:rPr>
              <a:t>collecting vast</a:t>
            </a:r>
            <a:r>
              <a:rPr lang="en-US" sz="3200" dirty="0">
                <a:effectLst/>
              </a:rPr>
              <a:t> amounts of customer and employee data, ensuring its ethical handling and security is a primary concern. </a:t>
            </a:r>
            <a:r>
              <a:rPr lang="en-US" sz="3200" b="1" u="sng" dirty="0">
                <a:effectLst/>
              </a:rPr>
              <a:t>Issues</a:t>
            </a:r>
            <a:r>
              <a:rPr lang="en-US" sz="3200" dirty="0">
                <a:effectLst/>
              </a:rPr>
              <a:t> include misuse of data, data breaches, and transparent policies on data collection.</a:t>
            </a:r>
          </a:p>
          <a:p>
            <a:pPr algn="just">
              <a:buFont typeface="+mj-lt"/>
              <a:buAutoNum type="arabicPeriod"/>
            </a:pPr>
            <a:r>
              <a:rPr lang="en-US" sz="3200" b="1" dirty="0">
                <a:effectLst/>
              </a:rPr>
              <a:t>Artificial Intelligence (AI) and Automation Ethics</a:t>
            </a:r>
            <a:r>
              <a:rPr lang="en-US" sz="3200" dirty="0">
                <a:effectLst/>
              </a:rPr>
              <a:t>: The integration of AI introduces </a:t>
            </a:r>
            <a:r>
              <a:rPr lang="en-US" sz="3200" b="1" u="sng" dirty="0">
                <a:effectLst/>
              </a:rPr>
              <a:t>challenges</a:t>
            </a:r>
            <a:r>
              <a:rPr lang="en-US" sz="3200" dirty="0">
                <a:effectLst/>
              </a:rPr>
              <a:t> like algorithmic bias, the need for decision transparency, job displacement, and establishing clear accountability for AI systems.</a:t>
            </a:r>
          </a:p>
        </p:txBody>
      </p:sp>
    </p:spTree>
    <p:extLst>
      <p:ext uri="{BB962C8B-B14F-4D97-AF65-F5344CB8AC3E}">
        <p14:creationId xmlns:p14="http://schemas.microsoft.com/office/powerpoint/2010/main" val="412068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EE88-4FB2-4FE8-8220-094526D5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BD5B-C3A9-23A0-DE7C-87E81C2F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Key Contemporary and Business Management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E8E3-800D-978C-B522-6FBD34DF9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lnSpcReduction="10000"/>
          </a:bodyPr>
          <a:lstStyle/>
          <a:p>
            <a:pPr algn="just">
              <a:buFont typeface="+mj-lt"/>
              <a:buAutoNum type="arabicPeriod" startAt="3"/>
            </a:pPr>
            <a:r>
              <a:rPr lang="en-US" sz="3200" b="1" dirty="0">
                <a:effectLst/>
              </a:rPr>
              <a:t>Intellectual Property (IP) and Piracy</a:t>
            </a:r>
            <a:r>
              <a:rPr lang="en-US" sz="3200" dirty="0">
                <a:effectLst/>
              </a:rPr>
              <a:t>: </a:t>
            </a:r>
            <a:r>
              <a:rPr lang="en-US" sz="3200" b="1" u="sng" dirty="0">
                <a:effectLst/>
              </a:rPr>
              <a:t>Issues</a:t>
            </a:r>
            <a:r>
              <a:rPr lang="en-US" sz="3200" dirty="0">
                <a:effectLst/>
              </a:rPr>
              <a:t> such as illegal copying of software and digital media, patents, copyrights, and trade secrets remain significant ethical challenges, particularly in a global context where legal frameworks may vary.</a:t>
            </a:r>
          </a:p>
          <a:p>
            <a:pPr algn="just">
              <a:buFont typeface="+mj-lt"/>
              <a:buAutoNum type="arabicPeriod" startAt="3"/>
            </a:pPr>
            <a:r>
              <a:rPr lang="en-US" sz="3200" b="1" dirty="0">
                <a:effectLst/>
              </a:rPr>
              <a:t>Workplace Monitoring and Employee Privacy</a:t>
            </a:r>
            <a:r>
              <a:rPr lang="en-US" sz="3200" dirty="0">
                <a:effectLst/>
              </a:rPr>
              <a:t>: The use of technology to monitor employees raises ethical questions about </a:t>
            </a:r>
            <a:r>
              <a:rPr lang="en-US" sz="3200" b="1" u="sng" dirty="0">
                <a:effectLst/>
              </a:rPr>
              <a:t>personal intrusion</a:t>
            </a:r>
            <a:r>
              <a:rPr lang="en-US" sz="3200" dirty="0">
                <a:effectLst/>
              </a:rPr>
              <a:t> and the balance between management oversight and employee rights.</a:t>
            </a:r>
          </a:p>
        </p:txBody>
      </p:sp>
    </p:spTree>
    <p:extLst>
      <p:ext uri="{BB962C8B-B14F-4D97-AF65-F5344CB8AC3E}">
        <p14:creationId xmlns:p14="http://schemas.microsoft.com/office/powerpoint/2010/main" val="3615218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CCAC-C999-2DEC-D663-7DB65233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3B86-53BC-4339-F6AA-39AC8A02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Key Contemporary and Business Management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0C487-4BA7-04D4-E6F2-1C9D97534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fontScale="92500"/>
          </a:bodyPr>
          <a:lstStyle/>
          <a:p>
            <a:pPr algn="just">
              <a:buFont typeface="+mj-lt"/>
              <a:buAutoNum type="arabicPeriod" startAt="5"/>
            </a:pPr>
            <a:r>
              <a:rPr lang="en-US" sz="3200" b="1" dirty="0">
                <a:effectLst/>
              </a:rPr>
              <a:t>Cybercrime and Harmful Actions</a:t>
            </a:r>
            <a:r>
              <a:rPr lang="en-US" sz="3200" dirty="0">
                <a:effectLst/>
              </a:rPr>
              <a:t>: Businesses must contend with the ethical </a:t>
            </a:r>
            <a:r>
              <a:rPr lang="en-US" sz="3200" b="1" u="sng" dirty="0">
                <a:effectLst/>
              </a:rPr>
              <a:t>implications of cybercrimes</a:t>
            </a:r>
            <a:r>
              <a:rPr lang="en-US" sz="3200" dirty="0">
                <a:effectLst/>
              </a:rPr>
              <a:t> such as hacking, data manipulation, and online fraud, which can have significant financial and reputational consequences.</a:t>
            </a:r>
          </a:p>
          <a:p>
            <a:pPr algn="just">
              <a:buFont typeface="+mj-lt"/>
              <a:buAutoNum type="arabicPeriod" startAt="5"/>
            </a:pPr>
            <a:r>
              <a:rPr lang="en-US" sz="3200" b="1" dirty="0">
                <a:effectLst/>
              </a:rPr>
              <a:t>Digital Divide and Accessibility</a:t>
            </a:r>
            <a:r>
              <a:rPr lang="en-US" sz="3200" dirty="0">
                <a:effectLst/>
              </a:rPr>
              <a:t>: The increased reliance on technology can </a:t>
            </a:r>
            <a:r>
              <a:rPr lang="en-US" sz="3200" b="1" u="sng" dirty="0">
                <a:effectLst/>
              </a:rPr>
              <a:t>exacerbate inequality</a:t>
            </a:r>
            <a:r>
              <a:rPr lang="en-US" sz="3200" dirty="0">
                <a:effectLst/>
              </a:rPr>
              <a:t>, as not everyone has equal access to technology or the literacy required to use it effectively, raising questions about </a:t>
            </a:r>
            <a:r>
              <a:rPr lang="en-US" sz="3200" b="1" u="sng" dirty="0">
                <a:effectLst/>
              </a:rPr>
              <a:t>social responsibility</a:t>
            </a:r>
            <a:r>
              <a:rPr lang="en-US" sz="32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6427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280C0-0915-F2EC-D233-6DD24590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5D7B-7576-0B33-4487-24446571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Key Contemporary and Business Management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A198E-2B64-A4B4-C791-964E2B348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7"/>
            </a:pPr>
            <a:r>
              <a:rPr lang="en-US" sz="3200" b="1" dirty="0">
                <a:effectLst/>
              </a:rPr>
              <a:t>Corporate Social Responsibility (CSR) and Transparency</a:t>
            </a:r>
            <a:r>
              <a:rPr lang="en-US" sz="3200" dirty="0">
                <a:effectLst/>
              </a:rPr>
              <a:t>: There is growing pressure on companies, especially tech vendors, to </a:t>
            </a:r>
            <a:r>
              <a:rPr lang="en-US" sz="3200" b="1" u="sng" dirty="0">
                <a:effectLst/>
              </a:rPr>
              <a:t>integrate computer ethics</a:t>
            </a:r>
            <a:r>
              <a:rPr lang="en-US" sz="3200" dirty="0">
                <a:effectLst/>
              </a:rPr>
              <a:t> into their business ethics and publicly report on their social and environmental impacts. </a:t>
            </a:r>
          </a:p>
        </p:txBody>
      </p:sp>
    </p:spTree>
    <p:extLst>
      <p:ext uri="{BB962C8B-B14F-4D97-AF65-F5344CB8AC3E}">
        <p14:creationId xmlns:p14="http://schemas.microsoft.com/office/powerpoint/2010/main" val="3593495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86B5-FFF9-BFC0-A9C7-511EE32AD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44AB-DAFA-361D-182F-84FD36A6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Managing Ethical Issues in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231C8-9243-2F93-7A6B-73516E000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500" dirty="0">
                <a:effectLst/>
              </a:rPr>
              <a:t>To manage these issues effectively, businesses can implement several strategies: 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500" b="1" dirty="0">
                <a:effectLst/>
              </a:rPr>
              <a:t>Develop clear ethical guidelines</a:t>
            </a:r>
            <a:r>
              <a:rPr lang="en-US" sz="3500" dirty="0">
                <a:effectLst/>
              </a:rPr>
              <a:t>: Establish and communicate a comprehensive code of ethics that specifically addresses technology use. </a:t>
            </a:r>
            <a:r>
              <a:rPr lang="en-US" sz="3500" u="sng" dirty="0">
                <a:effectLst/>
              </a:rPr>
              <a:t>(Refer to Part 3 Principles of the previous PPT)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500" b="1" dirty="0">
                <a:effectLst/>
              </a:rPr>
              <a:t>Ensure legal compliance</a:t>
            </a:r>
            <a:r>
              <a:rPr lang="en-US" sz="3500" dirty="0">
                <a:effectLst/>
              </a:rPr>
              <a:t>: Consult legal counsel to ensure all technology practices comply with relevant privacy and workplace laws, such as GDPR</a:t>
            </a:r>
            <a:r>
              <a:rPr lang="en-PH" dirty="0">
                <a:effectLst/>
              </a:rPr>
              <a:t>  </a:t>
            </a:r>
            <a:r>
              <a:rPr lang="en-PH" sz="3500" dirty="0">
                <a:effectLst/>
              </a:rPr>
              <a:t>(General Data Protection Regulation)</a:t>
            </a:r>
            <a:r>
              <a:rPr lang="en-US" sz="35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2210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B2AD2-7A28-9F2D-6F7C-D3E6FB0A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30A8-628A-D13C-5C07-6D1C52DE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Managing Ethical Issues in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BBB7F-7C8F-CD31-334F-BC9DDB3F6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222287"/>
            <a:ext cx="11850624" cy="4434545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US" sz="3200" b="1" dirty="0">
                <a:effectLst/>
              </a:rPr>
              <a:t>Provide regular training</a:t>
            </a:r>
            <a:r>
              <a:rPr lang="en-US" sz="3200" dirty="0">
                <a:effectLst/>
              </a:rPr>
              <a:t>: Conduct ongoing training to educate staff about their ethical obligations and the impact of unethical behavior on the organization and society.</a:t>
            </a:r>
          </a:p>
          <a:p>
            <a:pPr marL="514350" indent="-514350" algn="just">
              <a:buFont typeface="+mj-lt"/>
              <a:buAutoNum type="arabicPeriod" startAt="3"/>
            </a:pPr>
            <a:r>
              <a:rPr lang="en-US" sz="3200" b="1" dirty="0">
                <a:effectLst/>
              </a:rPr>
              <a:t>Promote an ethical culture</a:t>
            </a:r>
            <a:r>
              <a:rPr lang="en-US" sz="3200" dirty="0">
                <a:effectLst/>
              </a:rPr>
              <a:t>: Foster a culture where employees feel comfortable discussing ethical dilemmas and where leadership sets a strong, ethical tone at the top. </a:t>
            </a:r>
          </a:p>
        </p:txBody>
      </p:sp>
    </p:spTree>
    <p:extLst>
      <p:ext uri="{BB962C8B-B14F-4D97-AF65-F5344CB8AC3E}">
        <p14:creationId xmlns:p14="http://schemas.microsoft.com/office/powerpoint/2010/main" val="10719508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{06DB02A5-C67E-43E3-9832-C1149CECA26D}TF422d6a94-b412-4b4b-8b36-ccdb9da8dac8d8130915_win32-3b4bd71c511d</Template>
  <TotalTime>0</TotalTime>
  <Words>1415</Words>
  <Application>Microsoft Office PowerPoint</Application>
  <PresentationFormat>Widescreen</PresentationFormat>
  <Paragraphs>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Century Gothic</vt:lpstr>
      <vt:lpstr>Wingdings 2</vt:lpstr>
      <vt:lpstr>Quotable_win32_v2</vt:lpstr>
      <vt:lpstr>Contemporary and Business Management Issues in Computer Ethics</vt:lpstr>
      <vt:lpstr>Topic Overview:</vt:lpstr>
      <vt:lpstr>Topic Overview:</vt:lpstr>
      <vt:lpstr>Topic Overview:</vt:lpstr>
      <vt:lpstr>Topic Overview:</vt:lpstr>
      <vt:lpstr>Topic Overview:</vt:lpstr>
      <vt:lpstr>Topic Overview:</vt:lpstr>
      <vt:lpstr>Topic Overview:</vt:lpstr>
      <vt:lpstr>Cyber Ethics</vt:lpstr>
      <vt:lpstr>Cyber Ethics</vt:lpstr>
      <vt:lpstr>Cyber Ethics</vt:lpstr>
      <vt:lpstr>Cyber Ethics</vt:lpstr>
      <vt:lpstr>Cyber Ethics</vt:lpstr>
      <vt:lpstr>Cyber Ethics</vt:lpstr>
      <vt:lpstr>Cyber Ethics</vt:lpstr>
      <vt:lpstr>Key Contemporary and Business Management Issues</vt:lpstr>
      <vt:lpstr>Key Contemporary and Business Management Issues</vt:lpstr>
      <vt:lpstr>Key Contemporary and Business Management Issues</vt:lpstr>
      <vt:lpstr>Key Contemporary and Business Management Issues</vt:lpstr>
      <vt:lpstr>Managing Ethical Issues in Business</vt:lpstr>
      <vt:lpstr>Managing Ethical Issues in Business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Dean Adrian</dc:creator>
  <cp:lastModifiedBy>Dean Adrian</cp:lastModifiedBy>
  <cp:revision>3</cp:revision>
  <dcterms:created xsi:type="dcterms:W3CDTF">2025-11-27T21:45:41Z</dcterms:created>
  <dcterms:modified xsi:type="dcterms:W3CDTF">2025-11-27T22:30:51Z</dcterms:modified>
</cp:coreProperties>
</file>