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16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e Paduada" userId="b9fe3674efc3e3fd" providerId="LiveId" clId="{746CBAE2-8E78-4E9B-904E-3C9FE6A50151}"/>
    <pc:docChg chg="modSld">
      <pc:chgData name="Dave Paduada" userId="b9fe3674efc3e3fd" providerId="LiveId" clId="{746CBAE2-8E78-4E9B-904E-3C9FE6A50151}" dt="2025-11-20T12:41:05.146" v="0" actId="14734"/>
      <pc:docMkLst>
        <pc:docMk/>
      </pc:docMkLst>
      <pc:sldChg chg="modSp mod">
        <pc:chgData name="Dave Paduada" userId="b9fe3674efc3e3fd" providerId="LiveId" clId="{746CBAE2-8E78-4E9B-904E-3C9FE6A50151}" dt="2025-11-20T12:41:05.146" v="0" actId="14734"/>
        <pc:sldMkLst>
          <pc:docMk/>
          <pc:sldMk cId="697439679" sldId="289"/>
        </pc:sldMkLst>
        <pc:graphicFrameChg chg="modGraphic">
          <ac:chgData name="Dave Paduada" userId="b9fe3674efc3e3fd" providerId="LiveId" clId="{746CBAE2-8E78-4E9B-904E-3C9FE6A50151}" dt="2025-11-20T12:41:05.146" v="0" actId="14734"/>
          <ac:graphicFrameMkLst>
            <pc:docMk/>
            <pc:sldMk cId="697439679" sldId="289"/>
            <ac:graphicFrameMk id="4" creationId="{3EF1A343-70EC-A17F-0E2B-2C821F1282B2}"/>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PH"/>
          </a:p>
        </p:txBody>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11/20/2025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11/20/2025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11/20/2025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11/20/2025</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11/20/2025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11/20/2025</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F2CC8-2BD9-E109-44F3-654FB14439C9}"/>
              </a:ext>
            </a:extLst>
          </p:cNvPr>
          <p:cNvSpPr>
            <a:spLocks noGrp="1"/>
          </p:cNvSpPr>
          <p:nvPr>
            <p:ph type="ctrTitle"/>
          </p:nvPr>
        </p:nvSpPr>
        <p:spPr/>
        <p:txBody>
          <a:bodyPr/>
          <a:lstStyle/>
          <a:p>
            <a:r>
              <a:rPr lang="en-PH" dirty="0"/>
              <a:t>Computer Ethics</a:t>
            </a:r>
          </a:p>
        </p:txBody>
      </p:sp>
      <p:sp>
        <p:nvSpPr>
          <p:cNvPr id="3" name="Subtitle 2">
            <a:extLst>
              <a:ext uri="{FF2B5EF4-FFF2-40B4-BE49-F238E27FC236}">
                <a16:creationId xmlns:a16="http://schemas.microsoft.com/office/drawing/2014/main" id="{E2B6C6D2-0E05-7367-93E3-0ECC840A6959}"/>
              </a:ext>
            </a:extLst>
          </p:cNvPr>
          <p:cNvSpPr>
            <a:spLocks noGrp="1"/>
          </p:cNvSpPr>
          <p:nvPr>
            <p:ph type="subTitle" idx="1"/>
          </p:nvPr>
        </p:nvSpPr>
        <p:spPr/>
        <p:txBody>
          <a:bodyPr/>
          <a:lstStyle/>
          <a:p>
            <a:r>
              <a:rPr lang="en-PH" dirty="0"/>
              <a:t>Engr. Dean Adrian L. Nombrefia</a:t>
            </a:r>
          </a:p>
        </p:txBody>
      </p:sp>
    </p:spTree>
    <p:extLst>
      <p:ext uri="{BB962C8B-B14F-4D97-AF65-F5344CB8AC3E}">
        <p14:creationId xmlns:p14="http://schemas.microsoft.com/office/powerpoint/2010/main" val="1088054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p:txBody>
          <a:bodyPr/>
          <a:lstStyle/>
          <a:p>
            <a:r>
              <a:rPr lang="en-PH" dirty="0"/>
              <a:t>Topics to be Discussed:</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8" y="2286087"/>
            <a:ext cx="11373288" cy="4124725"/>
          </a:xfrm>
        </p:spPr>
        <p:txBody>
          <a:bodyPr>
            <a:normAutofit/>
          </a:bodyPr>
          <a:lstStyle/>
          <a:p>
            <a:pPr>
              <a:buFont typeface="+mj-lt"/>
              <a:buAutoNum type="arabicPeriod"/>
            </a:pPr>
            <a:r>
              <a:rPr lang="en-PH" sz="2400" dirty="0"/>
              <a:t>Professional Code of Ethics</a:t>
            </a:r>
          </a:p>
          <a:p>
            <a:pPr>
              <a:buFont typeface="+mj-lt"/>
              <a:buAutoNum type="arabicPeriod"/>
            </a:pPr>
            <a:r>
              <a:rPr lang="en-PH" sz="2400" dirty="0"/>
              <a:t>Code of Ethics of the Filipino IT Professionals</a:t>
            </a:r>
          </a:p>
          <a:p>
            <a:pPr>
              <a:buFont typeface="+mj-lt"/>
              <a:buAutoNum type="arabicPeriod"/>
            </a:pPr>
            <a:r>
              <a:rPr lang="en-PH" sz="2400" dirty="0"/>
              <a:t>Principles</a:t>
            </a:r>
          </a:p>
          <a:p>
            <a:pPr>
              <a:buFont typeface="+mj-lt"/>
              <a:buAutoNum type="arabicPeriod"/>
            </a:pPr>
            <a:r>
              <a:rPr lang="en-PH" sz="2400" dirty="0"/>
              <a:t>The 10 Commandments</a:t>
            </a:r>
          </a:p>
          <a:p>
            <a:pPr>
              <a:buFont typeface="+mj-lt"/>
              <a:buAutoNum type="arabicPeriod"/>
            </a:pPr>
            <a:r>
              <a:rPr lang="en-PH" sz="2400" dirty="0"/>
              <a:t>What is Computer Ethics</a:t>
            </a:r>
          </a:p>
          <a:p>
            <a:pPr>
              <a:buFont typeface="+mj-lt"/>
              <a:buAutoNum type="arabicPeriod"/>
            </a:pPr>
            <a:r>
              <a:rPr lang="en-PH" sz="2400" dirty="0"/>
              <a:t>Problem in Computer Ethics</a:t>
            </a:r>
          </a:p>
          <a:p>
            <a:pPr>
              <a:buFont typeface="+mj-lt"/>
              <a:buAutoNum type="arabicPeriod"/>
            </a:pPr>
            <a:r>
              <a:rPr lang="en-PH" sz="2400" dirty="0"/>
              <a:t>Three levels of computer Ethics</a:t>
            </a:r>
          </a:p>
          <a:p>
            <a:pPr>
              <a:buFont typeface="+mj-lt"/>
              <a:buAutoNum type="arabicPeriod"/>
            </a:pPr>
            <a:r>
              <a:rPr lang="en-PH" sz="2400" dirty="0"/>
              <a:t>Moral Responsibilities of Computer Professionals</a:t>
            </a:r>
          </a:p>
        </p:txBody>
      </p:sp>
    </p:spTree>
    <p:extLst>
      <p:ext uri="{BB962C8B-B14F-4D97-AF65-F5344CB8AC3E}">
        <p14:creationId xmlns:p14="http://schemas.microsoft.com/office/powerpoint/2010/main" val="3130923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p:txBody>
          <a:bodyPr/>
          <a:lstStyle/>
          <a:p>
            <a:r>
              <a:rPr lang="en-PH" dirty="0"/>
              <a:t>1. Professional Code of Ethics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8" y="2286087"/>
            <a:ext cx="11373288" cy="4124725"/>
          </a:xfrm>
        </p:spPr>
        <p:txBody>
          <a:bodyPr>
            <a:normAutofit/>
          </a:bodyPr>
          <a:lstStyle/>
          <a:p>
            <a:pPr algn="just">
              <a:buFont typeface="Wingdings" panose="05000000000000000000" pitchFamily="2" charset="2"/>
              <a:buChar char="Ø"/>
            </a:pPr>
            <a:r>
              <a:rPr lang="en-PH" sz="2400" dirty="0"/>
              <a:t>It is a set of guidelines which are designed to set out behavior of member of a particular group, association of profession.</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A professional code of ethics states the principles and core values that are essential to the work of a particular occupational group. Practitioners in many professions subscribe to a code of ethics that governs their behavior.</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Most codes of ethics created by professional organizations have two main parts: (a) outlines what the organizations aspires to become, and (b) typically lists rules and principles by which members of the organization are expected to abide.</a:t>
            </a:r>
            <a:endParaRPr lang="en-PH" sz="2400" dirty="0"/>
          </a:p>
        </p:txBody>
      </p:sp>
    </p:spTree>
    <p:extLst>
      <p:ext uri="{BB962C8B-B14F-4D97-AF65-F5344CB8AC3E}">
        <p14:creationId xmlns:p14="http://schemas.microsoft.com/office/powerpoint/2010/main" val="861432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p:txBody>
          <a:bodyPr/>
          <a:lstStyle/>
          <a:p>
            <a:r>
              <a:rPr lang="en-PH" dirty="0"/>
              <a:t>1. Professional Code of Ethics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8" y="2286087"/>
            <a:ext cx="11373288" cy="4124725"/>
          </a:xfrm>
        </p:spPr>
        <p:txBody>
          <a:bodyPr>
            <a:normAutofit/>
          </a:bodyPr>
          <a:lstStyle/>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Laws do not provide a complete guide to ethical behavior. Just because an activity is not defined as illegal does not mean it is ethical. You also cannot expect a professional code of ethics to provide an answer to every ethical dilemma — no code can be definitive collection of behavioral standards. However, following a professional code of ethics can produce many benefits for the individual, the profession and society as a whole: </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1. Ethical Decision Making: adherence to professional code of ethics means that practitioners use a common set of core values and beliefs as a guideline for ethical decision making.</a:t>
            </a:r>
            <a:endParaRPr lang="en-PH" sz="2400" dirty="0"/>
          </a:p>
        </p:txBody>
      </p:sp>
    </p:spTree>
    <p:extLst>
      <p:ext uri="{BB962C8B-B14F-4D97-AF65-F5344CB8AC3E}">
        <p14:creationId xmlns:p14="http://schemas.microsoft.com/office/powerpoint/2010/main" val="1844325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p:txBody>
          <a:bodyPr/>
          <a:lstStyle/>
          <a:p>
            <a:r>
              <a:rPr lang="en-PH" dirty="0"/>
              <a:t>1. Professional Code of Ethics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8" y="2286087"/>
            <a:ext cx="11373288" cy="4124725"/>
          </a:xfrm>
        </p:spPr>
        <p:txBody>
          <a:bodyPr>
            <a:noAutofit/>
          </a:bodyPr>
          <a:lstStyle/>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2. High Standards of Practice and Ethical Behavior: adherence to a code of ethics reminds professionals of the responsibilities and that they may be tempted to compromise to meet the pressures of day-to-day business. The code also defines behaviors that are acceptable and unacceptable to guide professionals in their interactions with others. </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3. Trust and Respect from the General Public: public trust is built on the expectation that a professional will behave ethically. People must often depend on the integrity and good judgments of a professional to tell the truth, abstain from giving self-serving advice, and offer warnings about the potential negative side effects of their actions. </a:t>
            </a:r>
          </a:p>
        </p:txBody>
      </p:sp>
    </p:spTree>
    <p:extLst>
      <p:ext uri="{BB962C8B-B14F-4D97-AF65-F5344CB8AC3E}">
        <p14:creationId xmlns:p14="http://schemas.microsoft.com/office/powerpoint/2010/main" val="267913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p:txBody>
          <a:bodyPr/>
          <a:lstStyle/>
          <a:p>
            <a:r>
              <a:rPr lang="en-PH" dirty="0"/>
              <a:t>1. Professional Code of Ethics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8" y="2286087"/>
            <a:ext cx="11373288" cy="4124725"/>
          </a:xfrm>
        </p:spPr>
        <p:txBody>
          <a:bodyPr>
            <a:noAutofit/>
          </a:bodyPr>
          <a:lstStyle/>
          <a:p>
            <a:pPr algn="just">
              <a:buFont typeface="Wingdings" panose="05000000000000000000" pitchFamily="2" charset="2"/>
              <a:buChar char="Ø"/>
            </a:pPr>
            <a:r>
              <a:rPr lang="en-PH" sz="2400" kern="100" dirty="0">
                <a:effectLst/>
                <a:ea typeface="Calibri" panose="020F0502020204030204" pitchFamily="34" charset="0"/>
                <a:cs typeface="Times New Roman" panose="02020603050405020304" pitchFamily="18" charset="0"/>
              </a:rPr>
              <a:t>4. Evaluation Benchmark: a code of ethics provides an evaluation benchmark that a professional can use as a means of self-assessment. Peers of the professional can also use the code for recognition or censure. </a:t>
            </a:r>
          </a:p>
          <a:p>
            <a:pPr marL="0" indent="0" algn="just">
              <a:buNone/>
            </a:pPr>
            <a:endParaRPr lang="en-PH" sz="24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46902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pPr algn="just"/>
            <a:r>
              <a:rPr lang="en-PH" dirty="0"/>
              <a:t>2. Code of Ethics of the Filipino IT Professionals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8" y="2286087"/>
            <a:ext cx="11373288" cy="4377760"/>
          </a:xfrm>
        </p:spPr>
        <p:txBody>
          <a:bodyPr>
            <a:noAutofit/>
          </a:bodyPr>
          <a:lstStyle/>
          <a:p>
            <a:pPr algn="jus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1. I will promote public knowledge, understanding and appreciation of Information Technology. </a:t>
            </a:r>
          </a:p>
          <a:p>
            <a:pPr algn="jus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2. I will consider the general welfare and public welfare and public good in the performance of my work. </a:t>
            </a:r>
          </a:p>
          <a:p>
            <a:pPr algn="jus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3. I will advertise goods or professional services in a clear and truthful manner. </a:t>
            </a:r>
          </a:p>
          <a:p>
            <a:pPr algn="jus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4. I will comply and strictly abide by the intellectual property laws, patent laws and other related laws in respect of Information Technology</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5. I will accept the full responsibility for the work undertaken and utilize my skills with competence and professionalism. </a:t>
            </a:r>
            <a:endParaRPr lang="en-PH" sz="24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46379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2. Code of Ethics of the Filipino IT Professionals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124725"/>
          </a:xfrm>
        </p:spPr>
        <p:txBody>
          <a:bodyPr>
            <a:noAutofit/>
          </a:bodyPr>
          <a:lstStyle/>
          <a:p>
            <a:pPr algn="just">
              <a:lnSpc>
                <a:spcPct val="107000"/>
              </a:lnSpc>
              <a:spcAft>
                <a:spcPts val="800"/>
              </a:spcAft>
              <a:buFont typeface="Wingdings" panose="05000000000000000000" pitchFamily="2" charset="2"/>
              <a:buChar char="Ø"/>
            </a:pPr>
            <a:r>
              <a:rPr lang="en-PH" sz="2400" kern="100" dirty="0">
                <a:effectLst/>
                <a:latin typeface="+mj-lt"/>
                <a:ea typeface="Calibri" panose="020F0502020204030204" pitchFamily="34" charset="0"/>
                <a:cs typeface="Times New Roman" panose="02020603050405020304" pitchFamily="18" charset="0"/>
              </a:rPr>
              <a:t>6. I will make truthful statements on my areas of competence as well as the capabilities and qualities of my product and services. </a:t>
            </a:r>
          </a:p>
          <a:p>
            <a:pPr algn="just">
              <a:lnSpc>
                <a:spcPct val="107000"/>
              </a:lnSpc>
              <a:spcAft>
                <a:spcPts val="800"/>
              </a:spcAft>
              <a:buFont typeface="Wingdings" panose="05000000000000000000" pitchFamily="2" charset="2"/>
              <a:buChar char="Ø"/>
            </a:pPr>
            <a:r>
              <a:rPr lang="en-PH" sz="2400" kern="100" dirty="0">
                <a:effectLst/>
                <a:latin typeface="+mj-lt"/>
                <a:ea typeface="Calibri" panose="020F0502020204030204" pitchFamily="34" charset="0"/>
                <a:cs typeface="Times New Roman" panose="02020603050405020304" pitchFamily="18" charset="0"/>
              </a:rPr>
              <a:t>7. I will not disclose or use any confidential information obtained in course of professional duties without the consent of the parties concerned except when required by the laws., </a:t>
            </a:r>
          </a:p>
          <a:p>
            <a:pPr algn="just">
              <a:lnSpc>
                <a:spcPct val="107000"/>
              </a:lnSpc>
              <a:spcAft>
                <a:spcPts val="800"/>
              </a:spcAft>
              <a:buFont typeface="Wingdings" panose="05000000000000000000" pitchFamily="2" charset="2"/>
              <a:buChar char="Ø"/>
            </a:pPr>
            <a:r>
              <a:rPr lang="en-PH" sz="2400" kern="100" dirty="0">
                <a:effectLst/>
                <a:latin typeface="+mj-lt"/>
                <a:ea typeface="Calibri" panose="020F0502020204030204" pitchFamily="34" charset="0"/>
                <a:cs typeface="Times New Roman" panose="02020603050405020304" pitchFamily="18" charset="0"/>
              </a:rPr>
              <a:t>8. I will strive to attain the highest quality in both the products and services that offer. </a:t>
            </a:r>
          </a:p>
          <a:p>
            <a:pPr algn="just">
              <a:lnSpc>
                <a:spcPct val="107000"/>
              </a:lnSpc>
              <a:spcAft>
                <a:spcPts val="800"/>
              </a:spcAft>
              <a:buFont typeface="Wingdings" panose="05000000000000000000" pitchFamily="2" charset="2"/>
              <a:buChar char="Ø"/>
            </a:pPr>
            <a:r>
              <a:rPr lang="en-PH" sz="2400" kern="100" dirty="0">
                <a:effectLst/>
                <a:latin typeface="+mj-lt"/>
                <a:ea typeface="Calibri" panose="020F0502020204030204" pitchFamily="34" charset="0"/>
                <a:cs typeface="Times New Roman" panose="02020603050405020304" pitchFamily="18" charset="0"/>
              </a:rPr>
              <a:t>9. I will knowingly participate in the development of the Information Technology </a:t>
            </a:r>
          </a:p>
        </p:txBody>
      </p:sp>
    </p:spTree>
    <p:extLst>
      <p:ext uri="{BB962C8B-B14F-4D97-AF65-F5344CB8AC3E}">
        <p14:creationId xmlns:p14="http://schemas.microsoft.com/office/powerpoint/2010/main" val="2907327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2. Code of Ethics of the Filipino IT Professionals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124725"/>
          </a:xfrm>
        </p:spPr>
        <p:txBody>
          <a:bodyPr>
            <a:noAutofit/>
          </a:bodyPr>
          <a:lstStyle/>
          <a:p>
            <a:pPr algn="just">
              <a:lnSpc>
                <a:spcPct val="107000"/>
              </a:lnSpc>
              <a:spcAft>
                <a:spcPts val="800"/>
              </a:spcAft>
              <a:buFont typeface="Wingdings" panose="05000000000000000000" pitchFamily="2" charset="2"/>
              <a:buChar char="Ø"/>
            </a:pPr>
            <a:r>
              <a:rPr lang="en-PH" sz="2400" kern="100" dirty="0">
                <a:effectLst/>
                <a:latin typeface="+mj-lt"/>
                <a:ea typeface="Calibri" panose="020F0502020204030204" pitchFamily="34" charset="0"/>
                <a:cs typeface="Times New Roman" panose="02020603050405020304" pitchFamily="18" charset="0"/>
              </a:rPr>
              <a:t>10. I will uphold and improve the IT professional's standard through continuing profession in order to enhance the IT profession. </a:t>
            </a:r>
          </a:p>
        </p:txBody>
      </p:sp>
    </p:spTree>
    <p:extLst>
      <p:ext uri="{BB962C8B-B14F-4D97-AF65-F5344CB8AC3E}">
        <p14:creationId xmlns:p14="http://schemas.microsoft.com/office/powerpoint/2010/main" val="1197355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124725"/>
          </a:xfrm>
        </p:spPr>
        <p:txBody>
          <a:bodyPr>
            <a:noAutofit/>
          </a:bodyPr>
          <a:lstStyle/>
          <a:p>
            <a:pPr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Principle 1: Public Software engineers shall act consistently with the public interest. In particular, software engineers shall, as appropriate</a:t>
            </a:r>
          </a:p>
          <a:p>
            <a:pPr lvl="1"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1.01 Accept full responsibility for their own work. </a:t>
            </a:r>
          </a:p>
          <a:p>
            <a:pPr lvl="1"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1.02 Moderate the interests of the software engineer, the employer, the client and the users with the public good. </a:t>
            </a:r>
          </a:p>
          <a:p>
            <a:pPr lvl="1"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1.03 Approve software only if they have well-founded belief that is safe, meets specifications, passes appropriate tests, and does not diminish quality of life, diminish privacy or harm the environment. </a:t>
            </a:r>
          </a:p>
        </p:txBody>
      </p:sp>
    </p:spTree>
    <p:extLst>
      <p:ext uri="{BB962C8B-B14F-4D97-AF65-F5344CB8AC3E}">
        <p14:creationId xmlns:p14="http://schemas.microsoft.com/office/powerpoint/2010/main" val="2166738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124725"/>
          </a:xfrm>
        </p:spPr>
        <p:txBody>
          <a:bodyPr>
            <a:noAutofit/>
          </a:bodyPr>
          <a:lstStyle/>
          <a:p>
            <a:pPr lvl="1"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1.04 Disclose to appropriate persons or authorities any actual or potential danger to the user, the public or the environment, that they reasonably believe to be associated with software or related documents. </a:t>
            </a:r>
          </a:p>
          <a:p>
            <a:pPr lvl="1"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1.05 Cooperate in efforts to address matters of grave public concern caused by software, its installation, maintenance, support or documentation. </a:t>
            </a:r>
          </a:p>
          <a:p>
            <a:pPr lvl="1"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1.06 Be fair and avoid deception in all statements, particularly public ones, concerning software or related documents, methods and tolls. </a:t>
            </a:r>
          </a:p>
        </p:txBody>
      </p:sp>
    </p:spTree>
    <p:extLst>
      <p:ext uri="{BB962C8B-B14F-4D97-AF65-F5344CB8AC3E}">
        <p14:creationId xmlns:p14="http://schemas.microsoft.com/office/powerpoint/2010/main" val="2949545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124725"/>
          </a:xfrm>
        </p:spPr>
        <p:txBody>
          <a:bodyPr>
            <a:noAutofit/>
          </a:bodyPr>
          <a:lstStyle/>
          <a:p>
            <a:pPr lvl="1"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1.07 Consider issues of physical disabilities, allocation of resources, economic disadvantage and other factors that can diminish access to the benefits of software. </a:t>
            </a:r>
          </a:p>
          <a:p>
            <a:pPr lvl="1"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1.08 Be encouraged to volunteer professional skills to good causes and contribute to public education concerning the discipline </a:t>
            </a:r>
            <a:endParaRPr lang="en-PH" sz="2400" kern="100" dirty="0">
              <a:latin typeface="+mj-lt"/>
              <a:ea typeface="Calibri" panose="020F0502020204030204" pitchFamily="34" charset="0"/>
              <a:cs typeface="Times New Roman" panose="02020603050405020304" pitchFamily="18" charset="0"/>
            </a:endParaRPr>
          </a:p>
          <a:p>
            <a:pPr marL="457200" lvl="1" indent="0" algn="just">
              <a:lnSpc>
                <a:spcPct val="107000"/>
              </a:lnSpc>
              <a:spcAft>
                <a:spcPts val="800"/>
              </a:spcAft>
              <a:buNone/>
            </a:pPr>
            <a:r>
              <a:rPr lang="en-PH" sz="2400" kern="100" dirty="0">
                <a:effectLst/>
                <a:latin typeface="+mj-lt"/>
                <a:ea typeface="Calibri" panose="020F0502020204030204" pitchFamily="34" charset="0"/>
                <a:cs typeface="Times New Roman" panose="02020603050405020304" pitchFamily="18" charset="0"/>
              </a:rPr>
              <a:t>Principle 2: Client and Employer</a:t>
            </a:r>
            <a:endParaRPr lang="en-PH" sz="2200" kern="100" dirty="0">
              <a:latin typeface="+mj-lt"/>
              <a:ea typeface="Calibri" panose="020F0502020204030204" pitchFamily="34" charset="0"/>
              <a:cs typeface="Times New Roman" panose="02020603050405020304" pitchFamily="18" charset="0"/>
            </a:endParaRPr>
          </a:p>
          <a:p>
            <a:pPr marL="457200" lvl="1" indent="0" algn="just">
              <a:lnSpc>
                <a:spcPct val="107000"/>
              </a:lnSpc>
              <a:spcAft>
                <a:spcPts val="800"/>
              </a:spcAft>
              <a:buNone/>
            </a:pPr>
            <a:r>
              <a:rPr lang="en-PH" sz="2400" kern="100" dirty="0">
                <a:effectLst/>
                <a:ea typeface="Calibri" panose="020F0502020204030204" pitchFamily="34" charset="0"/>
                <a:cs typeface="Times New Roman" panose="02020603050405020304" pitchFamily="18" charset="0"/>
              </a:rPr>
              <a:t>Software engineers shall act in a manner that is in the best interests of their client and employer, consistent with the public interest. In particular, software engineers shall, as appropriate: </a:t>
            </a:r>
          </a:p>
        </p:txBody>
      </p:sp>
    </p:spTree>
    <p:extLst>
      <p:ext uri="{BB962C8B-B14F-4D97-AF65-F5344CB8AC3E}">
        <p14:creationId xmlns:p14="http://schemas.microsoft.com/office/powerpoint/2010/main" val="671364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124725"/>
          </a:xfrm>
        </p:spPr>
        <p:txBody>
          <a:bodyPr>
            <a:noAutofit/>
          </a:bodyPr>
          <a:lstStyle/>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2.01 Provide service in their areas of competence, being honest and forthright about any limitations of their experience and education. </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2.02 Not knowingly use software that is obtained or retained either illegally or unethically. </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2.03 Use the property of the client or employer only in ways properly authorized, and with the clients or employer's knowledge and consent.</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2.04 Ensure that any document upon which they rely has been approved, when required, by someone authorized to approve it</a:t>
            </a:r>
            <a:r>
              <a:rPr lang="en-PH" sz="2400" dirty="0">
                <a:ea typeface="Calibri" panose="020F0502020204030204" pitchFamily="34" charset="0"/>
                <a:cs typeface="Times New Roman" panose="02020603050405020304" pitchFamily="18" charset="0"/>
              </a:rPr>
              <a:t>.</a:t>
            </a:r>
            <a:endParaRPr lang="en-PH" sz="24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92254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124725"/>
          </a:xfrm>
        </p:spPr>
        <p:txBody>
          <a:bodyPr>
            <a:noAutofit/>
          </a:bodyPr>
          <a:lstStyle/>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2.05 Keep private any confidential information gained in their professional work, where such confidentiality is consistent with the public interest and consistent with the law. </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2.06 Identify, document, collect evidence and report to the client or the employer promptly if, in their opinion, a project is likely to fail, to prove too expensive, to violate intellectual property law or otherwise to be problematic. </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2.07 Identify, document and report significant issues of social concern, of which they are aware, in software or related documents, to the employer or the client.</a:t>
            </a:r>
          </a:p>
        </p:txBody>
      </p:sp>
    </p:spTree>
    <p:extLst>
      <p:ext uri="{BB962C8B-B14F-4D97-AF65-F5344CB8AC3E}">
        <p14:creationId xmlns:p14="http://schemas.microsoft.com/office/powerpoint/2010/main" val="3979523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124725"/>
          </a:xfrm>
        </p:spPr>
        <p:txBody>
          <a:bodyPr>
            <a:noAutofit/>
          </a:bodyPr>
          <a:lstStyle/>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2.08 Accept no outside work detrimental to the work they perform for their primary employer.</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2.09 Promote no interest adverse to the employer or client, unless a higher ethical concern is being compromised; in that case, inform the employer or another appropriate authority of the ethical concern.</a:t>
            </a:r>
            <a:r>
              <a:rPr lang="en-PH" sz="2400" kern="100" dirty="0">
                <a:ea typeface="Calibri" panose="020F0502020204030204" pitchFamily="34" charset="0"/>
                <a:cs typeface="Times New Roman" panose="02020603050405020304" pitchFamily="18" charset="0"/>
              </a:rPr>
              <a:t>.</a:t>
            </a:r>
          </a:p>
          <a:p>
            <a:pPr marL="457200" lvl="1" indent="0" algn="just">
              <a:lnSpc>
                <a:spcPct val="107000"/>
              </a:lnSpc>
              <a:spcAft>
                <a:spcPts val="800"/>
              </a:spcAft>
              <a:buNone/>
            </a:pPr>
            <a:r>
              <a:rPr lang="en-PH" sz="2400" kern="100" dirty="0">
                <a:effectLst/>
                <a:ea typeface="Calibri" panose="020F0502020204030204" pitchFamily="34" charset="0"/>
                <a:cs typeface="Times New Roman" panose="02020603050405020304" pitchFamily="18" charset="0"/>
              </a:rPr>
              <a:t>Principle 3 : Product Software engineers shall ensure that their products and related modifications meet the highest professional standards possible. In particular, software engineers shall, as appropriate: </a:t>
            </a:r>
          </a:p>
        </p:txBody>
      </p:sp>
    </p:spTree>
    <p:extLst>
      <p:ext uri="{BB962C8B-B14F-4D97-AF65-F5344CB8AC3E}">
        <p14:creationId xmlns:p14="http://schemas.microsoft.com/office/powerpoint/2010/main" val="3665282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124725"/>
          </a:xfrm>
        </p:spPr>
        <p:txBody>
          <a:bodyPr>
            <a:noAutofit/>
          </a:bodyPr>
          <a:lstStyle/>
          <a:p>
            <a:pPr lvl="1"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3.01 Strive for high quality, acceptable cost and a reasonable schedule, ensuring significant tradeoffs are clear to and accepted by the employer and the client, and are available for consideration by the user and the public. </a:t>
            </a:r>
          </a:p>
          <a:p>
            <a:pPr lvl="1"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3.02 Ensure proper and achievable goals and objectives for any project on which they work or propose. </a:t>
            </a:r>
          </a:p>
          <a:p>
            <a:pPr lvl="1"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3.03 Identify, define and address ethical, economic, cultural legal and environmental issues related to work projects. </a:t>
            </a:r>
          </a:p>
        </p:txBody>
      </p:sp>
    </p:spTree>
    <p:extLst>
      <p:ext uri="{BB962C8B-B14F-4D97-AF65-F5344CB8AC3E}">
        <p14:creationId xmlns:p14="http://schemas.microsoft.com/office/powerpoint/2010/main" val="2249359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124725"/>
          </a:xfrm>
        </p:spPr>
        <p:txBody>
          <a:bodyPr>
            <a:noAutofit/>
          </a:bodyPr>
          <a:lstStyle/>
          <a:p>
            <a:pPr lvl="1"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3.04 Ensure that they are qualified for any project on which they work or propose to work by an appropriate combination of education and training, and experience.</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3.05 Ensure an appropriate method is used for any project on which they work or propose to work. </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3.06 Work to follow professional standards, when available, that are most appropriate for the task at hand, departing from these only when ethically or technically justified. </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3.07 Strive to fully understand the specifications for software on which they work. </a:t>
            </a:r>
          </a:p>
        </p:txBody>
      </p:sp>
    </p:spTree>
    <p:extLst>
      <p:ext uri="{BB962C8B-B14F-4D97-AF65-F5344CB8AC3E}">
        <p14:creationId xmlns:p14="http://schemas.microsoft.com/office/powerpoint/2010/main" val="437755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124725"/>
          </a:xfrm>
        </p:spPr>
        <p:txBody>
          <a:bodyPr>
            <a:noAutofit/>
          </a:bodyPr>
          <a:lstStyle/>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3.08 Ensure that specifications 'for software on which they work have been well </a:t>
            </a:r>
            <a:r>
              <a:rPr lang="en-PH" sz="2400" dirty="0">
                <a:effectLst/>
                <a:latin typeface="+mj-lt"/>
                <a:ea typeface="Calibri" panose="020F0502020204030204" pitchFamily="34" charset="0"/>
                <a:cs typeface="Times New Roman" panose="02020603050405020304" pitchFamily="18" charset="0"/>
              </a:rPr>
              <a:t>documented, satisfy the user's requirements and have the appropriate approvals</a:t>
            </a:r>
            <a:r>
              <a:rPr lang="en-PH" sz="1800" dirty="0">
                <a:solidFill>
                  <a:srgbClr val="000000"/>
                </a:solidFill>
                <a:effectLst/>
                <a:latin typeface="Roboto" panose="02000000000000000000" pitchFamily="2" charset="0"/>
                <a:ea typeface="Calibri" panose="020F0502020204030204" pitchFamily="34" charset="0"/>
                <a:cs typeface="Times New Roman" panose="02020603050405020304" pitchFamily="18" charset="0"/>
              </a:rPr>
              <a:t>.’</a:t>
            </a:r>
          </a:p>
          <a:p>
            <a:pPr lvl="1" algn="just">
              <a:lnSpc>
                <a:spcPct val="107000"/>
              </a:lnSpc>
              <a:spcAft>
                <a:spcPts val="800"/>
              </a:spcAft>
              <a:buFont typeface="Wingdings" panose="05000000000000000000" pitchFamily="2" charset="2"/>
              <a:buChar char="Ø"/>
            </a:pPr>
            <a:r>
              <a:rPr lang="en-PH" sz="2400" kern="100" dirty="0">
                <a:latin typeface="+mj-lt"/>
                <a:ea typeface="Calibri" panose="020F0502020204030204" pitchFamily="34" charset="0"/>
                <a:cs typeface="Times New Roman" panose="02020603050405020304" pitchFamily="18" charset="0"/>
              </a:rPr>
              <a:t>3.09 </a:t>
            </a:r>
            <a:r>
              <a:rPr lang="en-PH" sz="2400" dirty="0">
                <a:effectLst/>
                <a:latin typeface="+mj-lt"/>
                <a:ea typeface="Calibri" panose="020F0502020204030204" pitchFamily="34" charset="0"/>
                <a:cs typeface="Times New Roman" panose="02020603050405020304" pitchFamily="18" charset="0"/>
              </a:rPr>
              <a:t>Ensure realistic quantitative estimates of cost, scheduling, personnel, quality and outcomes on any project on which they work or propose to work and provide an uncertainty on any project on which they work or propose to work and provide an uncertainty assessment of these estimates. Ensure adequate testing, debugging, and review of software and related documents on which they work.</a:t>
            </a:r>
            <a:endParaRPr lang="en-PH" sz="2400" kern="1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58573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124725"/>
          </a:xfrm>
        </p:spPr>
        <p:txBody>
          <a:bodyPr>
            <a:noAutofit/>
          </a:bodyPr>
          <a:lstStyle/>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3.10 Ensure adequate documentation, including significant problems discovered and solutions adopted, for any project on which they work.</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3.11 Work to develop software and related documents that respect the privacy of those who will be affected by that software.</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3.12 Be careful to use only accurate data derived by ethical and lawful means and use it only in ways properly authorized.</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3.13 Maintain the integrity of data, being sensitive to outdated or flawed </a:t>
            </a:r>
            <a:r>
              <a:rPr lang="en-PH" sz="2400" dirty="0">
                <a:ea typeface="Calibri" panose="020F0502020204030204" pitchFamily="34" charset="0"/>
                <a:cs typeface="Times New Roman" panose="02020603050405020304" pitchFamily="18" charset="0"/>
              </a:rPr>
              <a:t>occurrences</a:t>
            </a:r>
            <a:r>
              <a:rPr lang="en-PH" sz="2400" dirty="0">
                <a:effectLst/>
                <a:ea typeface="Calibri" panose="020F0502020204030204" pitchFamily="34" charset="0"/>
                <a:cs typeface="Times New Roman" panose="02020603050405020304" pitchFamily="18" charset="0"/>
              </a:rPr>
              <a:t>.</a:t>
            </a:r>
            <a:endParaRPr lang="en-PH" sz="24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224748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383654"/>
          </a:xfrm>
        </p:spPr>
        <p:txBody>
          <a:bodyPr>
            <a:noAutofit/>
          </a:bodyPr>
          <a:lstStyle/>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3.15 Treat all forms of software maintenance with the same professionalism as new development.</a:t>
            </a:r>
          </a:p>
          <a:p>
            <a:pPr marL="457200" lvl="1" indent="0" algn="just">
              <a:lnSpc>
                <a:spcPct val="107000"/>
              </a:lnSpc>
              <a:spcAft>
                <a:spcPts val="800"/>
              </a:spcAft>
              <a:buNone/>
            </a:pPr>
            <a:r>
              <a:rPr lang="en-PH" sz="2400" dirty="0">
                <a:effectLst/>
                <a:ea typeface="Calibri" panose="020F0502020204030204" pitchFamily="34" charset="0"/>
                <a:cs typeface="Times New Roman" panose="02020603050405020304" pitchFamily="18" charset="0"/>
              </a:rPr>
              <a:t>Principle 4: Judgment Software engineers shall maintain integrity and independence in their professional judgment. In particular, software engineers shall, as appropriate:</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4.01 Temper all technical judgments by the need to support and maintain human values.</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4.02 Only endorse documents either prepared under their supervision or within their areas of competence and with which they are in agreement.</a:t>
            </a:r>
            <a:endParaRPr lang="en-PH" sz="24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91630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383654"/>
          </a:xfrm>
        </p:spPr>
        <p:txBody>
          <a:bodyPr>
            <a:noAutofit/>
          </a:bodyPr>
          <a:lstStyle/>
          <a:p>
            <a:pPr lvl="1" algn="just">
              <a:lnSpc>
                <a:spcPct val="107000"/>
              </a:lnSpc>
              <a:spcAft>
                <a:spcPts val="800"/>
              </a:spcAft>
              <a:buFont typeface="Wingdings" panose="05000000000000000000" pitchFamily="2" charset="2"/>
              <a:buChar char="Ø"/>
            </a:pPr>
            <a:r>
              <a:rPr lang="en-PH" sz="2400" dirty="0">
                <a:ea typeface="Calibri" panose="020F0502020204030204" pitchFamily="34" charset="0"/>
                <a:cs typeface="Times New Roman" panose="02020603050405020304" pitchFamily="18" charset="0"/>
              </a:rPr>
              <a:t>4.03 </a:t>
            </a:r>
            <a:r>
              <a:rPr lang="en-PH" sz="2400" dirty="0">
                <a:effectLst/>
                <a:ea typeface="Calibri" panose="020F0502020204030204" pitchFamily="34" charset="0"/>
                <a:cs typeface="Times New Roman" panose="02020603050405020304" pitchFamily="18" charset="0"/>
              </a:rPr>
              <a:t>Maintain professional objectivity with respect to any software or related documents they are asked to evaluate</a:t>
            </a:r>
            <a:r>
              <a:rPr lang="en-PH" sz="2400" dirty="0">
                <a:ea typeface="Calibri" panose="020F0502020204030204" pitchFamily="34" charset="0"/>
                <a:cs typeface="Times New Roman" panose="02020603050405020304" pitchFamily="18" charset="0"/>
              </a:rPr>
              <a:t>.</a:t>
            </a:r>
            <a:endParaRPr lang="en-PH" sz="2400" dirty="0">
              <a:effectLst/>
              <a:ea typeface="Calibri" panose="020F0502020204030204" pitchFamily="34" charset="0"/>
              <a:cs typeface="Times New Roman" panose="02020603050405020304" pitchFamily="18" charset="0"/>
            </a:endParaRP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4.04 Not engage in deceptive financial practices such as bribery, double billing, or other improper financial practices.</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4.05 Disclose to all concerned parties those conflicts of interest that cannot reasonably be avoided or escaped.</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4.06 Refuse to participate, as members or advisors in a private, governmental or professional body concerned with software related issues, in which they, their employers or their clients have undisclosed potential conflicts of interest.</a:t>
            </a:r>
            <a:endParaRPr lang="en-PH" sz="24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201542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316687" y="2286087"/>
            <a:ext cx="11758771" cy="4383654"/>
          </a:xfrm>
        </p:spPr>
        <p:txBody>
          <a:bodyPr>
            <a:noAutofit/>
          </a:bodyPr>
          <a:lstStyle/>
          <a:p>
            <a:pPr marL="457200" lvl="1" indent="0" algn="just">
              <a:lnSpc>
                <a:spcPct val="107000"/>
              </a:lnSpc>
              <a:spcAft>
                <a:spcPts val="800"/>
              </a:spcAft>
              <a:buNone/>
            </a:pPr>
            <a:r>
              <a:rPr lang="en-PH" sz="2400" dirty="0">
                <a:effectLst/>
                <a:ea typeface="Calibri" panose="020F0502020204030204" pitchFamily="34" charset="0"/>
                <a:cs typeface="Times New Roman" panose="02020603050405020304" pitchFamily="18" charset="0"/>
              </a:rPr>
              <a:t>Principle 5: Management</a:t>
            </a:r>
          </a:p>
          <a:p>
            <a:pPr marL="457200" lvl="1" indent="0" algn="just">
              <a:lnSpc>
                <a:spcPct val="107000"/>
              </a:lnSpc>
              <a:spcAft>
                <a:spcPts val="800"/>
              </a:spcAft>
              <a:buNone/>
            </a:pPr>
            <a:r>
              <a:rPr lang="en-PH" sz="2400" dirty="0">
                <a:effectLst/>
                <a:ea typeface="Calibri" panose="020F0502020204030204" pitchFamily="34" charset="0"/>
                <a:cs typeface="Times New Roman" panose="02020603050405020304" pitchFamily="18" charset="0"/>
              </a:rPr>
              <a:t>Software engineering managers and leaders shall subscribe to and promote an ethical approach to the management of software development and maintenance. In particular, those managing or leading software engineers shall, as appropriate:</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5.01 Ensure good management for any project on which they work, including</a:t>
            </a:r>
            <a:r>
              <a:rPr lang="en-PH" sz="2400" dirty="0">
                <a:ea typeface="Calibri" panose="020F0502020204030204" pitchFamily="34" charset="0"/>
                <a:cs typeface="Times New Roman" panose="02020603050405020304" pitchFamily="18" charset="0"/>
              </a:rPr>
              <a:t> </a:t>
            </a:r>
            <a:r>
              <a:rPr lang="en-US" sz="2400" b="0" i="0" dirty="0">
                <a:effectLst/>
              </a:rPr>
              <a:t>effective procedures for promotion of quality and reduction of risk.</a:t>
            </a:r>
            <a:endParaRPr lang="en-PH" sz="2400" b="0" i="0" dirty="0">
              <a:ea typeface="Calibri" panose="020F0502020204030204" pitchFamily="34" charset="0"/>
              <a:cs typeface="Times New Roman" panose="02020603050405020304" pitchFamily="18" charset="0"/>
            </a:endParaRPr>
          </a:p>
          <a:p>
            <a:pPr lvl="1" algn="just">
              <a:lnSpc>
                <a:spcPct val="107000"/>
              </a:lnSpc>
              <a:spcAft>
                <a:spcPts val="800"/>
              </a:spcAft>
              <a:buFont typeface="Wingdings" panose="05000000000000000000" pitchFamily="2" charset="2"/>
              <a:buChar char="Ø"/>
            </a:pPr>
            <a:r>
              <a:rPr lang="en-US" sz="2400" b="0" i="0" dirty="0">
                <a:effectLst/>
              </a:rPr>
              <a:t>5.02 Ensure that software engineers are informed of standards before being held to them.</a:t>
            </a:r>
          </a:p>
        </p:txBody>
      </p:sp>
    </p:spTree>
    <p:extLst>
      <p:ext uri="{BB962C8B-B14F-4D97-AF65-F5344CB8AC3E}">
        <p14:creationId xmlns:p14="http://schemas.microsoft.com/office/powerpoint/2010/main" val="35667931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140955" y="2334214"/>
            <a:ext cx="11758771" cy="4383654"/>
          </a:xfrm>
        </p:spPr>
        <p:txBody>
          <a:bodyPr>
            <a:noAutofit/>
          </a:bodyPr>
          <a:lstStyle/>
          <a:p>
            <a:pPr lvl="1" algn="just">
              <a:lnSpc>
                <a:spcPct val="107000"/>
              </a:lnSpc>
              <a:spcAft>
                <a:spcPts val="800"/>
              </a:spcAft>
              <a:buFont typeface="Wingdings" panose="05000000000000000000" pitchFamily="2" charset="2"/>
              <a:buChar char="Ø"/>
            </a:pPr>
            <a:r>
              <a:rPr lang="en-US" sz="2400" b="0" i="0" dirty="0">
                <a:effectLst/>
              </a:rPr>
              <a:t>5.03 Ensure that software engineers know the employer's policies and procedures for protecting passwords, files and information that is confidential to the employer or confidential to others. </a:t>
            </a:r>
          </a:p>
          <a:p>
            <a:pPr lvl="1" algn="just">
              <a:lnSpc>
                <a:spcPct val="107000"/>
              </a:lnSpc>
              <a:spcAft>
                <a:spcPts val="800"/>
              </a:spcAft>
              <a:buFont typeface="Wingdings" panose="05000000000000000000" pitchFamily="2" charset="2"/>
              <a:buChar char="Ø"/>
            </a:pPr>
            <a:r>
              <a:rPr lang="en-US" sz="2400" b="0" i="0" dirty="0">
                <a:effectLst/>
              </a:rPr>
              <a:t>5.04 Assign work only after taking into account appropriate contributions of education and experience tempered with a desire to further that education and experience. </a:t>
            </a:r>
          </a:p>
          <a:p>
            <a:pPr lvl="1" algn="just">
              <a:lnSpc>
                <a:spcPct val="107000"/>
              </a:lnSpc>
              <a:spcAft>
                <a:spcPts val="800"/>
              </a:spcAft>
              <a:buFont typeface="Wingdings" panose="05000000000000000000" pitchFamily="2" charset="2"/>
              <a:buChar char="Ø"/>
            </a:pPr>
            <a:r>
              <a:rPr lang="en-US" sz="2400" b="0" i="0" dirty="0">
                <a:effectLst/>
              </a:rPr>
              <a:t>5.05 Ensure realistic quantitative estimates of cost, scheduling, personnel, quality and outcomes on any project on which they work or propose to work and provide an uncertainty assessment of these estimates. </a:t>
            </a:r>
          </a:p>
        </p:txBody>
      </p:sp>
    </p:spTree>
    <p:extLst>
      <p:ext uri="{BB962C8B-B14F-4D97-AF65-F5344CB8AC3E}">
        <p14:creationId xmlns:p14="http://schemas.microsoft.com/office/powerpoint/2010/main" val="1293345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140955" y="2334214"/>
            <a:ext cx="11758771" cy="4383654"/>
          </a:xfrm>
        </p:spPr>
        <p:txBody>
          <a:bodyPr>
            <a:noAutofit/>
          </a:bodyPr>
          <a:lstStyle/>
          <a:p>
            <a:pPr lvl="1" algn="just">
              <a:lnSpc>
                <a:spcPct val="107000"/>
              </a:lnSpc>
              <a:spcAft>
                <a:spcPts val="800"/>
              </a:spcAft>
              <a:buFont typeface="Wingdings" panose="05000000000000000000" pitchFamily="2" charset="2"/>
              <a:buChar char="Ø"/>
            </a:pPr>
            <a:r>
              <a:rPr lang="en-US" sz="2400" b="0" i="0" dirty="0">
                <a:effectLst/>
              </a:rPr>
              <a:t>5.06 Attract potential software engineers only by a full and accurate description of the conditions of employment.</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5.07 Offer fair and just remuneration. </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5.08 Not unjustly prevent someone from taking a position for which that person is suitably qualified. </a:t>
            </a:r>
          </a:p>
          <a:p>
            <a:pPr lvl="1"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5.09 Ensure that there is a fair agreement concerning ownership of any software, processes, research, writing or other intellectual property to which a, software engineer has contributed.</a:t>
            </a:r>
          </a:p>
        </p:txBody>
      </p:sp>
    </p:spTree>
    <p:extLst>
      <p:ext uri="{BB962C8B-B14F-4D97-AF65-F5344CB8AC3E}">
        <p14:creationId xmlns:p14="http://schemas.microsoft.com/office/powerpoint/2010/main" val="37682511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140955" y="2334214"/>
            <a:ext cx="11758771" cy="4383654"/>
          </a:xfrm>
        </p:spPr>
        <p:txBody>
          <a:bodyPr>
            <a:noAutofit/>
          </a:bodyPr>
          <a:lstStyle/>
          <a:p>
            <a:pPr>
              <a:lnSpc>
                <a:spcPct val="107000"/>
              </a:lnSpc>
              <a:spcAft>
                <a:spcPts val="800"/>
              </a:spcAft>
              <a:buFont typeface="Wingdings" panose="05000000000000000000" pitchFamily="2" charset="2"/>
              <a:buChar char="Ø"/>
            </a:pPr>
            <a:r>
              <a:rPr lang="en-PH" sz="2400" kern="100" dirty="0">
                <a:effectLst/>
                <a:ea typeface="Calibri" panose="020F0502020204030204" pitchFamily="34" charset="0"/>
                <a:cs typeface="Times New Roman" panose="02020603050405020304" pitchFamily="18" charset="0"/>
              </a:rPr>
              <a:t>5.10 Provide for due process in hearing charges of violation of an employer's policy or of this Code. </a:t>
            </a:r>
          </a:p>
          <a:p>
            <a:pPr>
              <a:lnSpc>
                <a:spcPct val="107000"/>
              </a:lnSpc>
              <a:spcAft>
                <a:spcPts val="800"/>
              </a:spcAft>
              <a:buFont typeface="Wingdings" panose="05000000000000000000" pitchFamily="2" charset="2"/>
              <a:buChar char="Ø"/>
            </a:pPr>
            <a:r>
              <a:rPr lang="en-PH" sz="2400" kern="100" dirty="0">
                <a:effectLst/>
                <a:ea typeface="Calibri" panose="020F0502020204030204" pitchFamily="34" charset="0"/>
                <a:cs typeface="Times New Roman" panose="02020603050405020304" pitchFamily="18" charset="0"/>
              </a:rPr>
              <a:t>5.11 Not ask a software engineer to do anything inconsistent with this Code. </a:t>
            </a:r>
          </a:p>
          <a:p>
            <a:pPr>
              <a:lnSpc>
                <a:spcPct val="107000"/>
              </a:lnSpc>
              <a:spcAft>
                <a:spcPts val="800"/>
              </a:spcAft>
              <a:buFont typeface="Wingdings" panose="05000000000000000000" pitchFamily="2" charset="2"/>
              <a:buChar char="Ø"/>
            </a:pPr>
            <a:r>
              <a:rPr lang="en-PH" sz="2400" kern="100" dirty="0">
                <a:effectLst/>
                <a:ea typeface="Calibri" panose="020F0502020204030204" pitchFamily="34" charset="0"/>
                <a:cs typeface="Times New Roman" panose="02020603050405020304" pitchFamily="18" charset="0"/>
              </a:rPr>
              <a:t>5.12 Not punish anyone for expressing ethical concerns about a project.</a:t>
            </a:r>
          </a:p>
          <a:p>
            <a:pPr marL="0" indent="0" algn="just">
              <a:lnSpc>
                <a:spcPct val="107000"/>
              </a:lnSpc>
              <a:spcAft>
                <a:spcPts val="800"/>
              </a:spcAft>
              <a:buNone/>
            </a:pPr>
            <a:r>
              <a:rPr lang="en-PH" sz="2400" dirty="0">
                <a:effectLst/>
                <a:ea typeface="Calibri" panose="020F0502020204030204" pitchFamily="34" charset="0"/>
                <a:cs typeface="Times New Roman" panose="02020603050405020304" pitchFamily="18" charset="0"/>
              </a:rPr>
              <a:t>Principle 6 : Profession Software engineers shall advance the integrity and reputation of the profession consistent with the public interest. In particular, software engineers shall, as appropriate: </a:t>
            </a:r>
            <a:r>
              <a:rPr lang="en-PH" sz="2400" kern="100" dirty="0">
                <a:effectLst/>
                <a:ea typeface="Calibri" panose="020F0502020204030204" pitchFamily="34" charset="0"/>
                <a:cs typeface="Times New Roman" panose="02020603050405020304" pitchFamily="18" charset="0"/>
              </a:rPr>
              <a:t> </a:t>
            </a:r>
          </a:p>
          <a:p>
            <a:pPr>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6.01 Help develop an organizational environment favorable to acting ethically </a:t>
            </a:r>
          </a:p>
        </p:txBody>
      </p:sp>
    </p:spTree>
    <p:extLst>
      <p:ext uri="{BB962C8B-B14F-4D97-AF65-F5344CB8AC3E}">
        <p14:creationId xmlns:p14="http://schemas.microsoft.com/office/powerpoint/2010/main" val="4101136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140955" y="2334214"/>
            <a:ext cx="11758771" cy="4383654"/>
          </a:xfrm>
        </p:spPr>
        <p:txBody>
          <a:bodyPr>
            <a:noAutofit/>
          </a:bodyPr>
          <a:lstStyle/>
          <a:p>
            <a:pPr>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6.02 Promote public knowledge of software engineering. </a:t>
            </a:r>
          </a:p>
          <a:p>
            <a:pPr>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6.03 Extend software engineering knowledge by appropriate participation in professional organizations, meetings and publications </a:t>
            </a:r>
          </a:p>
          <a:p>
            <a:pPr>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6.04 Support, as members of a profession, </a:t>
            </a:r>
            <a:r>
              <a:rPr lang="en-PH" sz="2400" dirty="0">
                <a:ea typeface="Calibri" panose="020F0502020204030204" pitchFamily="34" charset="0"/>
                <a:cs typeface="Times New Roman" panose="02020603050405020304" pitchFamily="18" charset="0"/>
              </a:rPr>
              <a:t>o</a:t>
            </a:r>
            <a:r>
              <a:rPr lang="en-PH" sz="2400" dirty="0">
                <a:effectLst/>
                <a:ea typeface="Calibri" panose="020F0502020204030204" pitchFamily="34" charset="0"/>
                <a:cs typeface="Times New Roman" panose="02020603050405020304" pitchFamily="18" charset="0"/>
              </a:rPr>
              <a:t>ther software engineers striving to follow this Code.</a:t>
            </a:r>
          </a:p>
          <a:p>
            <a:pPr>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6.05 Not promote their own interest at the expense of the profession, client or employer </a:t>
            </a:r>
          </a:p>
          <a:p>
            <a:pPr>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6.06 Obey all laws governing their work, unless in exceptional circumstances, such compliance is inconsistent with the public interest. </a:t>
            </a:r>
          </a:p>
        </p:txBody>
      </p:sp>
    </p:spTree>
    <p:extLst>
      <p:ext uri="{BB962C8B-B14F-4D97-AF65-F5344CB8AC3E}">
        <p14:creationId xmlns:p14="http://schemas.microsoft.com/office/powerpoint/2010/main" val="36147890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140955" y="2334214"/>
            <a:ext cx="11758771" cy="4383654"/>
          </a:xfrm>
        </p:spPr>
        <p:txBody>
          <a:bodyPr>
            <a:noAutofit/>
          </a:bodyPr>
          <a:lstStyle/>
          <a:p>
            <a:pPr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6.07 Be accurate in stating the characteristics of software on which they work, avoiding not only false claims but also claims that might reasonably be supposed to be speculative, vacuous, deceptive, misleading or doubtful. </a:t>
            </a:r>
          </a:p>
          <a:p>
            <a:pPr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6.08 Take responsibility for detecting, correcting and reporting errors in software and associated documents on which they work. </a:t>
            </a:r>
          </a:p>
          <a:p>
            <a:pPr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6.09 Ensure that clients, employers and supervisors know of the software engineer's commitment to this Code of ethics and the subsequent ramifications of such commitment.</a:t>
            </a:r>
          </a:p>
        </p:txBody>
      </p:sp>
    </p:spTree>
    <p:extLst>
      <p:ext uri="{BB962C8B-B14F-4D97-AF65-F5344CB8AC3E}">
        <p14:creationId xmlns:p14="http://schemas.microsoft.com/office/powerpoint/2010/main" val="13360751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140955" y="2254004"/>
            <a:ext cx="11758771" cy="4383654"/>
          </a:xfrm>
        </p:spPr>
        <p:txBody>
          <a:bodyPr>
            <a:noAutofit/>
          </a:bodyPr>
          <a:lstStyle/>
          <a:p>
            <a:pPr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6.10 Avoid associations with businesses and organizations which are in conflict with this code. </a:t>
            </a:r>
          </a:p>
          <a:p>
            <a:pPr algn="just">
              <a:lnSpc>
                <a:spcPct val="107000"/>
              </a:lnSpc>
              <a:spcAft>
                <a:spcPts val="800"/>
              </a:spcAf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6.11 Recognize that violations of this Code are inconsistent with being a professional software engineer. </a:t>
            </a:r>
          </a:p>
          <a:p>
            <a:pPr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6.12 Express concerns to the people involved when significant violations of this Code are detected unless this is impossible, counter-productive or dangerous. </a:t>
            </a:r>
          </a:p>
          <a:p>
            <a:pPr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6.13 Report significant violations of this Code to appropriate authorities when It is clear that consultation with people involved in these significant violations is impossible counter-productive or dangerous. </a:t>
            </a:r>
          </a:p>
        </p:txBody>
      </p:sp>
    </p:spTree>
    <p:extLst>
      <p:ext uri="{BB962C8B-B14F-4D97-AF65-F5344CB8AC3E}">
        <p14:creationId xmlns:p14="http://schemas.microsoft.com/office/powerpoint/2010/main" val="31841308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140955" y="2254004"/>
            <a:ext cx="11758771" cy="4383654"/>
          </a:xfrm>
        </p:spPr>
        <p:txBody>
          <a:bodyPr>
            <a:noAutofit/>
          </a:bodyPr>
          <a:lstStyle/>
          <a:p>
            <a:pPr marL="0" indent="0" algn="just">
              <a:lnSpc>
                <a:spcPct val="107000"/>
              </a:lnSpc>
              <a:spcAft>
                <a:spcPts val="800"/>
              </a:spcAft>
              <a:buNone/>
            </a:pPr>
            <a:r>
              <a:rPr lang="en-PH" sz="2400" kern="100" dirty="0">
                <a:effectLst/>
                <a:ea typeface="Calibri" panose="020F0502020204030204" pitchFamily="34" charset="0"/>
                <a:cs typeface="Times New Roman" panose="02020603050405020304" pitchFamily="18" charset="0"/>
              </a:rPr>
              <a:t>Principle 7 : Colleagues </a:t>
            </a:r>
          </a:p>
          <a:p>
            <a:pPr marL="0" indent="0" algn="just">
              <a:buNone/>
            </a:pPr>
            <a:r>
              <a:rPr lang="en-PH" sz="2400" dirty="0">
                <a:effectLst/>
                <a:ea typeface="Calibri" panose="020F0502020204030204" pitchFamily="34" charset="0"/>
                <a:cs typeface="Times New Roman" panose="02020603050405020304" pitchFamily="18" charset="0"/>
              </a:rPr>
              <a:t>Software engineers shall be fair to and supportive of their colleagues. In particular, software engineers shall; as appropriate: </a:t>
            </a:r>
          </a:p>
          <a:p>
            <a:pPr marL="0" indent="0" algn="just">
              <a:buNone/>
            </a:pPr>
            <a:endParaRPr lang="en-PH" sz="2400" dirty="0">
              <a:effectLst/>
              <a:ea typeface="Calibri" panose="020F0502020204030204" pitchFamily="34" charset="0"/>
              <a:cs typeface="Times New Roman" panose="02020603050405020304" pitchFamily="18" charset="0"/>
            </a:endParaRP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7.01 Encourage colleagues to adhere to this Code. </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7.02 Assist colleagues in professional development. </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7.03 Credit fully the work of others and refrain from taking undue credit. </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7.04 Review the work of others in an objective, candid and properly documented way. </a:t>
            </a:r>
            <a:endParaRPr lang="en-PH" sz="2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59020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140955" y="2254004"/>
            <a:ext cx="11758771" cy="4383654"/>
          </a:xfrm>
        </p:spPr>
        <p:txBody>
          <a:bodyPr>
            <a:noAutofit/>
          </a:bodyPr>
          <a:lstStyle/>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7.05 Give a fair hearing to the opinions, concerns or complaints of a colleague. </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7.06 Assist colleagues in being fully aware of current standard work practices including policies and procedures for protecting passwords, files and other confidential information and security measures in general. </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7.07 Not unfairly intervene in the career of any colleague; however, concerns of the employer the client or, public interest may compel software engineers in good faith to question the competence of a colleague. </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7.08 In situations outside of their own areas of competence call upon the opinions of other professionals who have competence in that area. </a:t>
            </a:r>
            <a:endParaRPr lang="en-PH" sz="2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675504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140955" y="2254004"/>
            <a:ext cx="11758771" cy="4383654"/>
          </a:xfrm>
        </p:spPr>
        <p:txBody>
          <a:bodyPr>
            <a:noAutofit/>
          </a:bodyPr>
          <a:lstStyle/>
          <a:p>
            <a:pPr marL="0" indent="0" algn="just">
              <a:lnSpc>
                <a:spcPct val="107000"/>
              </a:lnSpc>
              <a:spcAft>
                <a:spcPts val="800"/>
              </a:spcAft>
              <a:buNone/>
            </a:pPr>
            <a:r>
              <a:rPr lang="en-PH" sz="2400" kern="100" dirty="0">
                <a:effectLst/>
                <a:latin typeface="+mj-lt"/>
                <a:ea typeface="Calibri" panose="020F0502020204030204" pitchFamily="34" charset="0"/>
                <a:cs typeface="Times New Roman" panose="02020603050405020304" pitchFamily="18" charset="0"/>
              </a:rPr>
              <a:t>Principle 8: Self </a:t>
            </a:r>
          </a:p>
          <a:p>
            <a:pPr marL="0" indent="0" algn="just">
              <a:buNone/>
            </a:pPr>
            <a:r>
              <a:rPr lang="en-PH" sz="2400" dirty="0">
                <a:effectLst/>
                <a:latin typeface="+mj-lt"/>
                <a:ea typeface="Calibri" panose="020F0502020204030204" pitchFamily="34" charset="0"/>
                <a:cs typeface="Times New Roman" panose="02020603050405020304" pitchFamily="18" charset="0"/>
              </a:rPr>
              <a:t>Software engineers shall participate in lifelong learning regarding the practice of their profession and shall promote an ethical approach to the practice of the profession. In particular, software engineers shall continually endeavor to:</a:t>
            </a:r>
          </a:p>
          <a:p>
            <a:pPr algn="jus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8.01 Further their knowledge of developments in the analysis, specification, design, development, maintenance and testing of software and related documents, together with the management of the development process. </a:t>
            </a:r>
          </a:p>
          <a:p>
            <a:pPr algn="jus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8.02 Improve their ability to create safe, reliable, and useful quality software at reasonable cost and within a reasonable time. </a:t>
            </a:r>
            <a:endParaRPr lang="en-PH" sz="2400" dirty="0">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739224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140955" y="2254004"/>
            <a:ext cx="11758771" cy="4383654"/>
          </a:xfrm>
        </p:spPr>
        <p:txBody>
          <a:bodyPr>
            <a:noAutofit/>
          </a:bodyPr>
          <a:lstStyle/>
          <a:p>
            <a:pPr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8.03 Improve their ability to produce accurate, informative, and well-written documentation. </a:t>
            </a:r>
          </a:p>
          <a:p>
            <a:pPr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8.04 Improve their understanding of the software and related documents on which they work and of the environment in which they will be used. </a:t>
            </a:r>
          </a:p>
          <a:p>
            <a:pPr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8.05 Improve their knowledge of relevant standards and the law governing the software and related documents on which they work. </a:t>
            </a:r>
          </a:p>
          <a:p>
            <a:pPr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8.06 Improve their knowledge of this Code, its interpretation and its application to their work. </a:t>
            </a:r>
            <a:endParaRPr lang="en-PH" sz="2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626491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3. Principles</a:t>
            </a:r>
          </a:p>
        </p:txBody>
      </p:sp>
      <p:sp>
        <p:nvSpPr>
          <p:cNvPr id="3" name="Content Placeholder 2">
            <a:extLst>
              <a:ext uri="{FF2B5EF4-FFF2-40B4-BE49-F238E27FC236}">
                <a16:creationId xmlns:a16="http://schemas.microsoft.com/office/drawing/2014/main" id="{7B79F166-B20E-09CC-2472-7F605DF1DE4C}"/>
              </a:ext>
            </a:extLst>
          </p:cNvPr>
          <p:cNvSpPr>
            <a:spLocks noGrp="1"/>
          </p:cNvSpPr>
          <p:nvPr>
            <p:ph idx="1"/>
          </p:nvPr>
        </p:nvSpPr>
        <p:spPr>
          <a:xfrm>
            <a:off x="140955" y="2254004"/>
            <a:ext cx="11758771" cy="4383654"/>
          </a:xfrm>
        </p:spPr>
        <p:txBody>
          <a:bodyPr>
            <a:noAutofit/>
          </a:bodyPr>
          <a:lstStyle/>
          <a:p>
            <a:pPr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8.07 Not give unfair treatment to anyone because of any irrelevant prejudices. </a:t>
            </a:r>
          </a:p>
          <a:p>
            <a:pPr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8.08 Not influence others to undertake any action that involves a breach of this Code. </a:t>
            </a:r>
          </a:p>
          <a:p>
            <a:pPr algn="just">
              <a:lnSpc>
                <a:spcPct val="107000"/>
              </a:lnSpc>
              <a:spcAft>
                <a:spcPts val="800"/>
              </a:spcAf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8.09 Recognize that personal violations of this Code are inconsistent with being a professional software engineers</a:t>
            </a:r>
            <a:endParaRPr lang="en-PH" sz="24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077430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4. The Ten Commandments</a:t>
            </a:r>
          </a:p>
        </p:txBody>
      </p:sp>
      <p:graphicFrame>
        <p:nvGraphicFramePr>
          <p:cNvPr id="4" name="Content Placeholder 3">
            <a:extLst>
              <a:ext uri="{FF2B5EF4-FFF2-40B4-BE49-F238E27FC236}">
                <a16:creationId xmlns:a16="http://schemas.microsoft.com/office/drawing/2014/main" id="{3EF1A343-70EC-A17F-0E2B-2C821F1282B2}"/>
              </a:ext>
            </a:extLst>
          </p:cNvPr>
          <p:cNvGraphicFramePr>
            <a:graphicFrameLocks noGrp="1"/>
          </p:cNvGraphicFramePr>
          <p:nvPr>
            <p:ph idx="1"/>
            <p:extLst>
              <p:ext uri="{D42A27DB-BD31-4B8C-83A1-F6EECF244321}">
                <p14:modId xmlns:p14="http://schemas.microsoft.com/office/powerpoint/2010/main" val="581723624"/>
              </p:ext>
            </p:extLst>
          </p:nvPr>
        </p:nvGraphicFramePr>
        <p:xfrm>
          <a:off x="316688" y="2222500"/>
          <a:ext cx="11583038" cy="4462079"/>
        </p:xfrm>
        <a:graphic>
          <a:graphicData uri="http://schemas.openxmlformats.org/drawingml/2006/table">
            <a:tbl>
              <a:tblPr firstRow="1" bandRow="1">
                <a:tableStyleId>{5C22544A-7EE6-4342-B048-85BDC9FD1C3A}</a:tableStyleId>
              </a:tblPr>
              <a:tblGrid>
                <a:gridCol w="5791519">
                  <a:extLst>
                    <a:ext uri="{9D8B030D-6E8A-4147-A177-3AD203B41FA5}">
                      <a16:colId xmlns:a16="http://schemas.microsoft.com/office/drawing/2014/main" val="3290652987"/>
                    </a:ext>
                  </a:extLst>
                </a:gridCol>
                <a:gridCol w="5791519">
                  <a:extLst>
                    <a:ext uri="{9D8B030D-6E8A-4147-A177-3AD203B41FA5}">
                      <a16:colId xmlns:a16="http://schemas.microsoft.com/office/drawing/2014/main" val="3513842126"/>
                    </a:ext>
                  </a:extLst>
                </a:gridCol>
              </a:tblGrid>
              <a:tr h="736489">
                <a:tc gridSpan="2">
                  <a:txBody>
                    <a:bodyPr/>
                    <a:lstStyle/>
                    <a:p>
                      <a:r>
                        <a:rPr lang="en-PH" sz="2000" b="1" kern="1200" dirty="0">
                          <a:solidFill>
                            <a:schemeClr val="bg1"/>
                          </a:solidFill>
                          <a:effectLst/>
                          <a:latin typeface="+mn-lt"/>
                          <a:ea typeface="+mn-ea"/>
                          <a:cs typeface="+mn-cs"/>
                        </a:rPr>
                        <a:t>The Ten Commandments of computer ethics have been defined by the Computer. Ethics Institute. Here is our interpretation of them: </a:t>
                      </a:r>
                      <a:endParaRPr lang="en-PH" sz="2000" dirty="0">
                        <a:solidFill>
                          <a:schemeClr val="bg1"/>
                        </a:solidFill>
                      </a:endParaRPr>
                    </a:p>
                  </a:txBody>
                  <a:tcPr/>
                </a:tc>
                <a:tc hMerge="1">
                  <a:txBody>
                    <a:bodyPr/>
                    <a:lstStyle/>
                    <a:p>
                      <a:endParaRPr lang="en-PH" dirty="0"/>
                    </a:p>
                  </a:txBody>
                  <a:tcPr/>
                </a:tc>
                <a:extLst>
                  <a:ext uri="{0D108BD9-81ED-4DB2-BD59-A6C34878D82A}">
                    <a16:rowId xmlns:a16="http://schemas.microsoft.com/office/drawing/2014/main" val="3259939612"/>
                  </a:ext>
                </a:extLst>
              </a:tr>
              <a:tr h="779634">
                <a:tc>
                  <a:txBody>
                    <a:bodyPr/>
                    <a:lstStyle/>
                    <a:p>
                      <a:r>
                        <a:rPr lang="en-PH" sz="2000" kern="1200" dirty="0">
                          <a:solidFill>
                            <a:schemeClr val="dk1"/>
                          </a:solidFill>
                          <a:effectLst/>
                          <a:latin typeface="+mn-lt"/>
                          <a:ea typeface="+mn-ea"/>
                          <a:cs typeface="+mn-cs"/>
                        </a:rPr>
                        <a:t>1. Thou shalt not use a computer to harm other people. </a:t>
                      </a:r>
                      <a:endParaRPr lang="en-PH" sz="2000" dirty="0"/>
                    </a:p>
                  </a:txBody>
                  <a:tcPr/>
                </a:tc>
                <a:tc>
                  <a:txBody>
                    <a:bodyPr/>
                    <a:lstStyle/>
                    <a:p>
                      <a:r>
                        <a:rPr lang="en-PH" sz="2000" kern="1200" dirty="0">
                          <a:solidFill>
                            <a:schemeClr val="dk1"/>
                          </a:solidFill>
                          <a:effectLst/>
                          <a:latin typeface="+mn-lt"/>
                          <a:ea typeface="+mn-ea"/>
                          <a:cs typeface="+mn-cs"/>
                        </a:rPr>
                        <a:t>6. Thou shalt not use or copy software for which you have not paid . </a:t>
                      </a:r>
                      <a:endParaRPr lang="en-PH" sz="2000" dirty="0"/>
                    </a:p>
                  </a:txBody>
                  <a:tcPr/>
                </a:tc>
                <a:extLst>
                  <a:ext uri="{0D108BD9-81ED-4DB2-BD59-A6C34878D82A}">
                    <a16:rowId xmlns:a16="http://schemas.microsoft.com/office/drawing/2014/main" val="4173593985"/>
                  </a:ext>
                </a:extLst>
              </a:tr>
              <a:tr h="736489">
                <a:tc>
                  <a:txBody>
                    <a:bodyPr/>
                    <a:lstStyle/>
                    <a:p>
                      <a:r>
                        <a:rPr lang="en-PH" sz="2000" kern="1200" dirty="0">
                          <a:solidFill>
                            <a:schemeClr val="dk1"/>
                          </a:solidFill>
                          <a:effectLst/>
                          <a:latin typeface="+mn-lt"/>
                          <a:ea typeface="+mn-ea"/>
                          <a:cs typeface="+mn-cs"/>
                        </a:rPr>
                        <a:t>2. Thou shalt not interfere with other people's computer work</a:t>
                      </a:r>
                      <a:endParaRPr lang="en-PH" sz="2000" dirty="0"/>
                    </a:p>
                  </a:txBody>
                  <a:tcPr/>
                </a:tc>
                <a:tc>
                  <a:txBody>
                    <a:bodyPr/>
                    <a:lstStyle/>
                    <a:p>
                      <a:r>
                        <a:rPr lang="en-PH" sz="2000" kern="1200" dirty="0">
                          <a:solidFill>
                            <a:schemeClr val="dk1"/>
                          </a:solidFill>
                          <a:effectLst/>
                          <a:latin typeface="+mn-lt"/>
                          <a:ea typeface="+mn-ea"/>
                          <a:cs typeface="+mn-cs"/>
                        </a:rPr>
                        <a:t>7. Thou shalt not use other people's computer resources without authorization. </a:t>
                      </a:r>
                      <a:endParaRPr lang="en-PH" sz="2000" dirty="0"/>
                    </a:p>
                  </a:txBody>
                  <a:tcPr/>
                </a:tc>
                <a:extLst>
                  <a:ext uri="{0D108BD9-81ED-4DB2-BD59-A6C34878D82A}">
                    <a16:rowId xmlns:a16="http://schemas.microsoft.com/office/drawing/2014/main" val="3011436851"/>
                  </a:ext>
                </a:extLst>
              </a:tr>
              <a:tr h="736489">
                <a:tc>
                  <a:txBody>
                    <a:bodyPr/>
                    <a:lstStyle/>
                    <a:p>
                      <a:r>
                        <a:rPr lang="en-PH" sz="2000" kern="1200" dirty="0">
                          <a:solidFill>
                            <a:schemeClr val="dk1"/>
                          </a:solidFill>
                          <a:effectLst/>
                          <a:latin typeface="+mn-lt"/>
                          <a:ea typeface="+mn-ea"/>
                          <a:cs typeface="+mn-cs"/>
                        </a:rPr>
                        <a:t>3. Thou shalt not snoop around, in other people's files. </a:t>
                      </a:r>
                      <a:endParaRPr lang="en-PH" sz="2000" dirty="0"/>
                    </a:p>
                  </a:txBody>
                  <a:tcPr/>
                </a:tc>
                <a:tc>
                  <a:txBody>
                    <a:bodyPr/>
                    <a:lstStyle/>
                    <a:p>
                      <a:r>
                        <a:rPr lang="en-PH" sz="2000" kern="1200" dirty="0">
                          <a:solidFill>
                            <a:schemeClr val="dk1"/>
                          </a:solidFill>
                          <a:effectLst/>
                          <a:latin typeface="+mn-lt"/>
                          <a:ea typeface="+mn-ea"/>
                          <a:cs typeface="+mn-cs"/>
                        </a:rPr>
                        <a:t>8. Thou shalt not appropriate other people's intellectual output. </a:t>
                      </a:r>
                      <a:endParaRPr lang="en-PH" sz="2000" dirty="0"/>
                    </a:p>
                  </a:txBody>
                  <a:tcPr/>
                </a:tc>
                <a:extLst>
                  <a:ext uri="{0D108BD9-81ED-4DB2-BD59-A6C34878D82A}">
                    <a16:rowId xmlns:a16="http://schemas.microsoft.com/office/drawing/2014/main" val="1444902650"/>
                  </a:ext>
                </a:extLst>
              </a:tr>
              <a:tr h="736489">
                <a:tc>
                  <a:txBody>
                    <a:bodyPr/>
                    <a:lstStyle/>
                    <a:p>
                      <a:r>
                        <a:rPr lang="en-PH" sz="2000" kern="1200" dirty="0">
                          <a:solidFill>
                            <a:schemeClr val="dk1"/>
                          </a:solidFill>
                          <a:effectLst/>
                          <a:latin typeface="+mn-lt"/>
                          <a:ea typeface="+mn-ea"/>
                          <a:cs typeface="+mn-cs"/>
                        </a:rPr>
                        <a:t>4. Thou shalt not use a computer to steal. </a:t>
                      </a:r>
                      <a:endParaRPr lang="en-PH" sz="2000" dirty="0"/>
                    </a:p>
                  </a:txBody>
                  <a:tcPr/>
                </a:tc>
                <a:tc>
                  <a:txBody>
                    <a:bodyPr/>
                    <a:lstStyle/>
                    <a:p>
                      <a:r>
                        <a:rPr lang="en-PH" sz="2000" kern="1200" dirty="0">
                          <a:solidFill>
                            <a:schemeClr val="dk1"/>
                          </a:solidFill>
                          <a:effectLst/>
                          <a:latin typeface="+mn-lt"/>
                          <a:ea typeface="+mn-ea"/>
                          <a:cs typeface="+mn-cs"/>
                        </a:rPr>
                        <a:t>9. Thou shalt think about the social consequences of the program you write. </a:t>
                      </a:r>
                      <a:endParaRPr lang="en-PH" sz="2000" dirty="0"/>
                    </a:p>
                  </a:txBody>
                  <a:tcPr/>
                </a:tc>
                <a:extLst>
                  <a:ext uri="{0D108BD9-81ED-4DB2-BD59-A6C34878D82A}">
                    <a16:rowId xmlns:a16="http://schemas.microsoft.com/office/drawing/2014/main" val="2120490776"/>
                  </a:ext>
                </a:extLst>
              </a:tr>
              <a:tr h="736489">
                <a:tc>
                  <a:txBody>
                    <a:bodyPr/>
                    <a:lstStyle/>
                    <a:p>
                      <a:r>
                        <a:rPr lang="en-PH" sz="2000" kern="1200" dirty="0">
                          <a:solidFill>
                            <a:schemeClr val="dk1"/>
                          </a:solidFill>
                          <a:effectLst/>
                          <a:latin typeface="+mn-lt"/>
                          <a:ea typeface="+mn-ea"/>
                          <a:cs typeface="+mn-cs"/>
                        </a:rPr>
                        <a:t>5. Thou shalt not use a computer to bear false witness.</a:t>
                      </a:r>
                      <a:endParaRPr lang="en-PH" sz="2000" dirty="0"/>
                    </a:p>
                  </a:txBody>
                  <a:tcPr/>
                </a:tc>
                <a:tc>
                  <a:txBody>
                    <a:bodyPr/>
                    <a:lstStyle/>
                    <a:p>
                      <a:r>
                        <a:rPr lang="en-PH" sz="2000" kern="1200" dirty="0">
                          <a:solidFill>
                            <a:schemeClr val="dk1"/>
                          </a:solidFill>
                          <a:effectLst/>
                          <a:latin typeface="+mn-lt"/>
                          <a:ea typeface="+mn-ea"/>
                          <a:cs typeface="+mn-cs"/>
                        </a:rPr>
                        <a:t>10. Thou shalt use a computer in ways that show consideration and respect.</a:t>
                      </a:r>
                      <a:endParaRPr lang="en-PH" sz="2000" dirty="0"/>
                    </a:p>
                  </a:txBody>
                  <a:tcPr/>
                </a:tc>
                <a:extLst>
                  <a:ext uri="{0D108BD9-81ED-4DB2-BD59-A6C34878D82A}">
                    <a16:rowId xmlns:a16="http://schemas.microsoft.com/office/drawing/2014/main" val="1723834827"/>
                  </a:ext>
                </a:extLst>
              </a:tr>
            </a:tbl>
          </a:graphicData>
        </a:graphic>
      </p:graphicFrame>
    </p:spTree>
    <p:extLst>
      <p:ext uri="{BB962C8B-B14F-4D97-AF65-F5344CB8AC3E}">
        <p14:creationId xmlns:p14="http://schemas.microsoft.com/office/powerpoint/2010/main" val="6974396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5. What is Computer Ethics?</a:t>
            </a:r>
          </a:p>
        </p:txBody>
      </p:sp>
      <p:sp>
        <p:nvSpPr>
          <p:cNvPr id="5" name="Content Placeholder 4">
            <a:extLst>
              <a:ext uri="{FF2B5EF4-FFF2-40B4-BE49-F238E27FC236}">
                <a16:creationId xmlns:a16="http://schemas.microsoft.com/office/drawing/2014/main" id="{B20D295D-862E-3BA3-2DA6-25DA82B2BE0B}"/>
              </a:ext>
            </a:extLst>
          </p:cNvPr>
          <p:cNvSpPr>
            <a:spLocks noGrp="1"/>
          </p:cNvSpPr>
          <p:nvPr>
            <p:ph idx="1"/>
          </p:nvPr>
        </p:nvSpPr>
        <p:spPr>
          <a:xfrm>
            <a:off x="144378" y="2206243"/>
            <a:ext cx="11583037" cy="4499355"/>
          </a:xfrm>
        </p:spPr>
        <p:txBody>
          <a:bodyPr>
            <a:noAutofit/>
          </a:bodyPr>
          <a:lstStyle/>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It is a new branch of ethics that is growing and changing rapidly as computer technology also grows and develops. The term "computer ethics" is open to interpretations both broad and narrow. Computer ethics in the broadest sense can be understood as that branch of applied ethics which studies and analyzes such social and ethical impacts of information technology. </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In recent years, this robust new field has led to new university courses, conferences, workshops, professional organizations, curriculum materials, books, articles, journals, and research centers. And in the age of the world-wide-web, computer ethics is quickly being transformed into "global information ethics". Computer ethics deals with practical problems and focuses on the nature of moral action and responsibility</a:t>
            </a:r>
            <a:endParaRPr lang="en-PH" sz="2400" dirty="0"/>
          </a:p>
        </p:txBody>
      </p:sp>
    </p:spTree>
    <p:extLst>
      <p:ext uri="{BB962C8B-B14F-4D97-AF65-F5344CB8AC3E}">
        <p14:creationId xmlns:p14="http://schemas.microsoft.com/office/powerpoint/2010/main" val="11127464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6. Problem in Computer Ethics?</a:t>
            </a:r>
          </a:p>
        </p:txBody>
      </p:sp>
      <p:sp>
        <p:nvSpPr>
          <p:cNvPr id="5" name="Content Placeholder 4">
            <a:extLst>
              <a:ext uri="{FF2B5EF4-FFF2-40B4-BE49-F238E27FC236}">
                <a16:creationId xmlns:a16="http://schemas.microsoft.com/office/drawing/2014/main" id="{B20D295D-862E-3BA3-2DA6-25DA82B2BE0B}"/>
              </a:ext>
            </a:extLst>
          </p:cNvPr>
          <p:cNvSpPr>
            <a:spLocks noGrp="1"/>
          </p:cNvSpPr>
          <p:nvPr>
            <p:ph idx="1"/>
          </p:nvPr>
        </p:nvSpPr>
        <p:spPr>
          <a:xfrm>
            <a:off x="144378" y="2206243"/>
            <a:ext cx="11583037" cy="4499355"/>
          </a:xfrm>
        </p:spPr>
        <p:txBody>
          <a:bodyPr>
            <a:noAutofit/>
          </a:bodyPr>
          <a:lstStyle/>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A typical problem. in Computer Ethics arises because there is a policy vacuum about how computer technology should be used. Computers provide us with new capabilities and these in turn give us new choices for action. Often, either no policies for conduct in these situations exist or existing policies seem inadequate. A central task of Computer Ethics is to determine what we should do in such cases, that is, formulate policies to guide our actions.</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One difficulty is that along with a policy vacuum there is often a conceptual vacuum. Although a problem in Computer Ethics may seem dear initially, a little reflection reveals a conceptual muddle. What is needed in such cases is an analysis that provides a coherent conceptual framework within "which to formulate a policy for action. </a:t>
            </a:r>
            <a:endParaRPr lang="en-PH" sz="2400" dirty="0"/>
          </a:p>
        </p:txBody>
      </p:sp>
    </p:spTree>
    <p:extLst>
      <p:ext uri="{BB962C8B-B14F-4D97-AF65-F5344CB8AC3E}">
        <p14:creationId xmlns:p14="http://schemas.microsoft.com/office/powerpoint/2010/main" val="14145648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7. Three Levels of Computer Ethics?</a:t>
            </a:r>
          </a:p>
        </p:txBody>
      </p:sp>
      <p:sp>
        <p:nvSpPr>
          <p:cNvPr id="5" name="Content Placeholder 4">
            <a:extLst>
              <a:ext uri="{FF2B5EF4-FFF2-40B4-BE49-F238E27FC236}">
                <a16:creationId xmlns:a16="http://schemas.microsoft.com/office/drawing/2014/main" id="{B20D295D-862E-3BA3-2DA6-25DA82B2BE0B}"/>
              </a:ext>
            </a:extLst>
          </p:cNvPr>
          <p:cNvSpPr>
            <a:spLocks noGrp="1"/>
          </p:cNvSpPr>
          <p:nvPr>
            <p:ph idx="1"/>
          </p:nvPr>
        </p:nvSpPr>
        <p:spPr>
          <a:xfrm>
            <a:off x="144378" y="2206243"/>
            <a:ext cx="11583037" cy="4499355"/>
          </a:xfrm>
        </p:spPr>
        <p:txBody>
          <a:bodyPr>
            <a:noAutofit/>
          </a:bodyPr>
          <a:lstStyle/>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Computer ethics questions can be raised and studied at various "levels." And each level is vital to the overall goal of protecting and advancing human values. On the most basic level, computer ethics tries to sensitize people to the fact that computer technology has social and ethical consequences.</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This is the overall goal of what some call "pop" computer ethics. Newspapers, magazines and TV news programs have engaged increasingly in computer ethics of this sort. Every week, there are news stories about computer viruses, or software ownership law suits, or computer-aided bank robbery, or harmful computer malfunctions, or computerized weapons, etc. </a:t>
            </a:r>
            <a:endParaRPr lang="en-PH" sz="2400" dirty="0"/>
          </a:p>
        </p:txBody>
      </p:sp>
    </p:spTree>
    <p:extLst>
      <p:ext uri="{BB962C8B-B14F-4D97-AF65-F5344CB8AC3E}">
        <p14:creationId xmlns:p14="http://schemas.microsoft.com/office/powerpoint/2010/main" val="28763312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7. Three Levels of Computer Ethics?</a:t>
            </a:r>
          </a:p>
        </p:txBody>
      </p:sp>
      <p:sp>
        <p:nvSpPr>
          <p:cNvPr id="5" name="Content Placeholder 4">
            <a:extLst>
              <a:ext uri="{FF2B5EF4-FFF2-40B4-BE49-F238E27FC236}">
                <a16:creationId xmlns:a16="http://schemas.microsoft.com/office/drawing/2014/main" id="{B20D295D-862E-3BA3-2DA6-25DA82B2BE0B}"/>
              </a:ext>
            </a:extLst>
          </p:cNvPr>
          <p:cNvSpPr>
            <a:spLocks noGrp="1"/>
          </p:cNvSpPr>
          <p:nvPr>
            <p:ph idx="1"/>
          </p:nvPr>
        </p:nvSpPr>
        <p:spPr>
          <a:xfrm>
            <a:off x="144378" y="2206243"/>
            <a:ext cx="11583037" cy="4499355"/>
          </a:xfrm>
        </p:spPr>
        <p:txBody>
          <a:bodyPr>
            <a:noAutofit/>
          </a:bodyPr>
          <a:lstStyle/>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The second "level" of computer: ethics can be called "para" computer ethics. Someone who takes a special interest in computer ethics 'cases, collects examples, clarifies them, looks for similarities and differences, reads related works, attends relevant events, and so on, is learning "para" computer ethics. </a:t>
            </a:r>
          </a:p>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By analogy with a para medic — who is not a physician, but who does have some technical medical knowledge — a "para" computer ethicist is not a professional ethicist, but does have some relevant special knowledge. A para medic, of course, cannot do all that a physician does, but he or she can make preliminary medical assessments, administer first aid and provide rudimentary medical assistance. </a:t>
            </a:r>
            <a:endParaRPr lang="en-PH" sz="2400" dirty="0"/>
          </a:p>
        </p:txBody>
      </p:sp>
    </p:spTree>
    <p:extLst>
      <p:ext uri="{BB962C8B-B14F-4D97-AF65-F5344CB8AC3E}">
        <p14:creationId xmlns:p14="http://schemas.microsoft.com/office/powerpoint/2010/main" val="491283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16688" y="447188"/>
            <a:ext cx="11583038" cy="970450"/>
          </a:xfrm>
        </p:spPr>
        <p:txBody>
          <a:bodyPr/>
          <a:lstStyle/>
          <a:p>
            <a:r>
              <a:rPr lang="en-PH" dirty="0"/>
              <a:t>7. Three Levels of Computer Ethics?</a:t>
            </a:r>
          </a:p>
        </p:txBody>
      </p:sp>
      <p:sp>
        <p:nvSpPr>
          <p:cNvPr id="5" name="Content Placeholder 4">
            <a:extLst>
              <a:ext uri="{FF2B5EF4-FFF2-40B4-BE49-F238E27FC236}">
                <a16:creationId xmlns:a16="http://schemas.microsoft.com/office/drawing/2014/main" id="{B20D295D-862E-3BA3-2DA6-25DA82B2BE0B}"/>
              </a:ext>
            </a:extLst>
          </p:cNvPr>
          <p:cNvSpPr>
            <a:spLocks noGrp="1"/>
          </p:cNvSpPr>
          <p:nvPr>
            <p:ph idx="1"/>
          </p:nvPr>
        </p:nvSpPr>
        <p:spPr>
          <a:xfrm>
            <a:off x="90590" y="2197279"/>
            <a:ext cx="11984869" cy="4409710"/>
          </a:xfrm>
        </p:spPr>
        <p:txBody>
          <a:bodyPr>
            <a:noAutofit/>
          </a:bodyPr>
          <a:lstStyle/>
          <a:p>
            <a:pPr algn="just">
              <a:buFont typeface="Wingdings" panose="05000000000000000000" pitchFamily="2" charset="2"/>
              <a:buChar char="Ø"/>
            </a:pPr>
            <a:r>
              <a:rPr lang="en-PH" sz="2400" dirty="0">
                <a:effectLst/>
                <a:latin typeface="+mj-lt"/>
                <a:ea typeface="Calibri" panose="020F0502020204030204" pitchFamily="34" charset="0"/>
                <a:cs typeface="Times New Roman" panose="02020603050405020304" pitchFamily="18" charset="0"/>
              </a:rPr>
              <a:t>Similarly, a "para" computer ethicist does not attempt to apply the tools and procedures of a professional philosopher or lawyer or social scientist. Rather, he or she makes preliminary assessments and identifications of computer ethics cases, compares them with others, suggests possible analyses.</a:t>
            </a:r>
          </a:p>
          <a:p>
            <a:pPr algn="just">
              <a:buFont typeface="Wingdings" panose="05000000000000000000" pitchFamily="2" charset="2"/>
              <a:buChar char="Ø"/>
            </a:pPr>
            <a:r>
              <a:rPr lang="en-PH" sz="2400" kern="100" dirty="0">
                <a:effectLst/>
                <a:latin typeface="+mj-lt"/>
                <a:ea typeface="Calibri" panose="020F0502020204030204" pitchFamily="34" charset="0"/>
                <a:cs typeface="Times New Roman" panose="02020603050405020304" pitchFamily="18" charset="0"/>
              </a:rPr>
              <a:t>The third level of computer ethics I call "theoretical" computer ethics, because it applies scholarly theories to computer ethics and concepts. Someone proficient in "theoretical” computer ethics would be able not only to identify, clarify, compare </a:t>
            </a:r>
            <a:r>
              <a:rPr lang="en-PH" sz="2400" dirty="0">
                <a:effectLst/>
                <a:latin typeface="+mj-lt"/>
                <a:ea typeface="Calibri" panose="020F0502020204030204" pitchFamily="34" charset="0"/>
                <a:cs typeface="Times New Roman" panose="02020603050405020304" pitchFamily="18" charset="0"/>
              </a:rPr>
              <a:t>and contrast computer ethics cases; she or he could also apply theories and tools from philosophy, social science or law in order to deepen our understanding of the issues. Such "theoretical" computer ethics is normally taught' in college-level courses with titles like "Computer Ethics," "Computers and Society," "Computers and the Law."</a:t>
            </a:r>
            <a:endParaRPr lang="en-PH" sz="2400" kern="1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03530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90590" y="474082"/>
            <a:ext cx="11751786" cy="970450"/>
          </a:xfrm>
        </p:spPr>
        <p:txBody>
          <a:bodyPr/>
          <a:lstStyle/>
          <a:p>
            <a:r>
              <a:rPr lang="en-PH" dirty="0"/>
              <a:t>8. Moral Responsibilities of Computer Professionals</a:t>
            </a:r>
          </a:p>
        </p:txBody>
      </p:sp>
      <p:sp>
        <p:nvSpPr>
          <p:cNvPr id="5" name="Content Placeholder 4">
            <a:extLst>
              <a:ext uri="{FF2B5EF4-FFF2-40B4-BE49-F238E27FC236}">
                <a16:creationId xmlns:a16="http://schemas.microsoft.com/office/drawing/2014/main" id="{B20D295D-862E-3BA3-2DA6-25DA82B2BE0B}"/>
              </a:ext>
            </a:extLst>
          </p:cNvPr>
          <p:cNvSpPr>
            <a:spLocks noGrp="1"/>
          </p:cNvSpPr>
          <p:nvPr>
            <p:ph idx="1"/>
          </p:nvPr>
        </p:nvSpPr>
        <p:spPr>
          <a:xfrm>
            <a:off x="90590" y="2197279"/>
            <a:ext cx="11984869" cy="4409710"/>
          </a:xfrm>
        </p:spPr>
        <p:txBody>
          <a:bodyPr>
            <a:noAutofit/>
          </a:bodyPr>
          <a:lstStyle/>
          <a:p>
            <a:pPr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Some ethicists believe that all professionals, regardless of their practice, have special moral obligations as professionals. For example, Michael Bayles (2003) argues that professionals have a special obligation to their clients to be worthy of a client's trust, and this, Bayles further suggests, leads 'to obligations of honesty, candor, competence, diligence, loyalty and discretion. In Bayles's scheme, all professionals who work in the computing field would be bound' to similar standards of obligations to their clients, regardless of their specific professional type. </a:t>
            </a:r>
          </a:p>
          <a:p>
            <a:pPr algn="just">
              <a:buFont typeface="Wingdings" panose="05000000000000000000" pitchFamily="2" charset="2"/>
              <a:buChar char="Ø"/>
            </a:pPr>
            <a:r>
              <a:rPr lang="en-PH" sz="2400" kern="100" dirty="0">
                <a:effectLst/>
                <a:ea typeface="Calibri" panose="020F0502020204030204" pitchFamily="34" charset="0"/>
                <a:cs typeface="Times New Roman" panose="02020603050405020304" pitchFamily="18" charset="0"/>
              </a:rPr>
              <a:t>Many computer professionals are software engineers or members of software engineering teams. </a:t>
            </a:r>
            <a:r>
              <a:rPr lang="en-PH" sz="2400" kern="100" dirty="0" err="1">
                <a:effectLst/>
                <a:ea typeface="Calibri" panose="020F0502020204030204" pitchFamily="34" charset="0"/>
                <a:cs typeface="Times New Roman" panose="02020603050405020304" pitchFamily="18" charset="0"/>
              </a:rPr>
              <a:t>Gotterbarn</a:t>
            </a:r>
            <a:r>
              <a:rPr lang="en-PH" sz="2400" kern="100" dirty="0">
                <a:effectLst/>
                <a:ea typeface="Calibri" panose="020F0502020204030204" pitchFamily="34" charset="0"/>
                <a:cs typeface="Times New Roman" panose="02020603050405020304" pitchFamily="18" charset="0"/>
              </a:rPr>
              <a:t> (2001) believes that because software engineers and their teams are responsible for developing safety-critical systems, they have significant opportunities to: </a:t>
            </a:r>
          </a:p>
        </p:txBody>
      </p:sp>
    </p:spTree>
    <p:extLst>
      <p:ext uri="{BB962C8B-B14F-4D97-AF65-F5344CB8AC3E}">
        <p14:creationId xmlns:p14="http://schemas.microsoft.com/office/powerpoint/2010/main" val="22601411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90590" y="474082"/>
            <a:ext cx="11751786" cy="970450"/>
          </a:xfrm>
        </p:spPr>
        <p:txBody>
          <a:bodyPr/>
          <a:lstStyle/>
          <a:p>
            <a:r>
              <a:rPr lang="en-PH" dirty="0"/>
              <a:t>8. Moral Responsibilities of Computer Professionals</a:t>
            </a:r>
          </a:p>
        </p:txBody>
      </p:sp>
      <p:sp>
        <p:nvSpPr>
          <p:cNvPr id="5" name="Content Placeholder 4">
            <a:extLst>
              <a:ext uri="{FF2B5EF4-FFF2-40B4-BE49-F238E27FC236}">
                <a16:creationId xmlns:a16="http://schemas.microsoft.com/office/drawing/2014/main" id="{B20D295D-862E-3BA3-2DA6-25DA82B2BE0B}"/>
              </a:ext>
            </a:extLst>
          </p:cNvPr>
          <p:cNvSpPr>
            <a:spLocks noGrp="1"/>
          </p:cNvSpPr>
          <p:nvPr>
            <p:ph idx="1"/>
          </p:nvPr>
        </p:nvSpPr>
        <p:spPr>
          <a:xfrm>
            <a:off x="90590" y="2197279"/>
            <a:ext cx="11984869" cy="4409710"/>
          </a:xfrm>
        </p:spPr>
        <p:txBody>
          <a:bodyPr>
            <a:noAutofit/>
          </a:bodyPr>
          <a:lstStyle/>
          <a:p>
            <a:pPr lvl="1"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Do good or cause harm </a:t>
            </a:r>
          </a:p>
          <a:p>
            <a:pPr lvl="1"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Enable others to do good or cause harm </a:t>
            </a:r>
          </a:p>
          <a:p>
            <a:pPr lvl="1"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Influence others to do good or cause harm</a:t>
            </a:r>
            <a:endParaRPr lang="en-PH" sz="2400" kern="100" dirty="0">
              <a:ea typeface="Calibri" panose="020F0502020204030204" pitchFamily="34" charset="0"/>
              <a:cs typeface="Times New Roman" panose="02020603050405020304" pitchFamily="18" charset="0"/>
            </a:endParaRPr>
          </a:p>
          <a:p>
            <a:pPr marL="457200" lvl="1" indent="0" algn="just">
              <a:buNone/>
            </a:pPr>
            <a:r>
              <a:rPr lang="en-PH" sz="2400" dirty="0">
                <a:effectLst/>
                <a:ea typeface="Calibri" panose="020F0502020204030204" pitchFamily="34" charset="0"/>
                <a:cs typeface="Times New Roman" panose="02020603050405020304" pitchFamily="18" charset="0"/>
              </a:rPr>
              <a:t>Thus, </a:t>
            </a:r>
            <a:r>
              <a:rPr lang="en-PH" sz="2400" dirty="0" err="1">
                <a:effectLst/>
                <a:ea typeface="Calibri" panose="020F0502020204030204" pitchFamily="34" charset="0"/>
                <a:cs typeface="Times New Roman" panose="02020603050405020304" pitchFamily="18" charset="0"/>
              </a:rPr>
              <a:t>Gotterbarn</a:t>
            </a:r>
            <a:r>
              <a:rPr lang="en-PH" sz="2400" dirty="0">
                <a:effectLst/>
                <a:ea typeface="Calibri" panose="020F0502020204030204" pitchFamily="34" charset="0"/>
                <a:cs typeface="Times New Roman" panose="02020603050405020304" pitchFamily="18" charset="0"/>
              </a:rPr>
              <a:t> suggests that the roles and responsibilities involved in the development of safety-critical systems are a differentiating factor. Kevin Bowyer (2001) points out that the phrase "safety-critical s stem" is often used to refer to computer systems that can have a "direct </a:t>
            </a:r>
            <a:r>
              <a:rPr lang="en-PH" sz="2400" dirty="0" err="1">
                <a:effectLst/>
                <a:ea typeface="Calibri" panose="020F0502020204030204" pitchFamily="34" charset="0"/>
                <a:cs typeface="Times New Roman" panose="02020603050405020304" pitchFamily="18" charset="0"/>
              </a:rPr>
              <a:t>ife</a:t>
            </a:r>
            <a:r>
              <a:rPr lang="en-PH" sz="2400" dirty="0">
                <a:effectLst/>
                <a:ea typeface="Calibri" panose="020F0502020204030204" pitchFamily="34" charset="0"/>
                <a:cs typeface="Times New Roman" panose="02020603050405020304" pitchFamily="18" charset="0"/>
              </a:rPr>
              <a:t>-threatening impact'. Examples of safety-critical software applications typically include:</a:t>
            </a:r>
          </a:p>
        </p:txBody>
      </p:sp>
    </p:spTree>
    <p:extLst>
      <p:ext uri="{BB962C8B-B14F-4D97-AF65-F5344CB8AC3E}">
        <p14:creationId xmlns:p14="http://schemas.microsoft.com/office/powerpoint/2010/main" val="21169924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90590" y="474082"/>
            <a:ext cx="11751786" cy="970450"/>
          </a:xfrm>
        </p:spPr>
        <p:txBody>
          <a:bodyPr/>
          <a:lstStyle/>
          <a:p>
            <a:r>
              <a:rPr lang="en-PH" dirty="0"/>
              <a:t>8. Moral Responsibilities of Computer Professionals</a:t>
            </a:r>
          </a:p>
        </p:txBody>
      </p:sp>
      <p:sp>
        <p:nvSpPr>
          <p:cNvPr id="5" name="Content Placeholder 4">
            <a:extLst>
              <a:ext uri="{FF2B5EF4-FFF2-40B4-BE49-F238E27FC236}">
                <a16:creationId xmlns:a16="http://schemas.microsoft.com/office/drawing/2014/main" id="{B20D295D-862E-3BA3-2DA6-25DA82B2BE0B}"/>
              </a:ext>
            </a:extLst>
          </p:cNvPr>
          <p:cNvSpPr>
            <a:spLocks noGrp="1"/>
          </p:cNvSpPr>
          <p:nvPr>
            <p:ph idx="1"/>
          </p:nvPr>
        </p:nvSpPr>
        <p:spPr>
          <a:xfrm>
            <a:off x="90590" y="2197279"/>
            <a:ext cx="11984869" cy="4409710"/>
          </a:xfrm>
        </p:spPr>
        <p:txBody>
          <a:bodyPr>
            <a:noAutofit/>
          </a:bodyPr>
          <a:lstStyle/>
          <a:p>
            <a:pPr lvl="1"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aircraft and air traffic control systems </a:t>
            </a:r>
          </a:p>
          <a:p>
            <a:pPr lvl="1"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mass transportation systems </a:t>
            </a:r>
          </a:p>
          <a:p>
            <a:pPr lvl="1"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nuclear reactors </a:t>
            </a:r>
          </a:p>
          <a:p>
            <a:pPr lvl="1"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missile systems </a:t>
            </a:r>
          </a:p>
          <a:p>
            <a:pPr lvl="1" algn="just">
              <a:buFont typeface="Wingdings" panose="05000000000000000000" pitchFamily="2" charset="2"/>
              <a:buChar char="Ø"/>
            </a:pPr>
            <a:r>
              <a:rPr lang="en-PH" sz="2400" dirty="0">
                <a:effectLst/>
                <a:ea typeface="Calibri" panose="020F0502020204030204" pitchFamily="34" charset="0"/>
                <a:cs typeface="Times New Roman" panose="02020603050405020304" pitchFamily="18" charset="0"/>
              </a:rPr>
              <a:t>medical treatment systems </a:t>
            </a:r>
          </a:p>
        </p:txBody>
      </p:sp>
    </p:spTree>
    <p:extLst>
      <p:ext uri="{BB962C8B-B14F-4D97-AF65-F5344CB8AC3E}">
        <p14:creationId xmlns:p14="http://schemas.microsoft.com/office/powerpoint/2010/main" val="23081845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F7D0-C5CE-D46A-FACF-E817473FF868}"/>
              </a:ext>
            </a:extLst>
          </p:cNvPr>
          <p:cNvSpPr>
            <a:spLocks noGrp="1"/>
          </p:cNvSpPr>
          <p:nvPr>
            <p:ph type="title"/>
          </p:nvPr>
        </p:nvSpPr>
        <p:spPr>
          <a:xfrm>
            <a:off x="323673" y="474082"/>
            <a:ext cx="11751786" cy="970450"/>
          </a:xfrm>
        </p:spPr>
        <p:txBody>
          <a:bodyPr/>
          <a:lstStyle/>
          <a:p>
            <a:r>
              <a:rPr lang="en-PH" dirty="0"/>
              <a:t>Thank You Everyone and God Bless Us ALL </a:t>
            </a:r>
            <a:r>
              <a:rPr lang="en-PH" dirty="0">
                <a:sym typeface="Wingdings" panose="05000000000000000000" pitchFamily="2" charset="2"/>
              </a:rPr>
              <a:t></a:t>
            </a:r>
            <a:endParaRPr lang="en-PH" dirty="0"/>
          </a:p>
        </p:txBody>
      </p:sp>
      <p:sp>
        <p:nvSpPr>
          <p:cNvPr id="5" name="Content Placeholder 4">
            <a:extLst>
              <a:ext uri="{FF2B5EF4-FFF2-40B4-BE49-F238E27FC236}">
                <a16:creationId xmlns:a16="http://schemas.microsoft.com/office/drawing/2014/main" id="{B20D295D-862E-3BA3-2DA6-25DA82B2BE0B}"/>
              </a:ext>
            </a:extLst>
          </p:cNvPr>
          <p:cNvSpPr>
            <a:spLocks noGrp="1"/>
          </p:cNvSpPr>
          <p:nvPr>
            <p:ph idx="1"/>
          </p:nvPr>
        </p:nvSpPr>
        <p:spPr>
          <a:xfrm>
            <a:off x="90590" y="2197279"/>
            <a:ext cx="11984869" cy="4409710"/>
          </a:xfrm>
        </p:spPr>
        <p:txBody>
          <a:bodyPr>
            <a:noAutofit/>
          </a:bodyPr>
          <a:lstStyle/>
          <a:p>
            <a:pPr marL="457200" lvl="1" indent="0" algn="just">
              <a:buNone/>
            </a:pPr>
            <a:r>
              <a:rPr lang="en-PH" sz="2400" dirty="0">
                <a:effectLst/>
                <a:ea typeface="Calibri" panose="020F0502020204030204" pitchFamily="34" charset="0"/>
                <a:cs typeface="Times New Roman" panose="02020603050405020304" pitchFamily="18" charset="0"/>
              </a:rPr>
              <a:t>“Everything comes to an END, and that’s what gives life meaning.”</a:t>
            </a:r>
            <a:r>
              <a:rPr lang="en-PH" sz="2400" dirty="0">
                <a:ea typeface="Calibri" panose="020F0502020204030204" pitchFamily="34" charset="0"/>
                <a:cs typeface="Times New Roman" panose="02020603050405020304" pitchFamily="18" charset="0"/>
              </a:rPr>
              <a:t> </a:t>
            </a:r>
          </a:p>
          <a:p>
            <a:pPr marL="457200" lvl="1" indent="0" algn="just">
              <a:buNone/>
            </a:pPr>
            <a:r>
              <a:rPr lang="en-PH" sz="2400" dirty="0">
                <a:ea typeface="Calibri" panose="020F0502020204030204" pitchFamily="34" charset="0"/>
                <a:cs typeface="Times New Roman" panose="02020603050405020304" pitchFamily="18" charset="0"/>
              </a:rPr>
              <a:t>-Engr. Dean Adrian Nombrefia</a:t>
            </a:r>
            <a:endParaRPr lang="en-PH" sz="2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404336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9ECD33"/>
      </a:accent1>
      <a:accent2>
        <a:srgbClr val="E19933"/>
      </a:accent2>
      <a:accent3>
        <a:srgbClr val="DC5D3D"/>
      </a:accent3>
      <a:accent4>
        <a:srgbClr val="A967CB"/>
      </a:accent4>
      <a:accent5>
        <a:srgbClr val="5EA5DD"/>
      </a:accent5>
      <a:accent6>
        <a:srgbClr val="44BEA9"/>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98D1675B-7325-48AD-994B-0DEF3379A98D}"/>
    </a:ext>
  </a:extLst>
</a:theme>
</file>

<file path=docProps/app.xml><?xml version="1.0" encoding="utf-8"?>
<Properties xmlns="http://schemas.openxmlformats.org/officeDocument/2006/extended-properties" xmlns:vt="http://schemas.openxmlformats.org/officeDocument/2006/docPropsVTypes">
  <Template>TM03457503[[fn=Quotable]]</Template>
  <TotalTime>157</TotalTime>
  <Words>3951</Words>
  <Application>Microsoft Office PowerPoint</Application>
  <PresentationFormat>Widescreen</PresentationFormat>
  <Paragraphs>196</Paragraphs>
  <Slides>43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Calibri</vt:lpstr>
      <vt:lpstr>Century Gothic</vt:lpstr>
      <vt:lpstr>Roboto</vt:lpstr>
      <vt:lpstr>Wingdings</vt:lpstr>
      <vt:lpstr>Wingdings 2</vt:lpstr>
      <vt:lpstr>Quotable</vt:lpstr>
      <vt:lpstr>Computer Ethics</vt:lpstr>
      <vt:lpstr>Topics to be Discussed:</vt:lpstr>
      <vt:lpstr>1. Professional Code of Ethics</vt:lpstr>
      <vt:lpstr>1. Professional Code of Ethics</vt:lpstr>
      <vt:lpstr>1. Professional Code of Ethics</vt:lpstr>
      <vt:lpstr>1. Professional Code of Ethics</vt:lpstr>
      <vt:lpstr>2. Code of Ethics of the Filipino IT Professionals</vt:lpstr>
      <vt:lpstr>2. Code of Ethics of the Filipino IT Professionals</vt:lpstr>
      <vt:lpstr>2. Code of Ethics of the Filipino IT Professionals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3. Principles</vt:lpstr>
      <vt:lpstr>4. The Ten Commandments</vt:lpstr>
      <vt:lpstr>5. What is Computer Ethics?</vt:lpstr>
      <vt:lpstr>6. Problem in Computer Ethics?</vt:lpstr>
      <vt:lpstr>7. Three Levels of Computer Ethics?</vt:lpstr>
      <vt:lpstr>7. Three Levels of Computer Ethics?</vt:lpstr>
      <vt:lpstr>7. Three Levels of Computer Ethics?</vt:lpstr>
      <vt:lpstr>8. Moral Responsibilities of Computer Professionals</vt:lpstr>
      <vt:lpstr>8. Moral Responsibilities of Computer Professionals</vt:lpstr>
      <vt:lpstr>8. Moral Responsibilities of Computer Professionals</vt:lpstr>
      <vt:lpstr>Thank You Everyone and God Bless Us ALL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Ethics</dc:title>
  <dc:creator>Dean Adrian Nombrefia</dc:creator>
  <cp:lastModifiedBy>Dave Paduada</cp:lastModifiedBy>
  <cp:revision>7</cp:revision>
  <dcterms:created xsi:type="dcterms:W3CDTF">2023-12-04T04:31:53Z</dcterms:created>
  <dcterms:modified xsi:type="dcterms:W3CDTF">2025-11-20T12:41:14Z</dcterms:modified>
</cp:coreProperties>
</file>