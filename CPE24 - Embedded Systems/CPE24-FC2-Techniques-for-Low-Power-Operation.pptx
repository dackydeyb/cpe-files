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1" r:id="rId5"/>
    <p:sldId id="259" r:id="rId6"/>
    <p:sldId id="260" r:id="rId7"/>
    <p:sldId id="261" r:id="rId8"/>
    <p:sldId id="305" r:id="rId9"/>
    <p:sldId id="262" r:id="rId10"/>
    <p:sldId id="306" r:id="rId11"/>
    <p:sldId id="263" r:id="rId12"/>
    <p:sldId id="302" r:id="rId13"/>
    <p:sldId id="264" r:id="rId14"/>
    <p:sldId id="265" r:id="rId15"/>
    <p:sldId id="266" r:id="rId16"/>
    <p:sldId id="267" r:id="rId17"/>
    <p:sldId id="303" r:id="rId18"/>
    <p:sldId id="268" r:id="rId19"/>
    <p:sldId id="269" r:id="rId20"/>
    <p:sldId id="270" r:id="rId21"/>
    <p:sldId id="271" r:id="rId22"/>
    <p:sldId id="304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181EB-F089-0D50-3A4E-B2632FF2C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B3A2B-1987-BCD3-F56F-27CEF9832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0E8D3-3827-45C3-B3EB-34E5AF0C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2D554-7FFE-AEBB-EE9E-638BE0CF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A1D21-B688-6A02-A493-8DDC3DF2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27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1A211-9AB3-8973-95A4-C9563946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29A1-DC9B-4627-ED94-0B68041A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E7EC8-6745-A803-92E4-B54647BC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D1133-E74E-E1C9-C7BE-F947C981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10C0D-39FA-D541-6A9F-30730B4B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872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5D6E-ADB6-87AD-60B8-197DFFB5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231E2-3369-9003-CE4D-E4BABE803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8992F-2429-49E5-CEBD-97323F03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53740-82BA-91FE-72BF-E4D3CFC8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EFA69-1AF7-4C7C-A85B-F365CD9A7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686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36B75-708C-BFB1-0539-716C2C69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3D9D0-9C20-5C5A-82BA-266861B6C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BF2F2-5071-95CE-E8DB-8A953E40C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068BC-D47F-4A23-E530-255635294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3FE1D-EC4E-8684-0D4A-13EE66AD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9F6DB-1BFF-2AB0-9BCE-BA5FBC94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285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7C15-8710-023F-87D3-77276749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A4422-AE15-C292-D4DB-EE013068C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4EA62-CBF7-2415-0C39-0E088F74C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3654C5-8544-7309-3A89-54B7B9068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968AC-0FA6-98B1-91F6-99FD8D126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300E4-B46C-B012-F8B3-D255D9B3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BFC6E-D0F7-3092-88F5-3082750E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73164-0598-F8B4-9698-7423EBA4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37471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17F4-5BAC-0E07-954B-F5A0436D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9D848-E2EC-E922-8FB0-4C650A3E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4C451-13EA-D67F-6F16-E93546A8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E6BF8-A24F-D97E-DD7B-28C2588F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065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27DDC-8BA4-A81E-107D-1A85F9E6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0FF37-FCDF-FBF8-5994-8DAC72F9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8D701-7E81-A1F8-52E9-836E0DF8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391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D49E-629D-4F3E-0FE3-956BAA09E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66EA-0B6B-5A84-8B65-0B33F156A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51983-9AFE-1A46-0263-759DDCE5F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D895F-F222-16EB-FCDD-495D875A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ABF10-D39B-3AAC-CD17-D80567A2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636FB-2E5D-B93A-1A23-AC12C4255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538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C96E-92AD-8AC8-2648-A5D8B3F6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69C2BA-ADB1-7063-56DF-FCC72A066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B7A19-9231-29A2-7E8F-442FA5203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2F0A4-ADA4-76BD-9946-079B2CE1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F9F2-D576-656B-BD85-BD70DA4F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EB58A-F64C-C3BA-9155-ABCD672C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321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CCA4-CBC9-4C86-EF6D-85CCFDA2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C912D-FFE6-ADB0-E03D-38743240A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4DE1B-BE85-C79E-2674-37CBDF17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173DA-74B5-8C9A-D657-8664CF57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CDBB9-A7D9-94BB-D099-6529FA5C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737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2110F-190B-40B4-2A12-39673AB3E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CFB22-BE8D-0D3C-B87D-2B586F9D2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D3C73-B7F2-2A31-AA3D-1BEBC865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EE4A1-76B4-730D-B459-7E7DEFEA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7FA0-888B-AF1A-4CF1-CE9B2EDD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05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DB602-030E-7A77-8EDA-6BE1F9C3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3076C-574A-DFEE-788B-2538EED79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6EA2F-0DC8-80B4-81E4-FBD23AE5A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629BB2-5B56-4717-AD84-43E81C7AC6E2}" type="datetimeFigureOut">
              <a:rPr lang="en-PH" smtClean="0"/>
              <a:t>18/11/2025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9ACDC-378A-ACB1-97C6-1F97113AD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5DD43-6426-4E64-A549-2D564CA36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B0FA4-CF2E-4F3E-8864-F1A6A26BA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76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AB0F-A0C9-D6CC-CC34-642B78BD1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Techniques for Low-Power Operation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946EF-3E70-B9B1-C78E-F0EE9A7C3F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2404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53DB-9DA4-F96B-6697-F5B5E0C3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Techniques for Low-Power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245-7F70-5E53-AA50-D38B4B15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Low-power operation is critical in modern electronics, especially in battery-powered devices like mobile phones, IoT sensors, and wearables. Reducing power consumption </a:t>
            </a:r>
            <a:r>
              <a:rPr lang="en-US" b="1" u="sng" dirty="0"/>
              <a:t>extends battery life</a:t>
            </a:r>
            <a:r>
              <a:rPr lang="en-US" dirty="0"/>
              <a:t>, lowers heat generation, and improves efficiency.</a:t>
            </a:r>
          </a:p>
          <a:p>
            <a:pPr algn="just"/>
            <a:r>
              <a:rPr lang="en-US" dirty="0"/>
              <a:t>In this lecture, we will explore key techniques used to reduce power consumption in electronic systems, focusing on hardware and software methods.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8763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Concepts in Power Consumption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3600" dirty="0"/>
              <a:t>Power (P): The rate at which energy is used by a device.</a:t>
            </a:r>
          </a:p>
          <a:p>
            <a:pPr lvl="1" algn="just"/>
            <a:r>
              <a:rPr lang="en-US" sz="3200" dirty="0"/>
              <a:t>Formula: P = V × I (Voltage × Current)</a:t>
            </a:r>
          </a:p>
          <a:p>
            <a:pPr lvl="1" algn="just"/>
            <a:r>
              <a:rPr lang="en-US" sz="3200" dirty="0"/>
              <a:t>In digital systems, power consumption can be broken into:</a:t>
            </a:r>
          </a:p>
          <a:p>
            <a:pPr lvl="2" algn="just"/>
            <a:r>
              <a:rPr lang="en-US" sz="2800" b="1" dirty="0"/>
              <a:t>Dynamic Power</a:t>
            </a:r>
            <a:r>
              <a:rPr lang="en-US" sz="2800" dirty="0"/>
              <a:t>: Power consumed when a circuit is </a:t>
            </a:r>
            <a:r>
              <a:rPr lang="en-US" sz="2800" b="1" u="sng" dirty="0"/>
              <a:t>switching</a:t>
            </a:r>
            <a:r>
              <a:rPr lang="en-US" sz="2800" dirty="0"/>
              <a:t>.</a:t>
            </a:r>
          </a:p>
          <a:p>
            <a:pPr lvl="2" algn="just"/>
            <a:r>
              <a:rPr lang="en-US" sz="2800" b="1" dirty="0"/>
              <a:t>Static Power</a:t>
            </a:r>
            <a:r>
              <a:rPr lang="en-US" sz="2800" dirty="0"/>
              <a:t>: Power consumed when the circuit is </a:t>
            </a:r>
            <a:r>
              <a:rPr lang="en-US" sz="2800" b="1" u="sng" dirty="0"/>
              <a:t>idle</a:t>
            </a:r>
            <a:r>
              <a:rPr lang="en-US" sz="2800" dirty="0"/>
              <a:t>.</a:t>
            </a:r>
          </a:p>
          <a:p>
            <a:pPr algn="just"/>
            <a:r>
              <a:rPr lang="en-US" sz="3600" dirty="0"/>
              <a:t>Energy (E): The total power consumed over time.</a:t>
            </a:r>
          </a:p>
          <a:p>
            <a:pPr lvl="1" algn="just"/>
            <a:r>
              <a:rPr lang="en-US" sz="3200" dirty="0"/>
              <a:t>Formula: E = P × t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337503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53DB-9DA4-F96B-6697-F5B5E0C3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Techniques for Low-Power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245-7F70-5E53-AA50-D38B4B15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PH" b="1" dirty="0"/>
              <a:t>Dynamic Power Reduction Techniques</a:t>
            </a:r>
          </a:p>
          <a:p>
            <a:pPr algn="just"/>
            <a:r>
              <a:rPr lang="en-PH" dirty="0"/>
              <a:t>Static Power Reduction Techniques</a:t>
            </a:r>
          </a:p>
          <a:p>
            <a:pPr algn="just"/>
            <a:r>
              <a:rPr lang="en-US" dirty="0"/>
              <a:t>Software Techniques for Power Optimization</a:t>
            </a:r>
          </a:p>
          <a:p>
            <a:pPr algn="just"/>
            <a:r>
              <a:rPr lang="en-US" dirty="0"/>
              <a:t>Low-Power Design Techniques for IoT and Embedded Systems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59683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Dynamic Power Reduction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/>
              <a:t>Dynamic power is proportional to the frequency of operation and the square of the voltage (P ∝ V² × f). Key techniques for dynamic power reduction include:</a:t>
            </a:r>
          </a:p>
          <a:p>
            <a:pPr lvl="1" algn="just"/>
            <a:r>
              <a:rPr lang="en-PH" sz="3200" dirty="0"/>
              <a:t>a. Voltage Scaling (Dynamic Voltage Scaling - DVS)</a:t>
            </a:r>
          </a:p>
          <a:p>
            <a:pPr lvl="1" algn="just"/>
            <a:r>
              <a:rPr lang="en-PH" sz="3200" dirty="0"/>
              <a:t>b. Clock Gating</a:t>
            </a:r>
          </a:p>
          <a:p>
            <a:pPr lvl="1" algn="just"/>
            <a:r>
              <a:rPr lang="en-PH" sz="3200" dirty="0"/>
              <a:t>c. Power Gating</a:t>
            </a:r>
          </a:p>
          <a:p>
            <a:pPr lvl="1" algn="just"/>
            <a:r>
              <a:rPr lang="en-PH" sz="3200" dirty="0"/>
              <a:t>d. Operand Gating</a:t>
            </a:r>
          </a:p>
        </p:txBody>
      </p:sp>
    </p:spTree>
    <p:extLst>
      <p:ext uri="{BB962C8B-B14F-4D97-AF65-F5344CB8AC3E}">
        <p14:creationId xmlns:p14="http://schemas.microsoft.com/office/powerpoint/2010/main" val="2686538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Voltage Scaling </a:t>
            </a:r>
            <a:br>
              <a:rPr lang="en-PH" b="1" dirty="0"/>
            </a:br>
            <a:r>
              <a:rPr lang="en-PH" b="1" dirty="0"/>
              <a:t>(Dynamic Voltage Scaling - DVS)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Reducing the supply voltage significantly decreases dynamic power since power is proportional to voltage squared.</a:t>
            </a:r>
          </a:p>
          <a:p>
            <a:pPr algn="just"/>
            <a:r>
              <a:rPr lang="en-US" sz="3200" b="1" dirty="0"/>
              <a:t>Dynamic Voltage and Frequency Scaling (DVFS):</a:t>
            </a:r>
            <a:r>
              <a:rPr lang="en-US" sz="3200" dirty="0"/>
              <a:t> Dynamically adjusts voltage and frequency based on performance requirements.</a:t>
            </a:r>
          </a:p>
          <a:p>
            <a:pPr algn="just"/>
            <a:r>
              <a:rPr lang="en-US" sz="3200" b="1" dirty="0"/>
              <a:t>Example:</a:t>
            </a:r>
            <a:r>
              <a:rPr lang="en-US" sz="3200" dirty="0"/>
              <a:t> Mobile processors throttle down voltage and frequency during idle periods to save power.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99896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Clock Gating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b="1" u="sng" dirty="0"/>
              <a:t>Shuts off the clock signal</a:t>
            </a:r>
            <a:r>
              <a:rPr lang="en-US" sz="4000" dirty="0"/>
              <a:t> to inactive parts of the circuit to reduce switching activity.</a:t>
            </a:r>
          </a:p>
          <a:p>
            <a:pPr algn="just"/>
            <a:r>
              <a:rPr lang="en-US" sz="4000" dirty="0"/>
              <a:t>Effective in reducing dynamic power, especially in large processors with many functional units.</a:t>
            </a:r>
          </a:p>
          <a:p>
            <a:pPr algn="just"/>
            <a:r>
              <a:rPr lang="en-US" sz="4000" b="1" dirty="0"/>
              <a:t>Example:</a:t>
            </a:r>
            <a:r>
              <a:rPr lang="en-US" sz="4000" dirty="0"/>
              <a:t> Parts of a CPU (like the ALU) can be gated when not in use.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411335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CBAF-485C-44C6-8976-4F89F8AB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Clock Gating </a:t>
            </a:r>
            <a:endParaRPr lang="en-PH" dirty="0"/>
          </a:p>
        </p:txBody>
      </p:sp>
      <p:pic>
        <p:nvPicPr>
          <p:cNvPr id="1028" name="Picture 4" descr="low power design techniques">
            <a:extLst>
              <a:ext uri="{FF2B5EF4-FFF2-40B4-BE49-F238E27FC236}">
                <a16:creationId xmlns:a16="http://schemas.microsoft.com/office/drawing/2014/main" id="{9F0F835E-9ECB-4D70-843F-74AE8E2EF8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922" y="1690688"/>
            <a:ext cx="9730156" cy="498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410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Power Gating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b="1" u="sng" dirty="0"/>
              <a:t>Shuts off the power supply</a:t>
            </a:r>
            <a:r>
              <a:rPr lang="en-US" sz="4000" dirty="0"/>
              <a:t> to inactive circuits, reducing both dynamic and static power.</a:t>
            </a:r>
          </a:p>
          <a:p>
            <a:pPr algn="just"/>
            <a:r>
              <a:rPr lang="en-US" sz="4000" dirty="0"/>
              <a:t>Power gating typically introduces some delay (wake-up time) when turning back on.</a:t>
            </a:r>
          </a:p>
          <a:p>
            <a:pPr algn="just"/>
            <a:r>
              <a:rPr lang="en-US" sz="4000" dirty="0"/>
              <a:t>Example: Used in sleep modes for microcontrollers and SoCs.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119190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8576-07F5-4B3D-A21B-20373891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Power Gating </a:t>
            </a:r>
            <a:endParaRPr lang="en-PH" dirty="0"/>
          </a:p>
        </p:txBody>
      </p:sp>
      <p:pic>
        <p:nvPicPr>
          <p:cNvPr id="2050" name="Picture 2" descr="low power rtl design techniques">
            <a:extLst>
              <a:ext uri="{FF2B5EF4-FFF2-40B4-BE49-F238E27FC236}">
                <a16:creationId xmlns:a16="http://schemas.microsoft.com/office/drawing/2014/main" id="{BD6E101A-EA05-4040-AC1C-C9FA5C467A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549" y="1371600"/>
            <a:ext cx="7276901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81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Operand Gating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800" dirty="0"/>
              <a:t>Reduce switching activity by </a:t>
            </a:r>
            <a:r>
              <a:rPr lang="en-US" sz="4800" b="1" u="sng" dirty="0"/>
              <a:t>limiting unnecessary signal</a:t>
            </a:r>
            <a:r>
              <a:rPr lang="en-US" sz="4800" dirty="0"/>
              <a:t> transitions in certain blocks.</a:t>
            </a:r>
          </a:p>
          <a:p>
            <a:pPr algn="just"/>
            <a:r>
              <a:rPr lang="en-US" sz="4800" dirty="0"/>
              <a:t>Example: Arithmetic blocks can skip unnecessary operations when inputs are zero.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1900040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53DB-9DA4-F96B-6697-F5B5E0C3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Techniques for Low-Power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245-7F70-5E53-AA50-D38B4B15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PH" dirty="0"/>
              <a:t>Dynamic Power Reduction Techniques</a:t>
            </a:r>
          </a:p>
          <a:p>
            <a:pPr algn="just"/>
            <a:r>
              <a:rPr lang="en-PH" b="1" dirty="0"/>
              <a:t>Static Power Reduction Techniques</a:t>
            </a:r>
          </a:p>
          <a:p>
            <a:pPr algn="just"/>
            <a:r>
              <a:rPr lang="en-US" dirty="0"/>
              <a:t>Software Techniques for Power Optimization</a:t>
            </a:r>
          </a:p>
          <a:p>
            <a:pPr algn="just"/>
            <a:r>
              <a:rPr lang="en-US" dirty="0"/>
              <a:t>Low-Power Design Techniques for IoT and Embedded Systems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90501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Static Power Reduction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Static power consumption occurs even when no active switching is happening. It primarily results from leakage currents.</a:t>
            </a:r>
          </a:p>
          <a:p>
            <a:pPr lvl="1" algn="just"/>
            <a:r>
              <a:rPr lang="en-PH" dirty="0"/>
              <a:t>Multi-Threshold CMOS (MTCMOS)</a:t>
            </a:r>
            <a:endParaRPr lang="en-US" dirty="0"/>
          </a:p>
          <a:p>
            <a:pPr lvl="1" algn="just"/>
            <a:r>
              <a:rPr lang="en-PH" dirty="0"/>
              <a:t>Body Biasing</a:t>
            </a:r>
          </a:p>
          <a:p>
            <a:pPr lvl="1" algn="just"/>
            <a:r>
              <a:rPr lang="en-PH" dirty="0"/>
              <a:t>Use of Sleep Transistors</a:t>
            </a:r>
          </a:p>
        </p:txBody>
      </p:sp>
    </p:spTree>
    <p:extLst>
      <p:ext uri="{BB962C8B-B14F-4D97-AF65-F5344CB8AC3E}">
        <p14:creationId xmlns:p14="http://schemas.microsoft.com/office/powerpoint/2010/main" val="15946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Multi-Threshold CMOS (MTCMOS)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Uses </a:t>
            </a:r>
            <a:r>
              <a:rPr lang="en-US" sz="4000" b="1" u="sng" dirty="0"/>
              <a:t>transistors</a:t>
            </a:r>
            <a:r>
              <a:rPr lang="en-US" sz="4000" dirty="0"/>
              <a:t> with different threshold voltages in different parts of the circuit to balance performance and leakage.</a:t>
            </a:r>
          </a:p>
          <a:p>
            <a:pPr algn="just"/>
            <a:r>
              <a:rPr lang="en-US" sz="4000" dirty="0"/>
              <a:t>Low-threshold transistors are fast but leak more, while high-threshold transistors are slower but leak less.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970430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Body Biasing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Modifies the threshold voltage of transistors by applying a bias to the substrate.</a:t>
            </a:r>
          </a:p>
          <a:p>
            <a:pPr algn="just"/>
            <a:r>
              <a:rPr lang="en-US" sz="4000" dirty="0"/>
              <a:t>Forward body biasing: </a:t>
            </a:r>
            <a:r>
              <a:rPr lang="en-US" sz="4000" b="1" u="sng" dirty="0"/>
              <a:t>Reduces threshold voltage</a:t>
            </a:r>
            <a:r>
              <a:rPr lang="en-US" sz="4000" dirty="0"/>
              <a:t> to increase speed at the cost of higher leakage.</a:t>
            </a:r>
          </a:p>
          <a:p>
            <a:pPr algn="just"/>
            <a:r>
              <a:rPr lang="en-US" sz="4000" dirty="0"/>
              <a:t>Reverse body biasing: </a:t>
            </a:r>
            <a:r>
              <a:rPr lang="en-US" sz="4000" b="1" u="sng" dirty="0"/>
              <a:t>Increases threshold voltage</a:t>
            </a:r>
            <a:r>
              <a:rPr lang="en-US" sz="4000" dirty="0"/>
              <a:t> to reduce leakage, sacrificing speed.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2226177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Use of Sleep Transistors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800" b="1" u="sng" dirty="0"/>
              <a:t>Switches off</a:t>
            </a:r>
            <a:r>
              <a:rPr lang="en-US" sz="4800" dirty="0"/>
              <a:t> parts of the circuit during idle periods using transistors to cut the power supply.</a:t>
            </a:r>
          </a:p>
          <a:p>
            <a:pPr algn="just"/>
            <a:r>
              <a:rPr lang="en-US" sz="4800" dirty="0"/>
              <a:t>Minimizes leakage currents during low-power modes.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413263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53DB-9DA4-F96B-6697-F5B5E0C3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Techniques for Low-Power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245-7F70-5E53-AA50-D38B4B15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PH" dirty="0"/>
              <a:t>Dynamic Power Reduction Techniques</a:t>
            </a:r>
          </a:p>
          <a:p>
            <a:pPr algn="just"/>
            <a:r>
              <a:rPr lang="en-PH" dirty="0"/>
              <a:t>Static Power Reduction Techniques</a:t>
            </a:r>
          </a:p>
          <a:p>
            <a:pPr algn="just"/>
            <a:r>
              <a:rPr lang="en-US" b="1" dirty="0"/>
              <a:t>Software Techniques for Power Optimization</a:t>
            </a:r>
          </a:p>
          <a:p>
            <a:pPr algn="just"/>
            <a:r>
              <a:rPr lang="en-US" dirty="0"/>
              <a:t>Low-Power Design Techniques for IoT and Embedded Systems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786108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Techniques for Power Optimization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In addition to hardware-based techniques, software plays a crucial role in reducing power consumption.</a:t>
            </a:r>
          </a:p>
          <a:p>
            <a:pPr lvl="1" algn="just"/>
            <a:r>
              <a:rPr lang="en-PH" sz="3600" dirty="0"/>
              <a:t>Dynamic Power Management (DPM)</a:t>
            </a:r>
          </a:p>
          <a:p>
            <a:pPr lvl="1" algn="just"/>
            <a:r>
              <a:rPr lang="en-PH" sz="3600" dirty="0"/>
              <a:t>Task Scheduling</a:t>
            </a:r>
          </a:p>
          <a:p>
            <a:pPr lvl="1" algn="just"/>
            <a:r>
              <a:rPr lang="en-PH" sz="3600" dirty="0"/>
              <a:t>Adaptive Algorithms</a:t>
            </a:r>
          </a:p>
        </p:txBody>
      </p:sp>
    </p:spTree>
    <p:extLst>
      <p:ext uri="{BB962C8B-B14F-4D97-AF65-F5344CB8AC3E}">
        <p14:creationId xmlns:p14="http://schemas.microsoft.com/office/powerpoint/2010/main" val="529650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Dynamic Power Management (DPM)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System dynamically changes power states (active, idle, sleep, deep sleep) based on the workload.</a:t>
            </a:r>
          </a:p>
          <a:p>
            <a:pPr algn="just"/>
            <a:r>
              <a:rPr lang="en-US" sz="4000" dirty="0"/>
              <a:t>Example: CPUs enter idle states (C-states) when the operating system detects low usage.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662659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Task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Efficient scheduling of tasks can reduce power consumption by reducing idle times or allowing deeper sleep modes.</a:t>
            </a:r>
          </a:p>
          <a:p>
            <a:pPr algn="just"/>
            <a:r>
              <a:rPr lang="en-US" sz="4000" dirty="0"/>
              <a:t>Example: A real-time operating system (RTOS) may schedule tasks in a way that maximizes low-power states.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72605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Adaptive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800" dirty="0"/>
              <a:t>Algorithms can be adapted to trade-off between performance and power.</a:t>
            </a:r>
          </a:p>
          <a:p>
            <a:pPr algn="just"/>
            <a:r>
              <a:rPr lang="en-US" sz="4800" dirty="0"/>
              <a:t>Example: Video codecs may adjust quality dynamically to lower processing requirements and save energy.</a:t>
            </a:r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1074693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53DB-9DA4-F96B-6697-F5B5E0C36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Techniques for Low-Power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245-7F70-5E53-AA50-D38B4B15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PH" dirty="0"/>
              <a:t>Dynamic Power Reduction Techniques</a:t>
            </a:r>
          </a:p>
          <a:p>
            <a:pPr algn="just"/>
            <a:r>
              <a:rPr lang="en-PH" dirty="0"/>
              <a:t>Static Power Reduction Techniques</a:t>
            </a:r>
          </a:p>
          <a:p>
            <a:pPr algn="just"/>
            <a:r>
              <a:rPr lang="en-US" dirty="0"/>
              <a:t>Software Techniques for Power Optimization</a:t>
            </a:r>
          </a:p>
          <a:p>
            <a:pPr algn="just"/>
            <a:r>
              <a:rPr lang="en-US" b="1" dirty="0"/>
              <a:t>Low-Power Design Techniques for IoT and Embedded Systems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4145301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FF69-8080-829E-004C-762BEB3E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Low-Power Design Techniques for IoT and Embedded Systems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169D1-1A61-0FE8-3B32-F08666397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Duty Cycling</a:t>
            </a:r>
            <a:r>
              <a:rPr lang="en-US" sz="3200" dirty="0"/>
              <a:t>: Periodically turns the system on and off to save power.</a:t>
            </a:r>
          </a:p>
          <a:p>
            <a:pPr algn="just"/>
            <a:r>
              <a:rPr lang="en-US" sz="3200" b="1" dirty="0"/>
              <a:t>Energy Harvesting</a:t>
            </a:r>
            <a:r>
              <a:rPr lang="en-US" sz="3200" dirty="0"/>
              <a:t>: Collects ambient energy (e.g., solar, vibration) to supplement or replace battery power.</a:t>
            </a:r>
          </a:p>
          <a:p>
            <a:pPr algn="just"/>
            <a:r>
              <a:rPr lang="en-US" sz="3200" b="1" dirty="0"/>
              <a:t>Low-Power Wireless Communication</a:t>
            </a:r>
            <a:r>
              <a:rPr lang="en-US" sz="3200" dirty="0"/>
              <a:t>: Technologies like BLE (Bluetooth Low Energy) and Zigbee are designed for low-power communication.</a:t>
            </a:r>
            <a:endParaRPr lang="en-PH" sz="3200" dirty="0"/>
          </a:p>
        </p:txBody>
      </p:sp>
    </p:spTree>
    <p:extLst>
      <p:ext uri="{BB962C8B-B14F-4D97-AF65-F5344CB8AC3E}">
        <p14:creationId xmlns:p14="http://schemas.microsoft.com/office/powerpoint/2010/main" val="4216155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854</Words>
  <Application>Microsoft Office PowerPoint</Application>
  <PresentationFormat>Widescreen</PresentationFormat>
  <Paragraphs>88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Techniques for Low-Power Operation</vt:lpstr>
      <vt:lpstr>Techniques for Low-Power Operation</vt:lpstr>
      <vt:lpstr>Key Concepts in Power Consumption</vt:lpstr>
      <vt:lpstr>Techniques for Low-Power Operation</vt:lpstr>
      <vt:lpstr>Dynamic Power Reduction Techniques</vt:lpstr>
      <vt:lpstr>Voltage Scaling  (Dynamic Voltage Scaling - DVS)</vt:lpstr>
      <vt:lpstr>Clock Gating</vt:lpstr>
      <vt:lpstr>Clock Gating </vt:lpstr>
      <vt:lpstr>Power Gating</vt:lpstr>
      <vt:lpstr>Power Gating </vt:lpstr>
      <vt:lpstr>Operand Gating</vt:lpstr>
      <vt:lpstr>Techniques for Low-Power Operation</vt:lpstr>
      <vt:lpstr>Static Power Reduction Techniques</vt:lpstr>
      <vt:lpstr>Multi-Threshold CMOS (MTCMOS)</vt:lpstr>
      <vt:lpstr>Body Biasing </vt:lpstr>
      <vt:lpstr>Use of Sleep Transistors</vt:lpstr>
      <vt:lpstr>Techniques for Low-Power Operation</vt:lpstr>
      <vt:lpstr>Software Techniques for Power Optimization</vt:lpstr>
      <vt:lpstr>Dynamic Power Management (DPM)</vt:lpstr>
      <vt:lpstr>Task Scheduling</vt:lpstr>
      <vt:lpstr>Adaptive Algorithms</vt:lpstr>
      <vt:lpstr>Techniques for Low-Power Operation</vt:lpstr>
      <vt:lpstr>Low-Power Design Techniques for IoT and Embedded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Yulo Manzanero</dc:creator>
  <cp:lastModifiedBy>Dean Adrian Nombrefia</cp:lastModifiedBy>
  <cp:revision>4</cp:revision>
  <dcterms:created xsi:type="dcterms:W3CDTF">2024-10-07T06:47:52Z</dcterms:created>
  <dcterms:modified xsi:type="dcterms:W3CDTF">2025-11-18T00:35:04Z</dcterms:modified>
</cp:coreProperties>
</file>