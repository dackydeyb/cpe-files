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58" r:id="rId6"/>
    <p:sldId id="259" r:id="rId7"/>
    <p:sldId id="260" r:id="rId8"/>
    <p:sldId id="261" r:id="rId9"/>
    <p:sldId id="262" r:id="rId10"/>
    <p:sldId id="263" r:id="rId11"/>
    <p:sldId id="264" r:id="rId12"/>
    <p:sldId id="265" r:id="rId13"/>
    <p:sldId id="267" r:id="rId14"/>
    <p:sldId id="266"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2" r:id="rId29"/>
    <p:sldId id="281"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8" r:id="rId45"/>
    <p:sldId id="297"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9" r:id="rId66"/>
    <p:sldId id="318"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50" r:id="rId97"/>
    <p:sldId id="351"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19" autoAdjust="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e Paduada" userId="b9fe3674efc3e3fd" providerId="LiveId" clId="{746CBAE2-8E78-4E9B-904E-3C9FE6A50151}"/>
    <pc:docChg chg="delSld">
      <pc:chgData name="Dave Paduada" userId="b9fe3674efc3e3fd" providerId="LiveId" clId="{746CBAE2-8E78-4E9B-904E-3C9FE6A50151}" dt="2025-09-10T18:01:34.081" v="0" actId="2696"/>
      <pc:docMkLst>
        <pc:docMk/>
      </pc:docMkLst>
      <pc:sldChg chg="del">
        <pc:chgData name="Dave Paduada" userId="b9fe3674efc3e3fd" providerId="LiveId" clId="{746CBAE2-8E78-4E9B-904E-3C9FE6A50151}" dt="2025-09-10T18:01:34.081" v="0" actId="2696"/>
        <pc:sldMkLst>
          <pc:docMk/>
          <pc:sldMk cId="2022778443" sldId="34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9/11/2025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sz="4800" dirty="0"/>
              <a:t>CPE 24: Embedded systems</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Autofit/>
          </a:bodyPr>
          <a:lstStyle/>
          <a:p>
            <a:r>
              <a:rPr lang="en-US" sz="3600" dirty="0"/>
              <a:t>Chapter 1: Introduction to embedded systems</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8055-0C8C-FA3A-03A2-74217C7CC8B8}"/>
              </a:ext>
            </a:extLst>
          </p:cNvPr>
          <p:cNvSpPr>
            <a:spLocks noGrp="1"/>
          </p:cNvSpPr>
          <p:nvPr>
            <p:ph type="title"/>
          </p:nvPr>
        </p:nvSpPr>
        <p:spPr/>
        <p:txBody>
          <a:bodyPr>
            <a:normAutofit/>
          </a:bodyPr>
          <a:lstStyle/>
          <a:p>
            <a:r>
              <a:rPr lang="en-PH" sz="4000" dirty="0"/>
              <a:t>Topics covered:</a:t>
            </a:r>
          </a:p>
        </p:txBody>
      </p:sp>
      <p:sp>
        <p:nvSpPr>
          <p:cNvPr id="3" name="Content Placeholder 2">
            <a:extLst>
              <a:ext uri="{FF2B5EF4-FFF2-40B4-BE49-F238E27FC236}">
                <a16:creationId xmlns:a16="http://schemas.microsoft.com/office/drawing/2014/main" id="{FA3594E0-5D86-3095-BB44-EEFE3329613D}"/>
              </a:ext>
            </a:extLst>
          </p:cNvPr>
          <p:cNvSpPr>
            <a:spLocks noGrp="1"/>
          </p:cNvSpPr>
          <p:nvPr>
            <p:ph idx="1"/>
          </p:nvPr>
        </p:nvSpPr>
        <p:spPr>
          <a:xfrm>
            <a:off x="581192" y="1890876"/>
            <a:ext cx="11029615" cy="4084474"/>
          </a:xfrm>
        </p:spPr>
        <p:txBody>
          <a:bodyPr>
            <a:normAutofit/>
          </a:bodyPr>
          <a:lstStyle/>
          <a:p>
            <a:pPr marL="342900" indent="-342900">
              <a:buFont typeface="+mj-lt"/>
              <a:buAutoNum type="arabicPeriod"/>
            </a:pPr>
            <a:r>
              <a:rPr lang="en-PH" sz="3600" dirty="0"/>
              <a:t>Embedded Systems: History and Overview</a:t>
            </a:r>
          </a:p>
          <a:p>
            <a:pPr marL="342900" indent="-342900">
              <a:buFont typeface="+mj-lt"/>
              <a:buAutoNum type="arabicPeriod"/>
            </a:pPr>
            <a:r>
              <a:rPr lang="en-PH" sz="3600" dirty="0"/>
              <a:t>Structure of Embedded System</a:t>
            </a:r>
          </a:p>
          <a:p>
            <a:pPr marL="342900" indent="-342900">
              <a:buFont typeface="+mj-lt"/>
              <a:buAutoNum type="arabicPeriod"/>
            </a:pPr>
            <a:r>
              <a:rPr lang="en-PH" sz="3600" dirty="0"/>
              <a:t>Classification of Embedded Systems</a:t>
            </a:r>
          </a:p>
          <a:p>
            <a:pPr marL="342900" indent="-342900">
              <a:buFont typeface="+mj-lt"/>
              <a:buAutoNum type="arabicPeriod"/>
            </a:pPr>
            <a:r>
              <a:rPr lang="en-PH" sz="3600" dirty="0"/>
              <a:t>The Life Cycle of Embedded Designs</a:t>
            </a:r>
          </a:p>
          <a:p>
            <a:pPr marL="342900" indent="-342900">
              <a:buFont typeface="+mj-lt"/>
              <a:buAutoNum type="arabicPeriod"/>
            </a:pPr>
            <a:r>
              <a:rPr lang="en-PH" sz="3600" dirty="0"/>
              <a:t>Design Constraints</a:t>
            </a:r>
          </a:p>
        </p:txBody>
      </p:sp>
    </p:spTree>
    <p:extLst>
      <p:ext uri="{BB962C8B-B14F-4D97-AF65-F5344CB8AC3E}">
        <p14:creationId xmlns:p14="http://schemas.microsoft.com/office/powerpoint/2010/main" val="60172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959EB-C300-EDBE-BDBE-111CBC833FA1}"/>
              </a:ext>
            </a:extLst>
          </p:cNvPr>
          <p:cNvSpPr>
            <a:spLocks noGrp="1"/>
          </p:cNvSpPr>
          <p:nvPr>
            <p:ph type="title"/>
          </p:nvPr>
        </p:nvSpPr>
        <p:spPr>
          <a:xfrm>
            <a:off x="581191" y="753532"/>
            <a:ext cx="11029616" cy="603943"/>
          </a:xfrm>
        </p:spPr>
        <p:txBody>
          <a:bodyPr>
            <a:normAutofit fontScale="90000"/>
          </a:bodyPr>
          <a:lstStyle/>
          <a:p>
            <a:r>
              <a:rPr lang="en-PH" sz="3600" dirty="0"/>
              <a:t>1.1 embedded systems: history and overview</a:t>
            </a:r>
          </a:p>
        </p:txBody>
      </p:sp>
      <p:sp>
        <p:nvSpPr>
          <p:cNvPr id="3" name="Content Placeholder 2">
            <a:extLst>
              <a:ext uri="{FF2B5EF4-FFF2-40B4-BE49-F238E27FC236}">
                <a16:creationId xmlns:a16="http://schemas.microsoft.com/office/drawing/2014/main" id="{B19A2381-376D-3A8E-2539-7BB96D214C8B}"/>
              </a:ext>
            </a:extLst>
          </p:cNvPr>
          <p:cNvSpPr>
            <a:spLocks noGrp="1"/>
          </p:cNvSpPr>
          <p:nvPr>
            <p:ph idx="1"/>
          </p:nvPr>
        </p:nvSpPr>
        <p:spPr>
          <a:xfrm>
            <a:off x="581192" y="1532467"/>
            <a:ext cx="11029615" cy="4783666"/>
          </a:xfrm>
        </p:spPr>
        <p:txBody>
          <a:bodyPr>
            <a:normAutofit/>
          </a:bodyPr>
          <a:lstStyle/>
          <a:p>
            <a:pPr algn="just"/>
            <a:r>
              <a:rPr lang="en-US" sz="3200" dirty="0"/>
              <a:t>An </a:t>
            </a:r>
            <a:r>
              <a:rPr lang="en-US" sz="3200" b="1" i="1" dirty="0"/>
              <a:t>embedded system </a:t>
            </a:r>
            <a:r>
              <a:rPr lang="en-US" sz="3200" dirty="0"/>
              <a:t>can be broadly defined as a device that contains tightly coupled hardware and software components to perform a </a:t>
            </a:r>
            <a:r>
              <a:rPr lang="en-US" sz="3200" b="1" i="1" dirty="0"/>
              <a:t>single function</a:t>
            </a:r>
            <a:r>
              <a:rPr lang="en-US" sz="3200" dirty="0"/>
              <a:t>, forms part of a larger system, is not intended to be independently programmable by the user, and is expected to work with minimal or no human interaction. </a:t>
            </a:r>
          </a:p>
          <a:p>
            <a:pPr algn="just"/>
            <a:r>
              <a:rPr lang="en-US" sz="3200" dirty="0"/>
              <a:t>Two additional characteristics are very common in embedded systems: reactive operation and heavily constrained.</a:t>
            </a:r>
            <a:endParaRPr lang="en-PH" sz="3200" dirty="0"/>
          </a:p>
        </p:txBody>
      </p:sp>
    </p:spTree>
    <p:extLst>
      <p:ext uri="{BB962C8B-B14F-4D97-AF65-F5344CB8AC3E}">
        <p14:creationId xmlns:p14="http://schemas.microsoft.com/office/powerpoint/2010/main" val="254781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6542E-CD27-819E-7B44-82A7864FF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5F670-E72C-1EFB-2DBF-8CC58AA96273}"/>
              </a:ext>
            </a:extLst>
          </p:cNvPr>
          <p:cNvSpPr>
            <a:spLocks noGrp="1"/>
          </p:cNvSpPr>
          <p:nvPr>
            <p:ph type="title"/>
          </p:nvPr>
        </p:nvSpPr>
        <p:spPr>
          <a:xfrm>
            <a:off x="581191" y="753532"/>
            <a:ext cx="11029616" cy="603943"/>
          </a:xfrm>
        </p:spPr>
        <p:txBody>
          <a:bodyPr>
            <a:normAutofit fontScale="90000"/>
          </a:bodyPr>
          <a:lstStyle/>
          <a:p>
            <a:r>
              <a:rPr lang="en-PH" sz="3600" dirty="0"/>
              <a:t>1.1 embedded systems: history and overview</a:t>
            </a:r>
          </a:p>
        </p:txBody>
      </p:sp>
      <p:sp>
        <p:nvSpPr>
          <p:cNvPr id="3" name="Content Placeholder 2">
            <a:extLst>
              <a:ext uri="{FF2B5EF4-FFF2-40B4-BE49-F238E27FC236}">
                <a16:creationId xmlns:a16="http://schemas.microsoft.com/office/drawing/2014/main" id="{A1A84727-0118-B5CD-986E-5522A85ED530}"/>
              </a:ext>
            </a:extLst>
          </p:cNvPr>
          <p:cNvSpPr>
            <a:spLocks noGrp="1"/>
          </p:cNvSpPr>
          <p:nvPr>
            <p:ph idx="1"/>
          </p:nvPr>
        </p:nvSpPr>
        <p:spPr>
          <a:xfrm>
            <a:off x="581192" y="1532467"/>
            <a:ext cx="11029615" cy="4783666"/>
          </a:xfrm>
        </p:spPr>
        <p:txBody>
          <a:bodyPr>
            <a:normAutofit lnSpcReduction="10000"/>
          </a:bodyPr>
          <a:lstStyle/>
          <a:p>
            <a:pPr algn="just"/>
            <a:r>
              <a:rPr lang="en-US" sz="3200" dirty="0"/>
              <a:t>Most embedded system </a:t>
            </a:r>
            <a:r>
              <a:rPr lang="en-US" sz="3200" b="1" i="1" dirty="0"/>
              <a:t>interact directly </a:t>
            </a:r>
            <a:r>
              <a:rPr lang="en-US" sz="3200" dirty="0"/>
              <a:t>with processes or the environment, making decisions on the fly, based on their inputs. This makes necessary that the system must be reactive, responding in real-time to process inputs to ensure proper operation. </a:t>
            </a:r>
          </a:p>
          <a:p>
            <a:pPr algn="just"/>
            <a:r>
              <a:rPr lang="en-US" sz="3200" dirty="0"/>
              <a:t>These systems operate in </a:t>
            </a:r>
            <a:r>
              <a:rPr lang="en-US" sz="3200" b="1" i="1" dirty="0"/>
              <a:t>constrained environments</a:t>
            </a:r>
            <a:r>
              <a:rPr lang="en-US" sz="3200" dirty="0"/>
              <a:t> where memory, computing power, and power supply are limited. Moreover, production requirements, in most cases due to volume, place high-cost constraints on designs</a:t>
            </a:r>
            <a:endParaRPr lang="en-PH" sz="3200" dirty="0"/>
          </a:p>
        </p:txBody>
      </p:sp>
    </p:spTree>
    <p:extLst>
      <p:ext uri="{BB962C8B-B14F-4D97-AF65-F5344CB8AC3E}">
        <p14:creationId xmlns:p14="http://schemas.microsoft.com/office/powerpoint/2010/main" val="3061516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8BFE-8FF9-33DF-74BE-6B79ED0E1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04A49-6C9D-4A5B-4F64-6DAD9630BE5A}"/>
              </a:ext>
            </a:extLst>
          </p:cNvPr>
          <p:cNvSpPr>
            <a:spLocks noGrp="1"/>
          </p:cNvSpPr>
          <p:nvPr>
            <p:ph type="title"/>
          </p:nvPr>
        </p:nvSpPr>
        <p:spPr>
          <a:xfrm>
            <a:off x="581191" y="753532"/>
            <a:ext cx="11029616" cy="603943"/>
          </a:xfrm>
        </p:spPr>
        <p:txBody>
          <a:bodyPr>
            <a:normAutofit fontScale="90000"/>
          </a:bodyPr>
          <a:lstStyle/>
          <a:p>
            <a:r>
              <a:rPr lang="en-US" sz="3600" dirty="0"/>
              <a:t>1.1.1 Early forms of embedded systems</a:t>
            </a:r>
            <a:endParaRPr lang="en-PH" sz="3600" dirty="0"/>
          </a:p>
        </p:txBody>
      </p:sp>
      <p:sp>
        <p:nvSpPr>
          <p:cNvPr id="3" name="Content Placeholder 2">
            <a:extLst>
              <a:ext uri="{FF2B5EF4-FFF2-40B4-BE49-F238E27FC236}">
                <a16:creationId xmlns:a16="http://schemas.microsoft.com/office/drawing/2014/main" id="{B38E2B2E-BB9E-FE2F-B817-778EB5AF0F1B}"/>
              </a:ext>
            </a:extLst>
          </p:cNvPr>
          <p:cNvSpPr>
            <a:spLocks noGrp="1"/>
          </p:cNvSpPr>
          <p:nvPr>
            <p:ph idx="1"/>
          </p:nvPr>
        </p:nvSpPr>
        <p:spPr>
          <a:xfrm>
            <a:off x="140926" y="1430867"/>
            <a:ext cx="6369942" cy="2683933"/>
          </a:xfrm>
        </p:spPr>
        <p:txBody>
          <a:bodyPr>
            <a:noAutofit/>
          </a:bodyPr>
          <a:lstStyle/>
          <a:p>
            <a:pPr algn="just"/>
            <a:r>
              <a:rPr lang="en-US" sz="3200" dirty="0"/>
              <a:t>Take as an example early electronic computing devices such as the </a:t>
            </a:r>
            <a:r>
              <a:rPr lang="en-US" sz="3200" b="1" i="1" dirty="0"/>
              <a:t>Colossus Mark I and II </a:t>
            </a:r>
            <a:r>
              <a:rPr lang="en-US" sz="3200" dirty="0"/>
              <a:t>computers, partially seen in Fig. 1.1. </a:t>
            </a:r>
          </a:p>
        </p:txBody>
      </p:sp>
      <p:pic>
        <p:nvPicPr>
          <p:cNvPr id="5" name="Picture 4">
            <a:extLst>
              <a:ext uri="{FF2B5EF4-FFF2-40B4-BE49-F238E27FC236}">
                <a16:creationId xmlns:a16="http://schemas.microsoft.com/office/drawing/2014/main" id="{82D05754-08D8-A2D4-B19E-B274ACB1C809}"/>
              </a:ext>
            </a:extLst>
          </p:cNvPr>
          <p:cNvPicPr>
            <a:picLocks noChangeAspect="1"/>
          </p:cNvPicPr>
          <p:nvPr/>
        </p:nvPicPr>
        <p:blipFill>
          <a:blip r:embed="rId2"/>
          <a:stretch>
            <a:fillRect/>
          </a:stretch>
        </p:blipFill>
        <p:spPr>
          <a:xfrm>
            <a:off x="6510868" y="1357475"/>
            <a:ext cx="4991797" cy="3372321"/>
          </a:xfrm>
          <a:prstGeom prst="rect">
            <a:avLst/>
          </a:prstGeom>
        </p:spPr>
      </p:pic>
      <p:sp>
        <p:nvSpPr>
          <p:cNvPr id="6" name="Content Placeholder 2">
            <a:extLst>
              <a:ext uri="{FF2B5EF4-FFF2-40B4-BE49-F238E27FC236}">
                <a16:creationId xmlns:a16="http://schemas.microsoft.com/office/drawing/2014/main" id="{0B80FCBC-EEF5-6B81-3073-403C82F585B2}"/>
              </a:ext>
            </a:extLst>
          </p:cNvPr>
          <p:cNvSpPr txBox="1">
            <a:spLocks/>
          </p:cNvSpPr>
          <p:nvPr/>
        </p:nvSpPr>
        <p:spPr>
          <a:xfrm>
            <a:off x="0" y="4377267"/>
            <a:ext cx="11585407" cy="2683933"/>
          </a:xfrm>
          <a:prstGeom prst="rect">
            <a:avLst/>
          </a:prstGeom>
        </p:spPr>
        <p:txBody>
          <a:bodyPr vert="horz" lIns="91440" tIns="45720" rIns="91440" bIns="45720" rtlCol="0" anchor="ctr">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sz="3200" dirty="0"/>
              <a:t>These electro-mechanical behemoths, designed by the British to break encrypted teleprinter German messages during World War II, were in a certain way similar to what we define as an embedded system.</a:t>
            </a:r>
          </a:p>
        </p:txBody>
      </p:sp>
    </p:spTree>
    <p:extLst>
      <p:ext uri="{BB962C8B-B14F-4D97-AF65-F5344CB8AC3E}">
        <p14:creationId xmlns:p14="http://schemas.microsoft.com/office/powerpoint/2010/main" val="3627494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88533-5F94-0D8E-0999-77AEA07EC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BB6D0-192C-5B6B-1544-E7801930492E}"/>
              </a:ext>
            </a:extLst>
          </p:cNvPr>
          <p:cNvSpPr>
            <a:spLocks noGrp="1"/>
          </p:cNvSpPr>
          <p:nvPr>
            <p:ph type="title"/>
          </p:nvPr>
        </p:nvSpPr>
        <p:spPr>
          <a:xfrm>
            <a:off x="581191" y="753532"/>
            <a:ext cx="11029616" cy="603943"/>
          </a:xfrm>
        </p:spPr>
        <p:txBody>
          <a:bodyPr>
            <a:normAutofit fontScale="90000"/>
          </a:bodyPr>
          <a:lstStyle/>
          <a:p>
            <a:r>
              <a:rPr lang="en-US" sz="3600" dirty="0"/>
              <a:t>1.1.1 Early forms of embedded systems</a:t>
            </a:r>
            <a:endParaRPr lang="en-PH" sz="3600" dirty="0"/>
          </a:p>
        </p:txBody>
      </p:sp>
      <p:sp>
        <p:nvSpPr>
          <p:cNvPr id="3" name="Content Placeholder 2">
            <a:extLst>
              <a:ext uri="{FF2B5EF4-FFF2-40B4-BE49-F238E27FC236}">
                <a16:creationId xmlns:a16="http://schemas.microsoft.com/office/drawing/2014/main" id="{481E3A06-6601-F82D-D0F5-71AD17731222}"/>
              </a:ext>
            </a:extLst>
          </p:cNvPr>
          <p:cNvSpPr>
            <a:spLocks noGrp="1"/>
          </p:cNvSpPr>
          <p:nvPr>
            <p:ph idx="1"/>
          </p:nvPr>
        </p:nvSpPr>
        <p:spPr>
          <a:xfrm>
            <a:off x="140925" y="1430867"/>
            <a:ext cx="11830941" cy="5283200"/>
          </a:xfrm>
        </p:spPr>
        <p:txBody>
          <a:bodyPr>
            <a:noAutofit/>
          </a:bodyPr>
          <a:lstStyle/>
          <a:p>
            <a:pPr algn="just"/>
            <a:r>
              <a:rPr lang="en-US" sz="3200" dirty="0"/>
              <a:t>Although not based on the concept of a stored-program computer, these machines were able to perform a </a:t>
            </a:r>
            <a:r>
              <a:rPr lang="en-US" sz="3200" b="1" i="1" dirty="0"/>
              <a:t>single function</a:t>
            </a:r>
            <a:r>
              <a:rPr lang="en-US" sz="3200" dirty="0"/>
              <a:t>, </a:t>
            </a:r>
            <a:r>
              <a:rPr lang="en-US" sz="3200" b="1" i="1" dirty="0" err="1"/>
              <a:t>reprogrammability</a:t>
            </a:r>
            <a:r>
              <a:rPr lang="en-US" sz="3200" dirty="0"/>
              <a:t> was very awkward, and once fed with the appropriate inputs, they required </a:t>
            </a:r>
            <a:r>
              <a:rPr lang="en-US" sz="3200" b="1" i="1" dirty="0"/>
              <a:t>minimal human intervention </a:t>
            </a:r>
            <a:r>
              <a:rPr lang="en-US" sz="3200" dirty="0"/>
              <a:t>to complete their job. </a:t>
            </a:r>
          </a:p>
          <a:p>
            <a:pPr algn="just"/>
            <a:r>
              <a:rPr lang="en-US" sz="3200" dirty="0"/>
              <a:t>Despite their conceptual similarity, these early marvels of computing can hardly be considered as integrative parts of larger system, being therefore a long shot to the forms known today as embedded systems.</a:t>
            </a:r>
          </a:p>
        </p:txBody>
      </p:sp>
    </p:spTree>
    <p:extLst>
      <p:ext uri="{BB962C8B-B14F-4D97-AF65-F5344CB8AC3E}">
        <p14:creationId xmlns:p14="http://schemas.microsoft.com/office/powerpoint/2010/main" val="2735939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6EA86-61F5-F792-A104-12BCD4135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6D56A-7D86-BC95-22D0-C8B4FAC3F427}"/>
              </a:ext>
            </a:extLst>
          </p:cNvPr>
          <p:cNvSpPr>
            <a:spLocks noGrp="1"/>
          </p:cNvSpPr>
          <p:nvPr>
            <p:ph type="title"/>
          </p:nvPr>
        </p:nvSpPr>
        <p:spPr>
          <a:xfrm>
            <a:off x="581191" y="753532"/>
            <a:ext cx="11029616" cy="603943"/>
          </a:xfrm>
        </p:spPr>
        <p:txBody>
          <a:bodyPr>
            <a:normAutofit fontScale="90000"/>
          </a:bodyPr>
          <a:lstStyle/>
          <a:p>
            <a:r>
              <a:rPr lang="en-US" sz="3600" dirty="0"/>
              <a:t>1.1.1 Early forms of embedded systems</a:t>
            </a:r>
            <a:endParaRPr lang="en-PH" sz="3600" dirty="0"/>
          </a:p>
        </p:txBody>
      </p:sp>
      <p:sp>
        <p:nvSpPr>
          <p:cNvPr id="3" name="Content Placeholder 2">
            <a:extLst>
              <a:ext uri="{FF2B5EF4-FFF2-40B4-BE49-F238E27FC236}">
                <a16:creationId xmlns:a16="http://schemas.microsoft.com/office/drawing/2014/main" id="{578B0CD2-50AD-6048-9901-F2DBE031C112}"/>
              </a:ext>
            </a:extLst>
          </p:cNvPr>
          <p:cNvSpPr>
            <a:spLocks noGrp="1"/>
          </p:cNvSpPr>
          <p:nvPr>
            <p:ph idx="1"/>
          </p:nvPr>
        </p:nvSpPr>
        <p:spPr>
          <a:xfrm>
            <a:off x="140925" y="1430867"/>
            <a:ext cx="6430454" cy="5283200"/>
          </a:xfrm>
        </p:spPr>
        <p:txBody>
          <a:bodyPr>
            <a:noAutofit/>
          </a:bodyPr>
          <a:lstStyle/>
          <a:p>
            <a:pPr algn="just"/>
            <a:r>
              <a:rPr lang="en-US" sz="3200" dirty="0"/>
              <a:t>The AGC incorporated a user </a:t>
            </a:r>
            <a:r>
              <a:rPr lang="en-US" sz="3200" b="1" i="1" dirty="0"/>
              <a:t>interface module </a:t>
            </a:r>
            <a:r>
              <a:rPr lang="en-US" sz="3200" dirty="0"/>
              <a:t>based on keys, lamps, and seven segment numeric displays, a hardwired control unit based on 4,100 single three-input RTL NOR gates, 4 KB of magnetic core RAM, and 32 KB of core rope ROM.</a:t>
            </a:r>
          </a:p>
        </p:txBody>
      </p:sp>
      <p:pic>
        <p:nvPicPr>
          <p:cNvPr id="5" name="Picture 4">
            <a:extLst>
              <a:ext uri="{FF2B5EF4-FFF2-40B4-BE49-F238E27FC236}">
                <a16:creationId xmlns:a16="http://schemas.microsoft.com/office/drawing/2014/main" id="{14FA2275-E729-9DAD-25A9-D68AD7837939}"/>
              </a:ext>
            </a:extLst>
          </p:cNvPr>
          <p:cNvPicPr>
            <a:picLocks noChangeAspect="1"/>
          </p:cNvPicPr>
          <p:nvPr/>
        </p:nvPicPr>
        <p:blipFill>
          <a:blip r:embed="rId2"/>
          <a:stretch>
            <a:fillRect/>
          </a:stretch>
        </p:blipFill>
        <p:spPr>
          <a:xfrm>
            <a:off x="6571379" y="2086227"/>
            <a:ext cx="5039428" cy="3972479"/>
          </a:xfrm>
          <a:prstGeom prst="rect">
            <a:avLst/>
          </a:prstGeom>
        </p:spPr>
      </p:pic>
    </p:spTree>
    <p:extLst>
      <p:ext uri="{BB962C8B-B14F-4D97-AF65-F5344CB8AC3E}">
        <p14:creationId xmlns:p14="http://schemas.microsoft.com/office/powerpoint/2010/main" val="3704303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094F6-7567-7C76-611C-68BCEF811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B457AA-BE4E-0675-693F-66BC004B22F9}"/>
              </a:ext>
            </a:extLst>
          </p:cNvPr>
          <p:cNvSpPr>
            <a:spLocks noGrp="1"/>
          </p:cNvSpPr>
          <p:nvPr>
            <p:ph type="title"/>
          </p:nvPr>
        </p:nvSpPr>
        <p:spPr>
          <a:xfrm>
            <a:off x="581191" y="753532"/>
            <a:ext cx="11029616" cy="603943"/>
          </a:xfrm>
        </p:spPr>
        <p:txBody>
          <a:bodyPr>
            <a:normAutofit fontScale="90000"/>
          </a:bodyPr>
          <a:lstStyle/>
          <a:p>
            <a:r>
              <a:rPr lang="en-US" sz="3600" dirty="0"/>
              <a:t>1.1.1 Early forms of embedded systems</a:t>
            </a:r>
            <a:endParaRPr lang="en-PH" sz="3600" dirty="0"/>
          </a:p>
        </p:txBody>
      </p:sp>
      <p:sp>
        <p:nvSpPr>
          <p:cNvPr id="3" name="Content Placeholder 2">
            <a:extLst>
              <a:ext uri="{FF2B5EF4-FFF2-40B4-BE49-F238E27FC236}">
                <a16:creationId xmlns:a16="http://schemas.microsoft.com/office/drawing/2014/main" id="{650B02DA-260C-7E24-5C13-0583FE8CB0D2}"/>
              </a:ext>
            </a:extLst>
          </p:cNvPr>
          <p:cNvSpPr>
            <a:spLocks noGrp="1"/>
          </p:cNvSpPr>
          <p:nvPr>
            <p:ph idx="1"/>
          </p:nvPr>
        </p:nvSpPr>
        <p:spPr>
          <a:xfrm>
            <a:off x="140925" y="1430867"/>
            <a:ext cx="11788608" cy="5283200"/>
          </a:xfrm>
        </p:spPr>
        <p:txBody>
          <a:bodyPr>
            <a:noAutofit/>
          </a:bodyPr>
          <a:lstStyle/>
          <a:p>
            <a:pPr algn="just"/>
            <a:r>
              <a:rPr lang="en-US" sz="3200" dirty="0"/>
              <a:t>The unit CPU was run by a 2.048MHz primary clock, had four 16-bit central registers and executed eleven instructions. It supported five vectored interrupt sources, including a 20-register timer-counter, a real-time clock module, and even allowed for a low-power standby mode that reduced in over 85% the module’s power consumption, while keeping alive all critical components.</a:t>
            </a:r>
          </a:p>
          <a:p>
            <a:pPr algn="just"/>
            <a:r>
              <a:rPr lang="en-US" sz="3200" dirty="0"/>
              <a:t>The system software of the Apollo Guidance Computer was written in </a:t>
            </a:r>
            <a:r>
              <a:rPr lang="en-US" sz="3200" b="1" i="1" dirty="0"/>
              <a:t>AGC assembly language </a:t>
            </a:r>
            <a:r>
              <a:rPr lang="en-US" sz="3200" dirty="0"/>
              <a:t>and supported a non-preemptive real-time operating system that could simultaneously run up to eight prioritized jobs.</a:t>
            </a:r>
          </a:p>
        </p:txBody>
      </p:sp>
    </p:spTree>
    <p:extLst>
      <p:ext uri="{BB962C8B-B14F-4D97-AF65-F5344CB8AC3E}">
        <p14:creationId xmlns:p14="http://schemas.microsoft.com/office/powerpoint/2010/main" val="179789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42FB4-E544-85B9-400A-9C3B28827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9EA1A-F84D-E444-8AA9-FFCC7E085CD2}"/>
              </a:ext>
            </a:extLst>
          </p:cNvPr>
          <p:cNvSpPr>
            <a:spLocks noGrp="1"/>
          </p:cNvSpPr>
          <p:nvPr>
            <p:ph type="title"/>
          </p:nvPr>
        </p:nvSpPr>
        <p:spPr>
          <a:xfrm>
            <a:off x="237067" y="753532"/>
            <a:ext cx="11743266" cy="872068"/>
          </a:xfrm>
        </p:spPr>
        <p:txBody>
          <a:bodyPr>
            <a:normAutofit fontScale="90000"/>
          </a:bodyPr>
          <a:lstStyle/>
          <a:p>
            <a:r>
              <a:rPr lang="en-US" sz="3600" dirty="0"/>
              <a:t>1.1.2 birth and evolution of modern embedded systems</a:t>
            </a:r>
            <a:endParaRPr lang="en-PH" sz="3600" dirty="0"/>
          </a:p>
        </p:txBody>
      </p:sp>
      <p:sp>
        <p:nvSpPr>
          <p:cNvPr id="5" name="Content Placeholder 4">
            <a:extLst>
              <a:ext uri="{FF2B5EF4-FFF2-40B4-BE49-F238E27FC236}">
                <a16:creationId xmlns:a16="http://schemas.microsoft.com/office/drawing/2014/main" id="{960D1922-4AAA-B105-76FF-68C43488C540}"/>
              </a:ext>
            </a:extLst>
          </p:cNvPr>
          <p:cNvSpPr>
            <a:spLocks noGrp="1"/>
          </p:cNvSpPr>
          <p:nvPr>
            <p:ph idx="1"/>
          </p:nvPr>
        </p:nvSpPr>
        <p:spPr>
          <a:xfrm>
            <a:off x="338667" y="1769533"/>
            <a:ext cx="11463865" cy="4758267"/>
          </a:xfrm>
        </p:spPr>
        <p:txBody>
          <a:bodyPr>
            <a:noAutofit/>
          </a:bodyPr>
          <a:lstStyle/>
          <a:p>
            <a:pPr algn="just"/>
            <a:r>
              <a:rPr lang="en-US" sz="3200" dirty="0"/>
              <a:t>Gary Boone from Texas Instruments was awarded in 1973 the patent of the </a:t>
            </a:r>
            <a:r>
              <a:rPr lang="en-US" sz="3200" b="1" i="1" dirty="0"/>
              <a:t>first single-chip microprocessor architecture </a:t>
            </a:r>
            <a:r>
              <a:rPr lang="en-US" sz="3200" dirty="0"/>
              <a:t>for its 1971 design of the TMS1000. This chip was a 4-bit CPU that incorporated in the same die 1K of ROM and 256 bits of RAM to offer a complete computer functionality in a single-chip, making it the first microcomputer-on-a-chip (</a:t>
            </a:r>
            <a:r>
              <a:rPr lang="en-US" sz="3200" dirty="0" err="1"/>
              <a:t>a.k.a</a:t>
            </a:r>
            <a:r>
              <a:rPr lang="en-US" sz="3200" dirty="0"/>
              <a:t> microcontroller). </a:t>
            </a:r>
          </a:p>
          <a:p>
            <a:pPr algn="just"/>
            <a:r>
              <a:rPr lang="en-US" sz="3200" dirty="0"/>
              <a:t>The TMS1000 was launched in September 1971 as a </a:t>
            </a:r>
            <a:r>
              <a:rPr lang="en-US" sz="3200" b="1" i="1" dirty="0"/>
              <a:t>calculator chip</a:t>
            </a:r>
            <a:r>
              <a:rPr lang="en-US" sz="3200" dirty="0"/>
              <a:t> with part number TMS1802NC. </a:t>
            </a:r>
            <a:endParaRPr lang="en-PH" sz="3200" dirty="0"/>
          </a:p>
        </p:txBody>
      </p:sp>
    </p:spTree>
    <p:extLst>
      <p:ext uri="{BB962C8B-B14F-4D97-AF65-F5344CB8AC3E}">
        <p14:creationId xmlns:p14="http://schemas.microsoft.com/office/powerpoint/2010/main" val="849012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555E7-E1CB-56B6-7243-B8CD8397B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F9603-9161-85A5-080E-E605C8AD3D24}"/>
              </a:ext>
            </a:extLst>
          </p:cNvPr>
          <p:cNvSpPr>
            <a:spLocks noGrp="1"/>
          </p:cNvSpPr>
          <p:nvPr>
            <p:ph type="title"/>
          </p:nvPr>
        </p:nvSpPr>
        <p:spPr>
          <a:xfrm>
            <a:off x="224367" y="330200"/>
            <a:ext cx="11743266" cy="872068"/>
          </a:xfrm>
        </p:spPr>
        <p:txBody>
          <a:bodyPr>
            <a:normAutofit fontScale="90000"/>
          </a:bodyPr>
          <a:lstStyle/>
          <a:p>
            <a:r>
              <a:rPr lang="en-US" sz="3600" dirty="0"/>
              <a:t>1.1.2 birth and evolution of modern embedded systems</a:t>
            </a:r>
            <a:endParaRPr lang="en-PH" sz="3600" dirty="0"/>
          </a:p>
        </p:txBody>
      </p:sp>
      <p:pic>
        <p:nvPicPr>
          <p:cNvPr id="4" name="Content Placeholder 3">
            <a:extLst>
              <a:ext uri="{FF2B5EF4-FFF2-40B4-BE49-F238E27FC236}">
                <a16:creationId xmlns:a16="http://schemas.microsoft.com/office/drawing/2014/main" id="{6653D91E-C382-EE07-2D68-8CF9F651A717}"/>
              </a:ext>
            </a:extLst>
          </p:cNvPr>
          <p:cNvPicPr>
            <a:picLocks noGrp="1" noChangeAspect="1"/>
          </p:cNvPicPr>
          <p:nvPr>
            <p:ph idx="1"/>
          </p:nvPr>
        </p:nvPicPr>
        <p:blipFill>
          <a:blip r:embed="rId2"/>
          <a:stretch>
            <a:fillRect/>
          </a:stretch>
        </p:blipFill>
        <p:spPr>
          <a:xfrm>
            <a:off x="1758390" y="1201738"/>
            <a:ext cx="7591486" cy="5326062"/>
          </a:xfrm>
          <a:prstGeom prst="rect">
            <a:avLst/>
          </a:prstGeom>
        </p:spPr>
      </p:pic>
    </p:spTree>
    <p:extLst>
      <p:ext uri="{BB962C8B-B14F-4D97-AF65-F5344CB8AC3E}">
        <p14:creationId xmlns:p14="http://schemas.microsoft.com/office/powerpoint/2010/main" val="465616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8158D-36F4-2B23-62BC-75F8FDCBD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FBF8F-3629-033C-21C2-086AB569CC3E}"/>
              </a:ext>
            </a:extLst>
          </p:cNvPr>
          <p:cNvSpPr>
            <a:spLocks noGrp="1"/>
          </p:cNvSpPr>
          <p:nvPr>
            <p:ph type="title"/>
          </p:nvPr>
        </p:nvSpPr>
        <p:spPr>
          <a:xfrm>
            <a:off x="224367" y="330200"/>
            <a:ext cx="11743266" cy="872068"/>
          </a:xfrm>
        </p:spPr>
        <p:txBody>
          <a:bodyPr>
            <a:normAutofit fontScale="90000"/>
          </a:bodyPr>
          <a:lstStyle/>
          <a:p>
            <a:r>
              <a:rPr lang="en-US" sz="3600" dirty="0"/>
              <a:t>1.1.2 birth and evolution of modern embedded systems</a:t>
            </a:r>
            <a:endParaRPr lang="en-PH" sz="3600" dirty="0"/>
          </a:p>
        </p:txBody>
      </p:sp>
      <p:sp>
        <p:nvSpPr>
          <p:cNvPr id="5" name="Content Placeholder 4">
            <a:extLst>
              <a:ext uri="{FF2B5EF4-FFF2-40B4-BE49-F238E27FC236}">
                <a16:creationId xmlns:a16="http://schemas.microsoft.com/office/drawing/2014/main" id="{81713133-3F8C-B72F-0A5B-13A145C4E0C8}"/>
              </a:ext>
            </a:extLst>
          </p:cNvPr>
          <p:cNvSpPr>
            <a:spLocks noGrp="1"/>
          </p:cNvSpPr>
          <p:nvPr>
            <p:ph idx="1"/>
          </p:nvPr>
        </p:nvSpPr>
        <p:spPr>
          <a:xfrm>
            <a:off x="338667" y="1202269"/>
            <a:ext cx="11463865" cy="5325532"/>
          </a:xfrm>
        </p:spPr>
        <p:txBody>
          <a:bodyPr>
            <a:noAutofit/>
          </a:bodyPr>
          <a:lstStyle/>
          <a:p>
            <a:pPr algn="just"/>
            <a:r>
              <a:rPr lang="en-US" sz="3200" dirty="0"/>
              <a:t>The i4004, recognized as the first </a:t>
            </a:r>
            <a:r>
              <a:rPr lang="en-US" sz="3200" b="1" i="1" dirty="0"/>
              <a:t>commercial</a:t>
            </a:r>
            <a:r>
              <a:rPr lang="en-US" sz="3200" dirty="0"/>
              <a:t>, stand-alone </a:t>
            </a:r>
            <a:r>
              <a:rPr lang="en-US" sz="3200" b="1" i="1" dirty="0"/>
              <a:t>single chip microprocessor</a:t>
            </a:r>
            <a:r>
              <a:rPr lang="en-US" sz="3200" dirty="0"/>
              <a:t>, was launched by Intel in November 1971. The chip was developed by a design team led by Federico Faggin at Intel. </a:t>
            </a:r>
          </a:p>
          <a:p>
            <a:pPr algn="just"/>
            <a:r>
              <a:rPr lang="en-US" sz="3200" dirty="0"/>
              <a:t>This design was also a 4-bit CPU intended for use in electronic calculators. The 4004 was able to address 4K of memory, operating at a maximum clock frequency of 740 KHz. Integrating a minimum system around the 4004 required at least </a:t>
            </a:r>
            <a:r>
              <a:rPr lang="en-US" sz="3200" b="1" i="1" dirty="0"/>
              <a:t>three additional chips</a:t>
            </a:r>
            <a:r>
              <a:rPr lang="en-US" sz="3200" dirty="0"/>
              <a:t>: a 4001 ROM, a 4002 RAM, and a 4003 I/O interface.</a:t>
            </a:r>
            <a:endParaRPr lang="en-PH" sz="3200" dirty="0"/>
          </a:p>
        </p:txBody>
      </p:sp>
    </p:spTree>
    <p:extLst>
      <p:ext uri="{BB962C8B-B14F-4D97-AF65-F5344CB8AC3E}">
        <p14:creationId xmlns:p14="http://schemas.microsoft.com/office/powerpoint/2010/main" val="2688053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F0F0D-D33E-EEE2-4020-5252A22611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A2FBF-DEA9-49E3-0524-529759E4B1BA}"/>
              </a:ext>
            </a:extLst>
          </p:cNvPr>
          <p:cNvSpPr>
            <a:spLocks noGrp="1"/>
          </p:cNvSpPr>
          <p:nvPr>
            <p:ph type="title"/>
          </p:nvPr>
        </p:nvSpPr>
        <p:spPr>
          <a:xfrm>
            <a:off x="224367" y="330200"/>
            <a:ext cx="11743266" cy="872068"/>
          </a:xfrm>
        </p:spPr>
        <p:txBody>
          <a:bodyPr>
            <a:normAutofit fontScale="90000"/>
          </a:bodyPr>
          <a:lstStyle/>
          <a:p>
            <a:r>
              <a:rPr lang="en-US" sz="3600" dirty="0"/>
              <a:t>1.1.2 birth and evolution of modern embedded systems</a:t>
            </a:r>
            <a:endParaRPr lang="en-PH" sz="3600" dirty="0"/>
          </a:p>
        </p:txBody>
      </p:sp>
      <p:sp>
        <p:nvSpPr>
          <p:cNvPr id="5" name="Content Placeholder 4">
            <a:extLst>
              <a:ext uri="{FF2B5EF4-FFF2-40B4-BE49-F238E27FC236}">
                <a16:creationId xmlns:a16="http://schemas.microsoft.com/office/drawing/2014/main" id="{F75482C0-E313-9A5D-D384-4EE6D9E882AC}"/>
              </a:ext>
            </a:extLst>
          </p:cNvPr>
          <p:cNvSpPr>
            <a:spLocks noGrp="1"/>
          </p:cNvSpPr>
          <p:nvPr>
            <p:ph idx="1"/>
          </p:nvPr>
        </p:nvSpPr>
        <p:spPr/>
        <p:txBody>
          <a:bodyPr/>
          <a:lstStyle/>
          <a:p>
            <a:endParaRPr lang="en-PH"/>
          </a:p>
        </p:txBody>
      </p:sp>
      <p:pic>
        <p:nvPicPr>
          <p:cNvPr id="7" name="Picture 6">
            <a:extLst>
              <a:ext uri="{FF2B5EF4-FFF2-40B4-BE49-F238E27FC236}">
                <a16:creationId xmlns:a16="http://schemas.microsoft.com/office/drawing/2014/main" id="{317FE273-AFBC-ED4A-E932-D5461E5DE9EC}"/>
              </a:ext>
            </a:extLst>
          </p:cNvPr>
          <p:cNvPicPr>
            <a:picLocks noChangeAspect="1"/>
          </p:cNvPicPr>
          <p:nvPr/>
        </p:nvPicPr>
        <p:blipFill>
          <a:blip r:embed="rId2"/>
          <a:stretch>
            <a:fillRect/>
          </a:stretch>
        </p:blipFill>
        <p:spPr>
          <a:xfrm>
            <a:off x="1478458" y="1541159"/>
            <a:ext cx="8757741" cy="4715707"/>
          </a:xfrm>
          <a:prstGeom prst="rect">
            <a:avLst/>
          </a:prstGeom>
        </p:spPr>
      </p:pic>
    </p:spTree>
    <p:extLst>
      <p:ext uri="{BB962C8B-B14F-4D97-AF65-F5344CB8AC3E}">
        <p14:creationId xmlns:p14="http://schemas.microsoft.com/office/powerpoint/2010/main" val="1993719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57475-AA7F-7022-4F65-6499A423F9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10FDF-7B6A-2BA8-52FB-725DB0893B4F}"/>
              </a:ext>
            </a:extLst>
          </p:cNvPr>
          <p:cNvSpPr>
            <a:spLocks noGrp="1"/>
          </p:cNvSpPr>
          <p:nvPr>
            <p:ph type="title"/>
          </p:nvPr>
        </p:nvSpPr>
        <p:spPr>
          <a:xfrm>
            <a:off x="224367" y="330200"/>
            <a:ext cx="11743266" cy="872068"/>
          </a:xfrm>
        </p:spPr>
        <p:txBody>
          <a:bodyPr>
            <a:normAutofit fontScale="90000"/>
          </a:bodyPr>
          <a:lstStyle/>
          <a:p>
            <a:r>
              <a:rPr lang="en-US" sz="3600" dirty="0"/>
              <a:t>1.1.2 birth and evolution of modern embedded systems</a:t>
            </a:r>
            <a:endParaRPr lang="en-PH" sz="3600" dirty="0"/>
          </a:p>
        </p:txBody>
      </p:sp>
      <p:sp>
        <p:nvSpPr>
          <p:cNvPr id="5" name="Content Placeholder 4">
            <a:extLst>
              <a:ext uri="{FF2B5EF4-FFF2-40B4-BE49-F238E27FC236}">
                <a16:creationId xmlns:a16="http://schemas.microsoft.com/office/drawing/2014/main" id="{48A1081B-7AAA-DA29-6F29-27729357086B}"/>
              </a:ext>
            </a:extLst>
          </p:cNvPr>
          <p:cNvSpPr>
            <a:spLocks noGrp="1"/>
          </p:cNvSpPr>
          <p:nvPr>
            <p:ph idx="1"/>
          </p:nvPr>
        </p:nvSpPr>
        <p:spPr>
          <a:xfrm>
            <a:off x="338667" y="1202269"/>
            <a:ext cx="11463865" cy="5325532"/>
          </a:xfrm>
        </p:spPr>
        <p:txBody>
          <a:bodyPr>
            <a:noAutofit/>
          </a:bodyPr>
          <a:lstStyle/>
          <a:p>
            <a:pPr algn="just"/>
            <a:r>
              <a:rPr lang="en-US" sz="3200" dirty="0"/>
              <a:t>The third pioneering microprocessor design of that age was a less known project for the US Navy named the </a:t>
            </a:r>
            <a:r>
              <a:rPr lang="en-US" sz="3200" b="1" i="1" dirty="0"/>
              <a:t>Central Air Data Computer</a:t>
            </a:r>
            <a:r>
              <a:rPr lang="en-US" sz="3200" dirty="0"/>
              <a:t> (CADC). This system implemented a chipset CPU for the F-14 Tomcat fighter named the MP944. </a:t>
            </a:r>
          </a:p>
          <a:p>
            <a:pPr algn="just"/>
            <a:r>
              <a:rPr lang="en-US" sz="3200" dirty="0"/>
              <a:t>The system supported 20-bit operands in a </a:t>
            </a:r>
            <a:r>
              <a:rPr lang="en-US" sz="3200" b="1" i="1" dirty="0"/>
              <a:t>pipelined, parallel multiprocessor architecture</a:t>
            </a:r>
            <a:r>
              <a:rPr lang="en-US" sz="3200" dirty="0"/>
              <a:t> designed around 28 chips. Due to the classified nature of this design, public disclosure of its existence was delayed until 1998, although the disclosed documentation indicates it was completed by 1970. </a:t>
            </a:r>
            <a:endParaRPr lang="en-PH" sz="3200" dirty="0"/>
          </a:p>
        </p:txBody>
      </p:sp>
    </p:spTree>
    <p:extLst>
      <p:ext uri="{BB962C8B-B14F-4D97-AF65-F5344CB8AC3E}">
        <p14:creationId xmlns:p14="http://schemas.microsoft.com/office/powerpoint/2010/main" val="1597527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65A18-C9E9-04A5-8105-26FDB30B8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10556-94E8-439D-CFBC-D0C7F2B12329}"/>
              </a:ext>
            </a:extLst>
          </p:cNvPr>
          <p:cNvSpPr>
            <a:spLocks noGrp="1"/>
          </p:cNvSpPr>
          <p:nvPr>
            <p:ph type="title"/>
          </p:nvPr>
        </p:nvSpPr>
        <p:spPr>
          <a:xfrm>
            <a:off x="224367" y="330200"/>
            <a:ext cx="11743266" cy="872068"/>
          </a:xfrm>
        </p:spPr>
        <p:txBody>
          <a:bodyPr>
            <a:normAutofit fontScale="90000"/>
          </a:bodyPr>
          <a:lstStyle/>
          <a:p>
            <a:r>
              <a:rPr lang="en-US" sz="3600" dirty="0"/>
              <a:t>1.1.2 birth and evolution of modern embedded systems</a:t>
            </a:r>
            <a:endParaRPr lang="en-PH" sz="3600" dirty="0"/>
          </a:p>
        </p:txBody>
      </p:sp>
      <p:sp>
        <p:nvSpPr>
          <p:cNvPr id="5" name="Content Placeholder 4">
            <a:extLst>
              <a:ext uri="{FF2B5EF4-FFF2-40B4-BE49-F238E27FC236}">
                <a16:creationId xmlns:a16="http://schemas.microsoft.com/office/drawing/2014/main" id="{E9995AD8-FAA3-7176-8346-339EF6B05C09}"/>
              </a:ext>
            </a:extLst>
          </p:cNvPr>
          <p:cNvSpPr>
            <a:spLocks noGrp="1"/>
          </p:cNvSpPr>
          <p:nvPr>
            <p:ph idx="1"/>
          </p:nvPr>
        </p:nvSpPr>
        <p:spPr>
          <a:xfrm>
            <a:off x="338667" y="1202269"/>
            <a:ext cx="11463865" cy="5325532"/>
          </a:xfrm>
        </p:spPr>
        <p:txBody>
          <a:bodyPr>
            <a:noAutofit/>
          </a:bodyPr>
          <a:lstStyle/>
          <a:p>
            <a:pPr algn="just"/>
            <a:r>
              <a:rPr lang="en-US" sz="3200" dirty="0"/>
              <a:t>After these developments, it did not take long for designers to realize the potential of microprocessors and its advantages for implementing embedded applications. Microprocessor designs soon evolved from </a:t>
            </a:r>
            <a:r>
              <a:rPr lang="en-US" sz="3200" b="1" i="1" dirty="0"/>
              <a:t>4-bit to 8-bit CPUs</a:t>
            </a:r>
            <a:r>
              <a:rPr lang="en-US" sz="3200" dirty="0"/>
              <a:t>. </a:t>
            </a:r>
          </a:p>
          <a:p>
            <a:pPr algn="just"/>
            <a:r>
              <a:rPr lang="en-US" sz="3200" dirty="0"/>
              <a:t>By the end of the 1970s, the design arena was dominated by 8-bit CPUs and the market for microprocessors-based embedded applications had grown to hundreds of millions of dollars.</a:t>
            </a:r>
          </a:p>
        </p:txBody>
      </p:sp>
    </p:spTree>
    <p:extLst>
      <p:ext uri="{BB962C8B-B14F-4D97-AF65-F5344CB8AC3E}">
        <p14:creationId xmlns:p14="http://schemas.microsoft.com/office/powerpoint/2010/main" val="21248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CDA7F-2074-2CA6-8C0D-2B27477C4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0F755-783E-6B26-072E-B32EFD569566}"/>
              </a:ext>
            </a:extLst>
          </p:cNvPr>
          <p:cNvSpPr>
            <a:spLocks noGrp="1"/>
          </p:cNvSpPr>
          <p:nvPr>
            <p:ph type="title"/>
          </p:nvPr>
        </p:nvSpPr>
        <p:spPr>
          <a:xfrm>
            <a:off x="224367" y="330200"/>
            <a:ext cx="11743266" cy="872068"/>
          </a:xfrm>
        </p:spPr>
        <p:txBody>
          <a:bodyPr>
            <a:normAutofit fontScale="90000"/>
          </a:bodyPr>
          <a:lstStyle/>
          <a:p>
            <a:r>
              <a:rPr lang="en-US" sz="3600" dirty="0"/>
              <a:t>1.1.2 birth and evolution of modern embedded systems</a:t>
            </a:r>
            <a:endParaRPr lang="en-PH" sz="3600" dirty="0"/>
          </a:p>
        </p:txBody>
      </p:sp>
      <p:sp>
        <p:nvSpPr>
          <p:cNvPr id="5" name="Content Placeholder 4">
            <a:extLst>
              <a:ext uri="{FF2B5EF4-FFF2-40B4-BE49-F238E27FC236}">
                <a16:creationId xmlns:a16="http://schemas.microsoft.com/office/drawing/2014/main" id="{5FFC7E1B-EDBD-493E-4170-77D3E3778D94}"/>
              </a:ext>
            </a:extLst>
          </p:cNvPr>
          <p:cNvSpPr>
            <a:spLocks noGrp="1"/>
          </p:cNvSpPr>
          <p:nvPr>
            <p:ph idx="1"/>
          </p:nvPr>
        </p:nvSpPr>
        <p:spPr>
          <a:xfrm>
            <a:off x="338667" y="1202269"/>
            <a:ext cx="11463865" cy="5325532"/>
          </a:xfrm>
        </p:spPr>
        <p:txBody>
          <a:bodyPr>
            <a:noAutofit/>
          </a:bodyPr>
          <a:lstStyle/>
          <a:p>
            <a:pPr algn="just"/>
            <a:r>
              <a:rPr lang="en-US" sz="3200" dirty="0"/>
              <a:t>Remarkable parts include the Intel 8080 that eventually evolved into the famous 80 × 86/Pentium series, the </a:t>
            </a:r>
            <a:r>
              <a:rPr lang="en-US" sz="3200" dirty="0" err="1"/>
              <a:t>Zilog</a:t>
            </a:r>
            <a:r>
              <a:rPr lang="en-US" sz="3200" dirty="0"/>
              <a:t> Z-80, Motorola 6800 and MOS 6502. The evolution in CPU sizes continued through the 1980s and 1990s to 16-, 32-, and 64-bit designs, and now-a-days even some specialized CPUs crunching data at 128-bit widths.</a:t>
            </a:r>
          </a:p>
          <a:p>
            <a:pPr algn="just"/>
            <a:r>
              <a:rPr lang="en-US" sz="3200" dirty="0"/>
              <a:t>Examples of manufacturers available today include Texas Instruments, Intel, Microchip, Freescale (formerly Motorola), </a:t>
            </a:r>
            <a:r>
              <a:rPr lang="en-US" sz="3200" dirty="0" err="1"/>
              <a:t>Zilog</a:t>
            </a:r>
            <a:r>
              <a:rPr lang="en-US" sz="3200" dirty="0"/>
              <a:t>, Advanced Micro Devices, MIPS Technologies, ARM Limited, and the list goes on and on.</a:t>
            </a:r>
            <a:endParaRPr lang="en-PH" sz="3200" dirty="0"/>
          </a:p>
        </p:txBody>
      </p:sp>
    </p:spTree>
    <p:extLst>
      <p:ext uri="{BB962C8B-B14F-4D97-AF65-F5344CB8AC3E}">
        <p14:creationId xmlns:p14="http://schemas.microsoft.com/office/powerpoint/2010/main" val="1086851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9048D-5EAA-7629-CA22-F2CAE95A5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14EF8-D747-302A-6088-BD8E583FC968}"/>
              </a:ext>
            </a:extLst>
          </p:cNvPr>
          <p:cNvSpPr>
            <a:spLocks noGrp="1"/>
          </p:cNvSpPr>
          <p:nvPr>
            <p:ph type="title"/>
          </p:nvPr>
        </p:nvSpPr>
        <p:spPr>
          <a:xfrm>
            <a:off x="224367" y="330200"/>
            <a:ext cx="11743266" cy="872068"/>
          </a:xfrm>
        </p:spPr>
        <p:txBody>
          <a:bodyPr>
            <a:normAutofit/>
          </a:bodyPr>
          <a:lstStyle/>
          <a:p>
            <a:r>
              <a:rPr lang="en-US" sz="3600" dirty="0"/>
              <a:t>1.1.3 Contemporary embedded systems</a:t>
            </a:r>
            <a:endParaRPr lang="en-PH" sz="3600" dirty="0"/>
          </a:p>
        </p:txBody>
      </p:sp>
      <p:sp>
        <p:nvSpPr>
          <p:cNvPr id="5" name="Content Placeholder 4">
            <a:extLst>
              <a:ext uri="{FF2B5EF4-FFF2-40B4-BE49-F238E27FC236}">
                <a16:creationId xmlns:a16="http://schemas.microsoft.com/office/drawing/2014/main" id="{2FDF91DA-18A2-B490-E1F8-492182556F86}"/>
              </a:ext>
            </a:extLst>
          </p:cNvPr>
          <p:cNvSpPr>
            <a:spLocks noGrp="1"/>
          </p:cNvSpPr>
          <p:nvPr>
            <p:ph idx="1"/>
          </p:nvPr>
        </p:nvSpPr>
        <p:spPr>
          <a:xfrm>
            <a:off x="338667" y="1202269"/>
            <a:ext cx="11463865" cy="5325532"/>
          </a:xfrm>
        </p:spPr>
        <p:txBody>
          <a:bodyPr>
            <a:noAutofit/>
          </a:bodyPr>
          <a:lstStyle/>
          <a:p>
            <a:pPr algn="just"/>
            <a:r>
              <a:rPr lang="en-US" sz="3200" dirty="0"/>
              <a:t>Nowadays microprocessor applications have grown in complexity; requiring applications to be broken into several interacting embedded systems. To better illustrate the case, consider the application illustrated in Fig. 1.6, corresponding to a </a:t>
            </a:r>
            <a:r>
              <a:rPr lang="en-US" sz="3200" b="1" i="1" dirty="0"/>
              <a:t>generic multimedia player.</a:t>
            </a:r>
            <a:r>
              <a:rPr lang="en-US" sz="3200" i="1" dirty="0"/>
              <a:t> </a:t>
            </a:r>
          </a:p>
          <a:p>
            <a:pPr algn="just"/>
            <a:r>
              <a:rPr lang="en-US" sz="3200" dirty="0"/>
              <a:t>The system provides audio input/output capabilities, a digital camera, a video processing system, a hard-drive, a user interface (keys, a touch screen, and graphic display), power management and digital communication components. </a:t>
            </a:r>
            <a:endParaRPr lang="en-PH" sz="3200" dirty="0"/>
          </a:p>
        </p:txBody>
      </p:sp>
    </p:spTree>
    <p:extLst>
      <p:ext uri="{BB962C8B-B14F-4D97-AF65-F5344CB8AC3E}">
        <p14:creationId xmlns:p14="http://schemas.microsoft.com/office/powerpoint/2010/main" val="940779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12CC9-3E6F-D672-37B2-93CC76ABD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0FC24-EB57-547E-74A7-7658A1B5FB66}"/>
              </a:ext>
            </a:extLst>
          </p:cNvPr>
          <p:cNvSpPr>
            <a:spLocks noGrp="1"/>
          </p:cNvSpPr>
          <p:nvPr>
            <p:ph type="title"/>
          </p:nvPr>
        </p:nvSpPr>
        <p:spPr>
          <a:xfrm>
            <a:off x="224367" y="330200"/>
            <a:ext cx="11743266" cy="872068"/>
          </a:xfrm>
        </p:spPr>
        <p:txBody>
          <a:bodyPr>
            <a:normAutofit/>
          </a:bodyPr>
          <a:lstStyle/>
          <a:p>
            <a:r>
              <a:rPr lang="en-US" sz="3600" dirty="0"/>
              <a:t>1.1.3 Contemporary embedded systems</a:t>
            </a:r>
            <a:endParaRPr lang="en-PH" sz="3600" dirty="0"/>
          </a:p>
        </p:txBody>
      </p:sp>
      <p:sp>
        <p:nvSpPr>
          <p:cNvPr id="5" name="Content Placeholder 4">
            <a:extLst>
              <a:ext uri="{FF2B5EF4-FFF2-40B4-BE49-F238E27FC236}">
                <a16:creationId xmlns:a16="http://schemas.microsoft.com/office/drawing/2014/main" id="{CAF3549F-CBD8-736A-09B3-02539F3811FC}"/>
              </a:ext>
            </a:extLst>
          </p:cNvPr>
          <p:cNvSpPr>
            <a:spLocks noGrp="1"/>
          </p:cNvSpPr>
          <p:nvPr>
            <p:ph idx="1"/>
          </p:nvPr>
        </p:nvSpPr>
        <p:spPr>
          <a:xfrm>
            <a:off x="338667" y="1202269"/>
            <a:ext cx="11463865" cy="5325532"/>
          </a:xfrm>
        </p:spPr>
        <p:txBody>
          <a:bodyPr>
            <a:noAutofit/>
          </a:bodyPr>
          <a:lstStyle/>
          <a:p>
            <a:pPr algn="just"/>
            <a:r>
              <a:rPr lang="en-US" sz="3200" dirty="0"/>
              <a:t>Each of these features are typically supported by individual embedded systems integrated in the application. Thus, the </a:t>
            </a:r>
            <a:r>
              <a:rPr lang="en-US" sz="3200" b="1" i="1" dirty="0"/>
              <a:t>audio subsystem</a:t>
            </a:r>
            <a:r>
              <a:rPr lang="en-US" sz="3200" dirty="0"/>
              <a:t>, the </a:t>
            </a:r>
            <a:r>
              <a:rPr lang="en-US" sz="3200" b="1" i="1" dirty="0"/>
              <a:t>user interface</a:t>
            </a:r>
            <a:r>
              <a:rPr lang="en-US" sz="3200" dirty="0"/>
              <a:t>, the </a:t>
            </a:r>
            <a:r>
              <a:rPr lang="en-US" sz="3200" b="1" i="1" dirty="0"/>
              <a:t>storage system</a:t>
            </a:r>
            <a:r>
              <a:rPr lang="en-US" sz="3200" dirty="0"/>
              <a:t>, the </a:t>
            </a:r>
            <a:r>
              <a:rPr lang="en-US" sz="3200" b="1" i="1" dirty="0"/>
              <a:t>digital camera </a:t>
            </a:r>
            <a:r>
              <a:rPr lang="en-US" sz="3200" dirty="0"/>
              <a:t>front-end, and the </a:t>
            </a:r>
            <a:r>
              <a:rPr lang="en-US" sz="3200" b="1" i="1" dirty="0"/>
              <a:t>media processor </a:t>
            </a:r>
            <a:r>
              <a:rPr lang="en-US" sz="3200" dirty="0"/>
              <a:t>and its </a:t>
            </a:r>
            <a:r>
              <a:rPr lang="en-US" sz="3200" b="1" i="1" dirty="0"/>
              <a:t>peripherals</a:t>
            </a:r>
            <a:r>
              <a:rPr lang="en-US" sz="3200" dirty="0"/>
              <a:t> are among the systems embedded in this application.</a:t>
            </a:r>
            <a:endParaRPr lang="en-PH" sz="3200" dirty="0"/>
          </a:p>
        </p:txBody>
      </p:sp>
    </p:spTree>
    <p:extLst>
      <p:ext uri="{BB962C8B-B14F-4D97-AF65-F5344CB8AC3E}">
        <p14:creationId xmlns:p14="http://schemas.microsoft.com/office/powerpoint/2010/main" val="1793139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9F3AE-6CE2-8D0F-1617-E4E6E08A6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F9529-5E1A-F710-A3F0-CA8037F1F63B}"/>
              </a:ext>
            </a:extLst>
          </p:cNvPr>
          <p:cNvSpPr>
            <a:spLocks noGrp="1"/>
          </p:cNvSpPr>
          <p:nvPr>
            <p:ph type="title"/>
          </p:nvPr>
        </p:nvSpPr>
        <p:spPr>
          <a:xfrm>
            <a:off x="224367" y="330200"/>
            <a:ext cx="11743266" cy="872068"/>
          </a:xfrm>
        </p:spPr>
        <p:txBody>
          <a:bodyPr>
            <a:normAutofit/>
          </a:bodyPr>
          <a:lstStyle/>
          <a:p>
            <a:r>
              <a:rPr lang="en-US" sz="3600" dirty="0"/>
              <a:t>1.1.3 Contemporary embedded systems</a:t>
            </a:r>
            <a:endParaRPr lang="en-PH" sz="3600" dirty="0"/>
          </a:p>
        </p:txBody>
      </p:sp>
      <p:pic>
        <p:nvPicPr>
          <p:cNvPr id="4" name="Content Placeholder 3">
            <a:extLst>
              <a:ext uri="{FF2B5EF4-FFF2-40B4-BE49-F238E27FC236}">
                <a16:creationId xmlns:a16="http://schemas.microsoft.com/office/drawing/2014/main" id="{6FC6CD45-F4C8-0FB3-AB93-6B6A87835EFE}"/>
              </a:ext>
            </a:extLst>
          </p:cNvPr>
          <p:cNvPicPr>
            <a:picLocks noGrp="1" noChangeAspect="1"/>
          </p:cNvPicPr>
          <p:nvPr>
            <p:ph idx="1"/>
          </p:nvPr>
        </p:nvPicPr>
        <p:blipFill>
          <a:blip r:embed="rId2"/>
          <a:stretch>
            <a:fillRect/>
          </a:stretch>
        </p:blipFill>
        <p:spPr>
          <a:xfrm>
            <a:off x="2325196" y="1201738"/>
            <a:ext cx="7152140" cy="5326062"/>
          </a:xfrm>
          <a:prstGeom prst="rect">
            <a:avLst/>
          </a:prstGeom>
        </p:spPr>
      </p:pic>
    </p:spTree>
    <p:extLst>
      <p:ext uri="{BB962C8B-B14F-4D97-AF65-F5344CB8AC3E}">
        <p14:creationId xmlns:p14="http://schemas.microsoft.com/office/powerpoint/2010/main" val="2645992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30FAC-5DFF-AE5D-9931-96736E678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16C8C-FC05-72A4-51EF-5CBAAA8699E0}"/>
              </a:ext>
            </a:extLst>
          </p:cNvPr>
          <p:cNvSpPr>
            <a:spLocks noGrp="1"/>
          </p:cNvSpPr>
          <p:nvPr>
            <p:ph type="title"/>
          </p:nvPr>
        </p:nvSpPr>
        <p:spPr>
          <a:xfrm>
            <a:off x="224367" y="330200"/>
            <a:ext cx="11743266" cy="872068"/>
          </a:xfrm>
        </p:spPr>
        <p:txBody>
          <a:bodyPr>
            <a:normAutofit/>
          </a:bodyPr>
          <a:lstStyle/>
          <a:p>
            <a:pPr algn="just"/>
            <a:r>
              <a:rPr lang="en-US" sz="3600" dirty="0"/>
              <a:t>1.2 structure of embedded system</a:t>
            </a:r>
            <a:endParaRPr lang="en-PH" sz="3600" dirty="0"/>
          </a:p>
        </p:txBody>
      </p:sp>
      <p:sp>
        <p:nvSpPr>
          <p:cNvPr id="7" name="Content Placeholder 6">
            <a:extLst>
              <a:ext uri="{FF2B5EF4-FFF2-40B4-BE49-F238E27FC236}">
                <a16:creationId xmlns:a16="http://schemas.microsoft.com/office/drawing/2014/main" id="{543E6B86-E5A1-BE31-FC69-BEA463D84144}"/>
              </a:ext>
            </a:extLst>
          </p:cNvPr>
          <p:cNvSpPr>
            <a:spLocks noGrp="1"/>
          </p:cNvSpPr>
          <p:nvPr>
            <p:ph idx="1"/>
          </p:nvPr>
        </p:nvSpPr>
        <p:spPr>
          <a:xfrm>
            <a:off x="335659" y="1202267"/>
            <a:ext cx="11416074" cy="5266265"/>
          </a:xfrm>
        </p:spPr>
        <p:txBody>
          <a:bodyPr>
            <a:normAutofit/>
          </a:bodyPr>
          <a:lstStyle/>
          <a:p>
            <a:pPr algn="just"/>
            <a:r>
              <a:rPr lang="en-US" sz="3200" dirty="0"/>
              <a:t>Regardless of the function performed by an embedded system, the broadest view of its structure reveals two major, tightly coupled sets of components: a set of </a:t>
            </a:r>
            <a:r>
              <a:rPr lang="en-US" sz="3200" b="1" i="1" dirty="0"/>
              <a:t>hardware components </a:t>
            </a:r>
            <a:r>
              <a:rPr lang="en-US" sz="3200" dirty="0"/>
              <a:t>that include a central processing unit, typically in the form of a microcontroller; and a series of </a:t>
            </a:r>
            <a:r>
              <a:rPr lang="en-US" sz="3200" b="1" i="1" dirty="0"/>
              <a:t>software programs</a:t>
            </a:r>
            <a:r>
              <a:rPr lang="en-US" sz="3200" dirty="0"/>
              <a:t>, typically included as firmware, that give functionality to the hardware. </a:t>
            </a:r>
          </a:p>
          <a:p>
            <a:pPr algn="just"/>
            <a:r>
              <a:rPr lang="en-US" sz="3200" dirty="0"/>
              <a:t>Figure 1.7 depicts this general view, denoting these two major components and their interrelation.</a:t>
            </a:r>
            <a:endParaRPr lang="en-PH" sz="3200" dirty="0"/>
          </a:p>
        </p:txBody>
      </p:sp>
    </p:spTree>
    <p:extLst>
      <p:ext uri="{BB962C8B-B14F-4D97-AF65-F5344CB8AC3E}">
        <p14:creationId xmlns:p14="http://schemas.microsoft.com/office/powerpoint/2010/main" val="1761014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CB833-397E-7544-A6C1-3290A9EF4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0CF72-45C7-DADA-7FA6-09DEC9E789D6}"/>
              </a:ext>
            </a:extLst>
          </p:cNvPr>
          <p:cNvSpPr>
            <a:spLocks noGrp="1"/>
          </p:cNvSpPr>
          <p:nvPr>
            <p:ph type="title"/>
          </p:nvPr>
        </p:nvSpPr>
        <p:spPr>
          <a:xfrm>
            <a:off x="224367" y="330200"/>
            <a:ext cx="11743266" cy="872068"/>
          </a:xfrm>
        </p:spPr>
        <p:txBody>
          <a:bodyPr>
            <a:normAutofit/>
          </a:bodyPr>
          <a:lstStyle/>
          <a:p>
            <a:r>
              <a:rPr lang="en-US" sz="3600" dirty="0"/>
              <a:t>1.2 structure of embedded system</a:t>
            </a:r>
            <a:endParaRPr lang="en-PH" sz="3600" dirty="0"/>
          </a:p>
        </p:txBody>
      </p:sp>
      <p:sp>
        <p:nvSpPr>
          <p:cNvPr id="5" name="Content Placeholder 4">
            <a:extLst>
              <a:ext uri="{FF2B5EF4-FFF2-40B4-BE49-F238E27FC236}">
                <a16:creationId xmlns:a16="http://schemas.microsoft.com/office/drawing/2014/main" id="{CBDA5308-6AFE-F6FD-F553-FDBC78B8F50B}"/>
              </a:ext>
            </a:extLst>
          </p:cNvPr>
          <p:cNvSpPr>
            <a:spLocks noGrp="1"/>
          </p:cNvSpPr>
          <p:nvPr>
            <p:ph idx="1"/>
          </p:nvPr>
        </p:nvSpPr>
        <p:spPr/>
        <p:txBody>
          <a:bodyPr/>
          <a:lstStyle/>
          <a:p>
            <a:endParaRPr lang="en-PH"/>
          </a:p>
        </p:txBody>
      </p:sp>
      <p:pic>
        <p:nvPicPr>
          <p:cNvPr id="7" name="Picture 6">
            <a:extLst>
              <a:ext uri="{FF2B5EF4-FFF2-40B4-BE49-F238E27FC236}">
                <a16:creationId xmlns:a16="http://schemas.microsoft.com/office/drawing/2014/main" id="{BE779BDF-B449-6763-9703-8F9BD0961D58}"/>
              </a:ext>
            </a:extLst>
          </p:cNvPr>
          <p:cNvPicPr>
            <a:picLocks noChangeAspect="1"/>
          </p:cNvPicPr>
          <p:nvPr/>
        </p:nvPicPr>
        <p:blipFill>
          <a:blip r:embed="rId2"/>
          <a:stretch>
            <a:fillRect/>
          </a:stretch>
        </p:blipFill>
        <p:spPr>
          <a:xfrm>
            <a:off x="2220892" y="1461268"/>
            <a:ext cx="7868748" cy="4172532"/>
          </a:xfrm>
          <a:prstGeom prst="rect">
            <a:avLst/>
          </a:prstGeom>
        </p:spPr>
      </p:pic>
    </p:spTree>
    <p:extLst>
      <p:ext uri="{BB962C8B-B14F-4D97-AF65-F5344CB8AC3E}">
        <p14:creationId xmlns:p14="http://schemas.microsoft.com/office/powerpoint/2010/main" val="2327149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4AF33-C553-EFC8-141A-DC10C240D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C6FD2-E488-A0EF-4627-2218CEFDF97A}"/>
              </a:ext>
            </a:extLst>
          </p:cNvPr>
          <p:cNvSpPr>
            <a:spLocks noGrp="1"/>
          </p:cNvSpPr>
          <p:nvPr>
            <p:ph type="title"/>
          </p:nvPr>
        </p:nvSpPr>
        <p:spPr>
          <a:xfrm>
            <a:off x="224367" y="330200"/>
            <a:ext cx="11743266" cy="872068"/>
          </a:xfrm>
        </p:spPr>
        <p:txBody>
          <a:bodyPr>
            <a:normAutofit/>
          </a:bodyPr>
          <a:lstStyle/>
          <a:p>
            <a:pPr algn="just"/>
            <a:r>
              <a:rPr lang="en-US" sz="3600" dirty="0"/>
              <a:t>1.2 structure of embedded system</a:t>
            </a:r>
            <a:endParaRPr lang="en-PH" sz="3600" dirty="0"/>
          </a:p>
        </p:txBody>
      </p:sp>
      <p:sp>
        <p:nvSpPr>
          <p:cNvPr id="7" name="Content Placeholder 6">
            <a:extLst>
              <a:ext uri="{FF2B5EF4-FFF2-40B4-BE49-F238E27FC236}">
                <a16:creationId xmlns:a16="http://schemas.microsoft.com/office/drawing/2014/main" id="{C531043D-2371-77F8-2F89-A8051A48F614}"/>
              </a:ext>
            </a:extLst>
          </p:cNvPr>
          <p:cNvSpPr>
            <a:spLocks noGrp="1"/>
          </p:cNvSpPr>
          <p:nvPr>
            <p:ph idx="1"/>
          </p:nvPr>
        </p:nvSpPr>
        <p:spPr>
          <a:xfrm>
            <a:off x="335659" y="1202267"/>
            <a:ext cx="11416074" cy="5266265"/>
          </a:xfrm>
        </p:spPr>
        <p:txBody>
          <a:bodyPr>
            <a:normAutofit lnSpcReduction="10000"/>
          </a:bodyPr>
          <a:lstStyle/>
          <a:p>
            <a:pPr algn="just"/>
            <a:r>
              <a:rPr lang="en-US" sz="3200" dirty="0"/>
              <a:t>Typical inputs in an embedded system are process variables and parameters that arrive via sensors and </a:t>
            </a:r>
            <a:r>
              <a:rPr lang="en-US" sz="3200" b="1" i="1" dirty="0"/>
              <a:t>input/output (I/O) ports</a:t>
            </a:r>
            <a:r>
              <a:rPr lang="en-US" sz="3200" dirty="0"/>
              <a:t>. The outputs are in the form of </a:t>
            </a:r>
            <a:r>
              <a:rPr lang="en-US" sz="3200" b="1" i="1" dirty="0"/>
              <a:t>control actions </a:t>
            </a:r>
            <a:r>
              <a:rPr lang="en-US" sz="3200" dirty="0"/>
              <a:t>on system actuators or </a:t>
            </a:r>
            <a:r>
              <a:rPr lang="en-US" sz="3200" b="1" i="1" dirty="0"/>
              <a:t>processed information</a:t>
            </a:r>
            <a:r>
              <a:rPr lang="en-US" sz="3200" dirty="0"/>
              <a:t> for users or other subsystems within the application. </a:t>
            </a:r>
          </a:p>
          <a:p>
            <a:pPr algn="just"/>
            <a:r>
              <a:rPr lang="en-US" sz="3200" dirty="0"/>
              <a:t>In some instances, the exchange of input-output information occurs with users via some sort of </a:t>
            </a:r>
            <a:r>
              <a:rPr lang="en-US" sz="3200" b="1" i="1" dirty="0"/>
              <a:t>user interface</a:t>
            </a:r>
            <a:r>
              <a:rPr lang="en-US" sz="3200" dirty="0"/>
              <a:t> that might include keys and buttons, sensors, light emitting diodes (LEDs), liquid crystal displays (LCDs), and other types of display devices, depending on the application.</a:t>
            </a:r>
            <a:endParaRPr lang="en-PH" sz="3200" dirty="0"/>
          </a:p>
        </p:txBody>
      </p:sp>
    </p:spTree>
    <p:extLst>
      <p:ext uri="{BB962C8B-B14F-4D97-AF65-F5344CB8AC3E}">
        <p14:creationId xmlns:p14="http://schemas.microsoft.com/office/powerpoint/2010/main" val="3016856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51D2F-D884-B766-5A18-0D39DBA39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6AC9F-C81C-1E17-6A9A-8ACBDD9061FB}"/>
              </a:ext>
            </a:extLst>
          </p:cNvPr>
          <p:cNvSpPr>
            <a:spLocks noGrp="1"/>
          </p:cNvSpPr>
          <p:nvPr>
            <p:ph type="title"/>
          </p:nvPr>
        </p:nvSpPr>
        <p:spPr>
          <a:xfrm>
            <a:off x="224367" y="330200"/>
            <a:ext cx="11743266" cy="872068"/>
          </a:xfrm>
        </p:spPr>
        <p:txBody>
          <a:bodyPr>
            <a:normAutofit/>
          </a:bodyPr>
          <a:lstStyle/>
          <a:p>
            <a:pPr algn="just"/>
            <a:r>
              <a:rPr lang="en-US" sz="3600" dirty="0"/>
              <a:t>1.2.1 Hardware components</a:t>
            </a:r>
            <a:endParaRPr lang="en-PH" sz="3600" dirty="0"/>
          </a:p>
        </p:txBody>
      </p:sp>
      <p:sp>
        <p:nvSpPr>
          <p:cNvPr id="7" name="Content Placeholder 6">
            <a:extLst>
              <a:ext uri="{FF2B5EF4-FFF2-40B4-BE49-F238E27FC236}">
                <a16:creationId xmlns:a16="http://schemas.microsoft.com/office/drawing/2014/main" id="{7F8B39BE-3517-7588-31D0-42403A848C5B}"/>
              </a:ext>
            </a:extLst>
          </p:cNvPr>
          <p:cNvSpPr>
            <a:spLocks noGrp="1"/>
          </p:cNvSpPr>
          <p:nvPr>
            <p:ph idx="1"/>
          </p:nvPr>
        </p:nvSpPr>
        <p:spPr>
          <a:xfrm>
            <a:off x="335659" y="1202267"/>
            <a:ext cx="11416074" cy="5266265"/>
          </a:xfrm>
        </p:spPr>
        <p:txBody>
          <a:bodyPr>
            <a:normAutofit/>
          </a:bodyPr>
          <a:lstStyle/>
          <a:p>
            <a:pPr algn="just"/>
            <a:r>
              <a:rPr lang="en-US" sz="3200" dirty="0"/>
              <a:t>When viewed from a general perspective, the hardware components of an embedded system include all the </a:t>
            </a:r>
            <a:r>
              <a:rPr lang="en-US" sz="3200" b="1" u="sng" dirty="0"/>
              <a:t>electronics</a:t>
            </a:r>
            <a:r>
              <a:rPr lang="en-US" sz="3200" dirty="0"/>
              <a:t> necessary for the system to perform the function it was designed for. Therefore, the specific structure of a particular system could substantially differ from another, based on the application itself. </a:t>
            </a:r>
          </a:p>
          <a:p>
            <a:pPr algn="just"/>
            <a:r>
              <a:rPr lang="en-US" sz="3200" dirty="0"/>
              <a:t>Despite these dissimilarities, three core hardware components are essential in an embedded system: The Central Processing Unit (</a:t>
            </a:r>
            <a:r>
              <a:rPr lang="en-US" sz="3200" u="sng" dirty="0"/>
              <a:t>CPU</a:t>
            </a:r>
            <a:r>
              <a:rPr lang="en-US" sz="3200" dirty="0"/>
              <a:t>), the system </a:t>
            </a:r>
            <a:r>
              <a:rPr lang="en-US" sz="3200" u="sng" dirty="0"/>
              <a:t>memory</a:t>
            </a:r>
            <a:r>
              <a:rPr lang="en-US" sz="3200" dirty="0"/>
              <a:t>, and a set of </a:t>
            </a:r>
            <a:r>
              <a:rPr lang="en-US" sz="3200" u="sng" dirty="0"/>
              <a:t>input-output ports</a:t>
            </a:r>
            <a:r>
              <a:rPr lang="en-US" sz="3200" dirty="0"/>
              <a:t>.</a:t>
            </a:r>
            <a:endParaRPr lang="en-PH" sz="3200" dirty="0"/>
          </a:p>
        </p:txBody>
      </p:sp>
    </p:spTree>
    <p:extLst>
      <p:ext uri="{BB962C8B-B14F-4D97-AF65-F5344CB8AC3E}">
        <p14:creationId xmlns:p14="http://schemas.microsoft.com/office/powerpoint/2010/main" val="946352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FD94C-86F1-CF88-C427-BF7FC9A28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CC749-E688-D84D-89A1-642211A2836A}"/>
              </a:ext>
            </a:extLst>
          </p:cNvPr>
          <p:cNvSpPr>
            <a:spLocks noGrp="1"/>
          </p:cNvSpPr>
          <p:nvPr>
            <p:ph type="title"/>
          </p:nvPr>
        </p:nvSpPr>
        <p:spPr>
          <a:xfrm>
            <a:off x="224367" y="330200"/>
            <a:ext cx="11743266" cy="872068"/>
          </a:xfrm>
        </p:spPr>
        <p:txBody>
          <a:bodyPr>
            <a:normAutofit/>
          </a:bodyPr>
          <a:lstStyle/>
          <a:p>
            <a:pPr algn="just"/>
            <a:r>
              <a:rPr lang="en-US" sz="3600" dirty="0"/>
              <a:t>1.2.1 Hardware components</a:t>
            </a:r>
            <a:endParaRPr lang="en-PH" sz="3600" dirty="0"/>
          </a:p>
        </p:txBody>
      </p:sp>
      <p:sp>
        <p:nvSpPr>
          <p:cNvPr id="7" name="Content Placeholder 6">
            <a:extLst>
              <a:ext uri="{FF2B5EF4-FFF2-40B4-BE49-F238E27FC236}">
                <a16:creationId xmlns:a16="http://schemas.microsoft.com/office/drawing/2014/main" id="{C19A8D3C-5CA9-0329-5767-C631B5D24ED4}"/>
              </a:ext>
            </a:extLst>
          </p:cNvPr>
          <p:cNvSpPr>
            <a:spLocks noGrp="1"/>
          </p:cNvSpPr>
          <p:nvPr>
            <p:ph idx="1"/>
          </p:nvPr>
        </p:nvSpPr>
        <p:spPr>
          <a:xfrm>
            <a:off x="335659" y="1202267"/>
            <a:ext cx="11416074" cy="5266265"/>
          </a:xfrm>
        </p:spPr>
        <p:txBody>
          <a:bodyPr>
            <a:normAutofit/>
          </a:bodyPr>
          <a:lstStyle/>
          <a:p>
            <a:pPr algn="just"/>
            <a:r>
              <a:rPr lang="en-US" sz="3200" dirty="0"/>
              <a:t>A number of other supporting and I/O devices needed for system functionality might be present, depending on the application. These include:</a:t>
            </a:r>
          </a:p>
          <a:p>
            <a:pPr lvl="1" algn="just"/>
            <a:r>
              <a:rPr lang="en-US" sz="3200" dirty="0"/>
              <a:t>Communication ports</a:t>
            </a:r>
          </a:p>
          <a:p>
            <a:pPr lvl="1" algn="just"/>
            <a:r>
              <a:rPr lang="en-US" sz="3200" dirty="0"/>
              <a:t>User interfaces </a:t>
            </a:r>
          </a:p>
          <a:p>
            <a:pPr lvl="1" algn="just"/>
            <a:r>
              <a:rPr lang="en-PH" sz="3200" dirty="0"/>
              <a:t>Sensors and electromechanical actuators</a:t>
            </a:r>
          </a:p>
          <a:p>
            <a:pPr lvl="1" algn="just"/>
            <a:r>
              <a:rPr lang="en-PH" sz="3200" dirty="0"/>
              <a:t>Data converters</a:t>
            </a:r>
            <a:endParaRPr lang="en-PH" sz="2900" dirty="0"/>
          </a:p>
        </p:txBody>
      </p:sp>
    </p:spTree>
    <p:extLst>
      <p:ext uri="{BB962C8B-B14F-4D97-AF65-F5344CB8AC3E}">
        <p14:creationId xmlns:p14="http://schemas.microsoft.com/office/powerpoint/2010/main" val="733744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BBA9-6061-7359-0298-F8F4269D27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1326A-CC76-0E31-F310-010D78737253}"/>
              </a:ext>
            </a:extLst>
          </p:cNvPr>
          <p:cNvSpPr>
            <a:spLocks noGrp="1"/>
          </p:cNvSpPr>
          <p:nvPr>
            <p:ph type="title"/>
          </p:nvPr>
        </p:nvSpPr>
        <p:spPr>
          <a:xfrm>
            <a:off x="224367" y="330200"/>
            <a:ext cx="11743266" cy="872068"/>
          </a:xfrm>
        </p:spPr>
        <p:txBody>
          <a:bodyPr>
            <a:normAutofit/>
          </a:bodyPr>
          <a:lstStyle/>
          <a:p>
            <a:pPr algn="just"/>
            <a:r>
              <a:rPr lang="en-US" sz="3600" dirty="0"/>
              <a:t>1.2.1 Hardware components</a:t>
            </a:r>
            <a:endParaRPr lang="en-PH" sz="3600" dirty="0"/>
          </a:p>
        </p:txBody>
      </p:sp>
      <p:sp>
        <p:nvSpPr>
          <p:cNvPr id="7" name="Content Placeholder 6">
            <a:extLst>
              <a:ext uri="{FF2B5EF4-FFF2-40B4-BE49-F238E27FC236}">
                <a16:creationId xmlns:a16="http://schemas.microsoft.com/office/drawing/2014/main" id="{F8815B5A-A4CF-9D84-65F7-96C1FD49594C}"/>
              </a:ext>
            </a:extLst>
          </p:cNvPr>
          <p:cNvSpPr>
            <a:spLocks noGrp="1"/>
          </p:cNvSpPr>
          <p:nvPr>
            <p:ph idx="1"/>
          </p:nvPr>
        </p:nvSpPr>
        <p:spPr>
          <a:xfrm>
            <a:off x="335659" y="1202267"/>
            <a:ext cx="11416074" cy="5266265"/>
          </a:xfrm>
        </p:spPr>
        <p:txBody>
          <a:bodyPr>
            <a:normAutofit/>
          </a:bodyPr>
          <a:lstStyle/>
          <a:p>
            <a:pPr lvl="1" algn="just"/>
            <a:r>
              <a:rPr lang="en-PH" sz="3200" dirty="0"/>
              <a:t>Data converters</a:t>
            </a:r>
          </a:p>
          <a:p>
            <a:pPr lvl="1" algn="just"/>
            <a:r>
              <a:rPr lang="en-PH" sz="3200" dirty="0"/>
              <a:t>Diagnostics and redundant components</a:t>
            </a:r>
          </a:p>
          <a:p>
            <a:pPr lvl="1" algn="just"/>
            <a:r>
              <a:rPr lang="en-PH" sz="3200" dirty="0"/>
              <a:t>System support components</a:t>
            </a:r>
          </a:p>
          <a:p>
            <a:pPr lvl="1" algn="just"/>
            <a:r>
              <a:rPr lang="en-PH" sz="3200" dirty="0"/>
              <a:t>Other sub-systems (ex. ASIC and FPGA)</a:t>
            </a:r>
            <a:endParaRPr lang="en-PH" sz="2800" dirty="0"/>
          </a:p>
        </p:txBody>
      </p:sp>
    </p:spTree>
    <p:extLst>
      <p:ext uri="{BB962C8B-B14F-4D97-AF65-F5344CB8AC3E}">
        <p14:creationId xmlns:p14="http://schemas.microsoft.com/office/powerpoint/2010/main" val="2259803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56F1-EA28-63A7-8AFA-4B4F61E2C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2309E-FB6B-0FC1-90C9-213B44B5DB91}"/>
              </a:ext>
            </a:extLst>
          </p:cNvPr>
          <p:cNvSpPr>
            <a:spLocks noGrp="1"/>
          </p:cNvSpPr>
          <p:nvPr>
            <p:ph type="title"/>
          </p:nvPr>
        </p:nvSpPr>
        <p:spPr>
          <a:xfrm>
            <a:off x="224367" y="330200"/>
            <a:ext cx="11743266" cy="872068"/>
          </a:xfrm>
        </p:spPr>
        <p:txBody>
          <a:bodyPr>
            <a:normAutofit/>
          </a:bodyPr>
          <a:lstStyle/>
          <a:p>
            <a:pPr algn="just"/>
            <a:r>
              <a:rPr lang="en-US" sz="3600" dirty="0"/>
              <a:t>1.2.1 Hardware components</a:t>
            </a:r>
            <a:endParaRPr lang="en-PH" sz="3600" dirty="0"/>
          </a:p>
        </p:txBody>
      </p:sp>
      <p:pic>
        <p:nvPicPr>
          <p:cNvPr id="4" name="Content Placeholder 3">
            <a:extLst>
              <a:ext uri="{FF2B5EF4-FFF2-40B4-BE49-F238E27FC236}">
                <a16:creationId xmlns:a16="http://schemas.microsoft.com/office/drawing/2014/main" id="{684090C0-52C9-7CB3-C1FB-5D7A00754D3D}"/>
              </a:ext>
            </a:extLst>
          </p:cNvPr>
          <p:cNvPicPr>
            <a:picLocks noGrp="1" noChangeAspect="1"/>
          </p:cNvPicPr>
          <p:nvPr>
            <p:ph idx="1"/>
          </p:nvPr>
        </p:nvPicPr>
        <p:blipFill>
          <a:blip r:embed="rId2"/>
          <a:stretch>
            <a:fillRect/>
          </a:stretch>
        </p:blipFill>
        <p:spPr>
          <a:xfrm>
            <a:off x="2702001" y="1126068"/>
            <a:ext cx="6787998" cy="5521224"/>
          </a:xfrm>
          <a:prstGeom prst="rect">
            <a:avLst/>
          </a:prstGeom>
        </p:spPr>
      </p:pic>
    </p:spTree>
    <p:extLst>
      <p:ext uri="{BB962C8B-B14F-4D97-AF65-F5344CB8AC3E}">
        <p14:creationId xmlns:p14="http://schemas.microsoft.com/office/powerpoint/2010/main" val="179883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0FB61-0513-4A93-640B-46BAD28CA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93EC4-C806-694A-9CD6-90AB2F2A462F}"/>
              </a:ext>
            </a:extLst>
          </p:cNvPr>
          <p:cNvSpPr>
            <a:spLocks noGrp="1"/>
          </p:cNvSpPr>
          <p:nvPr>
            <p:ph type="title"/>
          </p:nvPr>
        </p:nvSpPr>
        <p:spPr>
          <a:xfrm>
            <a:off x="224367" y="330200"/>
            <a:ext cx="11743266" cy="872068"/>
          </a:xfrm>
        </p:spPr>
        <p:txBody>
          <a:bodyPr>
            <a:normAutofit/>
          </a:bodyPr>
          <a:lstStyle/>
          <a:p>
            <a:pPr algn="just"/>
            <a:r>
              <a:rPr lang="en-US" sz="3600" dirty="0"/>
              <a:t>1.2.2 </a:t>
            </a:r>
            <a:r>
              <a:rPr lang="en-US" sz="3600" dirty="0" err="1"/>
              <a:t>SOFTware</a:t>
            </a:r>
            <a:r>
              <a:rPr lang="en-US" sz="3600" dirty="0"/>
              <a:t> components</a:t>
            </a:r>
            <a:endParaRPr lang="en-PH" sz="3600" dirty="0"/>
          </a:p>
        </p:txBody>
      </p:sp>
      <p:sp>
        <p:nvSpPr>
          <p:cNvPr id="7" name="Content Placeholder 6">
            <a:extLst>
              <a:ext uri="{FF2B5EF4-FFF2-40B4-BE49-F238E27FC236}">
                <a16:creationId xmlns:a16="http://schemas.microsoft.com/office/drawing/2014/main" id="{E8A16A5B-D198-D731-4FA2-FD7D15E326CA}"/>
              </a:ext>
            </a:extLst>
          </p:cNvPr>
          <p:cNvSpPr>
            <a:spLocks noGrp="1"/>
          </p:cNvSpPr>
          <p:nvPr>
            <p:ph idx="1"/>
          </p:nvPr>
        </p:nvSpPr>
        <p:spPr>
          <a:xfrm>
            <a:off x="335659" y="1202267"/>
            <a:ext cx="11416074" cy="5266265"/>
          </a:xfrm>
        </p:spPr>
        <p:txBody>
          <a:bodyPr>
            <a:normAutofit/>
          </a:bodyPr>
          <a:lstStyle/>
          <a:p>
            <a:pPr lvl="1" algn="just"/>
            <a:r>
              <a:rPr lang="en-US" sz="3200" dirty="0"/>
              <a:t>The software components of an embedded system include all the </a:t>
            </a:r>
            <a:r>
              <a:rPr lang="en-US" sz="3200" b="1" u="sng" dirty="0"/>
              <a:t>programs</a:t>
            </a:r>
            <a:r>
              <a:rPr lang="en-US" sz="3200" dirty="0"/>
              <a:t> necessary to give functionality to the system hardware. These programs, frequently referred to as the </a:t>
            </a:r>
            <a:r>
              <a:rPr lang="en-US" sz="3200" b="1" u="sng" dirty="0"/>
              <a:t>system firmware</a:t>
            </a:r>
            <a:r>
              <a:rPr lang="en-US" sz="3200" dirty="0"/>
              <a:t>, are stored in some sort of non-volatile memory. </a:t>
            </a:r>
          </a:p>
          <a:p>
            <a:pPr lvl="1" algn="just"/>
            <a:r>
              <a:rPr lang="en-US" sz="3200" dirty="0"/>
              <a:t>Firmware is </a:t>
            </a:r>
            <a:r>
              <a:rPr lang="en-US" sz="3200" b="1" u="sng" dirty="0"/>
              <a:t>not meant to be modifiable</a:t>
            </a:r>
            <a:r>
              <a:rPr lang="en-US" sz="3200" dirty="0"/>
              <a:t> by users, although some systems could provide means of performing upgrades. System programs are organized around some form of operating system and application routines. </a:t>
            </a:r>
            <a:endParaRPr lang="en-PH" sz="2800" dirty="0"/>
          </a:p>
        </p:txBody>
      </p:sp>
    </p:spTree>
    <p:extLst>
      <p:ext uri="{BB962C8B-B14F-4D97-AF65-F5344CB8AC3E}">
        <p14:creationId xmlns:p14="http://schemas.microsoft.com/office/powerpoint/2010/main" val="2106937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1565-7B42-3825-6E9A-4F6FF76B0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3AF02-1B57-C9B3-73DA-755FC15D1C7C}"/>
              </a:ext>
            </a:extLst>
          </p:cNvPr>
          <p:cNvSpPr>
            <a:spLocks noGrp="1"/>
          </p:cNvSpPr>
          <p:nvPr>
            <p:ph type="title"/>
          </p:nvPr>
        </p:nvSpPr>
        <p:spPr>
          <a:xfrm>
            <a:off x="224367" y="330200"/>
            <a:ext cx="11743266" cy="872068"/>
          </a:xfrm>
        </p:spPr>
        <p:txBody>
          <a:bodyPr>
            <a:normAutofit/>
          </a:bodyPr>
          <a:lstStyle/>
          <a:p>
            <a:pPr algn="just"/>
            <a:r>
              <a:rPr lang="en-US" sz="3600" dirty="0"/>
              <a:t>1.2.2 </a:t>
            </a:r>
            <a:r>
              <a:rPr lang="en-US" sz="3600" dirty="0" err="1"/>
              <a:t>SOFTware</a:t>
            </a:r>
            <a:r>
              <a:rPr lang="en-US" sz="3600" dirty="0"/>
              <a:t> components</a:t>
            </a:r>
            <a:endParaRPr lang="en-PH" sz="3600" dirty="0"/>
          </a:p>
        </p:txBody>
      </p:sp>
      <p:sp>
        <p:nvSpPr>
          <p:cNvPr id="7" name="Content Placeholder 6">
            <a:extLst>
              <a:ext uri="{FF2B5EF4-FFF2-40B4-BE49-F238E27FC236}">
                <a16:creationId xmlns:a16="http://schemas.microsoft.com/office/drawing/2014/main" id="{735C1E94-16A6-A3B4-B299-5569EA3EA29D}"/>
              </a:ext>
            </a:extLst>
          </p:cNvPr>
          <p:cNvSpPr>
            <a:spLocks noGrp="1"/>
          </p:cNvSpPr>
          <p:nvPr>
            <p:ph idx="1"/>
          </p:nvPr>
        </p:nvSpPr>
        <p:spPr>
          <a:xfrm>
            <a:off x="335659" y="1202267"/>
            <a:ext cx="6539274" cy="5266265"/>
          </a:xfrm>
        </p:spPr>
        <p:txBody>
          <a:bodyPr>
            <a:normAutofit/>
          </a:bodyPr>
          <a:lstStyle/>
          <a:p>
            <a:pPr lvl="1" algn="just"/>
            <a:r>
              <a:rPr lang="en-US" sz="3600" dirty="0"/>
              <a:t>In some of these cases, designs are developed </a:t>
            </a:r>
            <a:r>
              <a:rPr lang="en-US" sz="3200" dirty="0"/>
              <a:t>around Real-Time Operating Systems (RTOS). Figure 1.9 illustrates the structure on an embedded system software.</a:t>
            </a:r>
          </a:p>
          <a:p>
            <a:pPr lvl="1" algn="just"/>
            <a:endParaRPr lang="en-PH" sz="3200" dirty="0"/>
          </a:p>
        </p:txBody>
      </p:sp>
      <p:pic>
        <p:nvPicPr>
          <p:cNvPr id="4" name="Picture 3">
            <a:extLst>
              <a:ext uri="{FF2B5EF4-FFF2-40B4-BE49-F238E27FC236}">
                <a16:creationId xmlns:a16="http://schemas.microsoft.com/office/drawing/2014/main" id="{800A8285-D5A2-7B0A-E50B-16FEBDBEE88D}"/>
              </a:ext>
            </a:extLst>
          </p:cNvPr>
          <p:cNvPicPr>
            <a:picLocks noChangeAspect="1"/>
          </p:cNvPicPr>
          <p:nvPr/>
        </p:nvPicPr>
        <p:blipFill>
          <a:blip r:embed="rId2"/>
          <a:stretch>
            <a:fillRect/>
          </a:stretch>
        </p:blipFill>
        <p:spPr>
          <a:xfrm>
            <a:off x="6874933" y="1368771"/>
            <a:ext cx="4485972" cy="4933255"/>
          </a:xfrm>
          <a:prstGeom prst="rect">
            <a:avLst/>
          </a:prstGeom>
        </p:spPr>
      </p:pic>
    </p:spTree>
    <p:extLst>
      <p:ext uri="{BB962C8B-B14F-4D97-AF65-F5344CB8AC3E}">
        <p14:creationId xmlns:p14="http://schemas.microsoft.com/office/powerpoint/2010/main" val="2209423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2EE8-89D7-109B-F8F3-893277C7E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5BDA4-7AD9-5E51-60C2-ECF767D9D2AC}"/>
              </a:ext>
            </a:extLst>
          </p:cNvPr>
          <p:cNvSpPr>
            <a:spLocks noGrp="1"/>
          </p:cNvSpPr>
          <p:nvPr>
            <p:ph type="title"/>
          </p:nvPr>
        </p:nvSpPr>
        <p:spPr>
          <a:xfrm>
            <a:off x="224367" y="330200"/>
            <a:ext cx="11743266" cy="872068"/>
          </a:xfrm>
        </p:spPr>
        <p:txBody>
          <a:bodyPr>
            <a:normAutofit/>
          </a:bodyPr>
          <a:lstStyle/>
          <a:p>
            <a:pPr algn="just"/>
            <a:r>
              <a:rPr lang="en-US" sz="3600" dirty="0"/>
              <a:t>1.2.2 </a:t>
            </a:r>
            <a:r>
              <a:rPr lang="en-US" sz="3600" dirty="0" err="1"/>
              <a:t>SOFTware</a:t>
            </a:r>
            <a:r>
              <a:rPr lang="en-US" sz="3600" dirty="0"/>
              <a:t> components</a:t>
            </a:r>
            <a:endParaRPr lang="en-PH" sz="3600" dirty="0"/>
          </a:p>
        </p:txBody>
      </p:sp>
      <p:sp>
        <p:nvSpPr>
          <p:cNvPr id="7" name="Content Placeholder 6">
            <a:extLst>
              <a:ext uri="{FF2B5EF4-FFF2-40B4-BE49-F238E27FC236}">
                <a16:creationId xmlns:a16="http://schemas.microsoft.com/office/drawing/2014/main" id="{DED4A595-FED5-3186-E352-23E18FCAB82F}"/>
              </a:ext>
            </a:extLst>
          </p:cNvPr>
          <p:cNvSpPr>
            <a:spLocks noGrp="1"/>
          </p:cNvSpPr>
          <p:nvPr>
            <p:ph idx="1"/>
          </p:nvPr>
        </p:nvSpPr>
        <p:spPr>
          <a:xfrm>
            <a:off x="335659" y="1202267"/>
            <a:ext cx="11416074" cy="5266265"/>
          </a:xfrm>
        </p:spPr>
        <p:txBody>
          <a:bodyPr>
            <a:normAutofit lnSpcReduction="10000"/>
          </a:bodyPr>
          <a:lstStyle/>
          <a:p>
            <a:pPr lvl="1" algn="just"/>
            <a:r>
              <a:rPr lang="en-US" sz="3200" dirty="0"/>
              <a:t>The major components identified in a system software include:</a:t>
            </a:r>
          </a:p>
          <a:p>
            <a:pPr lvl="2" algn="just"/>
            <a:r>
              <a:rPr lang="en-US" sz="3200" b="1" u="sng" dirty="0"/>
              <a:t>System Tasks</a:t>
            </a:r>
            <a:r>
              <a:rPr lang="en-US" sz="3200" dirty="0"/>
              <a:t>. The application software in embedded systems is divided into a set of smaller programs called </a:t>
            </a:r>
            <a:r>
              <a:rPr lang="en-US" sz="3200" b="1" u="sng" dirty="0"/>
              <a:t>Tasks</a:t>
            </a:r>
            <a:r>
              <a:rPr lang="en-US" sz="3200" dirty="0"/>
              <a:t>. Each task handles a </a:t>
            </a:r>
            <a:r>
              <a:rPr lang="en-US" sz="3200" b="1" u="sng" dirty="0"/>
              <a:t>distinct action</a:t>
            </a:r>
            <a:r>
              <a:rPr lang="en-US" sz="3200" dirty="0"/>
              <a:t> in the system and requires the use of specific System Resources.</a:t>
            </a:r>
          </a:p>
          <a:p>
            <a:pPr lvl="2" algn="just"/>
            <a:r>
              <a:rPr lang="en-US" sz="3200" b="1" u="sng" dirty="0"/>
              <a:t>System Kernel</a:t>
            </a:r>
            <a:r>
              <a:rPr lang="en-US" sz="3200" dirty="0"/>
              <a:t>. The software component that handles the system resources in an embedded application is called the </a:t>
            </a:r>
            <a:r>
              <a:rPr lang="en-US" sz="3200" b="1" u="sng" dirty="0"/>
              <a:t>Kernel</a:t>
            </a:r>
            <a:r>
              <a:rPr lang="en-US" sz="3200" dirty="0"/>
              <a:t>. System resources are all those components needed to serve tasks. </a:t>
            </a:r>
            <a:endParaRPr lang="en-PH" sz="2800" dirty="0"/>
          </a:p>
        </p:txBody>
      </p:sp>
    </p:spTree>
    <p:extLst>
      <p:ext uri="{BB962C8B-B14F-4D97-AF65-F5344CB8AC3E}">
        <p14:creationId xmlns:p14="http://schemas.microsoft.com/office/powerpoint/2010/main" val="678086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98FF1-0AE9-1BBA-8A45-0272408A2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3CC40-26BB-590F-F47D-CD76631EC689}"/>
              </a:ext>
            </a:extLst>
          </p:cNvPr>
          <p:cNvSpPr>
            <a:spLocks noGrp="1"/>
          </p:cNvSpPr>
          <p:nvPr>
            <p:ph type="title"/>
          </p:nvPr>
        </p:nvSpPr>
        <p:spPr>
          <a:xfrm>
            <a:off x="224367" y="330200"/>
            <a:ext cx="11743266" cy="872068"/>
          </a:xfrm>
        </p:spPr>
        <p:txBody>
          <a:bodyPr>
            <a:normAutofit/>
          </a:bodyPr>
          <a:lstStyle/>
          <a:p>
            <a:pPr algn="just"/>
            <a:r>
              <a:rPr lang="en-US" sz="3600" dirty="0"/>
              <a:t>1.2.2 </a:t>
            </a:r>
            <a:r>
              <a:rPr lang="en-US" sz="3600" dirty="0" err="1"/>
              <a:t>SOFTware</a:t>
            </a:r>
            <a:r>
              <a:rPr lang="en-US" sz="3600" dirty="0"/>
              <a:t> components</a:t>
            </a:r>
            <a:endParaRPr lang="en-PH" sz="3600" dirty="0"/>
          </a:p>
        </p:txBody>
      </p:sp>
      <p:sp>
        <p:nvSpPr>
          <p:cNvPr id="7" name="Content Placeholder 6">
            <a:extLst>
              <a:ext uri="{FF2B5EF4-FFF2-40B4-BE49-F238E27FC236}">
                <a16:creationId xmlns:a16="http://schemas.microsoft.com/office/drawing/2014/main" id="{AB1BBF24-EFFB-6153-B482-7EDE62D136CE}"/>
              </a:ext>
            </a:extLst>
          </p:cNvPr>
          <p:cNvSpPr>
            <a:spLocks noGrp="1"/>
          </p:cNvSpPr>
          <p:nvPr>
            <p:ph idx="1"/>
          </p:nvPr>
        </p:nvSpPr>
        <p:spPr>
          <a:xfrm>
            <a:off x="335659" y="1202267"/>
            <a:ext cx="11416074" cy="5266265"/>
          </a:xfrm>
        </p:spPr>
        <p:txBody>
          <a:bodyPr>
            <a:normAutofit/>
          </a:bodyPr>
          <a:lstStyle/>
          <a:p>
            <a:pPr lvl="1" algn="just"/>
            <a:r>
              <a:rPr lang="en-US" sz="3200" b="1" u="sng" dirty="0"/>
              <a:t>Services</a:t>
            </a:r>
            <a:r>
              <a:rPr lang="en-US" sz="3200" dirty="0"/>
              <a:t>. Tasks are served through Service Routines. A service routine is a piece of code that gives functionality to a system resource. </a:t>
            </a:r>
          </a:p>
          <a:p>
            <a:pPr lvl="1" algn="just"/>
            <a:r>
              <a:rPr lang="en-US" sz="3200" dirty="0"/>
              <a:t>In some systems, they are referred to as </a:t>
            </a:r>
            <a:r>
              <a:rPr lang="en-US" sz="3200" b="1" u="sng" dirty="0"/>
              <a:t>device drivers</a:t>
            </a:r>
            <a:r>
              <a:rPr lang="en-US" sz="3200" dirty="0"/>
              <a:t>. Services can be activated by polling or as interrupt service routines (ISR), depending on the system architecture. </a:t>
            </a:r>
            <a:endParaRPr lang="en-PH" sz="2800" dirty="0"/>
          </a:p>
        </p:txBody>
      </p:sp>
    </p:spTree>
    <p:extLst>
      <p:ext uri="{BB962C8B-B14F-4D97-AF65-F5344CB8AC3E}">
        <p14:creationId xmlns:p14="http://schemas.microsoft.com/office/powerpoint/2010/main" val="2892389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E5518-4C57-2C57-2986-2EEB01EF0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C1FB1-AE30-74B5-3D93-439560E7DB01}"/>
              </a:ext>
            </a:extLst>
          </p:cNvPr>
          <p:cNvSpPr>
            <a:spLocks noGrp="1"/>
          </p:cNvSpPr>
          <p:nvPr>
            <p:ph type="title"/>
          </p:nvPr>
        </p:nvSpPr>
        <p:spPr>
          <a:xfrm>
            <a:off x="224367" y="330200"/>
            <a:ext cx="11743266" cy="872068"/>
          </a:xfrm>
        </p:spPr>
        <p:txBody>
          <a:bodyPr>
            <a:normAutofit/>
          </a:bodyPr>
          <a:lstStyle/>
          <a:p>
            <a:pPr algn="just"/>
            <a:r>
              <a:rPr lang="en-US" sz="3600" dirty="0"/>
              <a:t>1.3 classification of embedded systems</a:t>
            </a:r>
            <a:endParaRPr lang="en-PH" sz="3600" dirty="0"/>
          </a:p>
        </p:txBody>
      </p:sp>
      <p:sp>
        <p:nvSpPr>
          <p:cNvPr id="7" name="Content Placeholder 6">
            <a:extLst>
              <a:ext uri="{FF2B5EF4-FFF2-40B4-BE49-F238E27FC236}">
                <a16:creationId xmlns:a16="http://schemas.microsoft.com/office/drawing/2014/main" id="{C52ADE8D-4A83-CA2B-DC47-3500CD350F6F}"/>
              </a:ext>
            </a:extLst>
          </p:cNvPr>
          <p:cNvSpPr>
            <a:spLocks noGrp="1"/>
          </p:cNvSpPr>
          <p:nvPr>
            <p:ph idx="1"/>
          </p:nvPr>
        </p:nvSpPr>
        <p:spPr>
          <a:xfrm>
            <a:off x="335659" y="1202267"/>
            <a:ext cx="6048208" cy="5266265"/>
          </a:xfrm>
        </p:spPr>
        <p:txBody>
          <a:bodyPr>
            <a:normAutofit/>
          </a:bodyPr>
          <a:lstStyle/>
          <a:p>
            <a:pPr lvl="1" algn="just"/>
            <a:r>
              <a:rPr lang="en-US" sz="3200" dirty="0"/>
              <a:t>Three defining categories that we can use to classify embedded systems in general: Small, Distributed, and High-performance. Figure 1.10 graphically illustrates the relationships among these classes.</a:t>
            </a:r>
            <a:endParaRPr lang="en-PH" sz="2800" dirty="0"/>
          </a:p>
        </p:txBody>
      </p:sp>
      <p:pic>
        <p:nvPicPr>
          <p:cNvPr id="4" name="Picture 3">
            <a:extLst>
              <a:ext uri="{FF2B5EF4-FFF2-40B4-BE49-F238E27FC236}">
                <a16:creationId xmlns:a16="http://schemas.microsoft.com/office/drawing/2014/main" id="{F99316CB-C3F9-4C39-32E2-CCC7CFE400CB}"/>
              </a:ext>
            </a:extLst>
          </p:cNvPr>
          <p:cNvPicPr>
            <a:picLocks noChangeAspect="1"/>
          </p:cNvPicPr>
          <p:nvPr/>
        </p:nvPicPr>
        <p:blipFill>
          <a:blip r:embed="rId2"/>
          <a:stretch>
            <a:fillRect/>
          </a:stretch>
        </p:blipFill>
        <p:spPr>
          <a:xfrm>
            <a:off x="6715291" y="1608422"/>
            <a:ext cx="4613107" cy="4003829"/>
          </a:xfrm>
          <a:prstGeom prst="rect">
            <a:avLst/>
          </a:prstGeom>
        </p:spPr>
      </p:pic>
    </p:spTree>
    <p:extLst>
      <p:ext uri="{BB962C8B-B14F-4D97-AF65-F5344CB8AC3E}">
        <p14:creationId xmlns:p14="http://schemas.microsoft.com/office/powerpoint/2010/main" val="706511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41C90-982E-16A0-F3EA-0CC1CD5F3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2D79E-2632-4F16-9B85-D4F95E358033}"/>
              </a:ext>
            </a:extLst>
          </p:cNvPr>
          <p:cNvSpPr>
            <a:spLocks noGrp="1"/>
          </p:cNvSpPr>
          <p:nvPr>
            <p:ph type="title"/>
          </p:nvPr>
        </p:nvSpPr>
        <p:spPr>
          <a:xfrm>
            <a:off x="224367" y="330200"/>
            <a:ext cx="11743266" cy="872068"/>
          </a:xfrm>
        </p:spPr>
        <p:txBody>
          <a:bodyPr>
            <a:normAutofit/>
          </a:bodyPr>
          <a:lstStyle/>
          <a:p>
            <a:pPr algn="just"/>
            <a:r>
              <a:rPr lang="en-US" sz="3600" dirty="0"/>
              <a:t>1.3 classification of embedded systems</a:t>
            </a:r>
            <a:endParaRPr lang="en-PH" sz="3600" dirty="0"/>
          </a:p>
        </p:txBody>
      </p:sp>
      <p:sp>
        <p:nvSpPr>
          <p:cNvPr id="7" name="Content Placeholder 6">
            <a:extLst>
              <a:ext uri="{FF2B5EF4-FFF2-40B4-BE49-F238E27FC236}">
                <a16:creationId xmlns:a16="http://schemas.microsoft.com/office/drawing/2014/main" id="{2C5C199A-4CCE-A95C-FE39-40965DB7D56E}"/>
              </a:ext>
            </a:extLst>
          </p:cNvPr>
          <p:cNvSpPr>
            <a:spLocks noGrp="1"/>
          </p:cNvSpPr>
          <p:nvPr>
            <p:ph idx="1"/>
          </p:nvPr>
        </p:nvSpPr>
        <p:spPr>
          <a:xfrm>
            <a:off x="335659" y="1202267"/>
            <a:ext cx="11136674" cy="5266265"/>
          </a:xfrm>
        </p:spPr>
        <p:txBody>
          <a:bodyPr>
            <a:normAutofit lnSpcReduction="10000"/>
          </a:bodyPr>
          <a:lstStyle/>
          <a:p>
            <a:pPr lvl="1" algn="just"/>
            <a:r>
              <a:rPr lang="en-PH" sz="3200" b="1" dirty="0"/>
              <a:t>Small Embedded Systems</a:t>
            </a:r>
          </a:p>
          <a:p>
            <a:pPr lvl="2" algn="just"/>
            <a:r>
              <a:rPr lang="en-US" sz="3200" dirty="0"/>
              <a:t>Texas Instruments, with the </a:t>
            </a:r>
            <a:r>
              <a:rPr lang="en-US" sz="3200" b="1" u="sng" dirty="0"/>
              <a:t>TMS1000</a:t>
            </a:r>
            <a:r>
              <a:rPr lang="en-US" sz="3200" dirty="0"/>
              <a:t> created the microcontroller, which has become the cornerstone component of this type of embedded systems, which is by far, the most common type. </a:t>
            </a:r>
          </a:p>
          <a:p>
            <a:pPr lvl="2" algn="just"/>
            <a:r>
              <a:rPr lang="en-US" sz="3200" dirty="0"/>
              <a:t>This class is typically centered around a </a:t>
            </a:r>
            <a:r>
              <a:rPr lang="en-US" sz="3200" b="1" u="sng" dirty="0"/>
              <a:t>single microcontroller chip</a:t>
            </a:r>
            <a:r>
              <a:rPr lang="en-US" sz="3200" dirty="0"/>
              <a:t> that commands the whole application. These systems are highly integrated,</a:t>
            </a:r>
            <a:r>
              <a:rPr lang="en-US" sz="2800" dirty="0"/>
              <a:t> </a:t>
            </a:r>
            <a:r>
              <a:rPr lang="en-US" sz="3200" dirty="0"/>
              <a:t>adding only a few analog components, sensors, actuators, and user-interface, as needed.</a:t>
            </a:r>
            <a:endParaRPr lang="en-PH" sz="2800" dirty="0"/>
          </a:p>
        </p:txBody>
      </p:sp>
    </p:spTree>
    <p:extLst>
      <p:ext uri="{BB962C8B-B14F-4D97-AF65-F5344CB8AC3E}">
        <p14:creationId xmlns:p14="http://schemas.microsoft.com/office/powerpoint/2010/main" val="12174927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D93A1-6393-6468-61CA-2E7B673C0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F3E96-4F5C-E193-339E-AF08FAFFC7D9}"/>
              </a:ext>
            </a:extLst>
          </p:cNvPr>
          <p:cNvSpPr>
            <a:spLocks noGrp="1"/>
          </p:cNvSpPr>
          <p:nvPr>
            <p:ph type="title"/>
          </p:nvPr>
        </p:nvSpPr>
        <p:spPr>
          <a:xfrm>
            <a:off x="224367" y="330200"/>
            <a:ext cx="11743266" cy="872068"/>
          </a:xfrm>
        </p:spPr>
        <p:txBody>
          <a:bodyPr>
            <a:normAutofit/>
          </a:bodyPr>
          <a:lstStyle/>
          <a:p>
            <a:pPr algn="just"/>
            <a:r>
              <a:rPr lang="en-US" sz="3600" dirty="0"/>
              <a:t>1.3 classification of embedded systems</a:t>
            </a:r>
            <a:endParaRPr lang="en-PH" sz="3600" dirty="0"/>
          </a:p>
        </p:txBody>
      </p:sp>
      <p:sp>
        <p:nvSpPr>
          <p:cNvPr id="7" name="Content Placeholder 6">
            <a:extLst>
              <a:ext uri="{FF2B5EF4-FFF2-40B4-BE49-F238E27FC236}">
                <a16:creationId xmlns:a16="http://schemas.microsoft.com/office/drawing/2014/main" id="{E5A298EF-987A-86FE-8CD1-2B3020E77CAE}"/>
              </a:ext>
            </a:extLst>
          </p:cNvPr>
          <p:cNvSpPr>
            <a:spLocks noGrp="1"/>
          </p:cNvSpPr>
          <p:nvPr>
            <p:ph idx="1"/>
          </p:nvPr>
        </p:nvSpPr>
        <p:spPr>
          <a:xfrm>
            <a:off x="335659" y="1202267"/>
            <a:ext cx="11136674" cy="5266265"/>
          </a:xfrm>
        </p:spPr>
        <p:txBody>
          <a:bodyPr>
            <a:normAutofit/>
          </a:bodyPr>
          <a:lstStyle/>
          <a:p>
            <a:pPr lvl="1" algn="just"/>
            <a:r>
              <a:rPr lang="en-PH" sz="3200" b="1" dirty="0"/>
              <a:t>Distributed Embedded Systems</a:t>
            </a:r>
          </a:p>
          <a:p>
            <a:pPr lvl="2" algn="just"/>
            <a:r>
              <a:rPr lang="en-US" sz="3200" dirty="0"/>
              <a:t>The style created by Intel with the 4004 is representative of this type of embedded systems. We refer to the class of embedded systems where the </a:t>
            </a:r>
            <a:r>
              <a:rPr lang="en-US" sz="3200" b="1" u="sng" dirty="0"/>
              <a:t>CPU resides in a separate chip</a:t>
            </a:r>
            <a:r>
              <a:rPr lang="en-US" sz="3200" dirty="0"/>
              <a:t> while the rest of components like memories, I/O, co-processors, and other special functions are </a:t>
            </a:r>
            <a:r>
              <a:rPr lang="en-US" sz="3200" b="1" u="sng" dirty="0"/>
              <a:t>spread across one or several chips</a:t>
            </a:r>
            <a:r>
              <a:rPr lang="en-US" sz="3200" dirty="0"/>
              <a:t> in what is typically called the </a:t>
            </a:r>
            <a:r>
              <a:rPr lang="en-US" sz="3200" b="1" u="sng" dirty="0"/>
              <a:t>processor chipset</a:t>
            </a:r>
            <a:r>
              <a:rPr lang="en-US" sz="3200" dirty="0"/>
              <a:t>.</a:t>
            </a:r>
            <a:endParaRPr lang="en-PH" sz="3100" dirty="0"/>
          </a:p>
        </p:txBody>
      </p:sp>
    </p:spTree>
    <p:extLst>
      <p:ext uri="{BB962C8B-B14F-4D97-AF65-F5344CB8AC3E}">
        <p14:creationId xmlns:p14="http://schemas.microsoft.com/office/powerpoint/2010/main" val="2860125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7B275-0900-7EB5-2700-60D5A15D6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27386-2FAA-5E6E-129F-B9A65A747B8E}"/>
              </a:ext>
            </a:extLst>
          </p:cNvPr>
          <p:cNvSpPr>
            <a:spLocks noGrp="1"/>
          </p:cNvSpPr>
          <p:nvPr>
            <p:ph type="title"/>
          </p:nvPr>
        </p:nvSpPr>
        <p:spPr>
          <a:xfrm>
            <a:off x="224367" y="330200"/>
            <a:ext cx="11743266" cy="872068"/>
          </a:xfrm>
        </p:spPr>
        <p:txBody>
          <a:bodyPr>
            <a:normAutofit/>
          </a:bodyPr>
          <a:lstStyle/>
          <a:p>
            <a:pPr algn="just"/>
            <a:r>
              <a:rPr lang="en-US" sz="3600" dirty="0"/>
              <a:t>1.3 classification of embedded systems</a:t>
            </a:r>
            <a:endParaRPr lang="en-PH" sz="3600" dirty="0"/>
          </a:p>
        </p:txBody>
      </p:sp>
      <p:sp>
        <p:nvSpPr>
          <p:cNvPr id="7" name="Content Placeholder 6">
            <a:extLst>
              <a:ext uri="{FF2B5EF4-FFF2-40B4-BE49-F238E27FC236}">
                <a16:creationId xmlns:a16="http://schemas.microsoft.com/office/drawing/2014/main" id="{0E6E9683-ADFB-4E96-CC11-A4E178925D4D}"/>
              </a:ext>
            </a:extLst>
          </p:cNvPr>
          <p:cNvSpPr>
            <a:spLocks noGrp="1"/>
          </p:cNvSpPr>
          <p:nvPr>
            <p:ph idx="1"/>
          </p:nvPr>
        </p:nvSpPr>
        <p:spPr>
          <a:xfrm>
            <a:off x="335659" y="1202267"/>
            <a:ext cx="11136674" cy="5266265"/>
          </a:xfrm>
        </p:spPr>
        <p:txBody>
          <a:bodyPr>
            <a:normAutofit fontScale="92500"/>
          </a:bodyPr>
          <a:lstStyle/>
          <a:p>
            <a:pPr lvl="1" algn="just"/>
            <a:r>
              <a:rPr lang="en-PH" sz="3200" b="1" dirty="0"/>
              <a:t>High-Performance Embedded Systems</a:t>
            </a:r>
          </a:p>
          <a:p>
            <a:pPr lvl="2" algn="just"/>
            <a:r>
              <a:rPr lang="en-US" sz="3200" dirty="0"/>
              <a:t>The case of the CADC represents the class of highly specialized embedded systems requiring fast computations, robustness, fault tolerance, and high maintainability. </a:t>
            </a:r>
          </a:p>
          <a:p>
            <a:pPr lvl="2" algn="just"/>
            <a:r>
              <a:rPr lang="en-US" sz="3200" dirty="0"/>
              <a:t>These systems usually require dedicated ASICS, are typically distributed, might include DSPs and FPGAs as part of the basic hardware. </a:t>
            </a:r>
          </a:p>
          <a:p>
            <a:pPr lvl="2" algn="just"/>
            <a:r>
              <a:rPr lang="en-PH" sz="3200" dirty="0"/>
              <a:t>These are t</a:t>
            </a:r>
            <a:r>
              <a:rPr lang="en-US" sz="3200" dirty="0"/>
              <a:t>he type of embedded systems used in military and aerospace applications, such as flight controllers, missile guidance systems, and space craft navigation systems.</a:t>
            </a:r>
            <a:endParaRPr lang="en-PH" sz="3200" dirty="0"/>
          </a:p>
        </p:txBody>
      </p:sp>
    </p:spTree>
    <p:extLst>
      <p:ext uri="{BB962C8B-B14F-4D97-AF65-F5344CB8AC3E}">
        <p14:creationId xmlns:p14="http://schemas.microsoft.com/office/powerpoint/2010/main" val="1097800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6C3F5-DD92-57E4-0A22-79153534B7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8C06F-209A-421F-80AD-9994731A307C}"/>
              </a:ext>
            </a:extLst>
          </p:cNvPr>
          <p:cNvSpPr>
            <a:spLocks noGrp="1"/>
          </p:cNvSpPr>
          <p:nvPr>
            <p:ph type="title"/>
          </p:nvPr>
        </p:nvSpPr>
        <p:spPr>
          <a:xfrm>
            <a:off x="224367" y="330200"/>
            <a:ext cx="11743266" cy="872068"/>
          </a:xfrm>
        </p:spPr>
        <p:txBody>
          <a:bodyPr>
            <a:normAutofit/>
          </a:bodyPr>
          <a:lstStyle/>
          <a:p>
            <a:pPr algn="just"/>
            <a:r>
              <a:rPr lang="en-US" sz="3600" dirty="0"/>
              <a:t>1.3 classification of embedded systems</a:t>
            </a:r>
            <a:endParaRPr lang="en-PH" sz="3600" dirty="0"/>
          </a:p>
        </p:txBody>
      </p:sp>
      <p:sp>
        <p:nvSpPr>
          <p:cNvPr id="7" name="Content Placeholder 6">
            <a:extLst>
              <a:ext uri="{FF2B5EF4-FFF2-40B4-BE49-F238E27FC236}">
                <a16:creationId xmlns:a16="http://schemas.microsoft.com/office/drawing/2014/main" id="{F0EEC354-5E7C-7E86-E703-03A8F7EDFF81}"/>
              </a:ext>
            </a:extLst>
          </p:cNvPr>
          <p:cNvSpPr>
            <a:spLocks noGrp="1"/>
          </p:cNvSpPr>
          <p:nvPr>
            <p:ph idx="1"/>
          </p:nvPr>
        </p:nvSpPr>
        <p:spPr>
          <a:xfrm>
            <a:off x="335659" y="1202267"/>
            <a:ext cx="11136674" cy="5266265"/>
          </a:xfrm>
        </p:spPr>
        <p:txBody>
          <a:bodyPr>
            <a:normAutofit fontScale="92500"/>
          </a:bodyPr>
          <a:lstStyle/>
          <a:p>
            <a:pPr lvl="1" algn="just"/>
            <a:r>
              <a:rPr lang="en-PH" sz="3200" b="1" dirty="0"/>
              <a:t>High-Performance Embedded Systems</a:t>
            </a:r>
          </a:p>
          <a:p>
            <a:pPr lvl="2" algn="just"/>
            <a:r>
              <a:rPr lang="en-US" sz="3200" dirty="0"/>
              <a:t>The case of the CADC represents the class of highly specialized embedded systems requiring fast computations, robustness, fault tolerance, and high maintainability. </a:t>
            </a:r>
          </a:p>
          <a:p>
            <a:pPr lvl="2" algn="just"/>
            <a:r>
              <a:rPr lang="en-US" sz="3200" dirty="0"/>
              <a:t>These systems usually require dedicated ASICS, are typically distributed, might include DSPs and FPGAs as part of the basic hardware. </a:t>
            </a:r>
          </a:p>
          <a:p>
            <a:pPr lvl="2" algn="just"/>
            <a:r>
              <a:rPr lang="en-PH" sz="3200" dirty="0"/>
              <a:t>These are t</a:t>
            </a:r>
            <a:r>
              <a:rPr lang="en-US" sz="3200" dirty="0"/>
              <a:t>he type of embedded systems used in military and aerospace applications, such as flight controllers, missile guidance systems, and space craft navigation systems.</a:t>
            </a:r>
            <a:endParaRPr lang="en-PH" sz="3200" dirty="0"/>
          </a:p>
        </p:txBody>
      </p:sp>
    </p:spTree>
    <p:extLst>
      <p:ext uri="{BB962C8B-B14F-4D97-AF65-F5344CB8AC3E}">
        <p14:creationId xmlns:p14="http://schemas.microsoft.com/office/powerpoint/2010/main" val="2550712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24E78-3919-617F-C41B-2AFFCE052CE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4A0952B-BD3F-1148-673F-49E0297B93B3}"/>
              </a:ext>
            </a:extLst>
          </p:cNvPr>
          <p:cNvPicPr>
            <a:picLocks noChangeAspect="1"/>
          </p:cNvPicPr>
          <p:nvPr/>
        </p:nvPicPr>
        <p:blipFill>
          <a:blip r:embed="rId2"/>
          <a:stretch>
            <a:fillRect/>
          </a:stretch>
        </p:blipFill>
        <p:spPr>
          <a:xfrm>
            <a:off x="5653694" y="1538947"/>
            <a:ext cx="5882139" cy="4592903"/>
          </a:xfrm>
          <a:prstGeom prst="rect">
            <a:avLst/>
          </a:prstGeom>
        </p:spPr>
      </p:pic>
      <p:sp>
        <p:nvSpPr>
          <p:cNvPr id="2" name="Title 1">
            <a:extLst>
              <a:ext uri="{FF2B5EF4-FFF2-40B4-BE49-F238E27FC236}">
                <a16:creationId xmlns:a16="http://schemas.microsoft.com/office/drawing/2014/main" id="{D6A2535C-B8D2-11AD-B5BD-E95F9C99DAA7}"/>
              </a:ext>
            </a:extLst>
          </p:cNvPr>
          <p:cNvSpPr>
            <a:spLocks noGrp="1"/>
          </p:cNvSpPr>
          <p:nvPr>
            <p:ph type="title"/>
          </p:nvPr>
        </p:nvSpPr>
        <p:spPr>
          <a:xfrm>
            <a:off x="224367" y="330200"/>
            <a:ext cx="11743266" cy="872068"/>
          </a:xfrm>
        </p:spPr>
        <p:txBody>
          <a:bodyPr>
            <a:normAutofit/>
          </a:bodyPr>
          <a:lstStyle/>
          <a:p>
            <a:pPr algn="just"/>
            <a:r>
              <a:rPr lang="en-US" sz="3600" dirty="0"/>
              <a:t>1.4 The Life Cycle of Embedded Designs </a:t>
            </a:r>
            <a:endParaRPr lang="en-PH" sz="3600" dirty="0"/>
          </a:p>
        </p:txBody>
      </p:sp>
      <p:sp>
        <p:nvSpPr>
          <p:cNvPr id="7" name="Content Placeholder 6">
            <a:extLst>
              <a:ext uri="{FF2B5EF4-FFF2-40B4-BE49-F238E27FC236}">
                <a16:creationId xmlns:a16="http://schemas.microsoft.com/office/drawing/2014/main" id="{E872549F-B047-E294-884E-0D5429811C86}"/>
              </a:ext>
            </a:extLst>
          </p:cNvPr>
          <p:cNvSpPr>
            <a:spLocks noGrp="1"/>
          </p:cNvSpPr>
          <p:nvPr>
            <p:ph idx="1"/>
          </p:nvPr>
        </p:nvSpPr>
        <p:spPr>
          <a:xfrm>
            <a:off x="335659" y="1202267"/>
            <a:ext cx="6183674" cy="5266265"/>
          </a:xfrm>
        </p:spPr>
        <p:txBody>
          <a:bodyPr>
            <a:normAutofit/>
          </a:bodyPr>
          <a:lstStyle/>
          <a:p>
            <a:pPr lvl="1" algn="just"/>
            <a:r>
              <a:rPr lang="en-US" sz="3200" dirty="0"/>
              <a:t>Five stages can be identified in the cycle: Conception or Birth, Design, Growth, Maturity, and Decline. Figure 1.11 illustrates the </a:t>
            </a:r>
            <a:r>
              <a:rPr lang="en-US" sz="3200" b="1" u="sng" dirty="0"/>
              <a:t>sequence of these stages</a:t>
            </a:r>
            <a:r>
              <a:rPr lang="en-US" sz="3200" dirty="0"/>
              <a:t>, and the critical phases that compose each stage.</a:t>
            </a:r>
            <a:endParaRPr lang="en-PH" sz="3200" dirty="0"/>
          </a:p>
        </p:txBody>
      </p:sp>
    </p:spTree>
    <p:extLst>
      <p:ext uri="{BB962C8B-B14F-4D97-AF65-F5344CB8AC3E}">
        <p14:creationId xmlns:p14="http://schemas.microsoft.com/office/powerpoint/2010/main" val="3047197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8BC6A-E5F7-1EBB-0D3F-CACE4E4A2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B769F-70D8-656B-D67A-D53B67F12038}"/>
              </a:ext>
            </a:extLst>
          </p:cNvPr>
          <p:cNvSpPr>
            <a:spLocks noGrp="1"/>
          </p:cNvSpPr>
          <p:nvPr>
            <p:ph type="title"/>
          </p:nvPr>
        </p:nvSpPr>
        <p:spPr>
          <a:xfrm>
            <a:off x="224367" y="330200"/>
            <a:ext cx="11743266" cy="872068"/>
          </a:xfrm>
        </p:spPr>
        <p:txBody>
          <a:bodyPr>
            <a:normAutofit/>
          </a:bodyPr>
          <a:lstStyle/>
          <a:p>
            <a:pPr algn="just"/>
            <a:r>
              <a:rPr lang="en-US" sz="3600" dirty="0"/>
              <a:t>1.4 The Life Cycle of Embedded Designs </a:t>
            </a:r>
            <a:endParaRPr lang="en-PH" sz="3600" dirty="0"/>
          </a:p>
        </p:txBody>
      </p:sp>
      <p:sp>
        <p:nvSpPr>
          <p:cNvPr id="7" name="Content Placeholder 6">
            <a:extLst>
              <a:ext uri="{FF2B5EF4-FFF2-40B4-BE49-F238E27FC236}">
                <a16:creationId xmlns:a16="http://schemas.microsoft.com/office/drawing/2014/main" id="{1997813E-0786-C175-E173-B1341D0AEFD5}"/>
              </a:ext>
            </a:extLst>
          </p:cNvPr>
          <p:cNvSpPr>
            <a:spLocks noGrp="1"/>
          </p:cNvSpPr>
          <p:nvPr>
            <p:ph idx="1"/>
          </p:nvPr>
        </p:nvSpPr>
        <p:spPr>
          <a:xfrm>
            <a:off x="335658" y="1202267"/>
            <a:ext cx="11424541" cy="5266265"/>
          </a:xfrm>
        </p:spPr>
        <p:txBody>
          <a:bodyPr>
            <a:normAutofit/>
          </a:bodyPr>
          <a:lstStyle/>
          <a:p>
            <a:pPr lvl="1" algn="just"/>
            <a:r>
              <a:rPr lang="en-US" sz="3200" dirty="0"/>
              <a:t>An embedded design is first </a:t>
            </a:r>
            <a:r>
              <a:rPr lang="en-US" sz="3200" b="1" u="sng" dirty="0"/>
              <a:t>conceived</a:t>
            </a:r>
            <a:r>
              <a:rPr lang="en-US" sz="3200" dirty="0"/>
              <a:t> by the identification of a need to solve a particular problem, or the opportunity to apply embedded technology to an old problem. </a:t>
            </a:r>
          </a:p>
          <a:p>
            <a:pPr lvl="1" algn="just"/>
            <a:r>
              <a:rPr lang="en-US" sz="3200" dirty="0"/>
              <a:t>In the </a:t>
            </a:r>
            <a:r>
              <a:rPr lang="en-US" sz="3200" b="1" u="sng" dirty="0"/>
              <a:t>design stage</a:t>
            </a:r>
            <a:r>
              <a:rPr lang="en-US" sz="3200" dirty="0"/>
              <a:t>, the system goes first through a phase of functional design, where proof-of-concept prototypes are developed. </a:t>
            </a:r>
          </a:p>
          <a:p>
            <a:pPr lvl="1" algn="just"/>
            <a:r>
              <a:rPr lang="en-US" sz="3200" dirty="0"/>
              <a:t>The </a:t>
            </a:r>
            <a:r>
              <a:rPr lang="en-US" sz="3200" b="1" u="sng" dirty="0"/>
              <a:t>growth stage</a:t>
            </a:r>
            <a:r>
              <a:rPr lang="en-US" sz="3200" b="1" dirty="0"/>
              <a:t> </a:t>
            </a:r>
            <a:r>
              <a:rPr lang="en-US" sz="3200" dirty="0"/>
              <a:t>initiates with the production of the system to supply an estimated market demand.</a:t>
            </a:r>
            <a:endParaRPr lang="en-PH" sz="3200" dirty="0"/>
          </a:p>
        </p:txBody>
      </p:sp>
    </p:spTree>
    <p:extLst>
      <p:ext uri="{BB962C8B-B14F-4D97-AF65-F5344CB8AC3E}">
        <p14:creationId xmlns:p14="http://schemas.microsoft.com/office/powerpoint/2010/main" val="1847663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FD3F-ADCD-D6D8-AE4E-537B9D193D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720D7-0EBB-FB17-4197-257FFA613535}"/>
              </a:ext>
            </a:extLst>
          </p:cNvPr>
          <p:cNvSpPr>
            <a:spLocks noGrp="1"/>
          </p:cNvSpPr>
          <p:nvPr>
            <p:ph type="title"/>
          </p:nvPr>
        </p:nvSpPr>
        <p:spPr>
          <a:xfrm>
            <a:off x="224367" y="330200"/>
            <a:ext cx="11743266" cy="872068"/>
          </a:xfrm>
        </p:spPr>
        <p:txBody>
          <a:bodyPr>
            <a:normAutofit/>
          </a:bodyPr>
          <a:lstStyle/>
          <a:p>
            <a:pPr algn="just"/>
            <a:r>
              <a:rPr lang="en-US" sz="3600" dirty="0"/>
              <a:t>1.4 The Life Cycle of Embedded Designs </a:t>
            </a:r>
            <a:endParaRPr lang="en-PH" sz="3600" dirty="0"/>
          </a:p>
        </p:txBody>
      </p:sp>
      <p:sp>
        <p:nvSpPr>
          <p:cNvPr id="7" name="Content Placeholder 6">
            <a:extLst>
              <a:ext uri="{FF2B5EF4-FFF2-40B4-BE49-F238E27FC236}">
                <a16:creationId xmlns:a16="http://schemas.microsoft.com/office/drawing/2014/main" id="{3C60B688-04B4-858A-624F-DE7C61E767EC}"/>
              </a:ext>
            </a:extLst>
          </p:cNvPr>
          <p:cNvSpPr>
            <a:spLocks noGrp="1"/>
          </p:cNvSpPr>
          <p:nvPr>
            <p:ph idx="1"/>
          </p:nvPr>
        </p:nvSpPr>
        <p:spPr>
          <a:xfrm>
            <a:off x="335658" y="1202267"/>
            <a:ext cx="11424541" cy="5266265"/>
          </a:xfrm>
        </p:spPr>
        <p:txBody>
          <a:bodyPr>
            <a:normAutofit/>
          </a:bodyPr>
          <a:lstStyle/>
          <a:p>
            <a:pPr lvl="1" algn="just"/>
            <a:r>
              <a:rPr lang="en-US" sz="3200" dirty="0"/>
              <a:t>In the </a:t>
            </a:r>
            <a:r>
              <a:rPr lang="en-US" sz="3200" b="1" u="sng" dirty="0"/>
              <a:t>maturity stage</a:t>
            </a:r>
            <a:r>
              <a:rPr lang="en-US" sz="3200" dirty="0"/>
              <a:t>, the product is kept functional and up to date. This involves providing technical support, periodic maintenance, and servicing.</a:t>
            </a:r>
          </a:p>
          <a:p>
            <a:pPr lvl="1" algn="just"/>
            <a:r>
              <a:rPr lang="en-US" sz="3200" dirty="0"/>
              <a:t>In the </a:t>
            </a:r>
            <a:r>
              <a:rPr lang="en-US" sz="3200" b="1" u="sng" dirty="0"/>
              <a:t>decline stage</a:t>
            </a:r>
            <a:r>
              <a:rPr lang="en-US" sz="3200" dirty="0"/>
              <a:t>, system components become obsolete and difficult to obtain, driving the cost of maintenance, service, and upgrades to levels that approach or exceed those of replacing the whole system at once.</a:t>
            </a:r>
            <a:endParaRPr lang="en-PH" sz="3200" dirty="0"/>
          </a:p>
        </p:txBody>
      </p:sp>
    </p:spTree>
    <p:extLst>
      <p:ext uri="{BB962C8B-B14F-4D97-AF65-F5344CB8AC3E}">
        <p14:creationId xmlns:p14="http://schemas.microsoft.com/office/powerpoint/2010/main" val="1382306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0CA96-467D-2AE2-6F8D-4C78938FC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607A7-3656-9958-4B6B-D695AC446D66}"/>
              </a:ext>
            </a:extLst>
          </p:cNvPr>
          <p:cNvSpPr>
            <a:spLocks noGrp="1"/>
          </p:cNvSpPr>
          <p:nvPr>
            <p:ph type="title"/>
          </p:nvPr>
        </p:nvSpPr>
        <p:spPr>
          <a:xfrm>
            <a:off x="224367" y="330200"/>
            <a:ext cx="11743266" cy="872068"/>
          </a:xfrm>
        </p:spPr>
        <p:txBody>
          <a:bodyPr>
            <a:normAutofit/>
          </a:bodyPr>
          <a:lstStyle/>
          <a:p>
            <a:pPr algn="just"/>
            <a:r>
              <a:rPr lang="en-PH" sz="3600" dirty="0"/>
              <a:t>1.5 Design Constraints</a:t>
            </a:r>
          </a:p>
        </p:txBody>
      </p:sp>
      <p:sp>
        <p:nvSpPr>
          <p:cNvPr id="7" name="Content Placeholder 6">
            <a:extLst>
              <a:ext uri="{FF2B5EF4-FFF2-40B4-BE49-F238E27FC236}">
                <a16:creationId xmlns:a16="http://schemas.microsoft.com/office/drawing/2014/main" id="{F155ABC0-7529-8C2C-F3D3-A8A6E5F10ACA}"/>
              </a:ext>
            </a:extLst>
          </p:cNvPr>
          <p:cNvSpPr>
            <a:spLocks noGrp="1"/>
          </p:cNvSpPr>
          <p:nvPr>
            <p:ph idx="1"/>
          </p:nvPr>
        </p:nvSpPr>
        <p:spPr>
          <a:xfrm>
            <a:off x="335658" y="1202267"/>
            <a:ext cx="11424541" cy="5266265"/>
          </a:xfrm>
        </p:spPr>
        <p:txBody>
          <a:bodyPr>
            <a:normAutofit/>
          </a:bodyPr>
          <a:lstStyle/>
          <a:p>
            <a:pPr lvl="1" algn="just"/>
            <a:r>
              <a:rPr lang="en-US" sz="3200" dirty="0"/>
              <a:t>A vast majority of embedded systems applications end up in the heart of mass-produced electronic applications. </a:t>
            </a:r>
            <a:r>
              <a:rPr lang="en-US" sz="3200" b="1" u="sng" dirty="0"/>
              <a:t>Home appliances</a:t>
            </a:r>
            <a:r>
              <a:rPr lang="en-US" sz="3200" dirty="0"/>
              <a:t> such as microwave ovens, toys, and dishwasher machines, </a:t>
            </a:r>
            <a:r>
              <a:rPr lang="en-US" sz="3200" b="1" u="sng" dirty="0"/>
              <a:t>automobile systems</a:t>
            </a:r>
            <a:r>
              <a:rPr lang="en-US" sz="3200" dirty="0"/>
              <a:t> such as anti-lock brakes and airbag deployment mechanisms, and </a:t>
            </a:r>
            <a:r>
              <a:rPr lang="en-US" sz="3200" b="1" u="sng" dirty="0"/>
              <a:t>personal devices</a:t>
            </a:r>
            <a:r>
              <a:rPr lang="en-US" sz="3200" dirty="0"/>
              <a:t> such as cellular phones and media players are only a few representative examples.</a:t>
            </a:r>
            <a:endParaRPr lang="en-PH" sz="3200" dirty="0"/>
          </a:p>
        </p:txBody>
      </p:sp>
    </p:spTree>
    <p:extLst>
      <p:ext uri="{BB962C8B-B14F-4D97-AF65-F5344CB8AC3E}">
        <p14:creationId xmlns:p14="http://schemas.microsoft.com/office/powerpoint/2010/main" val="60353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9C4D8-BF69-D3D6-2485-CA20F891A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CFC1F-6052-C7F8-6DC1-A3177A7A8DA6}"/>
              </a:ext>
            </a:extLst>
          </p:cNvPr>
          <p:cNvSpPr>
            <a:spLocks noGrp="1"/>
          </p:cNvSpPr>
          <p:nvPr>
            <p:ph type="title"/>
          </p:nvPr>
        </p:nvSpPr>
        <p:spPr>
          <a:xfrm>
            <a:off x="224367" y="330200"/>
            <a:ext cx="11743266" cy="872068"/>
          </a:xfrm>
        </p:spPr>
        <p:txBody>
          <a:bodyPr>
            <a:normAutofit/>
          </a:bodyPr>
          <a:lstStyle/>
          <a:p>
            <a:pPr algn="just"/>
            <a:r>
              <a:rPr lang="en-PH" sz="3600" dirty="0"/>
              <a:t>1.5 Design Constraints</a:t>
            </a:r>
          </a:p>
        </p:txBody>
      </p:sp>
      <p:sp>
        <p:nvSpPr>
          <p:cNvPr id="7" name="Content Placeholder 6">
            <a:extLst>
              <a:ext uri="{FF2B5EF4-FFF2-40B4-BE49-F238E27FC236}">
                <a16:creationId xmlns:a16="http://schemas.microsoft.com/office/drawing/2014/main" id="{3C6DCD36-5C99-7EB1-7284-83D73EA2F5EF}"/>
              </a:ext>
            </a:extLst>
          </p:cNvPr>
          <p:cNvSpPr>
            <a:spLocks noGrp="1"/>
          </p:cNvSpPr>
          <p:nvPr>
            <p:ph idx="1"/>
          </p:nvPr>
        </p:nvSpPr>
        <p:spPr>
          <a:xfrm>
            <a:off x="335658" y="1202267"/>
            <a:ext cx="11424541" cy="5266265"/>
          </a:xfrm>
        </p:spPr>
        <p:txBody>
          <a:bodyPr>
            <a:normAutofit/>
          </a:bodyPr>
          <a:lstStyle/>
          <a:p>
            <a:pPr lvl="1" algn="just"/>
            <a:r>
              <a:rPr lang="en-US" sz="3200" dirty="0"/>
              <a:t>The most salient constraints in the list include: </a:t>
            </a:r>
          </a:p>
          <a:p>
            <a:pPr lvl="2" algn="just"/>
            <a:r>
              <a:rPr lang="en-US" sz="3200" b="1" u="sng" dirty="0"/>
              <a:t>Functionality</a:t>
            </a:r>
            <a:r>
              <a:rPr lang="en-US" sz="3200" dirty="0"/>
              <a:t>: The system ability to perform the function it was designed for. </a:t>
            </a:r>
          </a:p>
          <a:p>
            <a:pPr lvl="2" algn="just"/>
            <a:r>
              <a:rPr lang="en-US" sz="3200" b="1" u="sng" dirty="0"/>
              <a:t>Cost</a:t>
            </a:r>
            <a:r>
              <a:rPr lang="en-US" sz="3200" dirty="0"/>
              <a:t>: The amount of resources needed to conceive, design, produce, maintain, and discard an embedded system. </a:t>
            </a:r>
          </a:p>
          <a:p>
            <a:pPr lvl="2" algn="just"/>
            <a:r>
              <a:rPr lang="en-US" sz="3200" b="1" u="sng" dirty="0"/>
              <a:t>Performance</a:t>
            </a:r>
            <a:r>
              <a:rPr lang="en-US" sz="3200" dirty="0"/>
              <a:t>: The system ability to perform its function on time. </a:t>
            </a:r>
          </a:p>
          <a:p>
            <a:pPr lvl="2" algn="just"/>
            <a:r>
              <a:rPr lang="en-US" sz="3200" b="1" u="sng" dirty="0"/>
              <a:t>Size</a:t>
            </a:r>
            <a:r>
              <a:rPr lang="en-US" sz="3200" dirty="0"/>
              <a:t>: Physical space taken by a system solution. </a:t>
            </a:r>
          </a:p>
        </p:txBody>
      </p:sp>
    </p:spTree>
    <p:extLst>
      <p:ext uri="{BB962C8B-B14F-4D97-AF65-F5344CB8AC3E}">
        <p14:creationId xmlns:p14="http://schemas.microsoft.com/office/powerpoint/2010/main" val="3810368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84DD-309E-2F8C-C9EB-FDEE5C6A2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18203-C2ED-1E11-4817-92D6F43FD8D1}"/>
              </a:ext>
            </a:extLst>
          </p:cNvPr>
          <p:cNvSpPr>
            <a:spLocks noGrp="1"/>
          </p:cNvSpPr>
          <p:nvPr>
            <p:ph type="title"/>
          </p:nvPr>
        </p:nvSpPr>
        <p:spPr>
          <a:xfrm>
            <a:off x="224367" y="330200"/>
            <a:ext cx="11743266" cy="872068"/>
          </a:xfrm>
        </p:spPr>
        <p:txBody>
          <a:bodyPr>
            <a:normAutofit/>
          </a:bodyPr>
          <a:lstStyle/>
          <a:p>
            <a:pPr algn="just"/>
            <a:r>
              <a:rPr lang="en-PH" sz="3600" dirty="0"/>
              <a:t>1.5 design constraints</a:t>
            </a:r>
          </a:p>
        </p:txBody>
      </p:sp>
      <p:sp>
        <p:nvSpPr>
          <p:cNvPr id="7" name="Content Placeholder 6">
            <a:extLst>
              <a:ext uri="{FF2B5EF4-FFF2-40B4-BE49-F238E27FC236}">
                <a16:creationId xmlns:a16="http://schemas.microsoft.com/office/drawing/2014/main" id="{8AB70009-D698-B86E-62FC-E6A1E0A6EC1C}"/>
              </a:ext>
            </a:extLst>
          </p:cNvPr>
          <p:cNvSpPr>
            <a:spLocks noGrp="1"/>
          </p:cNvSpPr>
          <p:nvPr>
            <p:ph idx="1"/>
          </p:nvPr>
        </p:nvSpPr>
        <p:spPr>
          <a:xfrm>
            <a:off x="335658" y="1202267"/>
            <a:ext cx="11424541" cy="5266265"/>
          </a:xfrm>
        </p:spPr>
        <p:txBody>
          <a:bodyPr>
            <a:normAutofit lnSpcReduction="10000"/>
          </a:bodyPr>
          <a:lstStyle/>
          <a:p>
            <a:pPr lvl="2" algn="just"/>
            <a:r>
              <a:rPr lang="en-US" sz="3200" b="1" u="sng" dirty="0"/>
              <a:t>Power and Energy</a:t>
            </a:r>
            <a:r>
              <a:rPr lang="en-US" sz="3200" dirty="0"/>
              <a:t>: Energy required by a system to perform its function. </a:t>
            </a:r>
          </a:p>
          <a:p>
            <a:pPr lvl="2" algn="just"/>
            <a:r>
              <a:rPr lang="en-US" sz="3200" b="1" u="sng" dirty="0"/>
              <a:t>Time to Market</a:t>
            </a:r>
            <a:r>
              <a:rPr lang="en-US" sz="3200" dirty="0"/>
              <a:t>: The time it takes from system conception to deployment. </a:t>
            </a:r>
          </a:p>
          <a:p>
            <a:pPr lvl="2" algn="just"/>
            <a:r>
              <a:rPr lang="en-US" sz="3200" b="1" u="sng" dirty="0"/>
              <a:t>Maintainability</a:t>
            </a:r>
            <a:r>
              <a:rPr lang="en-US" sz="3200" dirty="0"/>
              <a:t>: System ability to be kept functional for the longest of its mature life. </a:t>
            </a:r>
          </a:p>
          <a:p>
            <a:pPr lvl="2" algn="just"/>
            <a:r>
              <a:rPr lang="en-US" sz="3200" dirty="0"/>
              <a:t>Aside from functionality, the relevance of the rest of the constraints in the list changes from one system to another. In many cases, </a:t>
            </a:r>
            <a:r>
              <a:rPr lang="en-US" sz="3200" b="1" u="sng" dirty="0"/>
              <a:t>multiple constraints</a:t>
            </a:r>
            <a:r>
              <a:rPr lang="en-US" sz="3200" dirty="0"/>
              <a:t> must be satisfied, even when these can be conflicting, leading to design tradeoffs. </a:t>
            </a:r>
            <a:endParaRPr lang="en-PH" sz="3100" dirty="0"/>
          </a:p>
        </p:txBody>
      </p:sp>
    </p:spTree>
    <p:extLst>
      <p:ext uri="{BB962C8B-B14F-4D97-AF65-F5344CB8AC3E}">
        <p14:creationId xmlns:p14="http://schemas.microsoft.com/office/powerpoint/2010/main" val="40825681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1E45-21F8-CCF2-BD1A-899613B5A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6E422-21DF-3191-D4CD-24E691C7CC82}"/>
              </a:ext>
            </a:extLst>
          </p:cNvPr>
          <p:cNvSpPr>
            <a:spLocks noGrp="1"/>
          </p:cNvSpPr>
          <p:nvPr>
            <p:ph type="title"/>
          </p:nvPr>
        </p:nvSpPr>
        <p:spPr>
          <a:xfrm>
            <a:off x="224367" y="330200"/>
            <a:ext cx="11743266" cy="872068"/>
          </a:xfrm>
        </p:spPr>
        <p:txBody>
          <a:bodyPr>
            <a:normAutofit/>
          </a:bodyPr>
          <a:lstStyle/>
          <a:p>
            <a:pPr algn="just"/>
            <a:r>
              <a:rPr lang="en-PH" sz="3600" dirty="0"/>
              <a:t>1.5.1 functionality</a:t>
            </a:r>
          </a:p>
        </p:txBody>
      </p:sp>
      <p:sp>
        <p:nvSpPr>
          <p:cNvPr id="3" name="Content Placeholder 6">
            <a:extLst>
              <a:ext uri="{FF2B5EF4-FFF2-40B4-BE49-F238E27FC236}">
                <a16:creationId xmlns:a16="http://schemas.microsoft.com/office/drawing/2014/main" id="{B9C683D9-0878-EBCB-79AF-2DD6DDB98EEE}"/>
              </a:ext>
            </a:extLst>
          </p:cNvPr>
          <p:cNvSpPr>
            <a:spLocks noGrp="1"/>
          </p:cNvSpPr>
          <p:nvPr>
            <p:ph idx="1"/>
          </p:nvPr>
        </p:nvSpPr>
        <p:spPr>
          <a:xfrm>
            <a:off x="335658" y="1202267"/>
            <a:ext cx="11424541" cy="5266265"/>
          </a:xfrm>
        </p:spPr>
        <p:txBody>
          <a:bodyPr>
            <a:normAutofit/>
          </a:bodyPr>
          <a:lstStyle/>
          <a:p>
            <a:pPr lvl="1" algn="just"/>
            <a:r>
              <a:rPr lang="en-US" sz="3200" dirty="0"/>
              <a:t>Every embedded system design is expected to have a functionality that solves the problem it was designed for. More than a constraint, this is a </a:t>
            </a:r>
            <a:r>
              <a:rPr lang="en-US" sz="3200" b="1" u="sng" dirty="0"/>
              <a:t>design requirement</a:t>
            </a:r>
            <a:r>
              <a:rPr lang="en-US" sz="3200" dirty="0"/>
              <a:t>.</a:t>
            </a:r>
          </a:p>
          <a:p>
            <a:pPr lvl="1" algn="just"/>
            <a:r>
              <a:rPr lang="en-US" sz="3200" dirty="0"/>
              <a:t>The task of verifying the functionality of the hardware and software components of an embedded system falls in the category of NP-hard problems (problems for which a proposed solution can be verified quickly). The most commonly used methods include the following:</a:t>
            </a:r>
          </a:p>
        </p:txBody>
      </p:sp>
    </p:spTree>
    <p:extLst>
      <p:ext uri="{BB962C8B-B14F-4D97-AF65-F5344CB8AC3E}">
        <p14:creationId xmlns:p14="http://schemas.microsoft.com/office/powerpoint/2010/main" val="90512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1CC22-E0CE-294E-5DF0-C37D86961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9F722-DBA7-2423-D64D-E84964AB8528}"/>
              </a:ext>
            </a:extLst>
          </p:cNvPr>
          <p:cNvSpPr>
            <a:spLocks noGrp="1"/>
          </p:cNvSpPr>
          <p:nvPr>
            <p:ph type="title"/>
          </p:nvPr>
        </p:nvSpPr>
        <p:spPr>
          <a:xfrm>
            <a:off x="224367" y="330200"/>
            <a:ext cx="11743266" cy="872068"/>
          </a:xfrm>
        </p:spPr>
        <p:txBody>
          <a:bodyPr>
            <a:normAutofit/>
          </a:bodyPr>
          <a:lstStyle/>
          <a:p>
            <a:pPr algn="just"/>
            <a:r>
              <a:rPr lang="en-PH" sz="3600" dirty="0"/>
              <a:t>1.5.1 functionality</a:t>
            </a:r>
          </a:p>
        </p:txBody>
      </p:sp>
      <p:sp>
        <p:nvSpPr>
          <p:cNvPr id="3" name="Content Placeholder 6">
            <a:extLst>
              <a:ext uri="{FF2B5EF4-FFF2-40B4-BE49-F238E27FC236}">
                <a16:creationId xmlns:a16="http://schemas.microsoft.com/office/drawing/2014/main" id="{21FB05AF-C752-93B8-E6AE-E4E57BCCBE96}"/>
              </a:ext>
            </a:extLst>
          </p:cNvPr>
          <p:cNvSpPr>
            <a:spLocks noGrp="1"/>
          </p:cNvSpPr>
          <p:nvPr>
            <p:ph idx="1"/>
          </p:nvPr>
        </p:nvSpPr>
        <p:spPr>
          <a:xfrm>
            <a:off x="335658" y="1202267"/>
            <a:ext cx="11424541" cy="5266265"/>
          </a:xfrm>
        </p:spPr>
        <p:txBody>
          <a:bodyPr>
            <a:normAutofit/>
          </a:bodyPr>
          <a:lstStyle/>
          <a:p>
            <a:pPr lvl="1" algn="just"/>
            <a:r>
              <a:rPr lang="en-US" sz="3200" b="1" u="sng" dirty="0"/>
              <a:t>Behavioral Simulation</a:t>
            </a:r>
            <a:r>
              <a:rPr lang="en-US" sz="3200" dirty="0"/>
              <a:t>: The system is described by a behavioral model and suitable tools are used to simulate the model.</a:t>
            </a:r>
          </a:p>
          <a:p>
            <a:pPr lvl="1" algn="just"/>
            <a:r>
              <a:rPr lang="en-US" sz="3200" b="1" u="sng" dirty="0"/>
              <a:t>Logic- and circuit-level Simulation</a:t>
            </a:r>
            <a:r>
              <a:rPr lang="en-US" sz="3200" dirty="0"/>
              <a:t>: These methods apply to dedicated hardware components of the system.</a:t>
            </a:r>
          </a:p>
          <a:p>
            <a:pPr lvl="1" algn="just"/>
            <a:r>
              <a:rPr lang="en-US" sz="3200" b="1" u="sng" dirty="0"/>
              <a:t>Processor Simulation</a:t>
            </a:r>
            <a:r>
              <a:rPr lang="en-US" sz="3200" dirty="0"/>
              <a:t>: This method uses programs written to simulate the functionality of software developed for a target processor or microcontroller on a personal computer or workstation. </a:t>
            </a:r>
          </a:p>
        </p:txBody>
      </p:sp>
    </p:spTree>
    <p:extLst>
      <p:ext uri="{BB962C8B-B14F-4D97-AF65-F5344CB8AC3E}">
        <p14:creationId xmlns:p14="http://schemas.microsoft.com/office/powerpoint/2010/main" val="7414546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3946-4499-CFDF-9A4C-90C5A97D2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841DF0-932B-D101-4B79-8295F5553D15}"/>
              </a:ext>
            </a:extLst>
          </p:cNvPr>
          <p:cNvSpPr>
            <a:spLocks noGrp="1"/>
          </p:cNvSpPr>
          <p:nvPr>
            <p:ph type="title"/>
          </p:nvPr>
        </p:nvSpPr>
        <p:spPr>
          <a:xfrm>
            <a:off x="224367" y="330200"/>
            <a:ext cx="11743266" cy="872068"/>
          </a:xfrm>
        </p:spPr>
        <p:txBody>
          <a:bodyPr>
            <a:normAutofit/>
          </a:bodyPr>
          <a:lstStyle/>
          <a:p>
            <a:pPr algn="just"/>
            <a:r>
              <a:rPr lang="en-PH" sz="3600" dirty="0"/>
              <a:t>1.5.1 functionality</a:t>
            </a:r>
          </a:p>
        </p:txBody>
      </p:sp>
      <p:sp>
        <p:nvSpPr>
          <p:cNvPr id="3" name="Content Placeholder 6">
            <a:extLst>
              <a:ext uri="{FF2B5EF4-FFF2-40B4-BE49-F238E27FC236}">
                <a16:creationId xmlns:a16="http://schemas.microsoft.com/office/drawing/2014/main" id="{31F006C4-709A-27B3-253D-9AB4DB2A9BAF}"/>
              </a:ext>
            </a:extLst>
          </p:cNvPr>
          <p:cNvSpPr>
            <a:spLocks noGrp="1"/>
          </p:cNvSpPr>
          <p:nvPr>
            <p:ph idx="1"/>
          </p:nvPr>
        </p:nvSpPr>
        <p:spPr>
          <a:xfrm>
            <a:off x="335658" y="1202267"/>
            <a:ext cx="11424541" cy="5266265"/>
          </a:xfrm>
        </p:spPr>
        <p:txBody>
          <a:bodyPr>
            <a:normAutofit lnSpcReduction="10000"/>
          </a:bodyPr>
          <a:lstStyle/>
          <a:p>
            <a:pPr lvl="1" algn="just"/>
            <a:r>
              <a:rPr lang="en-US" sz="3200" b="1" u="sng" dirty="0"/>
              <a:t>JTAG Debuggers</a:t>
            </a:r>
            <a:r>
              <a:rPr lang="en-US" sz="3200" dirty="0"/>
              <a:t>: JTAG is an acronym for Joint Test Action Group, the name given to the Standard Test Access Port and Boundary Scan Architecture for test access ports in digital circuits.</a:t>
            </a:r>
          </a:p>
          <a:p>
            <a:pPr lvl="1" algn="just"/>
            <a:r>
              <a:rPr lang="en-US" sz="3200" b="1" u="sng" dirty="0"/>
              <a:t>In-circuit Emulation (ICE)</a:t>
            </a:r>
            <a:r>
              <a:rPr lang="en-US" sz="3200" dirty="0"/>
              <a:t>: Hardware Emulation is the process of imitating the behavior of a hardware component with another one for debugging purposes.</a:t>
            </a:r>
          </a:p>
          <a:p>
            <a:pPr lvl="1" algn="just"/>
            <a:r>
              <a:rPr lang="en-US" sz="3200" b="1" u="sng" dirty="0"/>
              <a:t>Other Verification Tools</a:t>
            </a:r>
            <a:r>
              <a:rPr lang="en-US" sz="3200" dirty="0"/>
              <a:t>: Other tools used for embedded system verification include Background Mode Emulators (BMEs) and ROM Monitors.</a:t>
            </a:r>
          </a:p>
        </p:txBody>
      </p:sp>
    </p:spTree>
    <p:extLst>
      <p:ext uri="{BB962C8B-B14F-4D97-AF65-F5344CB8AC3E}">
        <p14:creationId xmlns:p14="http://schemas.microsoft.com/office/powerpoint/2010/main" val="3709644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013F0-D976-C125-AFE6-392290CDD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5731C-47EB-2695-EB6F-4D49DC6F9236}"/>
              </a:ext>
            </a:extLst>
          </p:cNvPr>
          <p:cNvSpPr>
            <a:spLocks noGrp="1"/>
          </p:cNvSpPr>
          <p:nvPr>
            <p:ph type="title"/>
          </p:nvPr>
        </p:nvSpPr>
        <p:spPr>
          <a:xfrm>
            <a:off x="224367" y="330200"/>
            <a:ext cx="11743266" cy="872068"/>
          </a:xfrm>
        </p:spPr>
        <p:txBody>
          <a:bodyPr>
            <a:normAutofit/>
          </a:bodyPr>
          <a:lstStyle/>
          <a:p>
            <a:pPr algn="just"/>
            <a:r>
              <a:rPr lang="en-PH" sz="3600" dirty="0"/>
              <a:t>1.5.2 Cost</a:t>
            </a:r>
          </a:p>
        </p:txBody>
      </p:sp>
      <mc:AlternateContent xmlns:mc="http://schemas.openxmlformats.org/markup-compatibility/2006" xmlns:a14="http://schemas.microsoft.com/office/drawing/2010/main">
        <mc:Choice Requires="a14">
          <p:sp>
            <p:nvSpPr>
              <p:cNvPr id="3" name="Content Placeholder 6">
                <a:extLst>
                  <a:ext uri="{FF2B5EF4-FFF2-40B4-BE49-F238E27FC236}">
                    <a16:creationId xmlns:a16="http://schemas.microsoft.com/office/drawing/2014/main" id="{DD1BC623-AF34-E901-BF4F-CB1164209229}"/>
                  </a:ext>
                </a:extLst>
              </p:cNvPr>
              <p:cNvSpPr>
                <a:spLocks noGrp="1"/>
              </p:cNvSpPr>
              <p:nvPr>
                <p:ph idx="1"/>
              </p:nvPr>
            </p:nvSpPr>
            <p:spPr>
              <a:xfrm>
                <a:off x="335658" y="1202267"/>
                <a:ext cx="11424541" cy="5266265"/>
              </a:xfrm>
            </p:spPr>
            <p:txBody>
              <a:bodyPr>
                <a:normAutofit/>
              </a:bodyPr>
              <a:lstStyle/>
              <a:p>
                <a:pPr lvl="1" algn="just"/>
                <a:r>
                  <a:rPr lang="en-US" sz="3200" dirty="0"/>
                  <a:t>Developing an embedded system from scratch is a </a:t>
                </a:r>
                <a:r>
                  <a:rPr lang="en-US" sz="3200" b="1" u="sng" dirty="0"/>
                  <a:t>costly</a:t>
                </a:r>
                <a:r>
                  <a:rPr lang="en-US" sz="3200" dirty="0"/>
                  <a:t> process. In a broad sense, the total cost C</a:t>
                </a:r>
                <a:r>
                  <a:rPr lang="en-US" sz="3200" baseline="-25000" dirty="0"/>
                  <a:t>T</a:t>
                </a:r>
                <a:r>
                  <a:rPr lang="en-US" sz="3200" dirty="0"/>
                  <a:t> of producing a certain volume V of units an embedded system can be obtained as, </a:t>
                </a:r>
                <a14:m>
                  <m:oMath xmlns:m="http://schemas.openxmlformats.org/officeDocument/2006/math">
                    <m:r>
                      <a:rPr lang="en-PH" sz="3200" b="1" i="0" u="sng" smtClean="0">
                        <a:latin typeface="Cambria Math" panose="02040503050406030204" pitchFamily="18" charset="0"/>
                      </a:rPr>
                      <m:t>𝐂</m:t>
                    </m:r>
                    <m:r>
                      <a:rPr lang="en-PH" sz="3200" b="1" i="1" u="sng" baseline="-25000" smtClean="0">
                        <a:latin typeface="Cambria Math" panose="02040503050406030204" pitchFamily="18" charset="0"/>
                      </a:rPr>
                      <m:t>𝑻</m:t>
                    </m:r>
                    <m:r>
                      <a:rPr lang="en-US" sz="3200" b="1" i="1" u="sng" smtClean="0">
                        <a:latin typeface="Cambria Math" panose="02040503050406030204" pitchFamily="18" charset="0"/>
                      </a:rPr>
                      <m:t>=</m:t>
                    </m:r>
                    <m:r>
                      <a:rPr lang="en-PH" sz="3200" b="1" i="1" u="sng" smtClean="0">
                        <a:latin typeface="Cambria Math" panose="02040503050406030204" pitchFamily="18" charset="0"/>
                      </a:rPr>
                      <m:t>𝑵𝑹𝑬</m:t>
                    </m:r>
                    <m:r>
                      <a:rPr lang="en-PH" sz="3200" b="1" i="1" u="sng" smtClean="0">
                        <a:latin typeface="Cambria Math" panose="02040503050406030204" pitchFamily="18" charset="0"/>
                      </a:rPr>
                      <m:t>+(</m:t>
                    </m:r>
                    <m:r>
                      <a:rPr lang="en-PH" sz="3200" b="1" i="1" u="sng" smtClean="0">
                        <a:latin typeface="Cambria Math" panose="02040503050406030204" pitchFamily="18" charset="0"/>
                      </a:rPr>
                      <m:t>𝑹𝑷</m:t>
                    </m:r>
                    <m:r>
                      <a:rPr lang="en-PH" sz="3200" b="1" i="1" u="sng" smtClean="0">
                        <a:latin typeface="Cambria Math" panose="02040503050406030204" pitchFamily="18" charset="0"/>
                      </a:rPr>
                      <m:t>∗</m:t>
                    </m:r>
                    <m:r>
                      <a:rPr lang="en-PH" sz="3200" b="1" i="1" u="sng" smtClean="0">
                        <a:latin typeface="Cambria Math" panose="02040503050406030204" pitchFamily="18" charset="0"/>
                      </a:rPr>
                      <m:t>𝑽</m:t>
                    </m:r>
                    <m:r>
                      <a:rPr lang="en-PH" sz="3200" b="1" i="1" u="sng" smtClean="0">
                        <a:latin typeface="Cambria Math" panose="02040503050406030204" pitchFamily="18" charset="0"/>
                      </a:rPr>
                      <m:t>)</m:t>
                    </m:r>
                  </m:oMath>
                </a14:m>
                <a:r>
                  <a:rPr lang="en-US" sz="3200" dirty="0"/>
                  <a:t> where NRE represent the Non-recurring Engineering (NRE) costs for that product, (RP) represents the Variable or Recurrent Production costs , and the production volume V is the number of marketed units.</a:t>
                </a:r>
              </a:p>
            </p:txBody>
          </p:sp>
        </mc:Choice>
        <mc:Fallback xmlns="">
          <p:sp>
            <p:nvSpPr>
              <p:cNvPr id="3" name="Content Placeholder 6">
                <a:extLst>
                  <a:ext uri="{FF2B5EF4-FFF2-40B4-BE49-F238E27FC236}">
                    <a16:creationId xmlns:a16="http://schemas.microsoft.com/office/drawing/2014/main" id="{DD1BC623-AF34-E901-BF4F-CB1164209229}"/>
                  </a:ext>
                </a:extLst>
              </p:cNvPr>
              <p:cNvSpPr>
                <a:spLocks noGrp="1" noRot="1" noChangeAspect="1" noMove="1" noResize="1" noEditPoints="1" noAdjustHandles="1" noChangeArrowheads="1" noChangeShapeType="1" noTextEdit="1"/>
              </p:cNvSpPr>
              <p:nvPr>
                <p:ph idx="1"/>
              </p:nvPr>
            </p:nvSpPr>
            <p:spPr>
              <a:xfrm>
                <a:off x="335658" y="1202267"/>
                <a:ext cx="11424541" cy="5266265"/>
              </a:xfrm>
              <a:blipFill>
                <a:blip r:embed="rId2"/>
                <a:stretch>
                  <a:fillRect r="-1387"/>
                </a:stretch>
              </a:blipFill>
            </p:spPr>
            <p:txBody>
              <a:bodyPr/>
              <a:lstStyle/>
              <a:p>
                <a:r>
                  <a:rPr lang="en-PH">
                    <a:noFill/>
                  </a:rPr>
                  <a:t> </a:t>
                </a:r>
              </a:p>
            </p:txBody>
          </p:sp>
        </mc:Fallback>
      </mc:AlternateContent>
    </p:spTree>
    <p:extLst>
      <p:ext uri="{BB962C8B-B14F-4D97-AF65-F5344CB8AC3E}">
        <p14:creationId xmlns:p14="http://schemas.microsoft.com/office/powerpoint/2010/main" val="18120073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461B7-B177-8D0D-CBA0-9BB948E3B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A729D-A8C0-DF67-7782-06BCF121C042}"/>
              </a:ext>
            </a:extLst>
          </p:cNvPr>
          <p:cNvSpPr>
            <a:spLocks noGrp="1"/>
          </p:cNvSpPr>
          <p:nvPr>
            <p:ph type="title"/>
          </p:nvPr>
        </p:nvSpPr>
        <p:spPr>
          <a:xfrm>
            <a:off x="224367" y="330200"/>
            <a:ext cx="11743266" cy="872068"/>
          </a:xfrm>
        </p:spPr>
        <p:txBody>
          <a:bodyPr>
            <a:normAutofit/>
          </a:bodyPr>
          <a:lstStyle/>
          <a:p>
            <a:pPr algn="just"/>
            <a:r>
              <a:rPr lang="en-PH" sz="3600" dirty="0"/>
              <a:t>1.5.2 Cost</a:t>
            </a:r>
          </a:p>
        </p:txBody>
      </p:sp>
      <mc:AlternateContent xmlns:mc="http://schemas.openxmlformats.org/markup-compatibility/2006" xmlns:a14="http://schemas.microsoft.com/office/drawing/2010/main">
        <mc:Choice Requires="a14">
          <p:sp>
            <p:nvSpPr>
              <p:cNvPr id="3" name="Content Placeholder 6">
                <a:extLst>
                  <a:ext uri="{FF2B5EF4-FFF2-40B4-BE49-F238E27FC236}">
                    <a16:creationId xmlns:a16="http://schemas.microsoft.com/office/drawing/2014/main" id="{3076D563-E620-7AF5-610A-EC1EBFED5047}"/>
                  </a:ext>
                </a:extLst>
              </p:cNvPr>
              <p:cNvSpPr>
                <a:spLocks noGrp="1"/>
              </p:cNvSpPr>
              <p:nvPr>
                <p:ph idx="1"/>
              </p:nvPr>
            </p:nvSpPr>
            <p:spPr>
              <a:xfrm>
                <a:off x="335658" y="1202267"/>
                <a:ext cx="11424541" cy="5266265"/>
              </a:xfrm>
            </p:spPr>
            <p:txBody>
              <a:bodyPr>
                <a:normAutofit fontScale="92500" lnSpcReduction="20000"/>
              </a:bodyPr>
              <a:lstStyle/>
              <a:p>
                <a:pPr lvl="1" algn="just"/>
                <a:r>
                  <a:rPr lang="en-PH" sz="3200" dirty="0"/>
                  <a:t>Example:</a:t>
                </a:r>
              </a:p>
              <a:p>
                <a:pPr lvl="2" algn="just"/>
                <a:r>
                  <a:rPr lang="en-US" sz="3200" dirty="0"/>
                  <a:t>Apple reported selling 125,000 iPods in the first quarter 2002 with the given of NRE set to $10M and production cost of each unit is $120, compute for the total cost.</a:t>
                </a:r>
              </a:p>
              <a:p>
                <a:pPr lvl="2" algn="just"/>
                <a:r>
                  <a:rPr lang="en-US" sz="3200" dirty="0"/>
                  <a:t>Given: NRE = 10M, RP = 120, V = 125,000 Find: C</a:t>
                </a:r>
                <a:r>
                  <a:rPr lang="en-US" sz="3200" baseline="-25000" dirty="0"/>
                  <a:t>T</a:t>
                </a:r>
              </a:p>
              <a:p>
                <a:pPr lvl="2" algn="just"/>
                <a:r>
                  <a:rPr lang="en-US" sz="3200" dirty="0"/>
                  <a:t>Solution: </a:t>
                </a:r>
                <a:endParaRPr lang="en-PH" sz="2800" b="1" u="sng" dirty="0">
                  <a:latin typeface="Cambria Math" panose="02040503050406030204" pitchFamily="18" charset="0"/>
                </a:endParaRPr>
              </a:p>
              <a:p>
                <a:pPr lvl="3" algn="just"/>
                <a14:m>
                  <m:oMath xmlns:m="http://schemas.openxmlformats.org/officeDocument/2006/math">
                    <m:r>
                      <a:rPr lang="en-PH" sz="2600" b="1" u="sng">
                        <a:latin typeface="Cambria Math" panose="02040503050406030204" pitchFamily="18" charset="0"/>
                      </a:rPr>
                      <m:t>𝐂</m:t>
                    </m:r>
                    <m:r>
                      <a:rPr lang="en-PH" sz="2600" b="1" i="1" u="sng" baseline="-25000">
                        <a:latin typeface="Cambria Math" panose="02040503050406030204" pitchFamily="18" charset="0"/>
                      </a:rPr>
                      <m:t>𝑻</m:t>
                    </m:r>
                    <m:r>
                      <a:rPr lang="en-US" sz="2600" b="1" i="1" u="sng">
                        <a:latin typeface="Cambria Math" panose="02040503050406030204" pitchFamily="18" charset="0"/>
                      </a:rPr>
                      <m:t>=</m:t>
                    </m:r>
                    <m:r>
                      <a:rPr lang="en-PH" sz="2600" b="1" i="1" u="sng">
                        <a:latin typeface="Cambria Math" panose="02040503050406030204" pitchFamily="18" charset="0"/>
                      </a:rPr>
                      <m:t>𝑵𝑹𝑬</m:t>
                    </m:r>
                    <m:r>
                      <a:rPr lang="en-PH" sz="2600" b="1" i="1" u="sng">
                        <a:latin typeface="Cambria Math" panose="02040503050406030204" pitchFamily="18" charset="0"/>
                      </a:rPr>
                      <m:t>+(</m:t>
                    </m:r>
                    <m:r>
                      <a:rPr lang="en-PH" sz="2600" b="1" i="1" u="sng">
                        <a:latin typeface="Cambria Math" panose="02040503050406030204" pitchFamily="18" charset="0"/>
                      </a:rPr>
                      <m:t>𝑹𝑷</m:t>
                    </m:r>
                    <m:r>
                      <a:rPr lang="en-PH" sz="2600" b="1" i="1" u="sng">
                        <a:latin typeface="Cambria Math" panose="02040503050406030204" pitchFamily="18" charset="0"/>
                      </a:rPr>
                      <m:t>∗</m:t>
                    </m:r>
                    <m:r>
                      <a:rPr lang="en-PH" sz="2600" b="1" i="1" u="sng">
                        <a:latin typeface="Cambria Math" panose="02040503050406030204" pitchFamily="18" charset="0"/>
                      </a:rPr>
                      <m:t>𝑽</m:t>
                    </m:r>
                    <m:r>
                      <a:rPr lang="en-PH" sz="2600" b="1" i="1" u="sng">
                        <a:latin typeface="Cambria Math" panose="02040503050406030204" pitchFamily="18" charset="0"/>
                      </a:rPr>
                      <m:t>)</m:t>
                    </m:r>
                  </m:oMath>
                </a14:m>
                <a:r>
                  <a:rPr lang="en-US" sz="2600" dirty="0"/>
                  <a:t> </a:t>
                </a:r>
              </a:p>
              <a:p>
                <a:pPr lvl="3" algn="just"/>
                <a14:m>
                  <m:oMath xmlns:m="http://schemas.openxmlformats.org/officeDocument/2006/math">
                    <m:r>
                      <a:rPr lang="en-PH" sz="2800" b="1" u="sng">
                        <a:latin typeface="Cambria Math" panose="02040503050406030204" pitchFamily="18" charset="0"/>
                      </a:rPr>
                      <m:t>𝐂</m:t>
                    </m:r>
                    <m:r>
                      <a:rPr lang="en-PH" sz="2800" b="1" i="1" u="sng" baseline="-25000">
                        <a:latin typeface="Cambria Math" panose="02040503050406030204" pitchFamily="18" charset="0"/>
                      </a:rPr>
                      <m:t>𝑻</m:t>
                    </m:r>
                    <m:r>
                      <a:rPr lang="en-US" sz="2800" b="1" i="1" u="sng">
                        <a:latin typeface="Cambria Math" panose="02040503050406030204" pitchFamily="18" charset="0"/>
                      </a:rPr>
                      <m:t>=</m:t>
                    </m:r>
                    <m:r>
                      <a:rPr lang="en-PH" sz="2800" b="1" i="1" u="sng" smtClean="0">
                        <a:latin typeface="Cambria Math" panose="02040503050406030204" pitchFamily="18" charset="0"/>
                      </a:rPr>
                      <m:t>𝟏𝟎</m:t>
                    </m:r>
                    <m:r>
                      <a:rPr lang="en-PH" sz="2800" b="1" i="1" u="sng" smtClean="0">
                        <a:latin typeface="Cambria Math" panose="02040503050406030204" pitchFamily="18" charset="0"/>
                      </a:rPr>
                      <m:t>𝑴</m:t>
                    </m:r>
                    <m:r>
                      <a:rPr lang="en-PH" sz="2800" b="1" i="1" u="sng">
                        <a:latin typeface="Cambria Math" panose="02040503050406030204" pitchFamily="18" charset="0"/>
                      </a:rPr>
                      <m:t>+(</m:t>
                    </m:r>
                    <m:r>
                      <a:rPr lang="en-PH" sz="2800" b="1" i="1" u="sng" smtClean="0">
                        <a:latin typeface="Cambria Math" panose="02040503050406030204" pitchFamily="18" charset="0"/>
                      </a:rPr>
                      <m:t>𝟏𝟐𝟎</m:t>
                    </m:r>
                    <m:r>
                      <a:rPr lang="en-PH" sz="2800" b="1" i="1" u="sng">
                        <a:latin typeface="Cambria Math" panose="02040503050406030204" pitchFamily="18" charset="0"/>
                      </a:rPr>
                      <m:t>∗</m:t>
                    </m:r>
                    <m:r>
                      <a:rPr lang="en-PH" sz="2800" b="1" i="1" u="sng" smtClean="0">
                        <a:latin typeface="Cambria Math" panose="02040503050406030204" pitchFamily="18" charset="0"/>
                      </a:rPr>
                      <m:t>𝟏𝟐𝟓</m:t>
                    </m:r>
                    <m:r>
                      <a:rPr lang="en-PH" sz="2800" b="1" i="1" u="sng" smtClean="0">
                        <a:latin typeface="Cambria Math" panose="02040503050406030204" pitchFamily="18" charset="0"/>
                      </a:rPr>
                      <m:t>,</m:t>
                    </m:r>
                    <m:r>
                      <a:rPr lang="en-PH" sz="2800" b="1" i="1" u="sng" smtClean="0">
                        <a:latin typeface="Cambria Math" panose="02040503050406030204" pitchFamily="18" charset="0"/>
                      </a:rPr>
                      <m:t>𝟎𝟎𝟎</m:t>
                    </m:r>
                    <m:r>
                      <a:rPr lang="en-PH" sz="2800" b="1" i="1" u="sng">
                        <a:latin typeface="Cambria Math" panose="02040503050406030204" pitchFamily="18" charset="0"/>
                      </a:rPr>
                      <m:t>)</m:t>
                    </m:r>
                  </m:oMath>
                </a14:m>
                <a:endParaRPr lang="en-US" sz="2700" dirty="0"/>
              </a:p>
              <a:p>
                <a:pPr lvl="3" algn="just"/>
                <a14:m>
                  <m:oMath xmlns:m="http://schemas.openxmlformats.org/officeDocument/2006/math">
                    <m:r>
                      <a:rPr lang="en-PH" sz="2800" b="1" u="sng">
                        <a:latin typeface="Cambria Math" panose="02040503050406030204" pitchFamily="18" charset="0"/>
                      </a:rPr>
                      <m:t>𝐂</m:t>
                    </m:r>
                    <m:r>
                      <a:rPr lang="en-PH" sz="2800" b="1" i="1" u="sng" baseline="-25000">
                        <a:latin typeface="Cambria Math" panose="02040503050406030204" pitchFamily="18" charset="0"/>
                      </a:rPr>
                      <m:t>𝑻</m:t>
                    </m:r>
                    <m:r>
                      <a:rPr lang="en-US" sz="2800" b="1" i="1" u="sng">
                        <a:latin typeface="Cambria Math" panose="02040503050406030204" pitchFamily="18" charset="0"/>
                      </a:rPr>
                      <m:t>=</m:t>
                    </m:r>
                    <m:r>
                      <a:rPr lang="en-PH" sz="2800" b="1" i="1" u="sng" smtClean="0">
                        <a:latin typeface="Cambria Math" panose="02040503050406030204" pitchFamily="18" charset="0"/>
                      </a:rPr>
                      <m:t>𝟏𝟎</m:t>
                    </m:r>
                    <m:r>
                      <a:rPr lang="en-PH" sz="2800" b="1" i="1" u="sng" smtClean="0">
                        <a:latin typeface="Cambria Math" panose="02040503050406030204" pitchFamily="18" charset="0"/>
                      </a:rPr>
                      <m:t>𝑴</m:t>
                    </m:r>
                    <m:r>
                      <a:rPr lang="en-PH" sz="2800" b="1" i="1" u="sng">
                        <a:latin typeface="Cambria Math" panose="02040503050406030204" pitchFamily="18" charset="0"/>
                      </a:rPr>
                      <m:t>+</m:t>
                    </m:r>
                    <m:r>
                      <a:rPr lang="en-PH" sz="2800" b="1" i="1" u="sng" smtClean="0">
                        <a:latin typeface="Cambria Math" panose="02040503050406030204" pitchFamily="18" charset="0"/>
                      </a:rPr>
                      <m:t>𝟏𝟓</m:t>
                    </m:r>
                    <m:r>
                      <a:rPr lang="en-PH" sz="2800" b="1" i="1" u="sng" smtClean="0">
                        <a:latin typeface="Cambria Math" panose="02040503050406030204" pitchFamily="18" charset="0"/>
                      </a:rPr>
                      <m:t>𝑴</m:t>
                    </m:r>
                  </m:oMath>
                </a14:m>
                <a:endParaRPr lang="en-US" sz="2700" dirty="0"/>
              </a:p>
              <a:p>
                <a:pPr lvl="3" algn="just"/>
                <a14:m>
                  <m:oMath xmlns:m="http://schemas.openxmlformats.org/officeDocument/2006/math">
                    <m:r>
                      <a:rPr lang="en-PH" sz="2800" b="1" u="sng">
                        <a:latin typeface="Cambria Math" panose="02040503050406030204" pitchFamily="18" charset="0"/>
                      </a:rPr>
                      <m:t>𝐂</m:t>
                    </m:r>
                    <m:r>
                      <a:rPr lang="en-PH" sz="2800" b="1" i="1" u="sng" baseline="-25000">
                        <a:latin typeface="Cambria Math" panose="02040503050406030204" pitchFamily="18" charset="0"/>
                      </a:rPr>
                      <m:t>𝑻</m:t>
                    </m:r>
                    <m:r>
                      <a:rPr lang="en-US" sz="2800" b="1" i="1" u="sng">
                        <a:latin typeface="Cambria Math" panose="02040503050406030204" pitchFamily="18" charset="0"/>
                      </a:rPr>
                      <m:t>=</m:t>
                    </m:r>
                    <m:r>
                      <a:rPr lang="en-PH" sz="2800" b="1" i="1" u="sng" smtClean="0">
                        <a:latin typeface="Cambria Math" panose="02040503050406030204" pitchFamily="18" charset="0"/>
                      </a:rPr>
                      <m:t>$</m:t>
                    </m:r>
                    <m:r>
                      <a:rPr lang="en-PH" sz="2800" b="1" i="1" u="sng" smtClean="0">
                        <a:latin typeface="Cambria Math" panose="02040503050406030204" pitchFamily="18" charset="0"/>
                      </a:rPr>
                      <m:t>𝟐𝟓</m:t>
                    </m:r>
                    <m:r>
                      <a:rPr lang="en-PH" sz="2800" b="1" i="1" u="sng" smtClean="0">
                        <a:latin typeface="Cambria Math" panose="02040503050406030204" pitchFamily="18" charset="0"/>
                      </a:rPr>
                      <m:t>𝑴</m:t>
                    </m:r>
                  </m:oMath>
                </a14:m>
                <a:endParaRPr lang="en-US" sz="2700" dirty="0"/>
              </a:p>
              <a:p>
                <a:pPr lvl="2" algn="just"/>
                <a:endParaRPr lang="en-US" sz="2800" dirty="0"/>
              </a:p>
            </p:txBody>
          </p:sp>
        </mc:Choice>
        <mc:Fallback xmlns="">
          <p:sp>
            <p:nvSpPr>
              <p:cNvPr id="3" name="Content Placeholder 6">
                <a:extLst>
                  <a:ext uri="{FF2B5EF4-FFF2-40B4-BE49-F238E27FC236}">
                    <a16:creationId xmlns:a16="http://schemas.microsoft.com/office/drawing/2014/main" id="{3076D563-E620-7AF5-610A-EC1EBFED5047}"/>
                  </a:ext>
                </a:extLst>
              </p:cNvPr>
              <p:cNvSpPr>
                <a:spLocks noGrp="1" noRot="1" noChangeAspect="1" noMove="1" noResize="1" noEditPoints="1" noAdjustHandles="1" noChangeArrowheads="1" noChangeShapeType="1" noTextEdit="1"/>
              </p:cNvSpPr>
              <p:nvPr>
                <p:ph idx="1"/>
              </p:nvPr>
            </p:nvSpPr>
            <p:spPr>
              <a:xfrm>
                <a:off x="335658" y="1202267"/>
                <a:ext cx="11424541" cy="5266265"/>
              </a:xfrm>
              <a:blipFill>
                <a:blip r:embed="rId2"/>
                <a:stretch>
                  <a:fillRect t="-3935" r="-1281"/>
                </a:stretch>
              </a:blipFill>
            </p:spPr>
            <p:txBody>
              <a:bodyPr/>
              <a:lstStyle/>
              <a:p>
                <a:r>
                  <a:rPr lang="en-PH">
                    <a:noFill/>
                  </a:rPr>
                  <a:t> </a:t>
                </a:r>
              </a:p>
            </p:txBody>
          </p:sp>
        </mc:Fallback>
      </mc:AlternateContent>
    </p:spTree>
    <p:extLst>
      <p:ext uri="{BB962C8B-B14F-4D97-AF65-F5344CB8AC3E}">
        <p14:creationId xmlns:p14="http://schemas.microsoft.com/office/powerpoint/2010/main" val="257503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A8657-D26B-7C8A-21C7-E0C33741B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3C239-BD25-4FB3-C7B4-B55295FAD323}"/>
              </a:ext>
            </a:extLst>
          </p:cNvPr>
          <p:cNvSpPr>
            <a:spLocks noGrp="1"/>
          </p:cNvSpPr>
          <p:nvPr>
            <p:ph type="title"/>
          </p:nvPr>
        </p:nvSpPr>
        <p:spPr>
          <a:xfrm>
            <a:off x="224367" y="330200"/>
            <a:ext cx="11743266" cy="872068"/>
          </a:xfrm>
        </p:spPr>
        <p:txBody>
          <a:bodyPr>
            <a:normAutofit/>
          </a:bodyPr>
          <a:lstStyle/>
          <a:p>
            <a:pPr algn="just"/>
            <a:r>
              <a:rPr lang="en-PH" sz="3600" dirty="0"/>
              <a:t>1.5.2 Cost</a:t>
            </a:r>
          </a:p>
        </p:txBody>
      </p:sp>
      <mc:AlternateContent xmlns:mc="http://schemas.openxmlformats.org/markup-compatibility/2006" xmlns:a14="http://schemas.microsoft.com/office/drawing/2010/main">
        <mc:Choice Requires="a14">
          <p:sp>
            <p:nvSpPr>
              <p:cNvPr id="3" name="Content Placeholder 6">
                <a:extLst>
                  <a:ext uri="{FF2B5EF4-FFF2-40B4-BE49-F238E27FC236}">
                    <a16:creationId xmlns:a16="http://schemas.microsoft.com/office/drawing/2014/main" id="{02F701D1-1BD3-C19C-3B43-E48C6CDBA099}"/>
                  </a:ext>
                </a:extLst>
              </p:cNvPr>
              <p:cNvSpPr>
                <a:spLocks noGrp="1"/>
              </p:cNvSpPr>
              <p:nvPr>
                <p:ph idx="1"/>
              </p:nvPr>
            </p:nvSpPr>
            <p:spPr>
              <a:xfrm>
                <a:off x="335658" y="1202267"/>
                <a:ext cx="11424541" cy="5266265"/>
              </a:xfrm>
            </p:spPr>
            <p:txBody>
              <a:bodyPr>
                <a:normAutofit fontScale="92500" lnSpcReduction="10000"/>
              </a:bodyPr>
              <a:lstStyle/>
              <a:p>
                <a:pPr lvl="1" algn="just"/>
                <a:r>
                  <a:rPr lang="en-PH" sz="3200" dirty="0"/>
                  <a:t>What if we want to know the Unit Cost of iPod of the said batch?</a:t>
                </a:r>
              </a:p>
              <a:p>
                <a:pPr lvl="1" algn="just"/>
                <a14:m>
                  <m:oMath xmlns:m="http://schemas.openxmlformats.org/officeDocument/2006/math">
                    <m:sSub>
                      <m:sSubPr>
                        <m:ctrlPr>
                          <a:rPr lang="en-PH" sz="3200" b="0" i="1" smtClean="0">
                            <a:latin typeface="Cambria Math" panose="02040503050406030204" pitchFamily="18" charset="0"/>
                          </a:rPr>
                        </m:ctrlPr>
                      </m:sSubPr>
                      <m:e>
                        <m:r>
                          <a:rPr lang="en-PH" sz="3200" b="0" i="1" smtClean="0">
                            <a:latin typeface="Cambria Math" panose="02040503050406030204" pitchFamily="18" charset="0"/>
                          </a:rPr>
                          <m:t>𝑈</m:t>
                        </m:r>
                      </m:e>
                      <m:sub>
                        <m:r>
                          <a:rPr lang="en-PH" sz="3200" b="0" i="1" smtClean="0">
                            <a:latin typeface="Cambria Math" panose="02040503050406030204" pitchFamily="18" charset="0"/>
                          </a:rPr>
                          <m:t>𝑐</m:t>
                        </m:r>
                      </m:sub>
                    </m:sSub>
                    <m:r>
                      <a:rPr lang="en-PH" sz="3200" b="0" i="1" smtClean="0">
                        <a:latin typeface="Cambria Math" panose="02040503050406030204" pitchFamily="18" charset="0"/>
                      </a:rPr>
                      <m:t>=</m:t>
                    </m:r>
                    <m:f>
                      <m:fPr>
                        <m:ctrlPr>
                          <a:rPr lang="en-PH" sz="3200" b="0" i="1" smtClean="0">
                            <a:latin typeface="Cambria Math" panose="02040503050406030204" pitchFamily="18" charset="0"/>
                          </a:rPr>
                        </m:ctrlPr>
                      </m:fPr>
                      <m:num>
                        <m:sSub>
                          <m:sSubPr>
                            <m:ctrlPr>
                              <a:rPr lang="en-PH" sz="3200" b="0" i="1" smtClean="0">
                                <a:latin typeface="Cambria Math" panose="02040503050406030204" pitchFamily="18" charset="0"/>
                              </a:rPr>
                            </m:ctrlPr>
                          </m:sSubPr>
                          <m:e>
                            <m:r>
                              <a:rPr lang="en-PH" sz="3200" b="0" i="1" smtClean="0">
                                <a:latin typeface="Cambria Math" panose="02040503050406030204" pitchFamily="18" charset="0"/>
                              </a:rPr>
                              <m:t>𝐶</m:t>
                            </m:r>
                          </m:e>
                          <m:sub>
                            <m:r>
                              <a:rPr lang="en-PH" sz="3200" b="0" i="1" smtClean="0">
                                <a:latin typeface="Cambria Math" panose="02040503050406030204" pitchFamily="18" charset="0"/>
                              </a:rPr>
                              <m:t>𝑡</m:t>
                            </m:r>
                          </m:sub>
                        </m:sSub>
                      </m:num>
                      <m:den>
                        <m:r>
                          <a:rPr lang="en-PH" sz="3200" b="0" i="1" smtClean="0">
                            <a:latin typeface="Cambria Math" panose="02040503050406030204" pitchFamily="18" charset="0"/>
                          </a:rPr>
                          <m:t>𝑉</m:t>
                        </m:r>
                      </m:den>
                    </m:f>
                    <m:r>
                      <a:rPr lang="en-PH" sz="3200" b="0" i="1" smtClean="0">
                        <a:latin typeface="Cambria Math" panose="02040503050406030204" pitchFamily="18" charset="0"/>
                      </a:rPr>
                      <m:t>=</m:t>
                    </m:r>
                    <m:f>
                      <m:fPr>
                        <m:ctrlPr>
                          <a:rPr lang="en-PH" sz="3200" b="0" i="1" smtClean="0">
                            <a:latin typeface="Cambria Math" panose="02040503050406030204" pitchFamily="18" charset="0"/>
                          </a:rPr>
                        </m:ctrlPr>
                      </m:fPr>
                      <m:num>
                        <m:r>
                          <a:rPr lang="en-PH" sz="3200" b="0" i="1" smtClean="0">
                            <a:latin typeface="Cambria Math" panose="02040503050406030204" pitchFamily="18" charset="0"/>
                          </a:rPr>
                          <m:t>𝑁𝑅𝐸</m:t>
                        </m:r>
                      </m:num>
                      <m:den>
                        <m:r>
                          <a:rPr lang="en-PH" sz="3200" b="0" i="1" smtClean="0">
                            <a:latin typeface="Cambria Math" panose="02040503050406030204" pitchFamily="18" charset="0"/>
                          </a:rPr>
                          <m:t>𝑉</m:t>
                        </m:r>
                      </m:den>
                    </m:f>
                    <m:r>
                      <a:rPr lang="en-PH" sz="3200" b="0" i="1" smtClean="0">
                        <a:latin typeface="Cambria Math" panose="02040503050406030204" pitchFamily="18" charset="0"/>
                      </a:rPr>
                      <m:t>+</m:t>
                    </m:r>
                    <m:r>
                      <a:rPr lang="en-PH" sz="3200" b="0" i="1" smtClean="0">
                        <a:latin typeface="Cambria Math" panose="02040503050406030204" pitchFamily="18" charset="0"/>
                      </a:rPr>
                      <m:t>𝑅𝑃</m:t>
                    </m:r>
                  </m:oMath>
                </a14:m>
                <a:endParaRPr lang="en-PH" sz="3200" dirty="0"/>
              </a:p>
              <a:p>
                <a:pPr lvl="1" algn="just"/>
                <a:r>
                  <a:rPr lang="en-PH" sz="3200" dirty="0"/>
                  <a:t>Solution:</a:t>
                </a:r>
              </a:p>
              <a:p>
                <a:pPr lvl="2" algn="just"/>
                <a14:m>
                  <m:oMath xmlns:m="http://schemas.openxmlformats.org/officeDocument/2006/math">
                    <m:sSub>
                      <m:sSubPr>
                        <m:ctrlPr>
                          <a:rPr lang="en-PH" sz="3500" i="1">
                            <a:latin typeface="Cambria Math" panose="02040503050406030204" pitchFamily="18" charset="0"/>
                          </a:rPr>
                        </m:ctrlPr>
                      </m:sSubPr>
                      <m:e>
                        <m:r>
                          <a:rPr lang="en-PH" sz="3500" i="1">
                            <a:latin typeface="Cambria Math" panose="02040503050406030204" pitchFamily="18" charset="0"/>
                          </a:rPr>
                          <m:t>𝑈</m:t>
                        </m:r>
                      </m:e>
                      <m:sub>
                        <m:r>
                          <a:rPr lang="en-PH" sz="3500" i="1">
                            <a:latin typeface="Cambria Math" panose="02040503050406030204" pitchFamily="18" charset="0"/>
                          </a:rPr>
                          <m:t>𝑐</m:t>
                        </m:r>
                      </m:sub>
                    </m:sSub>
                    <m:r>
                      <a:rPr lang="en-PH" sz="3500" i="1">
                        <a:latin typeface="Cambria Math" panose="02040503050406030204" pitchFamily="18" charset="0"/>
                      </a:rPr>
                      <m:t>=</m:t>
                    </m:r>
                    <m:f>
                      <m:fPr>
                        <m:ctrlPr>
                          <a:rPr lang="en-PH" sz="3500" i="1">
                            <a:latin typeface="Cambria Math" panose="02040503050406030204" pitchFamily="18" charset="0"/>
                          </a:rPr>
                        </m:ctrlPr>
                      </m:fPr>
                      <m:num>
                        <m:r>
                          <a:rPr lang="en-PH" sz="3500" i="1">
                            <a:latin typeface="Cambria Math" panose="02040503050406030204" pitchFamily="18" charset="0"/>
                          </a:rPr>
                          <m:t>𝑁𝑅𝐸</m:t>
                        </m:r>
                      </m:num>
                      <m:den>
                        <m:r>
                          <a:rPr lang="en-PH" sz="3500" i="1">
                            <a:latin typeface="Cambria Math" panose="02040503050406030204" pitchFamily="18" charset="0"/>
                          </a:rPr>
                          <m:t>𝑉</m:t>
                        </m:r>
                      </m:den>
                    </m:f>
                    <m:r>
                      <a:rPr lang="en-PH" sz="3500" i="1">
                        <a:latin typeface="Cambria Math" panose="02040503050406030204" pitchFamily="18" charset="0"/>
                      </a:rPr>
                      <m:t>+</m:t>
                    </m:r>
                    <m:r>
                      <a:rPr lang="en-PH" sz="3500" i="1">
                        <a:latin typeface="Cambria Math" panose="02040503050406030204" pitchFamily="18" charset="0"/>
                      </a:rPr>
                      <m:t>𝑅𝑃</m:t>
                    </m:r>
                  </m:oMath>
                </a14:m>
                <a:r>
                  <a:rPr lang="en-PH" sz="3900" dirty="0"/>
                  <a:t> </a:t>
                </a:r>
                <a:endParaRPr lang="en-PH" sz="3500" i="1" dirty="0">
                  <a:latin typeface="Cambria Math" panose="02040503050406030204" pitchFamily="18" charset="0"/>
                </a:endParaRPr>
              </a:p>
              <a:p>
                <a:pPr lvl="2" algn="just"/>
                <a14:m>
                  <m:oMath xmlns:m="http://schemas.openxmlformats.org/officeDocument/2006/math">
                    <m:sSub>
                      <m:sSubPr>
                        <m:ctrlPr>
                          <a:rPr lang="en-PH" sz="3500" i="1">
                            <a:latin typeface="Cambria Math" panose="02040503050406030204" pitchFamily="18" charset="0"/>
                          </a:rPr>
                        </m:ctrlPr>
                      </m:sSubPr>
                      <m:e>
                        <m:r>
                          <a:rPr lang="en-PH" sz="3500" i="1">
                            <a:latin typeface="Cambria Math" panose="02040503050406030204" pitchFamily="18" charset="0"/>
                          </a:rPr>
                          <m:t>𝑈</m:t>
                        </m:r>
                      </m:e>
                      <m:sub>
                        <m:r>
                          <a:rPr lang="en-PH" sz="3500" i="1">
                            <a:latin typeface="Cambria Math" panose="02040503050406030204" pitchFamily="18" charset="0"/>
                          </a:rPr>
                          <m:t>𝑐</m:t>
                        </m:r>
                      </m:sub>
                    </m:sSub>
                    <m:r>
                      <a:rPr lang="en-PH" sz="3500" i="1">
                        <a:latin typeface="Cambria Math" panose="02040503050406030204" pitchFamily="18" charset="0"/>
                      </a:rPr>
                      <m:t>=</m:t>
                    </m:r>
                    <m:f>
                      <m:fPr>
                        <m:ctrlPr>
                          <a:rPr lang="en-PH" sz="3500" i="1">
                            <a:latin typeface="Cambria Math" panose="02040503050406030204" pitchFamily="18" charset="0"/>
                          </a:rPr>
                        </m:ctrlPr>
                      </m:fPr>
                      <m:num>
                        <m:r>
                          <a:rPr lang="en-PH" sz="3500" b="0" i="1" smtClean="0">
                            <a:latin typeface="Cambria Math" panose="02040503050406030204" pitchFamily="18" charset="0"/>
                          </a:rPr>
                          <m:t>10</m:t>
                        </m:r>
                        <m:r>
                          <a:rPr lang="en-PH" sz="3500" b="0" i="1" smtClean="0">
                            <a:latin typeface="Cambria Math" panose="02040503050406030204" pitchFamily="18" charset="0"/>
                          </a:rPr>
                          <m:t>𝑀</m:t>
                        </m:r>
                      </m:num>
                      <m:den>
                        <m:r>
                          <a:rPr lang="en-PH" sz="3500" b="0" i="1" smtClean="0">
                            <a:latin typeface="Cambria Math" panose="02040503050406030204" pitchFamily="18" charset="0"/>
                          </a:rPr>
                          <m:t>125,000</m:t>
                        </m:r>
                      </m:den>
                    </m:f>
                    <m:r>
                      <a:rPr lang="en-PH" sz="3500" i="1">
                        <a:latin typeface="Cambria Math" panose="02040503050406030204" pitchFamily="18" charset="0"/>
                      </a:rPr>
                      <m:t>+</m:t>
                    </m:r>
                    <m:r>
                      <a:rPr lang="en-PH" sz="3500" b="0" i="1" smtClean="0">
                        <a:latin typeface="Cambria Math" panose="02040503050406030204" pitchFamily="18" charset="0"/>
                      </a:rPr>
                      <m:t>120</m:t>
                    </m:r>
                  </m:oMath>
                </a14:m>
                <a:r>
                  <a:rPr lang="en-PH" sz="3900" dirty="0"/>
                  <a:t> </a:t>
                </a:r>
                <a:endParaRPr lang="en-PH" sz="3900" i="1" dirty="0">
                  <a:latin typeface="Cambria Math" panose="02040503050406030204" pitchFamily="18" charset="0"/>
                </a:endParaRPr>
              </a:p>
              <a:p>
                <a:pPr lvl="2" algn="just"/>
                <a14:m>
                  <m:oMath xmlns:m="http://schemas.openxmlformats.org/officeDocument/2006/math">
                    <m:sSub>
                      <m:sSubPr>
                        <m:ctrlPr>
                          <a:rPr lang="en-PH" sz="3500" i="1">
                            <a:latin typeface="Cambria Math" panose="02040503050406030204" pitchFamily="18" charset="0"/>
                          </a:rPr>
                        </m:ctrlPr>
                      </m:sSubPr>
                      <m:e>
                        <m:r>
                          <a:rPr lang="en-PH" sz="3500" i="1">
                            <a:latin typeface="Cambria Math" panose="02040503050406030204" pitchFamily="18" charset="0"/>
                          </a:rPr>
                          <m:t>𝑈</m:t>
                        </m:r>
                      </m:e>
                      <m:sub>
                        <m:r>
                          <a:rPr lang="en-PH" sz="3500" i="1">
                            <a:latin typeface="Cambria Math" panose="02040503050406030204" pitchFamily="18" charset="0"/>
                          </a:rPr>
                          <m:t>𝑐</m:t>
                        </m:r>
                      </m:sub>
                    </m:sSub>
                    <m:r>
                      <a:rPr lang="en-PH" sz="3500" i="1">
                        <a:latin typeface="Cambria Math" panose="02040503050406030204" pitchFamily="18" charset="0"/>
                      </a:rPr>
                      <m:t>=</m:t>
                    </m:r>
                    <m:r>
                      <a:rPr lang="en-PH" sz="3500" b="0" i="1" smtClean="0">
                        <a:latin typeface="Cambria Math" panose="02040503050406030204" pitchFamily="18" charset="0"/>
                      </a:rPr>
                      <m:t>80</m:t>
                    </m:r>
                    <m:r>
                      <a:rPr lang="en-PH" sz="3500" i="1">
                        <a:latin typeface="Cambria Math" panose="02040503050406030204" pitchFamily="18" charset="0"/>
                      </a:rPr>
                      <m:t>+120</m:t>
                    </m:r>
                  </m:oMath>
                </a14:m>
                <a:r>
                  <a:rPr lang="en-PH" sz="3900" dirty="0"/>
                  <a:t> </a:t>
                </a:r>
                <a:endParaRPr lang="en-PH" sz="4300" dirty="0"/>
              </a:p>
              <a:p>
                <a:pPr lvl="2" algn="just"/>
                <a14:m>
                  <m:oMath xmlns:m="http://schemas.openxmlformats.org/officeDocument/2006/math">
                    <m:sSub>
                      <m:sSubPr>
                        <m:ctrlPr>
                          <a:rPr lang="en-PH" sz="3500" i="1">
                            <a:latin typeface="Cambria Math" panose="02040503050406030204" pitchFamily="18" charset="0"/>
                          </a:rPr>
                        </m:ctrlPr>
                      </m:sSubPr>
                      <m:e>
                        <m:r>
                          <a:rPr lang="en-PH" sz="3500" i="1">
                            <a:latin typeface="Cambria Math" panose="02040503050406030204" pitchFamily="18" charset="0"/>
                          </a:rPr>
                          <m:t>𝑈</m:t>
                        </m:r>
                      </m:e>
                      <m:sub>
                        <m:r>
                          <a:rPr lang="en-PH" sz="3500" i="1">
                            <a:latin typeface="Cambria Math" panose="02040503050406030204" pitchFamily="18" charset="0"/>
                          </a:rPr>
                          <m:t>𝑐</m:t>
                        </m:r>
                      </m:sub>
                    </m:sSub>
                    <m:r>
                      <a:rPr lang="en-PH" sz="3500" i="1">
                        <a:latin typeface="Cambria Math" panose="02040503050406030204" pitchFamily="18" charset="0"/>
                      </a:rPr>
                      <m:t>=</m:t>
                    </m:r>
                    <m:r>
                      <a:rPr lang="en-PH" sz="3500" b="0" i="1" smtClean="0">
                        <a:latin typeface="Cambria Math" panose="02040503050406030204" pitchFamily="18" charset="0"/>
                      </a:rPr>
                      <m:t>$200</m:t>
                    </m:r>
                  </m:oMath>
                </a14:m>
                <a:endParaRPr lang="en-US" sz="2700" dirty="0"/>
              </a:p>
              <a:p>
                <a:pPr lvl="2" algn="just"/>
                <a:endParaRPr lang="en-US" sz="2800" dirty="0"/>
              </a:p>
            </p:txBody>
          </p:sp>
        </mc:Choice>
        <mc:Fallback xmlns="">
          <p:sp>
            <p:nvSpPr>
              <p:cNvPr id="3" name="Content Placeholder 6">
                <a:extLst>
                  <a:ext uri="{FF2B5EF4-FFF2-40B4-BE49-F238E27FC236}">
                    <a16:creationId xmlns:a16="http://schemas.microsoft.com/office/drawing/2014/main" id="{02F701D1-1BD3-C19C-3B43-E48C6CDBA099}"/>
                  </a:ext>
                </a:extLst>
              </p:cNvPr>
              <p:cNvSpPr>
                <a:spLocks noGrp="1" noRot="1" noChangeAspect="1" noMove="1" noResize="1" noEditPoints="1" noAdjustHandles="1" noChangeArrowheads="1" noChangeShapeType="1" noTextEdit="1"/>
              </p:cNvSpPr>
              <p:nvPr>
                <p:ph idx="1"/>
              </p:nvPr>
            </p:nvSpPr>
            <p:spPr>
              <a:xfrm>
                <a:off x="335658" y="1202267"/>
                <a:ext cx="11424541" cy="5266265"/>
              </a:xfrm>
              <a:blipFill>
                <a:blip r:embed="rId2"/>
                <a:stretch>
                  <a:fillRect t="-4630"/>
                </a:stretch>
              </a:blipFill>
            </p:spPr>
            <p:txBody>
              <a:bodyPr/>
              <a:lstStyle/>
              <a:p>
                <a:r>
                  <a:rPr lang="en-PH">
                    <a:noFill/>
                  </a:rPr>
                  <a:t> </a:t>
                </a:r>
              </a:p>
            </p:txBody>
          </p:sp>
        </mc:Fallback>
      </mc:AlternateContent>
    </p:spTree>
    <p:extLst>
      <p:ext uri="{BB962C8B-B14F-4D97-AF65-F5344CB8AC3E}">
        <p14:creationId xmlns:p14="http://schemas.microsoft.com/office/powerpoint/2010/main" val="3407857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86059-1339-4972-9A12-089E45FF7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2A3E6-898A-D228-7E18-D4A1BA21161A}"/>
              </a:ext>
            </a:extLst>
          </p:cNvPr>
          <p:cNvSpPr>
            <a:spLocks noGrp="1"/>
          </p:cNvSpPr>
          <p:nvPr>
            <p:ph type="title"/>
          </p:nvPr>
        </p:nvSpPr>
        <p:spPr>
          <a:xfrm>
            <a:off x="224367" y="330200"/>
            <a:ext cx="11743266" cy="872068"/>
          </a:xfrm>
        </p:spPr>
        <p:txBody>
          <a:bodyPr>
            <a:normAutofit/>
          </a:bodyPr>
          <a:lstStyle/>
          <a:p>
            <a:pPr algn="just"/>
            <a:r>
              <a:rPr lang="en-PH" sz="3600" dirty="0"/>
              <a:t>1.5.3 Performance</a:t>
            </a:r>
          </a:p>
        </p:txBody>
      </p:sp>
      <p:sp>
        <p:nvSpPr>
          <p:cNvPr id="3" name="Content Placeholder 6">
            <a:extLst>
              <a:ext uri="{FF2B5EF4-FFF2-40B4-BE49-F238E27FC236}">
                <a16:creationId xmlns:a16="http://schemas.microsoft.com/office/drawing/2014/main" id="{F8797DCF-C33D-6DC5-7121-ABF9AA9DE14F}"/>
              </a:ext>
            </a:extLst>
          </p:cNvPr>
          <p:cNvSpPr>
            <a:spLocks noGrp="1"/>
          </p:cNvSpPr>
          <p:nvPr>
            <p:ph idx="1"/>
          </p:nvPr>
        </p:nvSpPr>
        <p:spPr>
          <a:xfrm>
            <a:off x="335658" y="1202267"/>
            <a:ext cx="11424541" cy="5266265"/>
          </a:xfrm>
        </p:spPr>
        <p:txBody>
          <a:bodyPr>
            <a:normAutofit/>
          </a:bodyPr>
          <a:lstStyle/>
          <a:p>
            <a:pPr lvl="1" algn="just"/>
            <a:r>
              <a:rPr lang="en-US" sz="3200" dirty="0"/>
              <a:t>Performance in embedded systems usually refers to the </a:t>
            </a:r>
            <a:r>
              <a:rPr lang="en-US" sz="3200" b="1" u="sng" dirty="0"/>
              <a:t>system ability to perform its function on time</a:t>
            </a:r>
            <a:r>
              <a:rPr lang="en-US" sz="3200" dirty="0"/>
              <a:t>. Therefore, a measure of the number of operations per unit time will somehow always be involved.</a:t>
            </a:r>
          </a:p>
          <a:p>
            <a:pPr lvl="1" algn="just"/>
            <a:r>
              <a:rPr lang="en-US" sz="3200" dirty="0"/>
              <a:t>Performance in embedded systems depends on many factors, some due to </a:t>
            </a:r>
            <a:r>
              <a:rPr lang="en-US" sz="3200" b="1" u="sng" dirty="0"/>
              <a:t>hardware components</a:t>
            </a:r>
            <a:r>
              <a:rPr lang="en-US" sz="3200" dirty="0"/>
              <a:t>, some other due to </a:t>
            </a:r>
            <a:r>
              <a:rPr lang="en-US" sz="3200" b="1" u="sng" dirty="0"/>
              <a:t>software components</a:t>
            </a:r>
            <a:r>
              <a:rPr lang="en-US" sz="3200" dirty="0"/>
              <a:t>. </a:t>
            </a:r>
          </a:p>
          <a:p>
            <a:pPr lvl="1" algn="just"/>
            <a:r>
              <a:rPr lang="en-US" sz="3200" b="1" u="sng" dirty="0"/>
              <a:t>Hardware related factors</a:t>
            </a:r>
            <a:r>
              <a:rPr lang="en-US" sz="3200" dirty="0"/>
              <a:t> include:</a:t>
            </a:r>
          </a:p>
        </p:txBody>
      </p:sp>
    </p:spTree>
    <p:extLst>
      <p:ext uri="{BB962C8B-B14F-4D97-AF65-F5344CB8AC3E}">
        <p14:creationId xmlns:p14="http://schemas.microsoft.com/office/powerpoint/2010/main" val="9989181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4306-C106-F154-CD76-B0614A04C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E1405-74FD-944E-B540-8A750E67A9ED}"/>
              </a:ext>
            </a:extLst>
          </p:cNvPr>
          <p:cNvSpPr>
            <a:spLocks noGrp="1"/>
          </p:cNvSpPr>
          <p:nvPr>
            <p:ph type="title"/>
          </p:nvPr>
        </p:nvSpPr>
        <p:spPr>
          <a:xfrm>
            <a:off x="224367" y="330200"/>
            <a:ext cx="11743266" cy="872068"/>
          </a:xfrm>
        </p:spPr>
        <p:txBody>
          <a:bodyPr>
            <a:normAutofit/>
          </a:bodyPr>
          <a:lstStyle/>
          <a:p>
            <a:pPr algn="just"/>
            <a:r>
              <a:rPr lang="en-PH" sz="3600" dirty="0"/>
              <a:t>1.5.3 Performance</a:t>
            </a:r>
          </a:p>
        </p:txBody>
      </p:sp>
      <p:sp>
        <p:nvSpPr>
          <p:cNvPr id="3" name="Content Placeholder 6">
            <a:extLst>
              <a:ext uri="{FF2B5EF4-FFF2-40B4-BE49-F238E27FC236}">
                <a16:creationId xmlns:a16="http://schemas.microsoft.com/office/drawing/2014/main" id="{9019E9F5-E637-E74F-CA05-17143B5C90BB}"/>
              </a:ext>
            </a:extLst>
          </p:cNvPr>
          <p:cNvSpPr>
            <a:spLocks noGrp="1"/>
          </p:cNvSpPr>
          <p:nvPr>
            <p:ph idx="1"/>
          </p:nvPr>
        </p:nvSpPr>
        <p:spPr>
          <a:xfrm>
            <a:off x="335658" y="1202267"/>
            <a:ext cx="11424541" cy="5266265"/>
          </a:xfrm>
        </p:spPr>
        <p:txBody>
          <a:bodyPr>
            <a:normAutofit fontScale="92500"/>
          </a:bodyPr>
          <a:lstStyle/>
          <a:p>
            <a:pPr lvl="1" algn="just"/>
            <a:r>
              <a:rPr lang="en-US" sz="3200" b="1" u="sng" dirty="0"/>
              <a:t>Clock Frequency</a:t>
            </a:r>
            <a:r>
              <a:rPr lang="en-US" sz="3200" dirty="0"/>
              <a:t>, the speed at which the master system clock ticks to advance time in the system.</a:t>
            </a:r>
          </a:p>
          <a:p>
            <a:pPr lvl="1" algn="just"/>
            <a:r>
              <a:rPr lang="en-US" sz="3200" b="1" u="sng" dirty="0"/>
              <a:t>Processor Architecture</a:t>
            </a:r>
            <a:r>
              <a:rPr lang="en-US" sz="3200" dirty="0"/>
              <a:t> has a deep impact in the system performance. The use of multiple execution units, pipelining, caches, style (CISC2 versus RISC3 ) buses, among other architectural differences affect the time the system takes to complete a task.</a:t>
            </a:r>
          </a:p>
          <a:p>
            <a:pPr lvl="1" algn="just"/>
            <a:r>
              <a:rPr lang="en-US" sz="3200" b="1" u="sng" dirty="0"/>
              <a:t>Handshaking Protocols</a:t>
            </a:r>
            <a:r>
              <a:rPr lang="en-US" sz="3200" dirty="0"/>
              <a:t>, i.e. the way transactions begin and end with peripheral devices and how frequently they need to occur will take their toll in the time the system takes to complete a task.</a:t>
            </a:r>
          </a:p>
        </p:txBody>
      </p:sp>
    </p:spTree>
    <p:extLst>
      <p:ext uri="{BB962C8B-B14F-4D97-AF65-F5344CB8AC3E}">
        <p14:creationId xmlns:p14="http://schemas.microsoft.com/office/powerpoint/2010/main" val="4490026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486EB-7CCB-5EAD-10CC-0B5AE5A17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51374E-A79B-06D7-CFBE-3612E3908F0C}"/>
              </a:ext>
            </a:extLst>
          </p:cNvPr>
          <p:cNvSpPr>
            <a:spLocks noGrp="1"/>
          </p:cNvSpPr>
          <p:nvPr>
            <p:ph type="title"/>
          </p:nvPr>
        </p:nvSpPr>
        <p:spPr>
          <a:xfrm>
            <a:off x="224367" y="330200"/>
            <a:ext cx="11743266" cy="872068"/>
          </a:xfrm>
        </p:spPr>
        <p:txBody>
          <a:bodyPr>
            <a:normAutofit/>
          </a:bodyPr>
          <a:lstStyle/>
          <a:p>
            <a:pPr algn="just"/>
            <a:r>
              <a:rPr lang="en-PH" sz="3600" dirty="0"/>
              <a:t>1.5.3 Performance</a:t>
            </a:r>
          </a:p>
        </p:txBody>
      </p:sp>
      <p:sp>
        <p:nvSpPr>
          <p:cNvPr id="3" name="Content Placeholder 6">
            <a:extLst>
              <a:ext uri="{FF2B5EF4-FFF2-40B4-BE49-F238E27FC236}">
                <a16:creationId xmlns:a16="http://schemas.microsoft.com/office/drawing/2014/main" id="{9C9D2AEC-4199-0714-7A10-57DF647DC0EE}"/>
              </a:ext>
            </a:extLst>
          </p:cNvPr>
          <p:cNvSpPr>
            <a:spLocks noGrp="1"/>
          </p:cNvSpPr>
          <p:nvPr>
            <p:ph idx="1"/>
          </p:nvPr>
        </p:nvSpPr>
        <p:spPr>
          <a:xfrm>
            <a:off x="335658" y="1202267"/>
            <a:ext cx="11424541" cy="5266265"/>
          </a:xfrm>
        </p:spPr>
        <p:txBody>
          <a:bodyPr>
            <a:normAutofit fontScale="92500" lnSpcReduction="10000"/>
          </a:bodyPr>
          <a:lstStyle/>
          <a:p>
            <a:pPr lvl="1" algn="just"/>
            <a:r>
              <a:rPr lang="en-US" sz="3200" b="1" u="sng" dirty="0"/>
              <a:t>Low-power Modes</a:t>
            </a:r>
            <a:r>
              <a:rPr lang="en-US" sz="3200" dirty="0"/>
              <a:t> in hardware components also affect performance. When a component is sent to a low-power or sleep mode, either by gating its clock, its power lines, or some other mechanism, waking the device up consumes </a:t>
            </a:r>
            <a:r>
              <a:rPr lang="en-US" sz="3200" b="1" u="sng" dirty="0"/>
              <a:t>clock cycles</a:t>
            </a:r>
            <a:r>
              <a:rPr lang="en-US" sz="3200" dirty="0"/>
              <a:t>, ultimately affecting its response time.</a:t>
            </a:r>
          </a:p>
          <a:p>
            <a:pPr lvl="1" algn="just"/>
            <a:r>
              <a:rPr lang="en-US" sz="3200" b="1" u="sng" dirty="0"/>
              <a:t>Software factors </a:t>
            </a:r>
            <a:r>
              <a:rPr lang="en-US" sz="3200" dirty="0"/>
              <a:t>affecting system performance include:</a:t>
            </a:r>
          </a:p>
          <a:p>
            <a:pPr lvl="1" algn="just"/>
            <a:r>
              <a:rPr lang="en-PH" sz="3200" b="1" u="sng" dirty="0"/>
              <a:t>Algorithm Complexity</a:t>
            </a:r>
            <a:r>
              <a:rPr lang="en-PH" sz="3200" dirty="0"/>
              <a:t>. </a:t>
            </a:r>
            <a:r>
              <a:rPr lang="en-US" sz="3200" dirty="0"/>
              <a:t>Although algorithm complexity traditionally refers to the way the </a:t>
            </a:r>
            <a:r>
              <a:rPr lang="en-US" sz="3200" b="1" u="sng" dirty="0"/>
              <a:t>number of steps</a:t>
            </a:r>
            <a:r>
              <a:rPr lang="en-US" sz="3200" dirty="0"/>
              <a:t>(or resources) needed to complete a task scales as the algorithm input grows, it also provides a measure of how many steps it would take a program to complete a task.</a:t>
            </a:r>
          </a:p>
        </p:txBody>
      </p:sp>
    </p:spTree>
    <p:extLst>
      <p:ext uri="{BB962C8B-B14F-4D97-AF65-F5344CB8AC3E}">
        <p14:creationId xmlns:p14="http://schemas.microsoft.com/office/powerpoint/2010/main" val="20942375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76D6A-FF13-6C6F-4CA8-664F65602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1E880-DA97-32DC-FD59-36EB9E47B262}"/>
              </a:ext>
            </a:extLst>
          </p:cNvPr>
          <p:cNvSpPr>
            <a:spLocks noGrp="1"/>
          </p:cNvSpPr>
          <p:nvPr>
            <p:ph type="title"/>
          </p:nvPr>
        </p:nvSpPr>
        <p:spPr>
          <a:xfrm>
            <a:off x="224367" y="330200"/>
            <a:ext cx="11743266" cy="872068"/>
          </a:xfrm>
        </p:spPr>
        <p:txBody>
          <a:bodyPr>
            <a:normAutofit/>
          </a:bodyPr>
          <a:lstStyle/>
          <a:p>
            <a:pPr algn="just"/>
            <a:r>
              <a:rPr lang="en-PH" sz="3600" dirty="0"/>
              <a:t>1.5.3 Performance</a:t>
            </a:r>
          </a:p>
        </p:txBody>
      </p:sp>
      <p:sp>
        <p:nvSpPr>
          <p:cNvPr id="3" name="Content Placeholder 6">
            <a:extLst>
              <a:ext uri="{FF2B5EF4-FFF2-40B4-BE49-F238E27FC236}">
                <a16:creationId xmlns:a16="http://schemas.microsoft.com/office/drawing/2014/main" id="{9696A69B-7C15-62C3-6960-6F4605B19472}"/>
              </a:ext>
            </a:extLst>
          </p:cNvPr>
          <p:cNvSpPr>
            <a:spLocks noGrp="1"/>
          </p:cNvSpPr>
          <p:nvPr>
            <p:ph idx="1"/>
          </p:nvPr>
        </p:nvSpPr>
        <p:spPr>
          <a:xfrm>
            <a:off x="335658" y="1202267"/>
            <a:ext cx="11424541" cy="5266265"/>
          </a:xfrm>
        </p:spPr>
        <p:txBody>
          <a:bodyPr>
            <a:normAutofit/>
          </a:bodyPr>
          <a:lstStyle/>
          <a:p>
            <a:pPr lvl="1" algn="just"/>
            <a:r>
              <a:rPr lang="en-US" sz="3200" b="1" u="sng" dirty="0"/>
              <a:t>Task Scheduling </a:t>
            </a:r>
            <a:r>
              <a:rPr lang="en-US" sz="3200" dirty="0"/>
              <a:t>determines the order in which tasks are assigned service priorities in a multitasking environment.</a:t>
            </a:r>
          </a:p>
          <a:p>
            <a:pPr lvl="1" algn="just"/>
            <a:r>
              <a:rPr lang="en-US" sz="3200" b="1" u="sng" dirty="0" err="1"/>
              <a:t>Intertask</a:t>
            </a:r>
            <a:r>
              <a:rPr lang="en-US" sz="3200" b="1" u="sng" dirty="0"/>
              <a:t> Communication </a:t>
            </a:r>
            <a:r>
              <a:rPr lang="en-US" sz="3200" dirty="0"/>
              <a:t>deals with the mechanisms used to exchange information and share system resources between tasks.</a:t>
            </a:r>
          </a:p>
          <a:p>
            <a:pPr lvl="1" algn="just"/>
            <a:r>
              <a:rPr lang="en-US" sz="3200" b="1" u="sng" dirty="0"/>
              <a:t>Level of Parallelism </a:t>
            </a:r>
            <a:r>
              <a:rPr lang="en-US" sz="3200" dirty="0"/>
              <a:t>refers to the usage given by the software to system resources that accept simultaneous usage.</a:t>
            </a:r>
          </a:p>
        </p:txBody>
      </p:sp>
    </p:spTree>
    <p:extLst>
      <p:ext uri="{BB962C8B-B14F-4D97-AF65-F5344CB8AC3E}">
        <p14:creationId xmlns:p14="http://schemas.microsoft.com/office/powerpoint/2010/main" val="3012398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0521C-02ED-5A2B-4AF2-47EBADF04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13F7B-823D-471A-97A5-C869B480C5BC}"/>
              </a:ext>
            </a:extLst>
          </p:cNvPr>
          <p:cNvSpPr>
            <a:spLocks noGrp="1"/>
          </p:cNvSpPr>
          <p:nvPr>
            <p:ph type="title"/>
          </p:nvPr>
        </p:nvSpPr>
        <p:spPr>
          <a:xfrm>
            <a:off x="224367" y="330200"/>
            <a:ext cx="11743266" cy="872068"/>
          </a:xfrm>
        </p:spPr>
        <p:txBody>
          <a:bodyPr>
            <a:normAutofit/>
          </a:bodyPr>
          <a:lstStyle/>
          <a:p>
            <a:pPr algn="just"/>
            <a:r>
              <a:rPr lang="en-PH" sz="3600" dirty="0"/>
              <a:t>1.5.4 Power and Energy</a:t>
            </a:r>
          </a:p>
        </p:txBody>
      </p:sp>
      <p:sp>
        <p:nvSpPr>
          <p:cNvPr id="3" name="Content Placeholder 6">
            <a:extLst>
              <a:ext uri="{FF2B5EF4-FFF2-40B4-BE49-F238E27FC236}">
                <a16:creationId xmlns:a16="http://schemas.microsoft.com/office/drawing/2014/main" id="{4C33C9FA-E326-73EE-5A75-F6766231BE65}"/>
              </a:ext>
            </a:extLst>
          </p:cNvPr>
          <p:cNvSpPr>
            <a:spLocks noGrp="1"/>
          </p:cNvSpPr>
          <p:nvPr>
            <p:ph idx="1"/>
          </p:nvPr>
        </p:nvSpPr>
        <p:spPr>
          <a:xfrm>
            <a:off x="335658" y="1202267"/>
            <a:ext cx="11424541" cy="5266265"/>
          </a:xfrm>
        </p:spPr>
        <p:txBody>
          <a:bodyPr>
            <a:normAutofit/>
          </a:bodyPr>
          <a:lstStyle/>
          <a:p>
            <a:pPr lvl="1" algn="just"/>
            <a:r>
              <a:rPr lang="en-US" sz="3200" dirty="0"/>
              <a:t>Power in embedded systems has become a </a:t>
            </a:r>
            <a:r>
              <a:rPr lang="en-US" sz="3200" b="1" u="sng" dirty="0"/>
              <a:t>critical constraint</a:t>
            </a:r>
            <a:r>
              <a:rPr lang="en-US" sz="3200" dirty="0"/>
              <a:t>, not only in portable, battery-operated systems, but for every system design. The average power dissipation of an embedded design defines the </a:t>
            </a:r>
            <a:r>
              <a:rPr lang="en-US" sz="3200" b="1" u="sng" dirty="0"/>
              <a:t>rate</a:t>
            </a:r>
            <a:r>
              <a:rPr lang="en-US" sz="3200" dirty="0"/>
              <a:t> at which the system </a:t>
            </a:r>
            <a:r>
              <a:rPr lang="en-US" sz="3200" b="1" u="sng" dirty="0"/>
              <a:t>consumes energy</a:t>
            </a:r>
            <a:r>
              <a:rPr lang="en-US" sz="3200" dirty="0"/>
              <a:t>. </a:t>
            </a:r>
          </a:p>
          <a:p>
            <a:pPr lvl="1" algn="just"/>
            <a:r>
              <a:rPr lang="en-US" sz="3200" dirty="0"/>
              <a:t>In battery powered applications, this determines </a:t>
            </a:r>
            <a:r>
              <a:rPr lang="en-US" sz="3200" b="1" u="sng" dirty="0"/>
              <a:t>how long </a:t>
            </a:r>
            <a:r>
              <a:rPr lang="en-US" sz="3200" dirty="0"/>
              <a:t>it takes to </a:t>
            </a:r>
            <a:r>
              <a:rPr lang="en-US" sz="3200" b="1" u="sng" dirty="0"/>
              <a:t>deplete</a:t>
            </a:r>
            <a:r>
              <a:rPr lang="en-US" sz="3200" dirty="0"/>
              <a:t> the capacity of its batteries. But aside from battery life, power affects many other issues in embedded systems design. Some of the most representative issues include:</a:t>
            </a:r>
          </a:p>
        </p:txBody>
      </p:sp>
    </p:spTree>
    <p:extLst>
      <p:ext uri="{BB962C8B-B14F-4D97-AF65-F5344CB8AC3E}">
        <p14:creationId xmlns:p14="http://schemas.microsoft.com/office/powerpoint/2010/main" val="2828484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57C6E-D1AA-DDB1-937C-F8FC1C7C8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537D6-FE5C-55A0-4E90-57719B908974}"/>
              </a:ext>
            </a:extLst>
          </p:cNvPr>
          <p:cNvSpPr>
            <a:spLocks noGrp="1"/>
          </p:cNvSpPr>
          <p:nvPr>
            <p:ph type="title"/>
          </p:nvPr>
        </p:nvSpPr>
        <p:spPr>
          <a:xfrm>
            <a:off x="224367" y="330200"/>
            <a:ext cx="11743266" cy="872068"/>
          </a:xfrm>
        </p:spPr>
        <p:txBody>
          <a:bodyPr>
            <a:normAutofit/>
          </a:bodyPr>
          <a:lstStyle/>
          <a:p>
            <a:pPr algn="just"/>
            <a:r>
              <a:rPr lang="en-PH" sz="3600" dirty="0"/>
              <a:t>1.5.4 Power and Energy</a:t>
            </a:r>
          </a:p>
        </p:txBody>
      </p:sp>
      <p:sp>
        <p:nvSpPr>
          <p:cNvPr id="3" name="Content Placeholder 6">
            <a:extLst>
              <a:ext uri="{FF2B5EF4-FFF2-40B4-BE49-F238E27FC236}">
                <a16:creationId xmlns:a16="http://schemas.microsoft.com/office/drawing/2014/main" id="{AA6684A6-901C-D390-7169-9438C0EBE252}"/>
              </a:ext>
            </a:extLst>
          </p:cNvPr>
          <p:cNvSpPr>
            <a:spLocks noGrp="1"/>
          </p:cNvSpPr>
          <p:nvPr>
            <p:ph idx="1"/>
          </p:nvPr>
        </p:nvSpPr>
        <p:spPr>
          <a:xfrm>
            <a:off x="335658" y="1202267"/>
            <a:ext cx="11424541" cy="5266265"/>
          </a:xfrm>
        </p:spPr>
        <p:txBody>
          <a:bodyPr>
            <a:normAutofit/>
          </a:bodyPr>
          <a:lstStyle/>
          <a:p>
            <a:pPr lvl="1" algn="just"/>
            <a:r>
              <a:rPr lang="en-US" sz="3200" b="1" u="sng" dirty="0"/>
              <a:t>System Reliability</a:t>
            </a:r>
            <a:r>
              <a:rPr lang="en-US" sz="3200" dirty="0"/>
              <a:t>: In digital electronic systems, which operate at a relatively fixed voltage level, power translates into current intensities circulating through the different system traces and components.</a:t>
            </a:r>
          </a:p>
          <a:p>
            <a:pPr lvl="1" algn="just"/>
            <a:r>
              <a:rPr lang="en-US" sz="3200" b="1" u="sng" dirty="0"/>
              <a:t>Cooling Requirements</a:t>
            </a:r>
            <a:r>
              <a:rPr lang="en-US" sz="3200" dirty="0"/>
              <a:t>: A large power consumption leads to large levels of heat dissipation. Heat needs to be removed from the embedded electronics to avoid the failures induced by high temperature operation.</a:t>
            </a:r>
          </a:p>
        </p:txBody>
      </p:sp>
    </p:spTree>
    <p:extLst>
      <p:ext uri="{BB962C8B-B14F-4D97-AF65-F5344CB8AC3E}">
        <p14:creationId xmlns:p14="http://schemas.microsoft.com/office/powerpoint/2010/main" val="28532520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C224F-63E5-892E-FE31-C39CA3B64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4B03F-2984-0B7C-48E2-3CD127818DBF}"/>
              </a:ext>
            </a:extLst>
          </p:cNvPr>
          <p:cNvSpPr>
            <a:spLocks noGrp="1"/>
          </p:cNvSpPr>
          <p:nvPr>
            <p:ph type="title"/>
          </p:nvPr>
        </p:nvSpPr>
        <p:spPr>
          <a:xfrm>
            <a:off x="224367" y="330200"/>
            <a:ext cx="11743266" cy="872068"/>
          </a:xfrm>
        </p:spPr>
        <p:txBody>
          <a:bodyPr>
            <a:normAutofit/>
          </a:bodyPr>
          <a:lstStyle/>
          <a:p>
            <a:pPr algn="just"/>
            <a:r>
              <a:rPr lang="en-PH" sz="3600" dirty="0"/>
              <a:t>1.5.4 Power and Energy</a:t>
            </a:r>
          </a:p>
        </p:txBody>
      </p:sp>
      <p:sp>
        <p:nvSpPr>
          <p:cNvPr id="3" name="Content Placeholder 6">
            <a:extLst>
              <a:ext uri="{FF2B5EF4-FFF2-40B4-BE49-F238E27FC236}">
                <a16:creationId xmlns:a16="http://schemas.microsoft.com/office/drawing/2014/main" id="{E67BC4F0-C832-86D3-5E16-09B84AF3A378}"/>
              </a:ext>
            </a:extLst>
          </p:cNvPr>
          <p:cNvSpPr>
            <a:spLocks noGrp="1"/>
          </p:cNvSpPr>
          <p:nvPr>
            <p:ph idx="1"/>
          </p:nvPr>
        </p:nvSpPr>
        <p:spPr>
          <a:xfrm>
            <a:off x="335658" y="1202267"/>
            <a:ext cx="11424541" cy="5266265"/>
          </a:xfrm>
        </p:spPr>
        <p:txBody>
          <a:bodyPr>
            <a:normAutofit fontScale="92500" lnSpcReduction="10000"/>
          </a:bodyPr>
          <a:lstStyle/>
          <a:p>
            <a:pPr lvl="1" algn="just"/>
            <a:r>
              <a:rPr lang="en-US" sz="3200" b="1" u="sng" dirty="0"/>
              <a:t>Power Supply Design</a:t>
            </a:r>
            <a:r>
              <a:rPr lang="en-US" sz="3200" dirty="0"/>
              <a:t>: All embedded systems need a source of energy. Portable systems rely on batteries. Stationary systems need power supplies.</a:t>
            </a:r>
          </a:p>
          <a:p>
            <a:pPr lvl="1" algn="just"/>
            <a:r>
              <a:rPr lang="en-US" sz="3200" b="1" u="sng" dirty="0"/>
              <a:t>System Size, Weight, and Form</a:t>
            </a:r>
            <a:r>
              <a:rPr lang="en-US" sz="3200" dirty="0"/>
              <a:t>: The mechanical design characteristics are affected by the minimum admissible separation between components to limit heat density and reduce the risk of heat induced failures.</a:t>
            </a:r>
          </a:p>
          <a:p>
            <a:pPr lvl="1" algn="just"/>
            <a:r>
              <a:rPr lang="en-PH" sz="3200" b="1" u="sng" dirty="0"/>
              <a:t>Environmental Impact</a:t>
            </a:r>
            <a:r>
              <a:rPr lang="en-PH" sz="3200" dirty="0"/>
              <a:t>: </a:t>
            </a:r>
            <a:r>
              <a:rPr lang="en-US" sz="3200" dirty="0"/>
              <a:t>The number of embedded systems around us continues to grow at accelerated rates. Estimates by the Consumer Electronics Association (CEA) show that nowadays an average individual uses about </a:t>
            </a:r>
            <a:r>
              <a:rPr lang="en-US" sz="3200" b="1" u="sng" dirty="0"/>
              <a:t>sixty embedded systems</a:t>
            </a:r>
            <a:r>
              <a:rPr lang="en-US" sz="3200" dirty="0"/>
              <a:t> per day. </a:t>
            </a:r>
          </a:p>
        </p:txBody>
      </p:sp>
    </p:spTree>
    <p:extLst>
      <p:ext uri="{BB962C8B-B14F-4D97-AF65-F5344CB8AC3E}">
        <p14:creationId xmlns:p14="http://schemas.microsoft.com/office/powerpoint/2010/main" val="7093620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7D80-EF5A-48BA-5E35-4F8D3C09D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9775B-41AC-8315-D23B-CF8BEADCE2B7}"/>
              </a:ext>
            </a:extLst>
          </p:cNvPr>
          <p:cNvSpPr>
            <a:spLocks noGrp="1"/>
          </p:cNvSpPr>
          <p:nvPr>
            <p:ph type="title"/>
          </p:nvPr>
        </p:nvSpPr>
        <p:spPr>
          <a:xfrm>
            <a:off x="224367" y="330200"/>
            <a:ext cx="11743266" cy="872068"/>
          </a:xfrm>
        </p:spPr>
        <p:txBody>
          <a:bodyPr>
            <a:normAutofit/>
          </a:bodyPr>
          <a:lstStyle/>
          <a:p>
            <a:pPr algn="just"/>
            <a:r>
              <a:rPr lang="en-PH" sz="3600" dirty="0"/>
              <a:t>1.5.4 Power and Energy</a:t>
            </a:r>
          </a:p>
        </p:txBody>
      </p:sp>
      <p:sp>
        <p:nvSpPr>
          <p:cNvPr id="3" name="Content Placeholder 6">
            <a:extLst>
              <a:ext uri="{FF2B5EF4-FFF2-40B4-BE49-F238E27FC236}">
                <a16:creationId xmlns:a16="http://schemas.microsoft.com/office/drawing/2014/main" id="{7DA98A5D-4412-1D68-7221-78EC7414D0EF}"/>
              </a:ext>
            </a:extLst>
          </p:cNvPr>
          <p:cNvSpPr>
            <a:spLocks noGrp="1"/>
          </p:cNvSpPr>
          <p:nvPr>
            <p:ph idx="1"/>
          </p:nvPr>
        </p:nvSpPr>
        <p:spPr>
          <a:xfrm>
            <a:off x="335658" y="1202267"/>
            <a:ext cx="11424541" cy="5266265"/>
          </a:xfrm>
        </p:spPr>
        <p:txBody>
          <a:bodyPr>
            <a:normAutofit/>
          </a:bodyPr>
          <a:lstStyle/>
          <a:p>
            <a:pPr lvl="1" algn="just"/>
            <a:r>
              <a:rPr lang="en-US" sz="3200" b="1" u="sng" dirty="0"/>
              <a:t>Hardware Design</a:t>
            </a:r>
            <a:r>
              <a:rPr lang="en-US" sz="3200" dirty="0"/>
              <a:t>: Utilizing processors and hardware components specifically designed to minimize power consumption.</a:t>
            </a:r>
          </a:p>
          <a:p>
            <a:pPr lvl="1" algn="just"/>
            <a:r>
              <a:rPr lang="en-US" sz="3200" b="1" u="sng" dirty="0"/>
              <a:t>Software Design</a:t>
            </a:r>
            <a:r>
              <a:rPr lang="en-US" sz="3200" dirty="0"/>
              <a:t>: The way in which software is designed has a significant impact on the system power consumption.</a:t>
            </a:r>
          </a:p>
          <a:p>
            <a:pPr lvl="1" algn="just"/>
            <a:r>
              <a:rPr lang="en-US" sz="3200" b="1" u="sng" dirty="0"/>
              <a:t>Power Management Techniques</a:t>
            </a:r>
            <a:r>
              <a:rPr lang="en-US" sz="3200" dirty="0"/>
              <a:t>: Power management combines software strategies for power reduction with the hardware capabilities of the system to reduce the amount of energy needed to complete a task.</a:t>
            </a:r>
          </a:p>
        </p:txBody>
      </p:sp>
    </p:spTree>
    <p:extLst>
      <p:ext uri="{BB962C8B-B14F-4D97-AF65-F5344CB8AC3E}">
        <p14:creationId xmlns:p14="http://schemas.microsoft.com/office/powerpoint/2010/main" val="35681172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6C5C-EDD7-BA85-A6AF-BC86AB8D8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6C3D7-CD67-CDEB-DAD3-07219A853E2E}"/>
              </a:ext>
            </a:extLst>
          </p:cNvPr>
          <p:cNvSpPr>
            <a:spLocks noGrp="1"/>
          </p:cNvSpPr>
          <p:nvPr>
            <p:ph type="title"/>
          </p:nvPr>
        </p:nvSpPr>
        <p:spPr>
          <a:xfrm>
            <a:off x="224367" y="330200"/>
            <a:ext cx="11743266" cy="872068"/>
          </a:xfrm>
        </p:spPr>
        <p:txBody>
          <a:bodyPr>
            <a:normAutofit/>
          </a:bodyPr>
          <a:lstStyle/>
          <a:p>
            <a:pPr algn="just"/>
            <a:r>
              <a:rPr lang="en-PH" sz="3600" dirty="0"/>
              <a:t>1.5.5 Time-to-Market</a:t>
            </a:r>
          </a:p>
        </p:txBody>
      </p:sp>
      <p:sp>
        <p:nvSpPr>
          <p:cNvPr id="3" name="Content Placeholder 6">
            <a:extLst>
              <a:ext uri="{FF2B5EF4-FFF2-40B4-BE49-F238E27FC236}">
                <a16:creationId xmlns:a16="http://schemas.microsoft.com/office/drawing/2014/main" id="{561AAFF2-492C-B595-E9BD-E99B11D4AFDA}"/>
              </a:ext>
            </a:extLst>
          </p:cNvPr>
          <p:cNvSpPr>
            <a:spLocks noGrp="1"/>
          </p:cNvSpPr>
          <p:nvPr>
            <p:ph idx="1"/>
          </p:nvPr>
        </p:nvSpPr>
        <p:spPr>
          <a:xfrm>
            <a:off x="335658" y="1202267"/>
            <a:ext cx="11424541" cy="5266265"/>
          </a:xfrm>
        </p:spPr>
        <p:txBody>
          <a:bodyPr>
            <a:normAutofit/>
          </a:bodyPr>
          <a:lstStyle/>
          <a:p>
            <a:pPr lvl="1" algn="just"/>
            <a:r>
              <a:rPr lang="en-US" sz="3200" dirty="0"/>
              <a:t>Time to market (TTM) is the time it takes from the conception of an embedded system until it is launched into the market. TTM becomes a critical constraint for systems having narrow market windows.</a:t>
            </a:r>
          </a:p>
          <a:p>
            <a:pPr marL="324000" lvl="1" indent="0" algn="just">
              <a:buNone/>
            </a:pPr>
            <a:r>
              <a:rPr lang="en-PH" sz="3200" b="1" dirty="0"/>
              <a:t>1.5.6 Reliability and Maintainability</a:t>
            </a:r>
          </a:p>
          <a:p>
            <a:pPr lvl="1" algn="just"/>
            <a:r>
              <a:rPr lang="en-US" sz="3200" dirty="0"/>
              <a:t>Maintainability in embedded systems can be defined as a property that allows the system to be acted upon, to </a:t>
            </a:r>
            <a:r>
              <a:rPr lang="en-US" sz="3200" b="1" u="sng" dirty="0"/>
              <a:t>guarantee a reliable operation</a:t>
            </a:r>
            <a:r>
              <a:rPr lang="en-US" sz="3200" dirty="0"/>
              <a:t> throughout the end of its useful life</a:t>
            </a:r>
            <a:endParaRPr lang="en-US" sz="3200" b="1" dirty="0"/>
          </a:p>
        </p:txBody>
      </p:sp>
    </p:spTree>
    <p:extLst>
      <p:ext uri="{BB962C8B-B14F-4D97-AF65-F5344CB8AC3E}">
        <p14:creationId xmlns:p14="http://schemas.microsoft.com/office/powerpoint/2010/main" val="2691079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2F97-4C6C-E4D8-D422-E70E01244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3203B-7A88-BD02-6144-C06C3DC57A71}"/>
              </a:ext>
            </a:extLst>
          </p:cNvPr>
          <p:cNvSpPr>
            <a:spLocks noGrp="1"/>
          </p:cNvSpPr>
          <p:nvPr>
            <p:ph type="title"/>
          </p:nvPr>
        </p:nvSpPr>
        <p:spPr>
          <a:xfrm>
            <a:off x="224367" y="330200"/>
            <a:ext cx="11743266" cy="872068"/>
          </a:xfrm>
        </p:spPr>
        <p:txBody>
          <a:bodyPr>
            <a:normAutofit/>
          </a:bodyPr>
          <a:lstStyle/>
          <a:p>
            <a:pPr algn="just"/>
            <a:r>
              <a:rPr lang="en-PH" sz="3600" dirty="0"/>
              <a:t>1.5.6 Reliability and Maintainability</a:t>
            </a:r>
          </a:p>
        </p:txBody>
      </p:sp>
      <p:sp>
        <p:nvSpPr>
          <p:cNvPr id="3" name="Content Placeholder 6">
            <a:extLst>
              <a:ext uri="{FF2B5EF4-FFF2-40B4-BE49-F238E27FC236}">
                <a16:creationId xmlns:a16="http://schemas.microsoft.com/office/drawing/2014/main" id="{48434ECD-BC81-3054-FB8A-91E53EBE65E6}"/>
              </a:ext>
            </a:extLst>
          </p:cNvPr>
          <p:cNvSpPr>
            <a:spLocks noGrp="1"/>
          </p:cNvSpPr>
          <p:nvPr>
            <p:ph idx="1"/>
          </p:nvPr>
        </p:nvSpPr>
        <p:spPr>
          <a:xfrm>
            <a:off x="335658" y="1202267"/>
            <a:ext cx="11424541" cy="5266265"/>
          </a:xfrm>
        </p:spPr>
        <p:txBody>
          <a:bodyPr>
            <a:normAutofit/>
          </a:bodyPr>
          <a:lstStyle/>
          <a:p>
            <a:pPr lvl="1" algn="just"/>
            <a:r>
              <a:rPr lang="en-US" sz="3200" dirty="0"/>
              <a:t>From a broad perspective, maintainability needs to provide the system with means for executing four basic types of actions: </a:t>
            </a:r>
          </a:p>
          <a:p>
            <a:pPr lvl="1" algn="just"/>
            <a:r>
              <a:rPr lang="en-US" sz="3200" b="1" u="sng" dirty="0"/>
              <a:t>Corrective Actions</a:t>
            </a:r>
            <a:r>
              <a:rPr lang="en-US" sz="3200" dirty="0"/>
              <a:t>: that allow to fix faults discovered in the system. </a:t>
            </a:r>
          </a:p>
          <a:p>
            <a:pPr lvl="1" algn="just"/>
            <a:r>
              <a:rPr lang="en-US" sz="3200" b="1" u="sng" dirty="0"/>
              <a:t>Adaptive Actions</a:t>
            </a:r>
            <a:r>
              <a:rPr lang="en-US" sz="3200" dirty="0"/>
              <a:t>: which enable the introduction of functional modifications that keep the system operating in a changing environment. </a:t>
            </a:r>
          </a:p>
        </p:txBody>
      </p:sp>
    </p:spTree>
    <p:extLst>
      <p:ext uri="{BB962C8B-B14F-4D97-AF65-F5344CB8AC3E}">
        <p14:creationId xmlns:p14="http://schemas.microsoft.com/office/powerpoint/2010/main" val="30108602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1945D-201D-978C-0C67-5492595AE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E738A-FB84-B3B1-160F-B8AC7A1DD1F1}"/>
              </a:ext>
            </a:extLst>
          </p:cNvPr>
          <p:cNvSpPr>
            <a:spLocks noGrp="1"/>
          </p:cNvSpPr>
          <p:nvPr>
            <p:ph type="title"/>
          </p:nvPr>
        </p:nvSpPr>
        <p:spPr>
          <a:xfrm>
            <a:off x="224367" y="330200"/>
            <a:ext cx="11743266" cy="872068"/>
          </a:xfrm>
        </p:spPr>
        <p:txBody>
          <a:bodyPr>
            <a:normAutofit/>
          </a:bodyPr>
          <a:lstStyle/>
          <a:p>
            <a:pPr algn="just"/>
            <a:r>
              <a:rPr lang="en-PH" sz="3600" dirty="0"/>
              <a:t>1.5.6 Reliability and Maintainability</a:t>
            </a:r>
          </a:p>
        </p:txBody>
      </p:sp>
      <p:sp>
        <p:nvSpPr>
          <p:cNvPr id="3" name="Content Placeholder 6">
            <a:extLst>
              <a:ext uri="{FF2B5EF4-FFF2-40B4-BE49-F238E27FC236}">
                <a16:creationId xmlns:a16="http://schemas.microsoft.com/office/drawing/2014/main" id="{65F14444-4E21-C623-3F62-1AB644E108A9}"/>
              </a:ext>
            </a:extLst>
          </p:cNvPr>
          <p:cNvSpPr>
            <a:spLocks noGrp="1"/>
          </p:cNvSpPr>
          <p:nvPr>
            <p:ph idx="1"/>
          </p:nvPr>
        </p:nvSpPr>
        <p:spPr>
          <a:xfrm>
            <a:off x="335658" y="1202267"/>
            <a:ext cx="11424541" cy="5266265"/>
          </a:xfrm>
        </p:spPr>
        <p:txBody>
          <a:bodyPr>
            <a:normAutofit/>
          </a:bodyPr>
          <a:lstStyle/>
          <a:p>
            <a:pPr lvl="1" algn="just"/>
            <a:r>
              <a:rPr lang="en-US" sz="3200" b="1" u="sng" dirty="0"/>
              <a:t>Perfective Actions</a:t>
            </a:r>
            <a:r>
              <a:rPr lang="en-US" sz="3200" dirty="0"/>
              <a:t>: to allow for adding enhancements to the system functionally attending to new regulations or requirements. </a:t>
            </a:r>
          </a:p>
          <a:p>
            <a:pPr lvl="1" algn="just"/>
            <a:r>
              <a:rPr lang="en-US" sz="3200" b="1" u="sng" dirty="0"/>
              <a:t>Preventive Actions</a:t>
            </a:r>
            <a:r>
              <a:rPr lang="en-US" sz="3200" dirty="0"/>
              <a:t>: that anticipate and prevent conditions that could compromise the system functionality. </a:t>
            </a:r>
            <a:endParaRPr lang="en-PH" sz="3200" b="1" dirty="0"/>
          </a:p>
        </p:txBody>
      </p:sp>
    </p:spTree>
    <p:extLst>
      <p:ext uri="{BB962C8B-B14F-4D97-AF65-F5344CB8AC3E}">
        <p14:creationId xmlns:p14="http://schemas.microsoft.com/office/powerpoint/2010/main" val="35699269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7BF05-53D3-368E-6644-B244F6AB9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1DA65-A837-7917-9D32-517DEA6FDD5B}"/>
              </a:ext>
            </a:extLst>
          </p:cNvPr>
          <p:cNvSpPr>
            <a:spLocks noGrp="1"/>
          </p:cNvSpPr>
          <p:nvPr>
            <p:ph type="title"/>
          </p:nvPr>
        </p:nvSpPr>
        <p:spPr>
          <a:xfrm>
            <a:off x="224367" y="330200"/>
            <a:ext cx="11743266" cy="872068"/>
          </a:xfrm>
        </p:spPr>
        <p:txBody>
          <a:bodyPr>
            <a:normAutofit/>
          </a:bodyPr>
          <a:lstStyle/>
          <a:p>
            <a:pPr algn="just"/>
            <a:r>
              <a:rPr lang="en-PH" sz="3600" dirty="0"/>
              <a:t>1.5.6 Reliability and Maintainability</a:t>
            </a:r>
          </a:p>
        </p:txBody>
      </p:sp>
      <p:sp>
        <p:nvSpPr>
          <p:cNvPr id="3" name="Content Placeholder 6">
            <a:extLst>
              <a:ext uri="{FF2B5EF4-FFF2-40B4-BE49-F238E27FC236}">
                <a16:creationId xmlns:a16="http://schemas.microsoft.com/office/drawing/2014/main" id="{B8B5364A-70C1-875F-1653-0B6741E6B18F}"/>
              </a:ext>
            </a:extLst>
          </p:cNvPr>
          <p:cNvSpPr>
            <a:spLocks noGrp="1"/>
          </p:cNvSpPr>
          <p:nvPr>
            <p:ph idx="1"/>
          </p:nvPr>
        </p:nvSpPr>
        <p:spPr>
          <a:xfrm>
            <a:off x="335658" y="1202267"/>
            <a:ext cx="11424541" cy="5266265"/>
          </a:xfrm>
        </p:spPr>
        <p:txBody>
          <a:bodyPr>
            <a:normAutofit/>
          </a:bodyPr>
          <a:lstStyle/>
          <a:p>
            <a:pPr lvl="1" algn="just"/>
            <a:r>
              <a:rPr lang="en-PH" sz="3200" b="1" u="sng" dirty="0"/>
              <a:t>Issues in Hardware Maintainability</a:t>
            </a:r>
          </a:p>
          <a:p>
            <a:pPr lvl="2" algn="just"/>
            <a:r>
              <a:rPr lang="en-US" sz="3200" dirty="0"/>
              <a:t>The </a:t>
            </a:r>
            <a:r>
              <a:rPr lang="en-US" sz="3200" b="1" u="sng" dirty="0"/>
              <a:t>cost overhead </a:t>
            </a:r>
            <a:r>
              <a:rPr lang="en-US" sz="3200" dirty="0"/>
              <a:t>in the system NRE related to the design and validation of maintenance and testing structures.</a:t>
            </a:r>
          </a:p>
          <a:p>
            <a:pPr lvl="2" algn="just"/>
            <a:r>
              <a:rPr lang="en-US" sz="3200" dirty="0"/>
              <a:t>The </a:t>
            </a:r>
            <a:r>
              <a:rPr lang="en-US" sz="3200" b="1" u="sng" dirty="0"/>
              <a:t>impact on the time-to-market </a:t>
            </a:r>
            <a:r>
              <a:rPr lang="en-US" sz="3200" dirty="0"/>
              <a:t>caused by additional development time required for the inclusion of maintainability features</a:t>
            </a:r>
          </a:p>
          <a:p>
            <a:pPr lvl="2" algn="just"/>
            <a:r>
              <a:rPr lang="en-US" sz="3200" dirty="0"/>
              <a:t>The </a:t>
            </a:r>
            <a:r>
              <a:rPr lang="en-US" sz="3200" b="1" u="sng" dirty="0"/>
              <a:t>increase in recurrent costs </a:t>
            </a:r>
            <a:r>
              <a:rPr lang="en-US" sz="3200" dirty="0"/>
              <a:t>caused by the additional hardware components needed in the system to support testing and maintenance.</a:t>
            </a:r>
            <a:endParaRPr lang="en-PH" sz="3100" b="1" dirty="0"/>
          </a:p>
        </p:txBody>
      </p:sp>
    </p:spTree>
    <p:extLst>
      <p:ext uri="{BB962C8B-B14F-4D97-AF65-F5344CB8AC3E}">
        <p14:creationId xmlns:p14="http://schemas.microsoft.com/office/powerpoint/2010/main" val="2226949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CD96-381B-BC32-7A83-060435E66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95454-2455-820B-C6B6-DD5F3DE06DEA}"/>
              </a:ext>
            </a:extLst>
          </p:cNvPr>
          <p:cNvSpPr>
            <a:spLocks noGrp="1"/>
          </p:cNvSpPr>
          <p:nvPr>
            <p:ph type="title"/>
          </p:nvPr>
        </p:nvSpPr>
        <p:spPr>
          <a:xfrm>
            <a:off x="224367" y="330200"/>
            <a:ext cx="11743266" cy="872068"/>
          </a:xfrm>
        </p:spPr>
        <p:txBody>
          <a:bodyPr>
            <a:normAutofit/>
          </a:bodyPr>
          <a:lstStyle/>
          <a:p>
            <a:pPr algn="just"/>
            <a:r>
              <a:rPr lang="en-PH" sz="3600" dirty="0"/>
              <a:t>1.5.6 Reliability and Maintainability</a:t>
            </a:r>
          </a:p>
        </p:txBody>
      </p:sp>
      <p:sp>
        <p:nvSpPr>
          <p:cNvPr id="3" name="Content Placeholder 6">
            <a:extLst>
              <a:ext uri="{FF2B5EF4-FFF2-40B4-BE49-F238E27FC236}">
                <a16:creationId xmlns:a16="http://schemas.microsoft.com/office/drawing/2014/main" id="{61D18D60-C38E-5F7D-AD4C-9DCA5CC52060}"/>
              </a:ext>
            </a:extLst>
          </p:cNvPr>
          <p:cNvSpPr>
            <a:spLocks noGrp="1"/>
          </p:cNvSpPr>
          <p:nvPr>
            <p:ph idx="1"/>
          </p:nvPr>
        </p:nvSpPr>
        <p:spPr>
          <a:xfrm>
            <a:off x="335658" y="1202267"/>
            <a:ext cx="11424541" cy="5266265"/>
          </a:xfrm>
        </p:spPr>
        <p:txBody>
          <a:bodyPr>
            <a:normAutofit/>
          </a:bodyPr>
          <a:lstStyle/>
          <a:p>
            <a:pPr lvl="1" algn="just"/>
            <a:r>
              <a:rPr lang="en-US" sz="3200" dirty="0"/>
              <a:t>Other factors affecting hardware maintainability in deployed systems include problems of component </a:t>
            </a:r>
            <a:r>
              <a:rPr lang="en-US" sz="3200" b="1" u="sng" dirty="0"/>
              <a:t>obsolescenc</a:t>
            </a:r>
            <a:r>
              <a:rPr lang="en-US" sz="3200" dirty="0"/>
              <a:t>e, </a:t>
            </a:r>
            <a:r>
              <a:rPr lang="en-US" sz="3200" b="1" u="sng" dirty="0"/>
              <a:t>accessibility</a:t>
            </a:r>
            <a:r>
              <a:rPr lang="en-US" sz="3200" dirty="0"/>
              <a:t> to embedded hardware components, and </a:t>
            </a:r>
            <a:r>
              <a:rPr lang="en-US" sz="3200" b="1" u="sng" dirty="0"/>
              <a:t>availability</a:t>
            </a:r>
            <a:r>
              <a:rPr lang="en-US" sz="3200" dirty="0"/>
              <a:t> of appropriate documentation to guide changes and repairs.</a:t>
            </a:r>
            <a:endParaRPr lang="en-PH" sz="3100" b="1" dirty="0"/>
          </a:p>
        </p:txBody>
      </p:sp>
    </p:spTree>
    <p:extLst>
      <p:ext uri="{BB962C8B-B14F-4D97-AF65-F5344CB8AC3E}">
        <p14:creationId xmlns:p14="http://schemas.microsoft.com/office/powerpoint/2010/main" val="4657951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B5022-1E06-8CB2-1288-A0C36D6D9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F3A73-1D2E-E9BB-26C5-C50C33F781A8}"/>
              </a:ext>
            </a:extLst>
          </p:cNvPr>
          <p:cNvSpPr>
            <a:spLocks noGrp="1"/>
          </p:cNvSpPr>
          <p:nvPr>
            <p:ph type="title"/>
          </p:nvPr>
        </p:nvSpPr>
        <p:spPr>
          <a:xfrm>
            <a:off x="224367" y="330200"/>
            <a:ext cx="11743266" cy="872068"/>
          </a:xfrm>
        </p:spPr>
        <p:txBody>
          <a:bodyPr>
            <a:normAutofit/>
          </a:bodyPr>
          <a:lstStyle/>
          <a:p>
            <a:pPr algn="just"/>
            <a:r>
              <a:rPr lang="en-PH" sz="3600" dirty="0"/>
              <a:t>1.5.6 Reliability and Maintainability</a:t>
            </a:r>
          </a:p>
        </p:txBody>
      </p:sp>
      <p:sp>
        <p:nvSpPr>
          <p:cNvPr id="3" name="Content Placeholder 6">
            <a:extLst>
              <a:ext uri="{FF2B5EF4-FFF2-40B4-BE49-F238E27FC236}">
                <a16:creationId xmlns:a16="http://schemas.microsoft.com/office/drawing/2014/main" id="{61796608-3818-CFC8-CB38-822ADF76E350}"/>
              </a:ext>
            </a:extLst>
          </p:cNvPr>
          <p:cNvSpPr>
            <a:spLocks noGrp="1"/>
          </p:cNvSpPr>
          <p:nvPr>
            <p:ph idx="1"/>
          </p:nvPr>
        </p:nvSpPr>
        <p:spPr>
          <a:xfrm>
            <a:off x="335658" y="1202267"/>
            <a:ext cx="11424541" cy="5266265"/>
          </a:xfrm>
        </p:spPr>
        <p:txBody>
          <a:bodyPr>
            <a:normAutofit/>
          </a:bodyPr>
          <a:lstStyle/>
          <a:p>
            <a:pPr lvl="1" algn="just"/>
            <a:r>
              <a:rPr lang="en-PH" sz="3200" dirty="0"/>
              <a:t>Issues in Software Maintainability</a:t>
            </a:r>
          </a:p>
          <a:p>
            <a:pPr lvl="2" algn="just"/>
            <a:r>
              <a:rPr lang="en-PH" sz="3200" dirty="0"/>
              <a:t>Unstable requirements</a:t>
            </a:r>
          </a:p>
          <a:p>
            <a:pPr lvl="2" algn="just"/>
            <a:r>
              <a:rPr lang="en-PH" sz="3200" dirty="0"/>
              <a:t>Technology changes</a:t>
            </a:r>
          </a:p>
          <a:p>
            <a:pPr lvl="2" algn="just"/>
            <a:r>
              <a:rPr lang="en-PH" sz="3200" dirty="0"/>
              <a:t>Location of errors</a:t>
            </a:r>
          </a:p>
          <a:p>
            <a:pPr lvl="2" algn="just"/>
            <a:r>
              <a:rPr lang="en-PH" sz="3200" dirty="0"/>
              <a:t>Impact of Change</a:t>
            </a:r>
          </a:p>
          <a:p>
            <a:pPr lvl="2" algn="just"/>
            <a:r>
              <a:rPr lang="en-PH" sz="3200" dirty="0"/>
              <a:t>Need for trained personnel</a:t>
            </a:r>
          </a:p>
        </p:txBody>
      </p:sp>
    </p:spTree>
    <p:extLst>
      <p:ext uri="{BB962C8B-B14F-4D97-AF65-F5344CB8AC3E}">
        <p14:creationId xmlns:p14="http://schemas.microsoft.com/office/powerpoint/2010/main" val="8463863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4FB3-91B0-7AA0-3EB5-37362C206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D3745-9664-138B-04E7-F58F59123419}"/>
              </a:ext>
            </a:extLst>
          </p:cNvPr>
          <p:cNvSpPr>
            <a:spLocks noGrp="1"/>
          </p:cNvSpPr>
          <p:nvPr>
            <p:ph type="title"/>
          </p:nvPr>
        </p:nvSpPr>
        <p:spPr>
          <a:xfrm>
            <a:off x="224367" y="330200"/>
            <a:ext cx="11743266" cy="872068"/>
          </a:xfrm>
        </p:spPr>
        <p:txBody>
          <a:bodyPr>
            <a:normAutofit/>
          </a:bodyPr>
          <a:lstStyle/>
          <a:p>
            <a:pPr algn="just"/>
            <a:r>
              <a:rPr lang="en-PH" sz="3600" dirty="0"/>
              <a:t>1.5.6 Reliability and Maintainability</a:t>
            </a:r>
          </a:p>
        </p:txBody>
      </p:sp>
      <p:sp>
        <p:nvSpPr>
          <p:cNvPr id="3" name="Content Placeholder 6">
            <a:extLst>
              <a:ext uri="{FF2B5EF4-FFF2-40B4-BE49-F238E27FC236}">
                <a16:creationId xmlns:a16="http://schemas.microsoft.com/office/drawing/2014/main" id="{B94C889A-6B12-9878-C66C-3C19FED7284C}"/>
              </a:ext>
            </a:extLst>
          </p:cNvPr>
          <p:cNvSpPr>
            <a:spLocks noGrp="1"/>
          </p:cNvSpPr>
          <p:nvPr>
            <p:ph idx="1"/>
          </p:nvPr>
        </p:nvSpPr>
        <p:spPr>
          <a:xfrm>
            <a:off x="335658" y="1202267"/>
            <a:ext cx="11424541" cy="5266265"/>
          </a:xfrm>
        </p:spPr>
        <p:txBody>
          <a:bodyPr>
            <a:normAutofit/>
          </a:bodyPr>
          <a:lstStyle/>
          <a:p>
            <a:pPr lvl="1" algn="just"/>
            <a:r>
              <a:rPr lang="en-PH" sz="3200" dirty="0"/>
              <a:t>Issues in Software Maintainability</a:t>
            </a:r>
          </a:p>
          <a:p>
            <a:pPr lvl="2" algn="just"/>
            <a:r>
              <a:rPr lang="en-PH" sz="3200" dirty="0"/>
              <a:t>Inadequate documentation</a:t>
            </a:r>
          </a:p>
          <a:p>
            <a:pPr lvl="2" algn="just"/>
            <a:r>
              <a:rPr lang="en-PH" sz="3200" dirty="0"/>
              <a:t>Development versus application environment</a:t>
            </a:r>
          </a:p>
          <a:p>
            <a:pPr lvl="2" algn="just"/>
            <a:r>
              <a:rPr lang="en-PH" sz="3200" dirty="0"/>
              <a:t>Hardware constraints</a:t>
            </a:r>
          </a:p>
          <a:p>
            <a:pPr lvl="2" algn="just"/>
            <a:r>
              <a:rPr lang="en-PH" sz="3200" dirty="0"/>
              <a:t>Testing process</a:t>
            </a:r>
          </a:p>
          <a:p>
            <a:pPr lvl="2" algn="just"/>
            <a:r>
              <a:rPr lang="en-PH" sz="3200" dirty="0"/>
              <a:t>Other problems: </a:t>
            </a:r>
            <a:r>
              <a:rPr lang="en-US" sz="3200" dirty="0"/>
              <a:t>These include software decay, complexity in upgrading processes, physical accessibility, and integration issues, among others. </a:t>
            </a:r>
            <a:endParaRPr lang="en-PH" sz="3200" dirty="0"/>
          </a:p>
        </p:txBody>
      </p:sp>
    </p:spTree>
    <p:extLst>
      <p:ext uri="{BB962C8B-B14F-4D97-AF65-F5344CB8AC3E}">
        <p14:creationId xmlns:p14="http://schemas.microsoft.com/office/powerpoint/2010/main" val="10085954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1EBE72-CD72-4FF2-4445-CA5C59699D77}"/>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72DF316-571A-1471-C48D-701ED647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DD8AC4-50FA-D498-D450-F7055A299703}"/>
              </a:ext>
            </a:extLst>
          </p:cNvPr>
          <p:cNvSpPr>
            <a:spLocks noGrp="1"/>
          </p:cNvSpPr>
          <p:nvPr>
            <p:ph type="ctrTitle"/>
          </p:nvPr>
        </p:nvSpPr>
        <p:spPr>
          <a:xfrm>
            <a:off x="581191" y="1020431"/>
            <a:ext cx="10993549" cy="1475013"/>
          </a:xfrm>
        </p:spPr>
        <p:txBody>
          <a:bodyPr>
            <a:normAutofit/>
          </a:bodyPr>
          <a:lstStyle/>
          <a:p>
            <a:r>
              <a:rPr lang="en-US" sz="4800" dirty="0"/>
              <a:t>CPE 24: Embedded systems</a:t>
            </a:r>
          </a:p>
        </p:txBody>
      </p:sp>
      <p:sp>
        <p:nvSpPr>
          <p:cNvPr id="3" name="Subtitle 2">
            <a:extLst>
              <a:ext uri="{FF2B5EF4-FFF2-40B4-BE49-F238E27FC236}">
                <a16:creationId xmlns:a16="http://schemas.microsoft.com/office/drawing/2014/main" id="{C5C5C311-4373-D3D9-9DCD-4FA720B5AB89}"/>
              </a:ext>
            </a:extLst>
          </p:cNvPr>
          <p:cNvSpPr>
            <a:spLocks noGrp="1"/>
          </p:cNvSpPr>
          <p:nvPr>
            <p:ph type="subTitle" idx="1"/>
          </p:nvPr>
        </p:nvSpPr>
        <p:spPr>
          <a:xfrm>
            <a:off x="581194" y="2495445"/>
            <a:ext cx="10993546" cy="468233"/>
          </a:xfrm>
        </p:spPr>
        <p:txBody>
          <a:bodyPr>
            <a:noAutofit/>
          </a:bodyPr>
          <a:lstStyle/>
          <a:p>
            <a:r>
              <a:rPr lang="en-US" sz="3600" dirty="0"/>
              <a:t>Chapter 2: Embedded software techniques</a:t>
            </a:r>
          </a:p>
        </p:txBody>
      </p:sp>
      <p:sp>
        <p:nvSpPr>
          <p:cNvPr id="20" name="Rectangle 19">
            <a:extLst>
              <a:ext uri="{FF2B5EF4-FFF2-40B4-BE49-F238E27FC236}">
                <a16:creationId xmlns:a16="http://schemas.microsoft.com/office/drawing/2014/main" id="{34189327-A0A9-737E-B056-631FE6925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2" name="Rectangle 21">
            <a:extLst>
              <a:ext uri="{FF2B5EF4-FFF2-40B4-BE49-F238E27FC236}">
                <a16:creationId xmlns:a16="http://schemas.microsoft.com/office/drawing/2014/main" id="{CC0EE551-FD67-ED1C-FDFC-8E722BA61E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4" name="Rectangle 23">
            <a:extLst>
              <a:ext uri="{FF2B5EF4-FFF2-40B4-BE49-F238E27FC236}">
                <a16:creationId xmlns:a16="http://schemas.microsoft.com/office/drawing/2014/main" id="{22B34283-345C-5C43-A27E-87E7969DC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pic>
        <p:nvPicPr>
          <p:cNvPr id="6" name="Picture 5" descr="abstract image">
            <a:extLst>
              <a:ext uri="{FF2B5EF4-FFF2-40B4-BE49-F238E27FC236}">
                <a16:creationId xmlns:a16="http://schemas.microsoft.com/office/drawing/2014/main" id="{AFEFEF3F-4E03-F27C-D5D6-C36E3B0538A0}"/>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18538125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C8E1-7ABD-8BD5-B2D6-1CBFCE294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41DE4-E2F7-DABC-28BE-806DDECF02D9}"/>
              </a:ext>
            </a:extLst>
          </p:cNvPr>
          <p:cNvSpPr>
            <a:spLocks noGrp="1"/>
          </p:cNvSpPr>
          <p:nvPr>
            <p:ph type="title"/>
          </p:nvPr>
        </p:nvSpPr>
        <p:spPr>
          <a:xfrm>
            <a:off x="224367" y="330200"/>
            <a:ext cx="11743266" cy="872068"/>
          </a:xfrm>
        </p:spPr>
        <p:txBody>
          <a:bodyPr>
            <a:normAutofit/>
          </a:bodyPr>
          <a:lstStyle/>
          <a:p>
            <a:pPr algn="just"/>
            <a:r>
              <a:rPr lang="en-PH" sz="3600" dirty="0"/>
              <a:t>Topics covered: </a:t>
            </a:r>
          </a:p>
        </p:txBody>
      </p:sp>
      <p:sp>
        <p:nvSpPr>
          <p:cNvPr id="3" name="Content Placeholder 6">
            <a:extLst>
              <a:ext uri="{FF2B5EF4-FFF2-40B4-BE49-F238E27FC236}">
                <a16:creationId xmlns:a16="http://schemas.microsoft.com/office/drawing/2014/main" id="{BAA50B36-B526-D02D-E8FA-50CAED633E53}"/>
              </a:ext>
            </a:extLst>
          </p:cNvPr>
          <p:cNvSpPr>
            <a:spLocks noGrp="1"/>
          </p:cNvSpPr>
          <p:nvPr>
            <p:ph idx="1"/>
          </p:nvPr>
        </p:nvSpPr>
        <p:spPr>
          <a:xfrm>
            <a:off x="335658" y="1202267"/>
            <a:ext cx="11424541" cy="5266265"/>
          </a:xfrm>
        </p:spPr>
        <p:txBody>
          <a:bodyPr>
            <a:normAutofit/>
          </a:bodyPr>
          <a:lstStyle/>
          <a:p>
            <a:pPr lvl="1" algn="just"/>
            <a:r>
              <a:rPr lang="en-PH" sz="3200" dirty="0"/>
              <a:t>Embedded Firmware Design &amp; Development</a:t>
            </a:r>
          </a:p>
          <a:p>
            <a:pPr lvl="1" algn="just"/>
            <a:r>
              <a:rPr lang="en-US" sz="3200" dirty="0"/>
              <a:t>Embedded firmware Development Languages/Options</a:t>
            </a:r>
          </a:p>
        </p:txBody>
      </p:sp>
    </p:spTree>
    <p:extLst>
      <p:ext uri="{BB962C8B-B14F-4D97-AF65-F5344CB8AC3E}">
        <p14:creationId xmlns:p14="http://schemas.microsoft.com/office/powerpoint/2010/main" val="24920054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772C8-8617-EE8E-581A-431B86122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143DD-D576-E9F0-AEC6-7F05905CCC01}"/>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2A252185-10C4-12A1-C185-EC7F9BFAC3C7}"/>
              </a:ext>
            </a:extLst>
          </p:cNvPr>
          <p:cNvSpPr>
            <a:spLocks noGrp="1"/>
          </p:cNvSpPr>
          <p:nvPr>
            <p:ph idx="1"/>
          </p:nvPr>
        </p:nvSpPr>
        <p:spPr>
          <a:xfrm>
            <a:off x="335658" y="1202267"/>
            <a:ext cx="11424541" cy="5266265"/>
          </a:xfrm>
        </p:spPr>
        <p:txBody>
          <a:bodyPr>
            <a:normAutofit fontScale="92500" lnSpcReduction="10000"/>
          </a:bodyPr>
          <a:lstStyle/>
          <a:p>
            <a:pPr marL="324000" lvl="1" indent="0" algn="just">
              <a:buNone/>
            </a:pPr>
            <a:r>
              <a:rPr lang="en-US" sz="3200" b="1" u="sng" dirty="0"/>
              <a:t>Embedded Firmware</a:t>
            </a:r>
          </a:p>
          <a:p>
            <a:pPr lvl="1" algn="just"/>
            <a:r>
              <a:rPr lang="en-US" sz="3200" dirty="0"/>
              <a:t>The </a:t>
            </a:r>
            <a:r>
              <a:rPr lang="en-US" sz="3200" b="1" u="sng" dirty="0"/>
              <a:t>control algorithm</a:t>
            </a:r>
            <a:r>
              <a:rPr lang="en-US" sz="3200" dirty="0"/>
              <a:t> (Program instructions) and or the configuration settings that an embedded system developer dumps into the </a:t>
            </a:r>
            <a:r>
              <a:rPr lang="en-US" sz="3200" b="1" u="sng" dirty="0"/>
              <a:t>code</a:t>
            </a:r>
            <a:r>
              <a:rPr lang="en-US" sz="3200" dirty="0"/>
              <a:t> (Program) memory of the embedded system </a:t>
            </a:r>
          </a:p>
          <a:p>
            <a:pPr lvl="1" algn="just"/>
            <a:r>
              <a:rPr lang="en-US" sz="3200" dirty="0"/>
              <a:t>It is an un-avoidable part of an embedded system. </a:t>
            </a:r>
          </a:p>
          <a:p>
            <a:pPr lvl="1" algn="just"/>
            <a:r>
              <a:rPr lang="en-US" sz="3200" dirty="0"/>
              <a:t>The embedded firmware can be developed in various methods like:</a:t>
            </a:r>
          </a:p>
          <a:p>
            <a:pPr lvl="2" algn="just"/>
            <a:r>
              <a:rPr lang="en-US" sz="3100" dirty="0"/>
              <a:t>Write the program in </a:t>
            </a:r>
            <a:r>
              <a:rPr lang="en-US" sz="3100" b="1" u="sng" dirty="0"/>
              <a:t>high level languages</a:t>
            </a:r>
            <a:r>
              <a:rPr lang="en-US" sz="3100" dirty="0"/>
              <a:t> like Embedded C/C++ using an Integrated Development Environment (The IDE will contain an editor, compiler, linker, debugger, simulator etc. IDEs are different for different family of processors/controllers). </a:t>
            </a:r>
            <a:endParaRPr lang="en-PH" sz="3100" dirty="0"/>
          </a:p>
        </p:txBody>
      </p:sp>
    </p:spTree>
    <p:extLst>
      <p:ext uri="{BB962C8B-B14F-4D97-AF65-F5344CB8AC3E}">
        <p14:creationId xmlns:p14="http://schemas.microsoft.com/office/powerpoint/2010/main" val="1396258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D2909-503D-1182-3B6E-786ED900B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DE7DF-B3C6-A76A-8448-246E31EEC4E3}"/>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E2F3DC12-13B7-5434-1A45-A8DEE9A27847}"/>
              </a:ext>
            </a:extLst>
          </p:cNvPr>
          <p:cNvSpPr>
            <a:spLocks noGrp="1"/>
          </p:cNvSpPr>
          <p:nvPr>
            <p:ph idx="1"/>
          </p:nvPr>
        </p:nvSpPr>
        <p:spPr>
          <a:xfrm>
            <a:off x="335658" y="1202267"/>
            <a:ext cx="11424541" cy="5266265"/>
          </a:xfrm>
        </p:spPr>
        <p:txBody>
          <a:bodyPr>
            <a:normAutofit fontScale="92500" lnSpcReduction="10000"/>
          </a:bodyPr>
          <a:lstStyle/>
          <a:p>
            <a:pPr lvl="1" algn="just"/>
            <a:r>
              <a:rPr lang="en-US" sz="3200" dirty="0"/>
              <a:t>Write the program in </a:t>
            </a:r>
            <a:r>
              <a:rPr lang="en-US" sz="3200" b="1" u="sng" dirty="0"/>
              <a:t>Assembly Language</a:t>
            </a:r>
            <a:r>
              <a:rPr lang="en-US" sz="3200" dirty="0"/>
              <a:t> using the Instructions Supported by your application‘s target processor/controller.</a:t>
            </a:r>
          </a:p>
          <a:p>
            <a:pPr marL="324000" lvl="1" indent="0" algn="just">
              <a:buNone/>
            </a:pPr>
            <a:r>
              <a:rPr lang="en-PH" sz="3200" b="1" u="sng" dirty="0"/>
              <a:t>Embedded Firmware Design &amp; Development:</a:t>
            </a:r>
            <a:endParaRPr lang="en-US" sz="3200" b="1" u="sng" dirty="0"/>
          </a:p>
          <a:p>
            <a:pPr lvl="1" algn="just"/>
            <a:r>
              <a:rPr lang="en-US" sz="3200" dirty="0"/>
              <a:t>The embedded firmware is responsible for </a:t>
            </a:r>
            <a:r>
              <a:rPr lang="en-US" sz="3200" b="1" u="sng" dirty="0"/>
              <a:t>controlling</a:t>
            </a:r>
            <a:r>
              <a:rPr lang="en-US" sz="3200" dirty="0"/>
              <a:t> the various peripherals of the embedded hardware and generating response in accordance with the functional requirements of the product. </a:t>
            </a:r>
          </a:p>
          <a:p>
            <a:pPr lvl="1" algn="just"/>
            <a:r>
              <a:rPr lang="en-US" sz="3200" dirty="0"/>
              <a:t>The embedded firmware is the </a:t>
            </a:r>
            <a:r>
              <a:rPr lang="en-US" sz="3200" b="1" u="sng" dirty="0"/>
              <a:t>master brain</a:t>
            </a:r>
            <a:r>
              <a:rPr lang="en-US" sz="3200" dirty="0"/>
              <a:t> of the embedded system. </a:t>
            </a:r>
          </a:p>
          <a:p>
            <a:pPr lvl="1" algn="just"/>
            <a:r>
              <a:rPr lang="en-US" sz="3200" dirty="0"/>
              <a:t>The embedded firmware </a:t>
            </a:r>
            <a:r>
              <a:rPr lang="en-US" sz="3200" b="1" u="sng" dirty="0"/>
              <a:t>imparts intelligence</a:t>
            </a:r>
            <a:r>
              <a:rPr lang="en-US" sz="3200" dirty="0"/>
              <a:t> to an Embedded system.</a:t>
            </a:r>
            <a:endParaRPr lang="en-PH" sz="3100" dirty="0"/>
          </a:p>
        </p:txBody>
      </p:sp>
    </p:spTree>
    <p:extLst>
      <p:ext uri="{BB962C8B-B14F-4D97-AF65-F5344CB8AC3E}">
        <p14:creationId xmlns:p14="http://schemas.microsoft.com/office/powerpoint/2010/main" val="32451861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9AAF0-5208-2314-BCF9-C062996B4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E2FF1-78D4-DE9C-B5B7-F54C74CFCE00}"/>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A8188672-CB57-23E2-1FAD-8C46419E1082}"/>
              </a:ext>
            </a:extLst>
          </p:cNvPr>
          <p:cNvSpPr>
            <a:spLocks noGrp="1"/>
          </p:cNvSpPr>
          <p:nvPr>
            <p:ph idx="1"/>
          </p:nvPr>
        </p:nvSpPr>
        <p:spPr>
          <a:xfrm>
            <a:off x="335658" y="1202267"/>
            <a:ext cx="11424541" cy="5266265"/>
          </a:xfrm>
        </p:spPr>
        <p:txBody>
          <a:bodyPr>
            <a:normAutofit lnSpcReduction="10000"/>
          </a:bodyPr>
          <a:lstStyle/>
          <a:p>
            <a:pPr lvl="1" algn="just"/>
            <a:r>
              <a:rPr lang="en-US" sz="3200" dirty="0"/>
              <a:t>The product starts functioning properly once the intelligence imparted to the product by </a:t>
            </a:r>
            <a:r>
              <a:rPr lang="en-US" sz="3200" b="1" u="sng" dirty="0"/>
              <a:t>embedding the firmware</a:t>
            </a:r>
            <a:r>
              <a:rPr lang="en-US" sz="3200" dirty="0"/>
              <a:t> in the hardware. </a:t>
            </a:r>
          </a:p>
          <a:p>
            <a:pPr lvl="1" algn="just"/>
            <a:r>
              <a:rPr lang="en-US" sz="3200" dirty="0"/>
              <a:t>The product will continue serving the assigned task till </a:t>
            </a:r>
            <a:r>
              <a:rPr lang="en-US" sz="3200" b="1" u="sng" dirty="0"/>
              <a:t>hardware breakdown</a:t>
            </a:r>
            <a:r>
              <a:rPr lang="en-US" sz="3200" dirty="0"/>
              <a:t> occurs or a </a:t>
            </a:r>
            <a:r>
              <a:rPr lang="en-US" sz="3200" b="1" u="sng" dirty="0"/>
              <a:t>corruption</a:t>
            </a:r>
            <a:r>
              <a:rPr lang="en-US" sz="3200" dirty="0"/>
              <a:t> in embedded firmware. </a:t>
            </a:r>
          </a:p>
          <a:p>
            <a:pPr lvl="1" algn="just"/>
            <a:r>
              <a:rPr lang="en-US" sz="3200" dirty="0"/>
              <a:t>In case of hardware breakdown , the damaged component may need to be </a:t>
            </a:r>
            <a:r>
              <a:rPr lang="en-US" sz="3200" b="1" u="sng" dirty="0"/>
              <a:t>replaced</a:t>
            </a:r>
            <a:r>
              <a:rPr lang="en-US" sz="3200" dirty="0"/>
              <a:t> and for firmware corruptions the firmware should be </a:t>
            </a:r>
            <a:r>
              <a:rPr lang="en-US" sz="3200" b="1" u="sng" dirty="0"/>
              <a:t>re-loaded</a:t>
            </a:r>
            <a:r>
              <a:rPr lang="en-US" sz="3200" dirty="0"/>
              <a:t>, to bring back the embedded product to the normal functioning.</a:t>
            </a:r>
            <a:endParaRPr lang="en-PH" sz="3100" dirty="0"/>
          </a:p>
        </p:txBody>
      </p:sp>
    </p:spTree>
    <p:extLst>
      <p:ext uri="{BB962C8B-B14F-4D97-AF65-F5344CB8AC3E}">
        <p14:creationId xmlns:p14="http://schemas.microsoft.com/office/powerpoint/2010/main" val="26985066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C9A8D-6CA0-BF78-5921-BBB28FE36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9BB33-5400-3959-2181-C0C0C203CB7A}"/>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75BB87EB-0999-7A53-2F30-B89134CDF95D}"/>
              </a:ext>
            </a:extLst>
          </p:cNvPr>
          <p:cNvSpPr>
            <a:spLocks noGrp="1"/>
          </p:cNvSpPr>
          <p:nvPr>
            <p:ph idx="1"/>
          </p:nvPr>
        </p:nvSpPr>
        <p:spPr>
          <a:xfrm>
            <a:off x="335658" y="1202267"/>
            <a:ext cx="11424541" cy="5266265"/>
          </a:xfrm>
        </p:spPr>
        <p:txBody>
          <a:bodyPr>
            <a:normAutofit/>
          </a:bodyPr>
          <a:lstStyle/>
          <a:p>
            <a:pPr lvl="1" algn="just"/>
            <a:r>
              <a:rPr lang="en-US" sz="3200" dirty="0"/>
              <a:t>The embedded firmware is usually stored in a permanent </a:t>
            </a:r>
            <a:r>
              <a:rPr lang="en-US" sz="3200" b="1" u="sng" dirty="0"/>
              <a:t>memory</a:t>
            </a:r>
            <a:r>
              <a:rPr lang="en-US" sz="3200" dirty="0"/>
              <a:t> (ROM) and it is non alterable by end users. </a:t>
            </a:r>
          </a:p>
          <a:p>
            <a:pPr lvl="1" algn="just"/>
            <a:r>
              <a:rPr lang="en-US" sz="3200" dirty="0"/>
              <a:t>Designing Embedded firmware requires understanding of the particular </a:t>
            </a:r>
            <a:r>
              <a:rPr lang="en-US" sz="3200" b="1" u="sng" dirty="0"/>
              <a:t>embedded product hardware</a:t>
            </a:r>
            <a:r>
              <a:rPr lang="en-US" sz="3200" dirty="0"/>
              <a:t>, like various component interfacing, memory map details, I/O port details, configuration and register details of various hardware chips used and some programming language (either low level Assembly Language or High level language like C/C++ or a combination of the two)</a:t>
            </a:r>
            <a:endParaRPr lang="en-PH" sz="3100" dirty="0"/>
          </a:p>
        </p:txBody>
      </p:sp>
    </p:spTree>
    <p:extLst>
      <p:ext uri="{BB962C8B-B14F-4D97-AF65-F5344CB8AC3E}">
        <p14:creationId xmlns:p14="http://schemas.microsoft.com/office/powerpoint/2010/main" val="15293149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E5759-63A3-1214-E940-E6AE64445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00024-AC70-D5E0-B8AF-866780237A45}"/>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7081AC67-FECD-B97B-DB1E-37BEC5DD33E0}"/>
              </a:ext>
            </a:extLst>
          </p:cNvPr>
          <p:cNvSpPr>
            <a:spLocks noGrp="1"/>
          </p:cNvSpPr>
          <p:nvPr>
            <p:ph idx="1"/>
          </p:nvPr>
        </p:nvSpPr>
        <p:spPr>
          <a:xfrm>
            <a:off x="335658" y="1202267"/>
            <a:ext cx="11424541" cy="5266265"/>
          </a:xfrm>
        </p:spPr>
        <p:txBody>
          <a:bodyPr>
            <a:normAutofit/>
          </a:bodyPr>
          <a:lstStyle/>
          <a:p>
            <a:pPr lvl="1" algn="just"/>
            <a:r>
              <a:rPr lang="en-US" sz="3200" dirty="0"/>
              <a:t>The embedded firmware development process starts with the conversion of the firmware requirements into a </a:t>
            </a:r>
            <a:r>
              <a:rPr lang="en-US" sz="3200" b="1" u="sng" dirty="0"/>
              <a:t>program model</a:t>
            </a:r>
            <a:r>
              <a:rPr lang="en-US" sz="3200" dirty="0"/>
              <a:t> using various modeling tools. </a:t>
            </a:r>
          </a:p>
          <a:p>
            <a:pPr lvl="1" algn="just"/>
            <a:r>
              <a:rPr lang="en-US" sz="3200" dirty="0"/>
              <a:t>The firmware design approaches for embedded product is purely dependent on the </a:t>
            </a:r>
            <a:r>
              <a:rPr lang="en-US" sz="3200" b="1" u="sng" dirty="0"/>
              <a:t>complexity of the functions</a:t>
            </a:r>
            <a:r>
              <a:rPr lang="en-US" sz="3200" dirty="0"/>
              <a:t> to be performed and speed of operation required. There exist two basic approaches for the design and implementation of embedded firmware, namely;</a:t>
            </a:r>
            <a:endParaRPr lang="en-PH" sz="3100" dirty="0"/>
          </a:p>
        </p:txBody>
      </p:sp>
    </p:spTree>
    <p:extLst>
      <p:ext uri="{BB962C8B-B14F-4D97-AF65-F5344CB8AC3E}">
        <p14:creationId xmlns:p14="http://schemas.microsoft.com/office/powerpoint/2010/main" val="20352086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D1CBF-9835-A79C-7C7B-78A8CBEEE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86323-7B4C-943E-FA86-9454C224CFA1}"/>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B400A366-862A-53ED-0549-8009FE773CCD}"/>
              </a:ext>
            </a:extLst>
          </p:cNvPr>
          <p:cNvSpPr>
            <a:spLocks noGrp="1"/>
          </p:cNvSpPr>
          <p:nvPr>
            <p:ph idx="1"/>
          </p:nvPr>
        </p:nvSpPr>
        <p:spPr>
          <a:xfrm>
            <a:off x="335658" y="1202267"/>
            <a:ext cx="11424541" cy="5266265"/>
          </a:xfrm>
        </p:spPr>
        <p:txBody>
          <a:bodyPr>
            <a:normAutofit/>
          </a:bodyPr>
          <a:lstStyle/>
          <a:p>
            <a:pPr marL="324000" lvl="1" indent="0" algn="just">
              <a:buNone/>
            </a:pPr>
            <a:r>
              <a:rPr lang="en-US" sz="3200" dirty="0"/>
              <a:t>The Super loop Approach</a:t>
            </a:r>
          </a:p>
          <a:p>
            <a:pPr lvl="1" algn="just"/>
            <a:r>
              <a:rPr lang="en-US" sz="3200" dirty="0"/>
              <a:t>The Super loop based firmware development approach is Suitable for applications that are </a:t>
            </a:r>
            <a:r>
              <a:rPr lang="en-US" sz="3200" b="1" u="sng" dirty="0"/>
              <a:t>not time critical</a:t>
            </a:r>
            <a:r>
              <a:rPr lang="en-US" sz="3200" dirty="0"/>
              <a:t> and where the response time is not so important</a:t>
            </a:r>
          </a:p>
          <a:p>
            <a:pPr lvl="1" algn="just"/>
            <a:r>
              <a:rPr lang="en-US" sz="3200" dirty="0"/>
              <a:t>It is very similar to a conventional procedural programming where the code is executed task by task. The tasks are executed in a </a:t>
            </a:r>
            <a:r>
              <a:rPr lang="en-US" sz="3200" b="1" u="sng" dirty="0"/>
              <a:t>never-ending loop</a:t>
            </a:r>
            <a:r>
              <a:rPr lang="en-US" sz="3200" dirty="0"/>
              <a:t>. The task listed on top on the program code is executed first and the tasks just below the top are executed after completing the first task.</a:t>
            </a:r>
            <a:endParaRPr lang="en-PH" sz="3100" dirty="0"/>
          </a:p>
        </p:txBody>
      </p:sp>
    </p:spTree>
    <p:extLst>
      <p:ext uri="{BB962C8B-B14F-4D97-AF65-F5344CB8AC3E}">
        <p14:creationId xmlns:p14="http://schemas.microsoft.com/office/powerpoint/2010/main" val="39544488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BEC5-356A-DC3B-D97B-DDCC793D6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1F6C3-0453-6EC1-CBEB-D7D98FD72011}"/>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C465FABA-7905-39A7-6DC9-9A260E58C351}"/>
              </a:ext>
            </a:extLst>
          </p:cNvPr>
          <p:cNvSpPr>
            <a:spLocks noGrp="1"/>
          </p:cNvSpPr>
          <p:nvPr>
            <p:ph idx="1"/>
          </p:nvPr>
        </p:nvSpPr>
        <p:spPr>
          <a:xfrm>
            <a:off x="335658" y="1202267"/>
            <a:ext cx="11424541" cy="5266265"/>
          </a:xfrm>
        </p:spPr>
        <p:txBody>
          <a:bodyPr>
            <a:normAutofit/>
          </a:bodyPr>
          <a:lstStyle/>
          <a:p>
            <a:pPr lvl="1" algn="just"/>
            <a:r>
              <a:rPr lang="en-US" sz="3200" dirty="0"/>
              <a:t>Pros:</a:t>
            </a:r>
          </a:p>
          <a:p>
            <a:pPr lvl="1" algn="just"/>
            <a:r>
              <a:rPr lang="en-US" sz="3200" dirty="0"/>
              <a:t>Doesn‘t require an </a:t>
            </a:r>
            <a:r>
              <a:rPr lang="en-US" sz="3200" b="1" u="sng" dirty="0"/>
              <a:t>Operating System</a:t>
            </a:r>
            <a:r>
              <a:rPr lang="en-US" sz="3200" dirty="0"/>
              <a:t> for task scheduling and monitoring and free from OS related overheads </a:t>
            </a:r>
          </a:p>
          <a:p>
            <a:pPr lvl="1" algn="just"/>
            <a:r>
              <a:rPr lang="en-US" sz="3200" dirty="0"/>
              <a:t>Simple and straight forward design </a:t>
            </a:r>
          </a:p>
          <a:p>
            <a:pPr lvl="1" algn="just"/>
            <a:r>
              <a:rPr lang="en-US" sz="3200" dirty="0"/>
              <a:t>Reduced memory footprint</a:t>
            </a:r>
          </a:p>
        </p:txBody>
      </p:sp>
    </p:spTree>
    <p:extLst>
      <p:ext uri="{BB962C8B-B14F-4D97-AF65-F5344CB8AC3E}">
        <p14:creationId xmlns:p14="http://schemas.microsoft.com/office/powerpoint/2010/main" val="38792832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322FA-B985-F47D-5481-EDC0840F8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58703-62B2-34C3-E2D2-14EA2CEE5C2A}"/>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B5D3FC58-74D8-566E-8BFD-D960B39BBDBE}"/>
              </a:ext>
            </a:extLst>
          </p:cNvPr>
          <p:cNvSpPr>
            <a:spLocks noGrp="1"/>
          </p:cNvSpPr>
          <p:nvPr>
            <p:ph idx="1"/>
          </p:nvPr>
        </p:nvSpPr>
        <p:spPr>
          <a:xfrm>
            <a:off x="335658" y="1202267"/>
            <a:ext cx="11424541" cy="5266265"/>
          </a:xfrm>
        </p:spPr>
        <p:txBody>
          <a:bodyPr>
            <a:normAutofit/>
          </a:bodyPr>
          <a:lstStyle/>
          <a:p>
            <a:pPr lvl="1" algn="just"/>
            <a:r>
              <a:rPr lang="en-US" sz="3200" dirty="0"/>
              <a:t>Cons:</a:t>
            </a:r>
          </a:p>
          <a:p>
            <a:pPr lvl="1" algn="just"/>
            <a:r>
              <a:rPr lang="en-US" sz="3200" b="1" u="sng" dirty="0"/>
              <a:t>Non Real time</a:t>
            </a:r>
            <a:r>
              <a:rPr lang="en-US" sz="3200" dirty="0"/>
              <a:t> in execution behavior (As the number of tasks increases the frequency at which a task gets CPU time for execution also increases) </a:t>
            </a:r>
          </a:p>
          <a:p>
            <a:pPr lvl="1" algn="just"/>
            <a:r>
              <a:rPr lang="en-US" sz="3200" dirty="0"/>
              <a:t>Any issues in any task execution may affect the functioning of the product.</a:t>
            </a:r>
          </a:p>
        </p:txBody>
      </p:sp>
    </p:spTree>
    <p:extLst>
      <p:ext uri="{BB962C8B-B14F-4D97-AF65-F5344CB8AC3E}">
        <p14:creationId xmlns:p14="http://schemas.microsoft.com/office/powerpoint/2010/main" val="31367982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ED1A4-54AE-665D-3D98-A983F2128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A2DE1-680B-276B-DDEF-C586A608EDE7}"/>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F31A9243-96B7-EA1F-1725-85F1C3E2FE27}"/>
              </a:ext>
            </a:extLst>
          </p:cNvPr>
          <p:cNvSpPr>
            <a:spLocks noGrp="1"/>
          </p:cNvSpPr>
          <p:nvPr>
            <p:ph idx="1"/>
          </p:nvPr>
        </p:nvSpPr>
        <p:spPr>
          <a:xfrm>
            <a:off x="335658" y="1202267"/>
            <a:ext cx="11424541" cy="5266265"/>
          </a:xfrm>
        </p:spPr>
        <p:txBody>
          <a:bodyPr>
            <a:normAutofit/>
          </a:bodyPr>
          <a:lstStyle/>
          <a:p>
            <a:pPr lvl="1" algn="just"/>
            <a:r>
              <a:rPr lang="en-US" sz="3200" dirty="0"/>
              <a:t>Enhancement:</a:t>
            </a:r>
          </a:p>
          <a:p>
            <a:pPr lvl="1" algn="just"/>
            <a:r>
              <a:rPr lang="en-US" sz="3200" dirty="0"/>
              <a:t>Combine Super loop based technique with </a:t>
            </a:r>
            <a:r>
              <a:rPr lang="en-US" sz="3200" b="1" u="sng" dirty="0"/>
              <a:t>interrupts</a:t>
            </a:r>
            <a:r>
              <a:rPr lang="en-US" sz="3200" dirty="0"/>
              <a:t> </a:t>
            </a:r>
          </a:p>
          <a:p>
            <a:pPr lvl="1" algn="just"/>
            <a:r>
              <a:rPr lang="en-US" sz="3200" dirty="0"/>
              <a:t>Execute the tasks (like keyboard handling) which require Real time attention as Interrupt Service routines.</a:t>
            </a:r>
          </a:p>
        </p:txBody>
      </p:sp>
    </p:spTree>
    <p:extLst>
      <p:ext uri="{BB962C8B-B14F-4D97-AF65-F5344CB8AC3E}">
        <p14:creationId xmlns:p14="http://schemas.microsoft.com/office/powerpoint/2010/main" val="31761003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E1C3-D035-75C9-1B2B-5EA1D712D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C410B-BBEA-B727-ECF8-7ADCC5D38DA7}"/>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61680A90-FC94-A7AE-DC65-42B1110381C0}"/>
              </a:ext>
            </a:extLst>
          </p:cNvPr>
          <p:cNvSpPr>
            <a:spLocks noGrp="1"/>
          </p:cNvSpPr>
          <p:nvPr>
            <p:ph idx="1"/>
          </p:nvPr>
        </p:nvSpPr>
        <p:spPr>
          <a:xfrm>
            <a:off x="335658" y="1202267"/>
            <a:ext cx="11424541" cy="5266265"/>
          </a:xfrm>
        </p:spPr>
        <p:txBody>
          <a:bodyPr>
            <a:normAutofit/>
          </a:bodyPr>
          <a:lstStyle/>
          <a:p>
            <a:pPr marL="324000" lvl="1" indent="0" algn="just">
              <a:buNone/>
            </a:pPr>
            <a:r>
              <a:rPr lang="en-PH" sz="3200" dirty="0"/>
              <a:t>Embedded OS based Approach</a:t>
            </a:r>
            <a:endParaRPr lang="en-US" sz="3200" dirty="0"/>
          </a:p>
          <a:p>
            <a:pPr lvl="1" algn="just"/>
            <a:r>
              <a:rPr lang="en-US" sz="3200" dirty="0"/>
              <a:t>The embedded device contains an Embedded Operating System which can be one of: </a:t>
            </a:r>
          </a:p>
          <a:p>
            <a:pPr lvl="2" algn="just"/>
            <a:r>
              <a:rPr lang="en-US" sz="3100" dirty="0"/>
              <a:t>A Real Time Operating System (</a:t>
            </a:r>
            <a:r>
              <a:rPr lang="en-US" sz="3100" b="1" u="sng" dirty="0"/>
              <a:t>RTOS</a:t>
            </a:r>
            <a:r>
              <a:rPr lang="en-US" sz="3100" dirty="0"/>
              <a:t>) </a:t>
            </a:r>
          </a:p>
          <a:p>
            <a:pPr lvl="2" algn="just"/>
            <a:r>
              <a:rPr lang="en-US" sz="3100" dirty="0"/>
              <a:t>A Customized General Purpose Operating System (</a:t>
            </a:r>
            <a:r>
              <a:rPr lang="en-US" sz="3100" b="1" u="sng" dirty="0"/>
              <a:t>GPOS</a:t>
            </a:r>
            <a:r>
              <a:rPr lang="en-US" sz="3100" dirty="0"/>
              <a:t>)</a:t>
            </a:r>
          </a:p>
          <a:p>
            <a:pPr lvl="1" algn="just"/>
            <a:r>
              <a:rPr lang="en-US" sz="3200" dirty="0"/>
              <a:t>The Embedded OS is responsible for </a:t>
            </a:r>
            <a:r>
              <a:rPr lang="en-US" sz="3200" b="1" u="sng" dirty="0"/>
              <a:t>scheduling</a:t>
            </a:r>
            <a:r>
              <a:rPr lang="en-US" sz="3200" dirty="0"/>
              <a:t> the execution of user tasks and the </a:t>
            </a:r>
            <a:r>
              <a:rPr lang="en-US" sz="3200" b="1" u="sng" dirty="0"/>
              <a:t>allocation</a:t>
            </a:r>
            <a:r>
              <a:rPr lang="en-US" sz="3200" dirty="0"/>
              <a:t> of system resources among multiple tasks</a:t>
            </a:r>
          </a:p>
          <a:p>
            <a:pPr lvl="2" algn="just"/>
            <a:endParaRPr lang="en-US" sz="3100" dirty="0"/>
          </a:p>
        </p:txBody>
      </p:sp>
    </p:spTree>
    <p:extLst>
      <p:ext uri="{BB962C8B-B14F-4D97-AF65-F5344CB8AC3E}">
        <p14:creationId xmlns:p14="http://schemas.microsoft.com/office/powerpoint/2010/main" val="14602350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76018-872B-1096-47A6-69C608A30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92614-78E5-6FDD-4D77-94D46F7EDDDC}"/>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F2733A8A-5C4B-8C3F-D086-D868A480E292}"/>
              </a:ext>
            </a:extLst>
          </p:cNvPr>
          <p:cNvSpPr>
            <a:spLocks noGrp="1"/>
          </p:cNvSpPr>
          <p:nvPr>
            <p:ph idx="1"/>
          </p:nvPr>
        </p:nvSpPr>
        <p:spPr>
          <a:xfrm>
            <a:off x="335658" y="1202267"/>
            <a:ext cx="11424541" cy="5266265"/>
          </a:xfrm>
        </p:spPr>
        <p:txBody>
          <a:bodyPr>
            <a:normAutofit/>
          </a:bodyPr>
          <a:lstStyle/>
          <a:p>
            <a:pPr lvl="1" algn="just"/>
            <a:r>
              <a:rPr lang="en-PH" sz="3200" dirty="0"/>
              <a:t>It involves </a:t>
            </a:r>
            <a:r>
              <a:rPr lang="en-PH" sz="3200" dirty="0" err="1"/>
              <a:t>alot</a:t>
            </a:r>
            <a:r>
              <a:rPr lang="en-PH" sz="3200" dirty="0"/>
              <a:t> of OS related overheads apart from managing and executing user defined tasks </a:t>
            </a:r>
          </a:p>
          <a:p>
            <a:pPr lvl="1" algn="just"/>
            <a:r>
              <a:rPr lang="en-PH" sz="3200" dirty="0"/>
              <a:t>Microsoft® Windows OS Embedded is an example of GPOS for embedded devices </a:t>
            </a:r>
          </a:p>
          <a:p>
            <a:pPr lvl="1" algn="just"/>
            <a:r>
              <a:rPr lang="en-PH" sz="3200" dirty="0"/>
              <a:t>Point of Sale (</a:t>
            </a:r>
            <a:r>
              <a:rPr lang="en-PH" sz="3200" dirty="0" err="1"/>
              <a:t>PoS</a:t>
            </a:r>
            <a:r>
              <a:rPr lang="en-PH" sz="3200" dirty="0"/>
              <a:t>) terminals, Gaming Stations, Tablet PCs </a:t>
            </a:r>
            <a:r>
              <a:rPr lang="en-PH" sz="3200" dirty="0" err="1"/>
              <a:t>etc</a:t>
            </a:r>
            <a:r>
              <a:rPr lang="en-PH" sz="3200" dirty="0"/>
              <a:t> are examples of embedded devices running on embedded GPOSs. </a:t>
            </a:r>
          </a:p>
        </p:txBody>
      </p:sp>
    </p:spTree>
    <p:extLst>
      <p:ext uri="{BB962C8B-B14F-4D97-AF65-F5344CB8AC3E}">
        <p14:creationId xmlns:p14="http://schemas.microsoft.com/office/powerpoint/2010/main" val="32942956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5CEB6-34FA-0726-556E-2F9803BD1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122FD-78FE-7CB5-5C24-32D3F15D19E8}"/>
              </a:ext>
            </a:extLst>
          </p:cNvPr>
          <p:cNvSpPr>
            <a:spLocks noGrp="1"/>
          </p:cNvSpPr>
          <p:nvPr>
            <p:ph type="title"/>
          </p:nvPr>
        </p:nvSpPr>
        <p:spPr>
          <a:xfrm>
            <a:off x="224367" y="330200"/>
            <a:ext cx="11743266" cy="872068"/>
          </a:xfrm>
        </p:spPr>
        <p:txBody>
          <a:bodyPr>
            <a:normAutofit/>
          </a:bodyPr>
          <a:lstStyle/>
          <a:p>
            <a:pPr algn="just"/>
            <a:r>
              <a:rPr lang="en-PH" sz="3600" dirty="0"/>
              <a:t>2.1 Embedded Firmware Design &amp; Development</a:t>
            </a:r>
          </a:p>
        </p:txBody>
      </p:sp>
      <p:sp>
        <p:nvSpPr>
          <p:cNvPr id="3" name="Content Placeholder 6">
            <a:extLst>
              <a:ext uri="{FF2B5EF4-FFF2-40B4-BE49-F238E27FC236}">
                <a16:creationId xmlns:a16="http://schemas.microsoft.com/office/drawing/2014/main" id="{587517B8-A26D-EDC0-8329-522448FDFE7A}"/>
              </a:ext>
            </a:extLst>
          </p:cNvPr>
          <p:cNvSpPr>
            <a:spLocks noGrp="1"/>
          </p:cNvSpPr>
          <p:nvPr>
            <p:ph idx="1"/>
          </p:nvPr>
        </p:nvSpPr>
        <p:spPr>
          <a:xfrm>
            <a:off x="335658" y="1202267"/>
            <a:ext cx="11424541" cy="5266265"/>
          </a:xfrm>
        </p:spPr>
        <p:txBody>
          <a:bodyPr>
            <a:normAutofit/>
          </a:bodyPr>
          <a:lstStyle/>
          <a:p>
            <a:pPr lvl="1" algn="just"/>
            <a:r>
              <a:rPr lang="en-PH" sz="3200" dirty="0"/>
              <a:t>Windows CE, Windows Mobile, QNX, VxWorks, </a:t>
            </a:r>
            <a:r>
              <a:rPr lang="en-PH" sz="3200" dirty="0" err="1"/>
              <a:t>ThreadX</a:t>
            </a:r>
            <a:r>
              <a:rPr lang="en-PH" sz="3200" dirty="0"/>
              <a:t>, </a:t>
            </a:r>
            <a:r>
              <a:rPr lang="en-PH" sz="3200" dirty="0" err="1"/>
              <a:t>MicroC</a:t>
            </a:r>
            <a:r>
              <a:rPr lang="en-PH" sz="3200" dirty="0"/>
              <a:t>/OS-II, Embedded Linux, Symbian etc. are examples of RTOSs employed in Embedded Product development </a:t>
            </a:r>
          </a:p>
          <a:p>
            <a:pPr lvl="1" algn="just"/>
            <a:r>
              <a:rPr lang="en-PH" sz="3200" dirty="0"/>
              <a:t>Mobile Phones, PDAs, Flight Control Systems etc. are examples of embedded devices that runs on RTOSs </a:t>
            </a:r>
            <a:endParaRPr lang="en-US" sz="3100" dirty="0"/>
          </a:p>
        </p:txBody>
      </p:sp>
    </p:spTree>
    <p:extLst>
      <p:ext uri="{BB962C8B-B14F-4D97-AF65-F5344CB8AC3E}">
        <p14:creationId xmlns:p14="http://schemas.microsoft.com/office/powerpoint/2010/main" val="3964705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E9A33-A0E2-04AC-DC5E-B17A8D7F6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E45D4-AAC7-2DEE-96C8-CED6AFA9BD1E}"/>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56326E3C-B724-664C-792F-DA14C1E3FB5A}"/>
              </a:ext>
            </a:extLst>
          </p:cNvPr>
          <p:cNvSpPr>
            <a:spLocks noGrp="1"/>
          </p:cNvSpPr>
          <p:nvPr>
            <p:ph idx="1"/>
          </p:nvPr>
        </p:nvSpPr>
        <p:spPr>
          <a:xfrm>
            <a:off x="335658" y="1202267"/>
            <a:ext cx="11424541" cy="5266265"/>
          </a:xfrm>
        </p:spPr>
        <p:txBody>
          <a:bodyPr>
            <a:normAutofit/>
          </a:bodyPr>
          <a:lstStyle/>
          <a:p>
            <a:pPr lvl="1" algn="just"/>
            <a:r>
              <a:rPr lang="en-US" sz="3200" dirty="0"/>
              <a:t>Assembly Language </a:t>
            </a:r>
          </a:p>
          <a:p>
            <a:pPr lvl="1" algn="just"/>
            <a:r>
              <a:rPr lang="en-US" sz="3200" dirty="0"/>
              <a:t>High Level Language </a:t>
            </a:r>
          </a:p>
          <a:p>
            <a:pPr lvl="2" algn="just"/>
            <a:r>
              <a:rPr lang="en-US" sz="3100" dirty="0"/>
              <a:t>Subset of C (Embedded C) </a:t>
            </a:r>
          </a:p>
          <a:p>
            <a:pPr lvl="2" algn="just"/>
            <a:r>
              <a:rPr lang="en-US" sz="3100" dirty="0"/>
              <a:t>Subset of C++ (Embedded C++) </a:t>
            </a:r>
          </a:p>
          <a:p>
            <a:pPr lvl="2" algn="just"/>
            <a:r>
              <a:rPr lang="en-US" sz="3100" dirty="0"/>
              <a:t>Any other high level language with supported Cross-compiler</a:t>
            </a:r>
          </a:p>
          <a:p>
            <a:pPr lvl="1" algn="just"/>
            <a:r>
              <a:rPr lang="en-US" sz="3200" dirty="0"/>
              <a:t>Mix of Assembly &amp; High level Language</a:t>
            </a:r>
            <a:endParaRPr lang="en-US" sz="3100" dirty="0"/>
          </a:p>
          <a:p>
            <a:pPr lvl="2" algn="just"/>
            <a:r>
              <a:rPr lang="en-US" sz="3100" dirty="0"/>
              <a:t>Mixing High Level Language (Like C) with Assembly Code</a:t>
            </a:r>
            <a:endParaRPr lang="en-US" sz="3000" dirty="0"/>
          </a:p>
        </p:txBody>
      </p:sp>
    </p:spTree>
    <p:extLst>
      <p:ext uri="{BB962C8B-B14F-4D97-AF65-F5344CB8AC3E}">
        <p14:creationId xmlns:p14="http://schemas.microsoft.com/office/powerpoint/2010/main" val="19201956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EB54A-DF5D-061A-698C-23F722B02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E468E-162E-E8E2-C193-036C1744C28B}"/>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EE47A518-705D-A416-97FA-C77253099392}"/>
              </a:ext>
            </a:extLst>
          </p:cNvPr>
          <p:cNvSpPr>
            <a:spLocks noGrp="1"/>
          </p:cNvSpPr>
          <p:nvPr>
            <p:ph idx="1"/>
          </p:nvPr>
        </p:nvSpPr>
        <p:spPr>
          <a:xfrm>
            <a:off x="335658" y="1202267"/>
            <a:ext cx="11424541" cy="5266265"/>
          </a:xfrm>
        </p:spPr>
        <p:txBody>
          <a:bodyPr>
            <a:normAutofit fontScale="92500" lnSpcReduction="10000"/>
          </a:bodyPr>
          <a:lstStyle/>
          <a:p>
            <a:pPr lvl="1" algn="just"/>
            <a:r>
              <a:rPr lang="en-US" sz="3200" dirty="0"/>
              <a:t>Mixing Assembly code with High Level Language (Like C) </a:t>
            </a:r>
          </a:p>
          <a:p>
            <a:pPr lvl="1" algn="just"/>
            <a:r>
              <a:rPr lang="en-US" sz="3200" dirty="0"/>
              <a:t>Inline Assembly</a:t>
            </a:r>
          </a:p>
          <a:p>
            <a:pPr marL="324000" lvl="1" indent="0" algn="just">
              <a:buNone/>
            </a:pPr>
            <a:r>
              <a:rPr lang="en-US" sz="3200" b="1" u="sng" dirty="0"/>
              <a:t>Assembly Language</a:t>
            </a:r>
            <a:r>
              <a:rPr lang="en-US" sz="3200" dirty="0"/>
              <a:t>:</a:t>
            </a:r>
          </a:p>
          <a:p>
            <a:pPr lvl="1" algn="just"/>
            <a:r>
              <a:rPr lang="en-US" sz="3200" dirty="0"/>
              <a:t>Assembly Language is the human readable notation of machine language</a:t>
            </a:r>
          </a:p>
          <a:p>
            <a:pPr lvl="1" algn="just"/>
            <a:r>
              <a:rPr lang="en-US" sz="3200" dirty="0"/>
              <a:t>Machine language is a processor understandable language </a:t>
            </a:r>
          </a:p>
          <a:p>
            <a:pPr lvl="1" algn="just"/>
            <a:r>
              <a:rPr lang="en-US" sz="3200" dirty="0"/>
              <a:t>Machine language is a binary representation and it consists of 1s and 0s</a:t>
            </a:r>
          </a:p>
          <a:p>
            <a:pPr lvl="1" algn="just"/>
            <a:r>
              <a:rPr lang="en-US" sz="3200" dirty="0"/>
              <a:t>Assembly language and machine languages are processor or controller dependent</a:t>
            </a:r>
            <a:endParaRPr lang="en-US" sz="3000" dirty="0"/>
          </a:p>
        </p:txBody>
      </p:sp>
    </p:spTree>
    <p:extLst>
      <p:ext uri="{BB962C8B-B14F-4D97-AF65-F5344CB8AC3E}">
        <p14:creationId xmlns:p14="http://schemas.microsoft.com/office/powerpoint/2010/main" val="15377647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7FC64-8D26-1A03-3DB0-1FEC93041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E079B-24F6-AD52-ECC9-52CCED513F5B}"/>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AA5B0096-6F61-3A5D-AD59-782BBE3758DF}"/>
              </a:ext>
            </a:extLst>
          </p:cNvPr>
          <p:cNvSpPr>
            <a:spLocks noGrp="1"/>
          </p:cNvSpPr>
          <p:nvPr>
            <p:ph idx="1"/>
          </p:nvPr>
        </p:nvSpPr>
        <p:spPr>
          <a:xfrm>
            <a:off x="335658" y="1202267"/>
            <a:ext cx="11424541" cy="5266265"/>
          </a:xfrm>
        </p:spPr>
        <p:txBody>
          <a:bodyPr>
            <a:normAutofit/>
          </a:bodyPr>
          <a:lstStyle/>
          <a:p>
            <a:pPr lvl="1" algn="just"/>
            <a:r>
              <a:rPr lang="en-US" sz="3200" dirty="0"/>
              <a:t>Assembly language programming is the process of writing processor specific machine code in </a:t>
            </a:r>
            <a:r>
              <a:rPr lang="en-US" sz="3200" b="1" u="sng" dirty="0"/>
              <a:t>mnemonic</a:t>
            </a:r>
            <a:r>
              <a:rPr lang="en-US" sz="3200" dirty="0"/>
              <a:t> form, converting the mnemonics into actual processor instructions (machine language) and associated data using an assembler </a:t>
            </a:r>
          </a:p>
          <a:p>
            <a:pPr lvl="1" algn="just"/>
            <a:r>
              <a:rPr lang="en-US" sz="3200" dirty="0"/>
              <a:t>The general format of an assembly language instruction is an </a:t>
            </a:r>
            <a:r>
              <a:rPr lang="en-US" sz="3200" b="1" u="sng" dirty="0"/>
              <a:t>Opcode</a:t>
            </a:r>
            <a:r>
              <a:rPr lang="en-US" sz="3200" dirty="0"/>
              <a:t> followed by </a:t>
            </a:r>
            <a:r>
              <a:rPr lang="en-US" sz="3200" b="1" u="sng" dirty="0"/>
              <a:t>Operands.</a:t>
            </a:r>
          </a:p>
          <a:p>
            <a:pPr lvl="1" algn="just"/>
            <a:r>
              <a:rPr lang="en-US" sz="3200" dirty="0"/>
              <a:t>The Opcode tells the processor/controller </a:t>
            </a:r>
            <a:r>
              <a:rPr lang="en-US" sz="3200" b="1" u="sng" dirty="0"/>
              <a:t>what to do </a:t>
            </a:r>
            <a:r>
              <a:rPr lang="en-US" sz="3200" dirty="0"/>
              <a:t>and the Operands provide the </a:t>
            </a:r>
            <a:r>
              <a:rPr lang="en-US" sz="3200" b="1" u="sng" dirty="0"/>
              <a:t>data and information</a:t>
            </a:r>
            <a:r>
              <a:rPr lang="en-US" sz="3200" dirty="0"/>
              <a:t> required to perform the action specified by the opcode.</a:t>
            </a:r>
            <a:endParaRPr lang="en-US" sz="3000" b="1" u="sng" dirty="0"/>
          </a:p>
        </p:txBody>
      </p:sp>
    </p:spTree>
    <p:extLst>
      <p:ext uri="{BB962C8B-B14F-4D97-AF65-F5344CB8AC3E}">
        <p14:creationId xmlns:p14="http://schemas.microsoft.com/office/powerpoint/2010/main" val="28351789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E68AB-8D62-6026-9AFE-E821816D1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DF6D9-F616-3292-F986-0168B98F483B}"/>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18087346-36F3-FB82-84DE-19FB01F1E3AF}"/>
              </a:ext>
            </a:extLst>
          </p:cNvPr>
          <p:cNvSpPr>
            <a:spLocks noGrp="1"/>
          </p:cNvSpPr>
          <p:nvPr>
            <p:ph idx="1"/>
          </p:nvPr>
        </p:nvSpPr>
        <p:spPr>
          <a:xfrm>
            <a:off x="335658" y="1202267"/>
            <a:ext cx="11424541" cy="5266265"/>
          </a:xfrm>
        </p:spPr>
        <p:txBody>
          <a:bodyPr>
            <a:normAutofit/>
          </a:bodyPr>
          <a:lstStyle/>
          <a:p>
            <a:pPr lvl="1" algn="just"/>
            <a:r>
              <a:rPr lang="en-US" sz="3200" dirty="0"/>
              <a:t>It is not necessary that all opcode should have Operands following them. Some of the Opcode implicitly contains the operand and in such situation no operand is required. The operand may be a single operand, dual operand or more.</a:t>
            </a:r>
          </a:p>
          <a:p>
            <a:pPr lvl="1" algn="just"/>
            <a:r>
              <a:rPr lang="en-PH" sz="3200" dirty="0"/>
              <a:t>Advantages:</a:t>
            </a:r>
          </a:p>
          <a:p>
            <a:pPr marL="838350" lvl="1" indent="-514350" algn="just">
              <a:buFont typeface="+mj-lt"/>
              <a:buAutoNum type="arabicPeriod"/>
            </a:pPr>
            <a:r>
              <a:rPr lang="en-US" sz="3200" dirty="0"/>
              <a:t>Efficient Code Memory &amp; Data Memory Usage (Memory Optimization):</a:t>
            </a:r>
          </a:p>
          <a:p>
            <a:pPr marL="838350" lvl="1" indent="-514350" algn="just">
              <a:buFont typeface="+mj-lt"/>
              <a:buAutoNum type="arabicPeriod"/>
            </a:pPr>
            <a:r>
              <a:rPr lang="en-PH" sz="3200" dirty="0"/>
              <a:t>High Performance:</a:t>
            </a:r>
          </a:p>
          <a:p>
            <a:pPr marL="838350" lvl="1" indent="-514350" algn="just">
              <a:buFont typeface="+mj-lt"/>
              <a:buAutoNum type="arabicPeriod"/>
            </a:pPr>
            <a:r>
              <a:rPr lang="en-US" sz="3200" dirty="0"/>
              <a:t>Low level Hardware Access:</a:t>
            </a:r>
            <a:endParaRPr lang="en-US" sz="3000" b="1" u="sng" dirty="0"/>
          </a:p>
        </p:txBody>
      </p:sp>
    </p:spTree>
    <p:extLst>
      <p:ext uri="{BB962C8B-B14F-4D97-AF65-F5344CB8AC3E}">
        <p14:creationId xmlns:p14="http://schemas.microsoft.com/office/powerpoint/2010/main" val="9110448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F6581-6315-AB6F-B427-D892D7734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73204-CD3A-FC62-5E46-8D19AF5C0AFC}"/>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0E8599A3-E579-F200-C0C8-DF9DC2EA853E}"/>
              </a:ext>
            </a:extLst>
          </p:cNvPr>
          <p:cNvSpPr>
            <a:spLocks noGrp="1"/>
          </p:cNvSpPr>
          <p:nvPr>
            <p:ph idx="1"/>
          </p:nvPr>
        </p:nvSpPr>
        <p:spPr>
          <a:xfrm>
            <a:off x="335658" y="1202267"/>
            <a:ext cx="11424541" cy="5266265"/>
          </a:xfrm>
        </p:spPr>
        <p:txBody>
          <a:bodyPr>
            <a:normAutofit/>
          </a:bodyPr>
          <a:lstStyle/>
          <a:p>
            <a:pPr lvl="1" algn="just"/>
            <a:r>
              <a:rPr lang="en-US" sz="3200" dirty="0"/>
              <a:t>It is not necessary that all opcode should have Operands following them. Some of the Opcode implicitly contains the operand and in such situation no operand is required. The operand may be a single operand, dual operand or more.</a:t>
            </a:r>
          </a:p>
          <a:p>
            <a:pPr lvl="1" algn="just"/>
            <a:r>
              <a:rPr lang="en-PH" sz="3200" b="1" u="sng" dirty="0"/>
              <a:t>Advantages:</a:t>
            </a:r>
          </a:p>
          <a:p>
            <a:pPr marL="838350" lvl="1" indent="-514350" algn="just">
              <a:buFont typeface="+mj-lt"/>
              <a:buAutoNum type="arabicPeriod"/>
            </a:pPr>
            <a:r>
              <a:rPr lang="en-US" sz="3200" dirty="0"/>
              <a:t>Efficient Code Memory &amp; Data Memory Usage (Memory Optimization): The developer is well aware of the target </a:t>
            </a:r>
            <a:r>
              <a:rPr lang="en-US" sz="3200" b="1" u="sng" dirty="0"/>
              <a:t>processor architecture</a:t>
            </a:r>
            <a:r>
              <a:rPr lang="en-US" sz="3200" dirty="0"/>
              <a:t> and </a:t>
            </a:r>
            <a:r>
              <a:rPr lang="en-US" sz="3200" b="1" u="sng" dirty="0"/>
              <a:t>memory organization</a:t>
            </a:r>
            <a:r>
              <a:rPr lang="en-US" sz="3200" dirty="0"/>
              <a:t>, so optimized code can be written for performing operations.</a:t>
            </a:r>
          </a:p>
        </p:txBody>
      </p:sp>
    </p:spTree>
    <p:extLst>
      <p:ext uri="{BB962C8B-B14F-4D97-AF65-F5344CB8AC3E}">
        <p14:creationId xmlns:p14="http://schemas.microsoft.com/office/powerpoint/2010/main" val="8801135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4DBCB-94AD-3D78-A95A-A9F41E3DD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917F9-6F74-49A5-AB16-C2044E5ADDB2}"/>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27CBB3F0-4D87-C234-6CAF-CA6342AFE560}"/>
              </a:ext>
            </a:extLst>
          </p:cNvPr>
          <p:cNvSpPr>
            <a:spLocks noGrp="1"/>
          </p:cNvSpPr>
          <p:nvPr>
            <p:ph idx="1"/>
          </p:nvPr>
        </p:nvSpPr>
        <p:spPr>
          <a:xfrm>
            <a:off x="335658" y="1202267"/>
            <a:ext cx="11424541" cy="5266265"/>
          </a:xfrm>
        </p:spPr>
        <p:txBody>
          <a:bodyPr>
            <a:normAutofit fontScale="92500"/>
          </a:bodyPr>
          <a:lstStyle/>
          <a:p>
            <a:pPr marL="838350" lvl="1" indent="-514350" algn="just">
              <a:buFont typeface="+mj-lt"/>
              <a:buAutoNum type="arabicPeriod" startAt="2"/>
            </a:pPr>
            <a:r>
              <a:rPr lang="en-US" sz="3200" dirty="0"/>
              <a:t>High Performance: Optimized code not only improves the code memory usage but also improves the total system performance.</a:t>
            </a:r>
          </a:p>
          <a:p>
            <a:pPr marL="838350" lvl="1" indent="-514350" algn="just">
              <a:buFont typeface="+mj-lt"/>
              <a:buAutoNum type="arabicPeriod" startAt="2"/>
            </a:pPr>
            <a:r>
              <a:rPr lang="en-US" sz="3200" dirty="0"/>
              <a:t>Low level Hardware Access: Most of the code for low level programming like accessing external device specific registers from </a:t>
            </a:r>
            <a:r>
              <a:rPr lang="en-US" sz="3200" b="1" u="sng" dirty="0"/>
              <a:t>OS kernel</a:t>
            </a:r>
            <a:r>
              <a:rPr lang="en-US" sz="3200" dirty="0"/>
              <a:t> ,device drivers, and low-level interrupt routines, etc. are making use of </a:t>
            </a:r>
            <a:r>
              <a:rPr lang="en-US" sz="3200" b="1" u="sng" dirty="0"/>
              <a:t>direct assembly coding</a:t>
            </a:r>
            <a:r>
              <a:rPr lang="en-US" sz="3200" dirty="0"/>
              <a:t>.</a:t>
            </a:r>
          </a:p>
          <a:p>
            <a:pPr marL="838350" lvl="1" indent="-514350" algn="just">
              <a:buFont typeface="+mj-lt"/>
              <a:buAutoNum type="arabicPeriod" startAt="2"/>
            </a:pPr>
            <a:r>
              <a:rPr lang="en-US" sz="3200" dirty="0"/>
              <a:t>Code Reverse Engineering: It is the process of understanding the technology behind a product by </a:t>
            </a:r>
            <a:r>
              <a:rPr lang="en-US" sz="3200" b="1" u="sng" dirty="0"/>
              <a:t>extracting</a:t>
            </a:r>
            <a:r>
              <a:rPr lang="en-US" sz="3200" dirty="0"/>
              <a:t> the information from the </a:t>
            </a:r>
            <a:r>
              <a:rPr lang="en-US" sz="3200" b="1" u="sng" dirty="0"/>
              <a:t>finished product</a:t>
            </a:r>
            <a:r>
              <a:rPr lang="en-US" sz="3200" dirty="0"/>
              <a:t>.</a:t>
            </a:r>
          </a:p>
        </p:txBody>
      </p:sp>
    </p:spTree>
    <p:extLst>
      <p:ext uri="{BB962C8B-B14F-4D97-AF65-F5344CB8AC3E}">
        <p14:creationId xmlns:p14="http://schemas.microsoft.com/office/powerpoint/2010/main" val="36953637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CBD98-4EFA-3082-175E-00D08CB57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CDAB2-013E-64F6-507A-53C0F07D9F75}"/>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1A67655E-E2CE-9CD5-EEA0-51F20AAFD5F5}"/>
              </a:ext>
            </a:extLst>
          </p:cNvPr>
          <p:cNvSpPr>
            <a:spLocks noGrp="1"/>
          </p:cNvSpPr>
          <p:nvPr>
            <p:ph idx="1"/>
          </p:nvPr>
        </p:nvSpPr>
        <p:spPr>
          <a:xfrm>
            <a:off x="335658" y="1202267"/>
            <a:ext cx="11424541" cy="5266265"/>
          </a:xfrm>
        </p:spPr>
        <p:txBody>
          <a:bodyPr>
            <a:normAutofit lnSpcReduction="10000"/>
          </a:bodyPr>
          <a:lstStyle/>
          <a:p>
            <a:pPr lvl="1" algn="just"/>
            <a:r>
              <a:rPr lang="en-PH" sz="3200" b="1" u="sng" dirty="0"/>
              <a:t>Drawbacks:</a:t>
            </a:r>
          </a:p>
          <a:p>
            <a:pPr marL="838350" lvl="1" indent="-514350" algn="just">
              <a:buFont typeface="+mj-lt"/>
              <a:buAutoNum type="arabicPeriod"/>
            </a:pPr>
            <a:r>
              <a:rPr lang="en-US" sz="3200" dirty="0"/>
              <a:t>High Development time: The developer takes lot of time to </a:t>
            </a:r>
            <a:r>
              <a:rPr lang="en-US" sz="3200" b="1" u="sng" dirty="0"/>
              <a:t>study</a:t>
            </a:r>
            <a:r>
              <a:rPr lang="en-US" sz="3200" dirty="0"/>
              <a:t> about architecture ,memory organization, addressing modes and instruction set of target processor/controller.</a:t>
            </a:r>
          </a:p>
          <a:p>
            <a:pPr marL="838350" lvl="1" indent="-514350" algn="just">
              <a:buFont typeface="+mj-lt"/>
              <a:buAutoNum type="arabicPeriod"/>
            </a:pPr>
            <a:r>
              <a:rPr lang="en-US" sz="3200" dirty="0"/>
              <a:t>Developer dependency: There is </a:t>
            </a:r>
            <a:r>
              <a:rPr lang="en-US" sz="3200" b="1" u="sng" dirty="0"/>
              <a:t>no common written rule</a:t>
            </a:r>
            <a:r>
              <a:rPr lang="en-US" sz="3200" dirty="0"/>
              <a:t> for developing assembly language based applications.</a:t>
            </a:r>
          </a:p>
          <a:p>
            <a:pPr marL="838350" lvl="1" indent="-514350" algn="just">
              <a:buFont typeface="+mj-lt"/>
              <a:buAutoNum type="arabicPeriod"/>
            </a:pPr>
            <a:r>
              <a:rPr lang="en-US" sz="3200" dirty="0"/>
              <a:t>Non-portable: Target applications written in assembly instructions are valid only for that particular family of processors and </a:t>
            </a:r>
            <a:r>
              <a:rPr lang="en-US" sz="3200" b="1" u="sng" dirty="0"/>
              <a:t>cannot be re-used</a:t>
            </a:r>
            <a:r>
              <a:rPr lang="en-US" sz="3200" dirty="0"/>
              <a:t> for another target processors/controllers.</a:t>
            </a:r>
          </a:p>
        </p:txBody>
      </p:sp>
    </p:spTree>
    <p:extLst>
      <p:ext uri="{BB962C8B-B14F-4D97-AF65-F5344CB8AC3E}">
        <p14:creationId xmlns:p14="http://schemas.microsoft.com/office/powerpoint/2010/main" val="3814332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97F9C-94A2-184C-EC58-A9E1B98C8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AAE6A-FC2E-1F38-846C-ECBF9A038DA3}"/>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257E667B-B3C8-2D75-9B89-D92102CA20AD}"/>
              </a:ext>
            </a:extLst>
          </p:cNvPr>
          <p:cNvSpPr>
            <a:spLocks noGrp="1"/>
          </p:cNvSpPr>
          <p:nvPr>
            <p:ph idx="1"/>
          </p:nvPr>
        </p:nvSpPr>
        <p:spPr>
          <a:xfrm>
            <a:off x="335658" y="1202267"/>
            <a:ext cx="11424541" cy="5266265"/>
          </a:xfrm>
        </p:spPr>
        <p:txBody>
          <a:bodyPr>
            <a:normAutofit/>
          </a:bodyPr>
          <a:lstStyle/>
          <a:p>
            <a:pPr lvl="1" algn="just"/>
            <a:r>
              <a:rPr lang="en-PH" sz="3200" b="1" u="sng" dirty="0"/>
              <a:t>High Level Language (C/C++)</a:t>
            </a:r>
          </a:p>
          <a:p>
            <a:pPr lvl="1" algn="just"/>
            <a:r>
              <a:rPr lang="en-US" sz="3200" dirty="0"/>
              <a:t>The embedded firmware is written in any high level language like C, C++ </a:t>
            </a:r>
          </a:p>
          <a:p>
            <a:pPr lvl="1" algn="just"/>
            <a:r>
              <a:rPr lang="en-US" sz="3200" dirty="0"/>
              <a:t>A software utility called </a:t>
            </a:r>
            <a:r>
              <a:rPr lang="en-US" sz="3200" b="1" u="sng" dirty="0"/>
              <a:t>cross-compiler</a:t>
            </a:r>
            <a:r>
              <a:rPr lang="en-US" sz="3200" dirty="0"/>
              <a:t> converts the high level language to target processor specific machine code</a:t>
            </a:r>
          </a:p>
          <a:p>
            <a:pPr lvl="1" algn="just"/>
            <a:r>
              <a:rPr lang="en-US" sz="3200" dirty="0"/>
              <a:t>The cross-compilation of each module </a:t>
            </a:r>
            <a:r>
              <a:rPr lang="en-US" sz="3200" b="1" u="sng" dirty="0"/>
              <a:t>generates a corresponding object file</a:t>
            </a:r>
            <a:r>
              <a:rPr lang="en-US" sz="3200" dirty="0"/>
              <a:t>. The object file does not contain the absolute address of where the generated code needs to be placed (a re-locatable code) on the program memory.</a:t>
            </a:r>
          </a:p>
        </p:txBody>
      </p:sp>
    </p:spTree>
    <p:extLst>
      <p:ext uri="{BB962C8B-B14F-4D97-AF65-F5344CB8AC3E}">
        <p14:creationId xmlns:p14="http://schemas.microsoft.com/office/powerpoint/2010/main" val="28430040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F80FC-0184-4BF3-B75A-1D6F52DCB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CDE01-0982-5CC7-900D-E178B55C78AF}"/>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99A5E5FE-B941-B13F-3375-5514791689F3}"/>
              </a:ext>
            </a:extLst>
          </p:cNvPr>
          <p:cNvSpPr>
            <a:spLocks noGrp="1"/>
          </p:cNvSpPr>
          <p:nvPr>
            <p:ph idx="1"/>
          </p:nvPr>
        </p:nvSpPr>
        <p:spPr>
          <a:xfrm>
            <a:off x="335658" y="1202267"/>
            <a:ext cx="11424541" cy="5266265"/>
          </a:xfrm>
        </p:spPr>
        <p:txBody>
          <a:bodyPr>
            <a:normAutofit/>
          </a:bodyPr>
          <a:lstStyle/>
          <a:p>
            <a:pPr lvl="1" algn="just"/>
            <a:r>
              <a:rPr lang="en-US" sz="3200" dirty="0"/>
              <a:t>The software program called </a:t>
            </a:r>
            <a:r>
              <a:rPr lang="en-US" sz="3200" b="1" u="sng" dirty="0"/>
              <a:t>linker/locater</a:t>
            </a:r>
            <a:r>
              <a:rPr lang="en-US" sz="3200" dirty="0"/>
              <a:t> is responsible for assigning absolute address to object files during the linking process </a:t>
            </a:r>
          </a:p>
          <a:p>
            <a:pPr lvl="1" algn="just"/>
            <a:r>
              <a:rPr lang="en-US" sz="3200" dirty="0"/>
              <a:t>The Absolute object file created from the object files corresponding to different source code modules contain </a:t>
            </a:r>
            <a:r>
              <a:rPr lang="en-US" sz="3200" b="1" u="sng" dirty="0"/>
              <a:t>information about the address</a:t>
            </a:r>
            <a:r>
              <a:rPr lang="en-US" sz="3200" dirty="0"/>
              <a:t> where each instruction needs to be placed in code memory </a:t>
            </a:r>
          </a:p>
          <a:p>
            <a:pPr lvl="1" algn="just"/>
            <a:r>
              <a:rPr lang="en-US" sz="3200" dirty="0"/>
              <a:t>A software utility called </a:t>
            </a:r>
            <a:r>
              <a:rPr lang="en-US" sz="3200" b="1" u="sng" dirty="0"/>
              <a:t>Object to Hex file converter</a:t>
            </a:r>
            <a:r>
              <a:rPr lang="en-US" sz="3200" dirty="0"/>
              <a:t> translates the absolute object file to corresponding hex file (binary file)</a:t>
            </a:r>
          </a:p>
        </p:txBody>
      </p:sp>
    </p:spTree>
    <p:extLst>
      <p:ext uri="{BB962C8B-B14F-4D97-AF65-F5344CB8AC3E}">
        <p14:creationId xmlns:p14="http://schemas.microsoft.com/office/powerpoint/2010/main" val="35229374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41F7C-468E-A160-3861-545E57842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8F320-C0D7-EC14-EC11-2B6774C5DE65}"/>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CF2F6A28-F2FA-5910-3612-9E577A3554C6}"/>
              </a:ext>
            </a:extLst>
          </p:cNvPr>
          <p:cNvSpPr>
            <a:spLocks noGrp="1"/>
          </p:cNvSpPr>
          <p:nvPr>
            <p:ph idx="1"/>
          </p:nvPr>
        </p:nvSpPr>
        <p:spPr>
          <a:xfrm>
            <a:off x="335658" y="1202267"/>
            <a:ext cx="11424541" cy="5266265"/>
          </a:xfrm>
        </p:spPr>
        <p:txBody>
          <a:bodyPr>
            <a:normAutofit/>
          </a:bodyPr>
          <a:lstStyle/>
          <a:p>
            <a:pPr lvl="1" algn="just"/>
            <a:r>
              <a:rPr lang="en-US" sz="3200" b="1" u="sng" dirty="0"/>
              <a:t>Advantages:</a:t>
            </a:r>
          </a:p>
          <a:p>
            <a:pPr lvl="1" algn="just"/>
            <a:r>
              <a:rPr lang="en-US" sz="3200" b="1" u="sng" dirty="0"/>
              <a:t>Reduced Development time</a:t>
            </a:r>
            <a:r>
              <a:rPr lang="en-US" sz="3200" dirty="0"/>
              <a:t>: Developer requires less or little knowledge on internal hardware details and architecture of the target processor/Controller. </a:t>
            </a:r>
          </a:p>
          <a:p>
            <a:pPr lvl="1" algn="just"/>
            <a:r>
              <a:rPr lang="en-US" sz="3200" b="1" u="sng" dirty="0"/>
              <a:t>Developer independency</a:t>
            </a:r>
            <a:r>
              <a:rPr lang="en-US" sz="3200" dirty="0"/>
              <a:t>: The syntax used by most of the high level languages are universal and a program written high level can easily understand by a second person knowing the syntax of the language </a:t>
            </a:r>
          </a:p>
        </p:txBody>
      </p:sp>
    </p:spTree>
    <p:extLst>
      <p:ext uri="{BB962C8B-B14F-4D97-AF65-F5344CB8AC3E}">
        <p14:creationId xmlns:p14="http://schemas.microsoft.com/office/powerpoint/2010/main" val="3497277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C2CD2-E4D5-5507-5C70-401C6E789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D2007-D209-907D-F186-85E24E184D8B}"/>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7FC1F577-8445-D26D-1982-55B9366553FE}"/>
              </a:ext>
            </a:extLst>
          </p:cNvPr>
          <p:cNvSpPr>
            <a:spLocks noGrp="1"/>
          </p:cNvSpPr>
          <p:nvPr>
            <p:ph idx="1"/>
          </p:nvPr>
        </p:nvSpPr>
        <p:spPr>
          <a:xfrm>
            <a:off x="335658" y="1202267"/>
            <a:ext cx="11424541" cy="5266265"/>
          </a:xfrm>
        </p:spPr>
        <p:txBody>
          <a:bodyPr>
            <a:normAutofit/>
          </a:bodyPr>
          <a:lstStyle/>
          <a:p>
            <a:pPr lvl="1" algn="just"/>
            <a:r>
              <a:rPr lang="en-US" sz="3200" b="1" u="sng" dirty="0"/>
              <a:t>Portability:</a:t>
            </a:r>
            <a:r>
              <a:rPr lang="en-US" sz="3200" dirty="0"/>
              <a:t> An Application written in high level language for particular target processor/controller can be easily be converted to another target processor/controller specific application with little or less effort.</a:t>
            </a:r>
            <a:endParaRPr lang="en-US" sz="3200" b="1" u="sng" dirty="0"/>
          </a:p>
          <a:p>
            <a:pPr lvl="1" algn="just"/>
            <a:r>
              <a:rPr lang="en-PH" sz="3200" b="1" u="sng" dirty="0"/>
              <a:t>Drawbacks:</a:t>
            </a:r>
            <a:r>
              <a:rPr lang="en-PH" sz="3200" dirty="0"/>
              <a:t> </a:t>
            </a:r>
            <a:endParaRPr lang="en-US" sz="3200" dirty="0"/>
          </a:p>
          <a:p>
            <a:pPr lvl="1" algn="just"/>
            <a:r>
              <a:rPr lang="en-US" sz="3200" dirty="0"/>
              <a:t>The cross compilers may not be efficient in generating the optimized target </a:t>
            </a:r>
            <a:r>
              <a:rPr lang="en-US" sz="3200" b="1" u="sng" dirty="0"/>
              <a:t>processor specific instructions</a:t>
            </a:r>
            <a:r>
              <a:rPr lang="en-US" sz="3200" dirty="0"/>
              <a:t>. </a:t>
            </a:r>
          </a:p>
          <a:p>
            <a:pPr lvl="1" algn="just"/>
            <a:r>
              <a:rPr lang="en-US" sz="3200" dirty="0"/>
              <a:t>Target images created by such compilers may be </a:t>
            </a:r>
            <a:r>
              <a:rPr lang="en-US" sz="3200" b="1" u="sng" dirty="0"/>
              <a:t>messy and non-optimized</a:t>
            </a:r>
            <a:r>
              <a:rPr lang="en-US" sz="3200" dirty="0"/>
              <a:t> in terms of performance as well as code size. </a:t>
            </a:r>
          </a:p>
        </p:txBody>
      </p:sp>
    </p:spTree>
    <p:extLst>
      <p:ext uri="{BB962C8B-B14F-4D97-AF65-F5344CB8AC3E}">
        <p14:creationId xmlns:p14="http://schemas.microsoft.com/office/powerpoint/2010/main" val="13612201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9F6E8-BC6E-E51F-99AD-FF031550B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79008-E3B6-3B59-6A6A-481930F55700}"/>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600F2578-3F46-498A-3064-F3A42DC6631C}"/>
              </a:ext>
            </a:extLst>
          </p:cNvPr>
          <p:cNvSpPr>
            <a:spLocks noGrp="1"/>
          </p:cNvSpPr>
          <p:nvPr>
            <p:ph idx="1"/>
          </p:nvPr>
        </p:nvSpPr>
        <p:spPr>
          <a:xfrm>
            <a:off x="335658" y="1202267"/>
            <a:ext cx="11424541" cy="5266265"/>
          </a:xfrm>
        </p:spPr>
        <p:txBody>
          <a:bodyPr>
            <a:normAutofit/>
          </a:bodyPr>
          <a:lstStyle/>
          <a:p>
            <a:pPr lvl="1" algn="just"/>
            <a:r>
              <a:rPr lang="en-US" sz="3200" dirty="0"/>
              <a:t>The investment required for high level language based development tools (IDE) is </a:t>
            </a:r>
            <a:r>
              <a:rPr lang="en-US" sz="3200" b="1" u="sng" dirty="0"/>
              <a:t>high</a:t>
            </a:r>
            <a:r>
              <a:rPr lang="en-US" sz="3200" dirty="0"/>
              <a:t> compared to Assembly Language based firmware development tools.</a:t>
            </a:r>
          </a:p>
          <a:p>
            <a:pPr marL="324000" lvl="1" indent="0" algn="just">
              <a:buNone/>
            </a:pPr>
            <a:r>
              <a:rPr lang="en-US" sz="3200" b="1" u="sng" dirty="0"/>
              <a:t>Mixing of Assembly Language with High Level Language:</a:t>
            </a:r>
          </a:p>
          <a:p>
            <a:pPr lvl="1" algn="just"/>
            <a:r>
              <a:rPr lang="en-US" sz="3200" dirty="0"/>
              <a:t>Embedded firmware development may require the </a:t>
            </a:r>
            <a:r>
              <a:rPr lang="en-US" sz="3200" b="1" u="sng" dirty="0"/>
              <a:t>mixing</a:t>
            </a:r>
            <a:r>
              <a:rPr lang="en-US" sz="3200" dirty="0"/>
              <a:t> of </a:t>
            </a:r>
            <a:r>
              <a:rPr lang="en-US" sz="3200" b="1" u="sng" dirty="0"/>
              <a:t>Assembly</a:t>
            </a:r>
            <a:r>
              <a:rPr lang="en-US" sz="3200" dirty="0"/>
              <a:t> Language with </a:t>
            </a:r>
            <a:r>
              <a:rPr lang="en-US" sz="3200" b="1" u="sng" dirty="0"/>
              <a:t>high level</a:t>
            </a:r>
            <a:r>
              <a:rPr lang="en-US" sz="3200" dirty="0"/>
              <a:t> language or vice versa.</a:t>
            </a:r>
          </a:p>
          <a:p>
            <a:pPr lvl="1" algn="just"/>
            <a:r>
              <a:rPr lang="en-US" sz="3200" dirty="0"/>
              <a:t>Interrupt handling and Source code is already available in high level language/Assembly Language etc. are examples.</a:t>
            </a:r>
            <a:endParaRPr lang="en-US" sz="3200" b="1" u="sng" dirty="0"/>
          </a:p>
        </p:txBody>
      </p:sp>
    </p:spTree>
    <p:extLst>
      <p:ext uri="{BB962C8B-B14F-4D97-AF65-F5344CB8AC3E}">
        <p14:creationId xmlns:p14="http://schemas.microsoft.com/office/powerpoint/2010/main" val="35878591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61C9A-5808-5B2C-786A-1FE4F45C2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DBAA1-4DB4-2A99-5F69-B24A7090E11C}"/>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B3E7E1F9-8E79-CA4E-3B3F-87DFB6C03173}"/>
              </a:ext>
            </a:extLst>
          </p:cNvPr>
          <p:cNvSpPr>
            <a:spLocks noGrp="1"/>
          </p:cNvSpPr>
          <p:nvPr>
            <p:ph idx="1"/>
          </p:nvPr>
        </p:nvSpPr>
        <p:spPr>
          <a:xfrm>
            <a:off x="335658" y="1202267"/>
            <a:ext cx="11424541" cy="5266265"/>
          </a:xfrm>
        </p:spPr>
        <p:txBody>
          <a:bodyPr>
            <a:normAutofit/>
          </a:bodyPr>
          <a:lstStyle/>
          <a:p>
            <a:pPr lvl="1" algn="just"/>
            <a:r>
              <a:rPr lang="en-US" sz="3200" dirty="0"/>
              <a:t>High Level language and low level language can be mixed in three different ways</a:t>
            </a:r>
          </a:p>
          <a:p>
            <a:pPr lvl="2" algn="just"/>
            <a:r>
              <a:rPr lang="en-US" sz="3100" dirty="0"/>
              <a:t>Mixing Assembly Language with High level language like C</a:t>
            </a:r>
          </a:p>
          <a:p>
            <a:pPr lvl="2" algn="just"/>
            <a:r>
              <a:rPr lang="en-US" sz="3100" dirty="0"/>
              <a:t>Mixing High level language like C with Assembly Language </a:t>
            </a:r>
          </a:p>
          <a:p>
            <a:pPr lvl="2" algn="just"/>
            <a:r>
              <a:rPr lang="en-US" sz="3100" dirty="0"/>
              <a:t>In line Assembly</a:t>
            </a:r>
          </a:p>
          <a:p>
            <a:pPr lvl="1" algn="just"/>
            <a:r>
              <a:rPr lang="en-US" sz="3200" dirty="0"/>
              <a:t>The passing of parameters and return values between the high level and low level language is cross-compiler specific.</a:t>
            </a:r>
          </a:p>
        </p:txBody>
      </p:sp>
    </p:spTree>
    <p:extLst>
      <p:ext uri="{BB962C8B-B14F-4D97-AF65-F5344CB8AC3E}">
        <p14:creationId xmlns:p14="http://schemas.microsoft.com/office/powerpoint/2010/main" val="999526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0742E-255C-136A-D039-40D16A030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076E8-98AD-0ECF-1B04-6A4B85A38C71}"/>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D661A756-366A-AAFF-C99C-CFDACA32B915}"/>
              </a:ext>
            </a:extLst>
          </p:cNvPr>
          <p:cNvSpPr>
            <a:spLocks noGrp="1"/>
          </p:cNvSpPr>
          <p:nvPr>
            <p:ph idx="1"/>
          </p:nvPr>
        </p:nvSpPr>
        <p:spPr>
          <a:xfrm>
            <a:off x="335658" y="1202267"/>
            <a:ext cx="11424541" cy="5266265"/>
          </a:xfrm>
        </p:spPr>
        <p:txBody>
          <a:bodyPr>
            <a:normAutofit/>
          </a:bodyPr>
          <a:lstStyle/>
          <a:p>
            <a:pPr marL="324000" lvl="1" indent="0" algn="just">
              <a:buNone/>
            </a:pPr>
            <a:r>
              <a:rPr lang="en-PH" sz="3200" b="1" u="sng" dirty="0"/>
              <a:t>Assembly Language with C</a:t>
            </a:r>
          </a:p>
          <a:p>
            <a:pPr lvl="1" algn="just"/>
            <a:r>
              <a:rPr lang="en-US" sz="3200" dirty="0"/>
              <a:t>Assembly routines are mixed with C in situations where the entire program is written in C and the cross compiler in use do not have </a:t>
            </a:r>
            <a:r>
              <a:rPr lang="en-US" sz="3200" b="1" u="sng" dirty="0"/>
              <a:t>built in support</a:t>
            </a:r>
            <a:r>
              <a:rPr lang="en-US" sz="3200" dirty="0"/>
              <a:t> for implementing certain features like </a:t>
            </a:r>
            <a:r>
              <a:rPr lang="en-US" sz="3200" b="1" u="sng" dirty="0"/>
              <a:t>ISR</a:t>
            </a:r>
            <a:r>
              <a:rPr lang="en-US" sz="3200" dirty="0"/>
              <a:t>. </a:t>
            </a:r>
          </a:p>
          <a:p>
            <a:pPr lvl="1" algn="just"/>
            <a:r>
              <a:rPr lang="en-US" sz="3200" dirty="0"/>
              <a:t>If the programmer wants to take advantage of the </a:t>
            </a:r>
            <a:r>
              <a:rPr lang="en-US" sz="3200" b="1" u="sng" dirty="0"/>
              <a:t>speed and optimized code</a:t>
            </a:r>
            <a:r>
              <a:rPr lang="en-US" sz="3200" dirty="0"/>
              <a:t> offered by the machine code generated by hand written assembly rather than cross compiler generated machine code.</a:t>
            </a:r>
          </a:p>
        </p:txBody>
      </p:sp>
    </p:spTree>
    <p:extLst>
      <p:ext uri="{BB962C8B-B14F-4D97-AF65-F5344CB8AC3E}">
        <p14:creationId xmlns:p14="http://schemas.microsoft.com/office/powerpoint/2010/main" val="37061144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9878E-433E-BA29-BE4E-A8D2B8E7B8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64962-B3D8-E66E-A76E-F3666831CA11}"/>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7F9907F3-C9AB-6556-CFBB-E3E7F650B34D}"/>
              </a:ext>
            </a:extLst>
          </p:cNvPr>
          <p:cNvSpPr>
            <a:spLocks noGrp="1"/>
          </p:cNvSpPr>
          <p:nvPr>
            <p:ph idx="1"/>
          </p:nvPr>
        </p:nvSpPr>
        <p:spPr>
          <a:xfrm>
            <a:off x="335658" y="1202267"/>
            <a:ext cx="11424541" cy="5266265"/>
          </a:xfrm>
        </p:spPr>
        <p:txBody>
          <a:bodyPr>
            <a:normAutofit/>
          </a:bodyPr>
          <a:lstStyle/>
          <a:p>
            <a:pPr lvl="1" algn="just"/>
            <a:r>
              <a:rPr lang="en-US" sz="3200" dirty="0"/>
              <a:t>For accessing certain low level hardware ,the </a:t>
            </a:r>
            <a:r>
              <a:rPr lang="en-US" sz="3200" b="1" u="sng" dirty="0"/>
              <a:t>timing specifications</a:t>
            </a:r>
            <a:r>
              <a:rPr lang="en-US" sz="3200" dirty="0"/>
              <a:t> may be very critical and cross compiler generated machine code may not be able to offer the required time specifications accurately.</a:t>
            </a:r>
          </a:p>
          <a:p>
            <a:pPr lvl="1" algn="just"/>
            <a:r>
              <a:rPr lang="en-US" sz="3200" dirty="0"/>
              <a:t>Writing the hardware/peripheral access routine in processor/controller specific assembly language and </a:t>
            </a:r>
            <a:r>
              <a:rPr lang="en-US" sz="3200" b="1" u="sng" dirty="0"/>
              <a:t>invoking it from C </a:t>
            </a:r>
            <a:r>
              <a:rPr lang="en-US" sz="3200" dirty="0"/>
              <a:t>is the most advised method. Mixing C and assembly is </a:t>
            </a:r>
            <a:r>
              <a:rPr lang="en-US" sz="3200" b="1" u="sng" dirty="0"/>
              <a:t>little complicated</a:t>
            </a:r>
            <a:r>
              <a:rPr lang="en-US" sz="3200" dirty="0"/>
              <a:t>. </a:t>
            </a:r>
          </a:p>
        </p:txBody>
      </p:sp>
    </p:spTree>
    <p:extLst>
      <p:ext uri="{BB962C8B-B14F-4D97-AF65-F5344CB8AC3E}">
        <p14:creationId xmlns:p14="http://schemas.microsoft.com/office/powerpoint/2010/main" val="12959449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2FCC2-51AD-7613-CEF1-BE5DAD52C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D097F-1F4F-A13B-6896-D20FE864D63B}"/>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9862E4EA-D8E9-EF4B-29E5-67F108E95576}"/>
              </a:ext>
            </a:extLst>
          </p:cNvPr>
          <p:cNvSpPr>
            <a:spLocks noGrp="1"/>
          </p:cNvSpPr>
          <p:nvPr>
            <p:ph idx="1"/>
          </p:nvPr>
        </p:nvSpPr>
        <p:spPr>
          <a:xfrm>
            <a:off x="335658" y="1202267"/>
            <a:ext cx="11424541" cy="5266265"/>
          </a:xfrm>
        </p:spPr>
        <p:txBody>
          <a:bodyPr>
            <a:normAutofit/>
          </a:bodyPr>
          <a:lstStyle/>
          <a:p>
            <a:pPr lvl="1" algn="just"/>
            <a:r>
              <a:rPr lang="en-US" sz="3200" dirty="0"/>
              <a:t>The programmer must be aware of how to pass parameters from the C routine to assembly and values returned from assembly routine to C and how Assembly routine is invoked from the C code.</a:t>
            </a:r>
          </a:p>
          <a:p>
            <a:pPr marL="324000" lvl="1" indent="0" algn="just">
              <a:buNone/>
            </a:pPr>
            <a:r>
              <a:rPr lang="en-US" sz="3200" b="1" u="sng" dirty="0"/>
              <a:t>C with Assembly Language:</a:t>
            </a:r>
          </a:p>
          <a:p>
            <a:pPr lvl="1" algn="just"/>
            <a:r>
              <a:rPr lang="en-US" sz="3200" dirty="0"/>
              <a:t>The source code is </a:t>
            </a:r>
            <a:r>
              <a:rPr lang="en-US" sz="3200" b="1" u="sng" dirty="0"/>
              <a:t>already available in assembly language</a:t>
            </a:r>
            <a:r>
              <a:rPr lang="en-US" sz="3200" dirty="0"/>
              <a:t> and routine written in a high level language needs to be included to the existing code.</a:t>
            </a:r>
            <a:endParaRPr lang="en-US" sz="3200" b="1" u="sng" dirty="0"/>
          </a:p>
        </p:txBody>
      </p:sp>
    </p:spTree>
    <p:extLst>
      <p:ext uri="{BB962C8B-B14F-4D97-AF65-F5344CB8AC3E}">
        <p14:creationId xmlns:p14="http://schemas.microsoft.com/office/powerpoint/2010/main" val="40856761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B0EA-1FC3-34BA-0F10-1AB2392FE0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2EF43-D95F-4B5B-7374-9D7B458343B6}"/>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8FB5C3DB-A94C-25FA-DDAC-E277014E9EB3}"/>
              </a:ext>
            </a:extLst>
          </p:cNvPr>
          <p:cNvSpPr>
            <a:spLocks noGrp="1"/>
          </p:cNvSpPr>
          <p:nvPr>
            <p:ph idx="1"/>
          </p:nvPr>
        </p:nvSpPr>
        <p:spPr>
          <a:xfrm>
            <a:off x="335658" y="1202267"/>
            <a:ext cx="11424541" cy="5266265"/>
          </a:xfrm>
        </p:spPr>
        <p:txBody>
          <a:bodyPr>
            <a:normAutofit lnSpcReduction="10000"/>
          </a:bodyPr>
          <a:lstStyle/>
          <a:p>
            <a:pPr lvl="1" algn="just"/>
            <a:r>
              <a:rPr lang="en-US" sz="3200" dirty="0"/>
              <a:t>The entire source code is planned in Assembly code for various reasons like </a:t>
            </a:r>
            <a:r>
              <a:rPr lang="en-US" sz="3200" b="1" u="sng" dirty="0"/>
              <a:t>optimized code, optimal performance, efficient code</a:t>
            </a:r>
            <a:r>
              <a:rPr lang="en-US" sz="3200" dirty="0"/>
              <a:t> memory utilization and proven expertise in handling the assembly. </a:t>
            </a:r>
          </a:p>
          <a:p>
            <a:pPr lvl="1" algn="just"/>
            <a:r>
              <a:rPr lang="en-US" sz="3200" dirty="0"/>
              <a:t>The functions written in C use parameter passing to the function and returns values to the calling functions.</a:t>
            </a:r>
          </a:p>
          <a:p>
            <a:pPr lvl="1" algn="just"/>
            <a:r>
              <a:rPr lang="en-US" sz="3200" dirty="0"/>
              <a:t>The programmer must be aware of </a:t>
            </a:r>
            <a:r>
              <a:rPr lang="en-US" sz="3200" b="1" u="sng" dirty="0"/>
              <a:t>how parameters are passed to the function</a:t>
            </a:r>
            <a:r>
              <a:rPr lang="en-US" sz="3200" dirty="0"/>
              <a:t> and how values </a:t>
            </a:r>
            <a:r>
              <a:rPr lang="en-US" sz="3200" b="1" u="sng" dirty="0"/>
              <a:t>returned</a:t>
            </a:r>
            <a:r>
              <a:rPr lang="en-US" sz="3200" dirty="0"/>
              <a:t> from the function and how function is </a:t>
            </a:r>
            <a:r>
              <a:rPr lang="en-US" sz="3200" b="1" u="sng" dirty="0"/>
              <a:t>invoked</a:t>
            </a:r>
            <a:r>
              <a:rPr lang="en-US" sz="3200" dirty="0"/>
              <a:t> from the assembly language environment.</a:t>
            </a:r>
            <a:endParaRPr lang="en-US" sz="3200" b="1" u="sng" dirty="0"/>
          </a:p>
        </p:txBody>
      </p:sp>
    </p:spTree>
    <p:extLst>
      <p:ext uri="{BB962C8B-B14F-4D97-AF65-F5344CB8AC3E}">
        <p14:creationId xmlns:p14="http://schemas.microsoft.com/office/powerpoint/2010/main" val="7979172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36610-DB04-5E20-DA5F-FE0BFDA8A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D279E-EFDB-1ECD-CC12-0FB009AD0B98}"/>
              </a:ext>
            </a:extLst>
          </p:cNvPr>
          <p:cNvSpPr>
            <a:spLocks noGrp="1"/>
          </p:cNvSpPr>
          <p:nvPr>
            <p:ph type="title"/>
          </p:nvPr>
        </p:nvSpPr>
        <p:spPr>
          <a:xfrm>
            <a:off x="224367" y="330200"/>
            <a:ext cx="11743266" cy="973667"/>
          </a:xfrm>
        </p:spPr>
        <p:txBody>
          <a:bodyPr>
            <a:normAutofit/>
          </a:bodyPr>
          <a:lstStyle/>
          <a:p>
            <a:pPr algn="just"/>
            <a:r>
              <a:rPr lang="en-PH" sz="3600" dirty="0"/>
              <a:t>2.2 </a:t>
            </a:r>
            <a:r>
              <a:rPr lang="en-US" sz="3600" dirty="0"/>
              <a:t>Embedded firmware Development Languages</a:t>
            </a:r>
            <a:endParaRPr lang="en-PH" sz="3600" dirty="0"/>
          </a:p>
        </p:txBody>
      </p:sp>
      <p:sp>
        <p:nvSpPr>
          <p:cNvPr id="3" name="Content Placeholder 6">
            <a:extLst>
              <a:ext uri="{FF2B5EF4-FFF2-40B4-BE49-F238E27FC236}">
                <a16:creationId xmlns:a16="http://schemas.microsoft.com/office/drawing/2014/main" id="{563D7B8A-2346-ED51-EC48-336642690E03}"/>
              </a:ext>
            </a:extLst>
          </p:cNvPr>
          <p:cNvSpPr>
            <a:spLocks noGrp="1"/>
          </p:cNvSpPr>
          <p:nvPr>
            <p:ph idx="1"/>
          </p:nvPr>
        </p:nvSpPr>
        <p:spPr>
          <a:xfrm>
            <a:off x="335658" y="1202267"/>
            <a:ext cx="11424541" cy="5266265"/>
          </a:xfrm>
        </p:spPr>
        <p:txBody>
          <a:bodyPr>
            <a:normAutofit/>
          </a:bodyPr>
          <a:lstStyle/>
          <a:p>
            <a:pPr marL="324000" lvl="1" indent="0" algn="just">
              <a:buNone/>
            </a:pPr>
            <a:r>
              <a:rPr lang="en-US" sz="3200" b="1" u="sng" dirty="0"/>
              <a:t>Inline Assembly:</a:t>
            </a:r>
          </a:p>
          <a:p>
            <a:pPr lvl="1" algn="just"/>
            <a:r>
              <a:rPr lang="en-US" sz="3200" dirty="0"/>
              <a:t>Inline assembly is </a:t>
            </a:r>
            <a:r>
              <a:rPr lang="en-US" sz="3200" b="1" u="sng" dirty="0"/>
              <a:t>another technique</a:t>
            </a:r>
            <a:r>
              <a:rPr lang="en-US" sz="3200" dirty="0"/>
              <a:t> for inserting the target processor/controller specific assembly instructions at any location of source code written in high level language C.</a:t>
            </a:r>
          </a:p>
          <a:p>
            <a:pPr lvl="1" algn="just"/>
            <a:r>
              <a:rPr lang="en-US" sz="3200" dirty="0"/>
              <a:t>Inline Assembly </a:t>
            </a:r>
            <a:r>
              <a:rPr lang="en-US" sz="3200" b="1" u="sng" dirty="0"/>
              <a:t>avoids the delay</a:t>
            </a:r>
            <a:r>
              <a:rPr lang="en-US" sz="3200" dirty="0"/>
              <a:t> in calling an assembly routine from a C code.</a:t>
            </a:r>
          </a:p>
          <a:p>
            <a:pPr lvl="1" algn="just"/>
            <a:r>
              <a:rPr lang="en-US" sz="3200" dirty="0"/>
              <a:t>Special keywords are used to indicate the start and end of Assembly instructions.</a:t>
            </a:r>
            <a:endParaRPr lang="en-US" sz="3200" b="1" u="sng" dirty="0"/>
          </a:p>
        </p:txBody>
      </p:sp>
    </p:spTree>
    <p:extLst>
      <p:ext uri="{BB962C8B-B14F-4D97-AF65-F5344CB8AC3E}">
        <p14:creationId xmlns:p14="http://schemas.microsoft.com/office/powerpoint/2010/main" val="2433610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F9C14-DF46-DB04-2CC6-9AD2E6533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2D6F0-580D-5DB0-3DB8-272B662435A1}"/>
              </a:ext>
            </a:extLst>
          </p:cNvPr>
          <p:cNvSpPr>
            <a:spLocks noGrp="1"/>
          </p:cNvSpPr>
          <p:nvPr>
            <p:ph type="title"/>
          </p:nvPr>
        </p:nvSpPr>
        <p:spPr>
          <a:xfrm>
            <a:off x="224367" y="330200"/>
            <a:ext cx="11743266" cy="973667"/>
          </a:xfrm>
        </p:spPr>
        <p:txBody>
          <a:bodyPr>
            <a:normAutofit/>
          </a:bodyPr>
          <a:lstStyle/>
          <a:p>
            <a:pPr algn="just"/>
            <a:r>
              <a:rPr lang="en-US" sz="3600" dirty="0"/>
              <a:t>Seatwork</a:t>
            </a:r>
            <a:endParaRPr lang="en-PH" sz="3600" dirty="0"/>
          </a:p>
        </p:txBody>
      </p:sp>
      <p:sp>
        <p:nvSpPr>
          <p:cNvPr id="3" name="Content Placeholder 6">
            <a:extLst>
              <a:ext uri="{FF2B5EF4-FFF2-40B4-BE49-F238E27FC236}">
                <a16:creationId xmlns:a16="http://schemas.microsoft.com/office/drawing/2014/main" id="{803E662D-1F7C-608D-88E2-403074BB9B46}"/>
              </a:ext>
            </a:extLst>
          </p:cNvPr>
          <p:cNvSpPr>
            <a:spLocks noGrp="1"/>
          </p:cNvSpPr>
          <p:nvPr>
            <p:ph idx="1"/>
          </p:nvPr>
        </p:nvSpPr>
        <p:spPr>
          <a:xfrm>
            <a:off x="335658" y="1202267"/>
            <a:ext cx="11424541" cy="5266265"/>
          </a:xfrm>
        </p:spPr>
        <p:txBody>
          <a:bodyPr>
            <a:normAutofit/>
          </a:bodyPr>
          <a:lstStyle/>
          <a:p>
            <a:pPr marL="324000" lvl="1" indent="0" algn="just">
              <a:buNone/>
            </a:pPr>
            <a:r>
              <a:rPr lang="en-US" sz="3200" dirty="0"/>
              <a:t>Determine and discuss the function of the hardware components of the given Embedded system application and classify each if it is INPUT or OUTPUT.</a:t>
            </a:r>
          </a:p>
          <a:p>
            <a:pPr lvl="1" algn="just"/>
            <a:r>
              <a:rPr lang="en-US" sz="3200" dirty="0"/>
              <a:t>Microwave Oven</a:t>
            </a:r>
          </a:p>
          <a:p>
            <a:pPr lvl="1" algn="just"/>
            <a:r>
              <a:rPr lang="en-US" sz="3200" dirty="0"/>
              <a:t>Multimedia Player</a:t>
            </a:r>
          </a:p>
          <a:p>
            <a:pPr marL="324000" lvl="1" indent="0" algn="just">
              <a:buNone/>
            </a:pPr>
            <a:r>
              <a:rPr lang="en-US" sz="3200" dirty="0"/>
              <a:t>Write your answer in ½ cross-wise yellow pad paper. Black/Blue </a:t>
            </a:r>
            <a:r>
              <a:rPr lang="en-US" sz="3200"/>
              <a:t>ballpen only.</a:t>
            </a:r>
            <a:endParaRPr lang="en-US" sz="3200" dirty="0"/>
          </a:p>
        </p:txBody>
      </p:sp>
    </p:spTree>
    <p:extLst>
      <p:ext uri="{BB962C8B-B14F-4D97-AF65-F5344CB8AC3E}">
        <p14:creationId xmlns:p14="http://schemas.microsoft.com/office/powerpoint/2010/main" val="1182061197"/>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{9677DAA6-0F2F-4BDF-8FDD-0F6833FC44E6}TF201209c3-d067-44f9-a26f-c8f216c443132338b0b8_win32-bd4b3b67ca24</Template>
  <TotalTime>261</TotalTime>
  <Words>6153</Words>
  <Application>Microsoft Office PowerPoint</Application>
  <PresentationFormat>Widescreen</PresentationFormat>
  <Paragraphs>365</Paragraphs>
  <Slides>94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94</vt:i4>
      </vt:variant>
    </vt:vector>
  </HeadingPairs>
  <TitlesOfParts>
    <vt:vector size="99" baseType="lpstr">
      <vt:lpstr>Cambria Math</vt:lpstr>
      <vt:lpstr>Franklin Gothic Book</vt:lpstr>
      <vt:lpstr>Franklin Gothic Demi</vt:lpstr>
      <vt:lpstr>Wingdings 2</vt:lpstr>
      <vt:lpstr>DividendVTI</vt:lpstr>
      <vt:lpstr>CPE 24: Embedded systems</vt:lpstr>
      <vt:lpstr>Topics covered:</vt:lpstr>
      <vt:lpstr>1.1 embedded systems: history and overview</vt:lpstr>
      <vt:lpstr>1.1 embedded systems: history and overview</vt:lpstr>
      <vt:lpstr>1.1.1 Early forms of embedded systems</vt:lpstr>
      <vt:lpstr>1.1.1 Early forms of embedded systems</vt:lpstr>
      <vt:lpstr>1.1.1 Early forms of embedded systems</vt:lpstr>
      <vt:lpstr>1.1.1 Early forms of embedded systems</vt:lpstr>
      <vt:lpstr>1.1.2 birth and evolution of modern embedded systems</vt:lpstr>
      <vt:lpstr>1.1.2 birth and evolution of modern embedded systems</vt:lpstr>
      <vt:lpstr>1.1.2 birth and evolution of modern embedded systems</vt:lpstr>
      <vt:lpstr>1.1.2 birth and evolution of modern embedded systems</vt:lpstr>
      <vt:lpstr>1.1.2 birth and evolution of modern embedded systems</vt:lpstr>
      <vt:lpstr>1.1.2 birth and evolution of modern embedded systems</vt:lpstr>
      <vt:lpstr>1.1.2 birth and evolution of modern embedded systems</vt:lpstr>
      <vt:lpstr>1.1.3 Contemporary embedded systems</vt:lpstr>
      <vt:lpstr>1.1.3 Contemporary embedded systems</vt:lpstr>
      <vt:lpstr>1.1.3 Contemporary embedded systems</vt:lpstr>
      <vt:lpstr>1.2 structure of embedded system</vt:lpstr>
      <vt:lpstr>1.2 structure of embedded system</vt:lpstr>
      <vt:lpstr>1.2 structure of embedded system</vt:lpstr>
      <vt:lpstr>1.2.1 Hardware components</vt:lpstr>
      <vt:lpstr>1.2.1 Hardware components</vt:lpstr>
      <vt:lpstr>1.2.1 Hardware components</vt:lpstr>
      <vt:lpstr>1.2.1 Hardware components</vt:lpstr>
      <vt:lpstr>1.2.2 SOFTware components</vt:lpstr>
      <vt:lpstr>1.2.2 SOFTware components</vt:lpstr>
      <vt:lpstr>1.2.2 SOFTware components</vt:lpstr>
      <vt:lpstr>1.2.2 SOFTware components</vt:lpstr>
      <vt:lpstr>1.3 classification of embedded systems</vt:lpstr>
      <vt:lpstr>1.3 classification of embedded systems</vt:lpstr>
      <vt:lpstr>1.3 classification of embedded systems</vt:lpstr>
      <vt:lpstr>1.3 classification of embedded systems</vt:lpstr>
      <vt:lpstr>1.3 classification of embedded systems</vt:lpstr>
      <vt:lpstr>1.4 The Life Cycle of Embedded Designs </vt:lpstr>
      <vt:lpstr>1.4 The Life Cycle of Embedded Designs </vt:lpstr>
      <vt:lpstr>1.4 The Life Cycle of Embedded Designs </vt:lpstr>
      <vt:lpstr>1.5 Design Constraints</vt:lpstr>
      <vt:lpstr>1.5 Design Constraints</vt:lpstr>
      <vt:lpstr>1.5 design constraints</vt:lpstr>
      <vt:lpstr>1.5.1 functionality</vt:lpstr>
      <vt:lpstr>1.5.1 functionality</vt:lpstr>
      <vt:lpstr>1.5.1 functionality</vt:lpstr>
      <vt:lpstr>1.5.2 Cost</vt:lpstr>
      <vt:lpstr>1.5.2 Cost</vt:lpstr>
      <vt:lpstr>1.5.2 Cost</vt:lpstr>
      <vt:lpstr>1.5.3 Performance</vt:lpstr>
      <vt:lpstr>1.5.3 Performance</vt:lpstr>
      <vt:lpstr>1.5.3 Performance</vt:lpstr>
      <vt:lpstr>1.5.3 Performance</vt:lpstr>
      <vt:lpstr>1.5.4 Power and Energy</vt:lpstr>
      <vt:lpstr>1.5.4 Power and Energy</vt:lpstr>
      <vt:lpstr>1.5.4 Power and Energy</vt:lpstr>
      <vt:lpstr>1.5.4 Power and Energy</vt:lpstr>
      <vt:lpstr>1.5.5 Time-to-Market</vt:lpstr>
      <vt:lpstr>1.5.6 Reliability and Maintainability</vt:lpstr>
      <vt:lpstr>1.5.6 Reliability and Maintainability</vt:lpstr>
      <vt:lpstr>1.5.6 Reliability and Maintainability</vt:lpstr>
      <vt:lpstr>1.5.6 Reliability and Maintainability</vt:lpstr>
      <vt:lpstr>1.5.6 Reliability and Maintainability</vt:lpstr>
      <vt:lpstr>1.5.6 Reliability and Maintainability</vt:lpstr>
      <vt:lpstr>CPE 24: Embedded systems</vt:lpstr>
      <vt:lpstr>Topics covered: </vt:lpstr>
      <vt:lpstr>2.1 Embedded Firmware Design &amp; Development</vt:lpstr>
      <vt:lpstr>2.1 Embedded Firmware Design &amp; Development</vt:lpstr>
      <vt:lpstr>2.1 Embedded Firmware Design &amp; Development</vt:lpstr>
      <vt:lpstr>2.1 Embedded Firmware Design &amp; Development</vt:lpstr>
      <vt:lpstr>2.1 Embedded Firmware Design &amp; Development</vt:lpstr>
      <vt:lpstr>2.1 Embedded Firmware Design &amp; Development</vt:lpstr>
      <vt:lpstr>2.1 Embedded Firmware Design &amp; Development</vt:lpstr>
      <vt:lpstr>2.1 Embedded Firmware Design &amp; Development</vt:lpstr>
      <vt:lpstr>2.1 Embedded Firmware Design &amp; Development</vt:lpstr>
      <vt:lpstr>2.1 Embedded Firmware Design &amp; Development</vt:lpstr>
      <vt:lpstr>2.1 Embedded Firmware Design &amp; Development</vt:lpstr>
      <vt:lpstr>2.1 Embedded Firmware Design &amp; Development</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2.2 Embedded firmware Development Languages</vt:lpstr>
      <vt:lpstr>Seatwork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Dean Adrian Nombrefia</dc:creator>
  <cp:lastModifiedBy>Dave Paduada</cp:lastModifiedBy>
  <cp:revision>10</cp:revision>
  <dcterms:created xsi:type="dcterms:W3CDTF">2025-08-13T02:36:27Z</dcterms:created>
  <dcterms:modified xsi:type="dcterms:W3CDTF">2025-09-10T18:01:45Z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