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2304A2-8077-45C1-983B-07767BB49967}" type="datetimeFigureOut">
              <a:rPr lang="en-PH" smtClean="0"/>
              <a:t>18/11/2025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5696E5-77DC-4C2A-9369-28957A3084D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81131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696E5-77DC-4C2A-9369-28957A3084DF}" type="slidenum">
              <a:rPr lang="en-PH" smtClean="0"/>
              <a:t>25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777091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B434B-F2F1-777C-64D0-0B002573F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BB033B-78B5-8B9B-A00B-05C82BE838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C6B796-2E9B-0E73-E35C-E3E75AB540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7F2C82-5C12-5DFE-49C7-9457BB66A0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696E5-77DC-4C2A-9369-28957A3084DF}" type="slidenum">
              <a:rPr lang="en-PH" smtClean="0"/>
              <a:t>26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660013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FC8EA-AFD5-8498-C84E-339E67A73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27CC27-559B-9D9B-2921-E48C472320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BE2978-771C-C928-31AF-BE19130D70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A8B2D3-BCF4-3C1C-87FC-DBD7CF3ED9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696E5-77DC-4C2A-9369-28957A3084DF}" type="slidenum">
              <a:rPr lang="en-PH" smtClean="0"/>
              <a:t>27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988020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0DB15-60D1-CE8A-0A7A-C61A4273B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F23AA5-8409-26CF-DF59-1D91B6625F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B6D670-9E81-6FEF-E74A-0E59C0D614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F83C23-E6DD-AD90-0213-3760F3B331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696E5-77DC-4C2A-9369-28957A3084DF}" type="slidenum">
              <a:rPr lang="en-PH" smtClean="0"/>
              <a:t>28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926720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B8EA6-F808-815E-D40D-C0F7AA835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8A4957-4491-AE52-871D-54740FC38B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1B502B-FEB5-8C3C-E04B-CA273679B1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C9EFD4-6F83-D9CD-D20B-42EECBB91B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696E5-77DC-4C2A-9369-28957A3084DF}" type="slidenum">
              <a:rPr lang="en-PH" smtClean="0"/>
              <a:t>29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626317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E6227-F279-0D28-E3D6-9DA42E8A7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30820A-A5F4-785A-CB21-ADF5C3FCF6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682957-0153-79EA-1394-3A2E4612A1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55212E-057C-ABF5-ECF9-C2A04FE333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696E5-77DC-4C2A-9369-28957A3084DF}" type="slidenum">
              <a:rPr lang="en-PH" smtClean="0"/>
              <a:t>30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473330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08C7D-95B1-88EA-5FC9-7EFB04064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64E39E-9358-4EA7-31F1-CE6D4C533B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17F7F3-323A-D14A-837B-2B848C93F3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669E8C-6BBC-9DD1-F30A-355EA4D62B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696E5-77DC-4C2A-9369-28957A3084DF}" type="slidenum">
              <a:rPr lang="en-PH" smtClean="0"/>
              <a:t>31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06956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EAC64-A7B1-49BE-96CF-21ACD016F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2DA7EA-2C82-43E4-3FCC-03A52ED73A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E91DBD-DCB7-1EE7-7DB1-0E6F3C677F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3E5EFC-3973-6BFC-424B-3CFE5816D1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696E5-77DC-4C2A-9369-28957A3084DF}" type="slidenum">
              <a:rPr lang="en-PH" smtClean="0"/>
              <a:t>32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93958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8CD74-6EE9-7B75-8BCA-FF03442D5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D8CC64-95A8-1B29-99E4-EFC7015120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3CD8BB-43BA-E88F-B6FF-E4BF35DFCA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64BFAD-BE5F-93D3-F6C5-15C61F0221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696E5-77DC-4C2A-9369-28957A3084DF}" type="slidenum">
              <a:rPr lang="en-PH" smtClean="0"/>
              <a:t>33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307592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C355C-967F-C6BF-49F3-9BC55C542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806AF4-9684-E2BA-33E7-36A328566E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B80E8E-E013-2269-D571-907464BC96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E17D57-B97D-F57B-FE2A-82D87B1936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696E5-77DC-4C2A-9369-28957A3084DF}" type="slidenum">
              <a:rPr lang="en-PH" smtClean="0"/>
              <a:t>34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658841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22E2E-9F36-E86C-B547-8FBE53B71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D22591-0B54-E1FD-3690-98010DBFB9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20E4F6-8B70-951A-AB8B-B8FA9FAE37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925AE1-B9C3-26F9-AEDC-28ED445F90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696E5-77DC-4C2A-9369-28957A3084DF}" type="slidenum">
              <a:rPr lang="en-PH" smtClean="0"/>
              <a:t>35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639941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38AAC-A524-753F-296E-24B78BA50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F5822C-643A-5035-B7D6-7547EAD254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C028AD-815C-6E73-E05F-F25EF6B302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0AC302-99F1-D369-8C81-D39C6DEB42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696E5-77DC-4C2A-9369-28957A3084DF}" type="slidenum">
              <a:rPr lang="en-PH" smtClean="0"/>
              <a:t>36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404391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31B71-9A4F-1A86-5A48-9AD74F30C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AF4A2C-9B1E-321D-F9A2-9759C2EA82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D6E4A4-8B4B-3178-7791-3F6A8AA0B1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66C0BC-BA26-CE72-F200-30CC3AAD30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696E5-77DC-4C2A-9369-28957A3084DF}" type="slidenum">
              <a:rPr lang="en-PH" smtClean="0"/>
              <a:t>37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654374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85001-8109-484E-2979-936F6FFCD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8FC37E-3168-208F-A618-85EEB3FD91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B4AA0E-0FB4-C1E3-7F3C-685CF23FE1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EF8BD3-E607-CE19-D2EC-9B522B2435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696E5-77DC-4C2A-9369-28957A3084DF}" type="slidenum">
              <a:rPr lang="en-PH" smtClean="0"/>
              <a:t>38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337005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36FC1-C6C8-A223-2443-E05B6A41D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CA2F33-F541-F801-4236-1C6BA7C356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CC828E-F5F8-03D2-6217-79E7D46D33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B95FDA-0A34-54B7-DA22-46B6A7263E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696E5-77DC-4C2A-9369-28957A3084DF}" type="slidenum">
              <a:rPr lang="en-PH" smtClean="0"/>
              <a:t>39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471502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87D53-5EDB-C884-6360-AA5F9511F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1FB8DD-B7B1-7EBD-8D83-7579C3E5F8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07D602-DB5E-78AE-6EFA-678B1959B9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D8974C-BBBD-028E-5565-A76BAE027A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696E5-77DC-4C2A-9369-28957A3084DF}" type="slidenum">
              <a:rPr lang="en-PH" smtClean="0"/>
              <a:t>40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318159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D2C2B-A47A-8535-7A8B-7064B1716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45FC4E-68D6-2CF0-E09D-CBD721DFCB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E528FA-ED37-7BC3-0147-3EA0980360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7299DF-9F1C-9D35-DA62-14891970EE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696E5-77DC-4C2A-9369-28957A3084DF}" type="slidenum">
              <a:rPr lang="en-PH" smtClean="0"/>
              <a:t>41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03011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22FD5-7CF8-6FE4-B505-BCBFE04AB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398FE1-B4D1-2B71-59BB-421CF42218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AF8CF3-7847-E014-951D-5AEC7232C7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F4960A-2ADC-9F46-333C-792264732B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696E5-77DC-4C2A-9369-28957A3084DF}" type="slidenum">
              <a:rPr lang="en-PH" smtClean="0"/>
              <a:t>42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565995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6DF91-BF20-A7FF-B2C9-63DBF56C0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658B51-35DD-9CCF-5C39-92C97E2ABB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B756D2-DECE-3E8A-51A5-0DE27C2AD1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50BDBE-3B26-BB3C-106F-D18297C453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696E5-77DC-4C2A-9369-28957A3084DF}" type="slidenum">
              <a:rPr lang="en-PH" smtClean="0"/>
              <a:t>43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4115614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25CA2-F3CE-D754-B2CC-4A18AEC3B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D0D71D-9584-B1B0-160A-6977774E1B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B5A519-8CF6-B116-54C5-4CD3DD1AF4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40BB63-8393-E04C-1AAB-3AE3F2DAD5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696E5-77DC-4C2A-9369-28957A3084DF}" type="slidenum">
              <a:rPr lang="en-PH" smtClean="0"/>
              <a:t>44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30076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7CC7E-ED90-2678-5A5A-04BD65A05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4F96CB-B0A7-43E5-8C21-ACF756C8B6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8F9862-3AE6-E6E8-0B02-F6AF5C7BA6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15102C-D3F0-B492-7A26-3E4ECF39F5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696E5-77DC-4C2A-9369-28957A3084DF}" type="slidenum">
              <a:rPr lang="en-PH" smtClean="0"/>
              <a:t>45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895573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99BA9-F33E-C13F-E456-887803BCE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02B238-1CA7-80F2-1855-67951E9DAA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19F264-7DA4-0613-2840-BF261F1BA3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061156-C8EB-D3D6-1744-B78B5118BD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696E5-77DC-4C2A-9369-28957A3084DF}" type="slidenum">
              <a:rPr lang="en-PH" smtClean="0"/>
              <a:t>46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6871741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981AC-D2CB-6136-5C02-CF56D0645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F65028-D620-36FC-D901-C34D63CEA1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ED275C-2FA9-4FCD-5915-CF27CCD724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E7BD3F-32EC-CFAD-9ABD-79172AB772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696E5-77DC-4C2A-9369-28957A3084DF}" type="slidenum">
              <a:rPr lang="en-PH" smtClean="0"/>
              <a:t>47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075907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02124-752B-9AD4-F021-03B5428ED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A1B615-865D-CA9E-A41F-AAE332883A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045CB2-83E2-19E7-0F66-CBFFA696AF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4C0F37-BF17-3C68-9DE2-02FA1354BB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696E5-77DC-4C2A-9369-28957A3084DF}" type="slidenum">
              <a:rPr lang="en-PH" smtClean="0"/>
              <a:t>48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1414176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E81F6-B2C4-9994-D66B-3B5EE53A6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C82525-CA52-A278-D93D-8E8584CE99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EBA543-2EDC-BAE6-2859-AEA97793A7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914AFE-7F89-7D78-66C3-9355B3B68F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696E5-77DC-4C2A-9369-28957A3084DF}" type="slidenum">
              <a:rPr lang="en-PH" smtClean="0"/>
              <a:t>49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547406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CB7E8-B03E-B422-CCC5-FC091402B1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875169"/>
          </a:xfrm>
        </p:spPr>
        <p:txBody>
          <a:bodyPr>
            <a:normAutofit/>
          </a:bodyPr>
          <a:lstStyle/>
          <a:p>
            <a:r>
              <a:rPr lang="en-PH" sz="4400" dirty="0"/>
              <a:t>Implementation Strategies for complex embedded systems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40CAAB-BE48-099A-B87A-1B990EEC04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1" y="3240512"/>
            <a:ext cx="10993546" cy="590321"/>
          </a:xfrm>
        </p:spPr>
        <p:txBody>
          <a:bodyPr/>
          <a:lstStyle/>
          <a:p>
            <a:endParaRPr lang="en-PH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9290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6F207-8CEF-F721-C847-271405593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sz="3200" dirty="0"/>
              <a:t>Lifecycle models: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5E4A4-0317-A953-FF2A-7DC54FB56A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867" y="1905000"/>
            <a:ext cx="11658599" cy="4758267"/>
          </a:xfrm>
        </p:spPr>
        <p:txBody>
          <a:bodyPr>
            <a:noAutofit/>
          </a:bodyPr>
          <a:lstStyle/>
          <a:p>
            <a:r>
              <a:rPr lang="en-US" sz="3200" dirty="0"/>
              <a:t>The fundamentals of design are </a:t>
            </a:r>
          </a:p>
          <a:p>
            <a:pPr lvl="1"/>
            <a:r>
              <a:rPr lang="en-US" sz="3200" dirty="0"/>
              <a:t>Find out what the </a:t>
            </a:r>
            <a:r>
              <a:rPr lang="en-US" sz="3200" b="1" u="sng" dirty="0"/>
              <a:t>customers want</a:t>
            </a:r>
            <a:r>
              <a:rPr lang="en-US" sz="3200" dirty="0"/>
              <a:t>. </a:t>
            </a:r>
          </a:p>
          <a:p>
            <a:pPr lvl="1"/>
            <a:r>
              <a:rPr lang="en-US" sz="3200" dirty="0"/>
              <a:t>Think of a </a:t>
            </a:r>
            <a:r>
              <a:rPr lang="en-US" sz="3200" b="1" u="sng" dirty="0"/>
              <a:t>way</a:t>
            </a:r>
            <a:r>
              <a:rPr lang="en-US" sz="3200" dirty="0"/>
              <a:t> to give them what they want. </a:t>
            </a:r>
          </a:p>
          <a:p>
            <a:pPr lvl="1"/>
            <a:r>
              <a:rPr lang="en-US" sz="3200" dirty="0"/>
              <a:t>Prove what you have done by </a:t>
            </a:r>
            <a:r>
              <a:rPr lang="en-US" sz="3200" b="1" u="sng" dirty="0"/>
              <a:t>building and testing</a:t>
            </a:r>
            <a:r>
              <a:rPr lang="en-US" sz="3200" dirty="0"/>
              <a:t> it. </a:t>
            </a:r>
          </a:p>
          <a:p>
            <a:pPr lvl="1"/>
            <a:r>
              <a:rPr lang="en-US" sz="3200" dirty="0"/>
              <a:t>Build a lot of the product to </a:t>
            </a:r>
            <a:r>
              <a:rPr lang="en-US" sz="3200" b="1" u="sng" dirty="0"/>
              <a:t>prove</a:t>
            </a:r>
            <a:r>
              <a:rPr lang="en-US" sz="3200" dirty="0"/>
              <a:t> that it wasn‘t an accident. </a:t>
            </a:r>
          </a:p>
          <a:p>
            <a:pPr lvl="1"/>
            <a:r>
              <a:rPr lang="en-US" sz="3200" b="1" u="sng" dirty="0"/>
              <a:t>Use</a:t>
            </a:r>
            <a:r>
              <a:rPr lang="en-US" sz="3200" dirty="0"/>
              <a:t> the product to solve the customer‘s problem.</a:t>
            </a:r>
            <a:endParaRPr lang="en-PH" sz="3200" dirty="0"/>
          </a:p>
        </p:txBody>
      </p:sp>
    </p:spTree>
    <p:extLst>
      <p:ext uri="{BB962C8B-B14F-4D97-AF65-F5344CB8AC3E}">
        <p14:creationId xmlns:p14="http://schemas.microsoft.com/office/powerpoint/2010/main" val="3853639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A26FF-B545-F9CD-86F6-6F915EBCF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33B95-6942-502F-0180-3CC07A447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sz="3200" dirty="0"/>
              <a:t>Lifecycle models: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EB45F-67E3-83E4-D06C-EED84E948C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867" y="1905000"/>
            <a:ext cx="11658599" cy="4758267"/>
          </a:xfrm>
        </p:spPr>
        <p:txBody>
          <a:bodyPr>
            <a:noAutofit/>
          </a:bodyPr>
          <a:lstStyle/>
          <a:p>
            <a:r>
              <a:rPr lang="en-US" sz="3200" dirty="0"/>
              <a:t>The common life cycle models are: </a:t>
            </a:r>
          </a:p>
          <a:p>
            <a:r>
              <a:rPr lang="en-US" sz="3200" dirty="0"/>
              <a:t>Waterfall model </a:t>
            </a:r>
          </a:p>
          <a:p>
            <a:r>
              <a:rPr lang="en-US" sz="3200" dirty="0"/>
              <a:t>V cycle model</a:t>
            </a:r>
          </a:p>
          <a:p>
            <a:r>
              <a:rPr lang="en-US" sz="3200" dirty="0"/>
              <a:t>Spiral model</a:t>
            </a:r>
          </a:p>
          <a:p>
            <a:r>
              <a:rPr lang="en-US" sz="3200" dirty="0"/>
              <a:t>Rapid prototype </a:t>
            </a:r>
            <a:endParaRPr lang="en-PH" sz="3200" dirty="0"/>
          </a:p>
        </p:txBody>
      </p:sp>
    </p:spTree>
    <p:extLst>
      <p:ext uri="{BB962C8B-B14F-4D97-AF65-F5344CB8AC3E}">
        <p14:creationId xmlns:p14="http://schemas.microsoft.com/office/powerpoint/2010/main" val="3099404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621BD-8CE3-62F5-D8B6-44E066785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10DFB-A71C-D1FF-C2EF-86B0060EF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sz="3200" dirty="0"/>
              <a:t>Waterfall model: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8A9C3-6005-B290-545B-B62D4660B2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1" y="1964266"/>
            <a:ext cx="11658599" cy="4563534"/>
          </a:xfrm>
        </p:spPr>
        <p:txBody>
          <a:bodyPr>
            <a:noAutofit/>
          </a:bodyPr>
          <a:lstStyle/>
          <a:p>
            <a:pPr lvl="1" algn="just"/>
            <a:r>
              <a:rPr lang="en-US" sz="3200" dirty="0"/>
              <a:t>The waterfall model represents a cycle specifically a </a:t>
            </a:r>
            <a:r>
              <a:rPr lang="en-US" sz="3200" b="1" u="sng" dirty="0"/>
              <a:t>series of steps</a:t>
            </a:r>
            <a:r>
              <a:rPr lang="en-US" sz="3200" dirty="0"/>
              <a:t> appearing much like a waterfall. It is the model which is use to linear process development. It is a </a:t>
            </a:r>
            <a:r>
              <a:rPr lang="en-US" sz="3200" b="1" u="sng" dirty="0"/>
              <a:t>sequential design process</a:t>
            </a:r>
            <a:r>
              <a:rPr lang="en-US" sz="3200" dirty="0"/>
              <a:t>, often used in software process development in which progress is seen as flowing steadily downwards through the phases of </a:t>
            </a:r>
          </a:p>
          <a:p>
            <a:pPr lvl="1" algn="just"/>
            <a:r>
              <a:rPr lang="en-US" sz="3200" dirty="0"/>
              <a:t>Conception, Initiation, Analysis, Design, Construction, Testing, Production/Implementation and Maintenance. Figure 4.1 shows the water life cycle model 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19693176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75494-F08F-1733-413B-3476BA039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28627-89E8-7E26-2528-D9248A333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sz="3200" dirty="0"/>
              <a:t>Waterfall model: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1B5F816-C791-5902-CADB-E64F089621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5374" y="1955272"/>
            <a:ext cx="6220251" cy="45640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E3EAF05-A1AF-5171-46E7-CBF92BFC6660}"/>
              </a:ext>
            </a:extLst>
          </p:cNvPr>
          <p:cNvSpPr txBox="1"/>
          <p:nvPr/>
        </p:nvSpPr>
        <p:spPr>
          <a:xfrm>
            <a:off x="5959159" y="1955272"/>
            <a:ext cx="609600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The steps are: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Specification.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Preliminary design.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Design review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Detailed design.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Design review.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Implementation.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Review.</a:t>
            </a:r>
            <a:endParaRPr lang="en-PH" sz="3200" dirty="0"/>
          </a:p>
        </p:txBody>
      </p:sp>
    </p:spTree>
    <p:extLst>
      <p:ext uri="{BB962C8B-B14F-4D97-AF65-F5344CB8AC3E}">
        <p14:creationId xmlns:p14="http://schemas.microsoft.com/office/powerpoint/2010/main" val="3983028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F52D0-DCC9-595E-7C56-03EAE303D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D5821-05DC-6BE4-95ED-E764CB03B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sz="3200" dirty="0"/>
              <a:t>Waterfall model: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1294E-C6AD-550F-6943-4551111394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1" y="1964266"/>
            <a:ext cx="11658599" cy="4563534"/>
          </a:xfrm>
        </p:spPr>
        <p:txBody>
          <a:bodyPr>
            <a:noAutofit/>
          </a:bodyPr>
          <a:lstStyle/>
          <a:p>
            <a:pPr lvl="1" algn="just"/>
            <a:r>
              <a:rPr lang="en-US" sz="3200" dirty="0"/>
              <a:t>The waterfall development model originates in the </a:t>
            </a:r>
            <a:r>
              <a:rPr lang="en-US" sz="3200" b="1" u="sng" dirty="0"/>
              <a:t>manufacturing and construction industries:</a:t>
            </a:r>
            <a:r>
              <a:rPr lang="en-US" sz="3200" dirty="0"/>
              <a:t> highly structured physical environments in which after-the-fact changes are prohibitively costly, if not impossible. </a:t>
            </a:r>
          </a:p>
          <a:p>
            <a:pPr lvl="1" algn="just"/>
            <a:r>
              <a:rPr lang="en-US" sz="3200" dirty="0"/>
              <a:t>Since no formal software development methodologies existed at the time, this hardware-oriented model was simply </a:t>
            </a:r>
            <a:r>
              <a:rPr lang="en-US" sz="3200" b="1" u="sng" dirty="0"/>
              <a:t>adapted</a:t>
            </a:r>
            <a:r>
              <a:rPr lang="en-US" sz="3200" dirty="0"/>
              <a:t> for software development. 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1099769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3F605-C416-54F3-D011-357335EFB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D4686-5F2E-C9A6-63C8-F1F51D081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sz="3200" dirty="0"/>
              <a:t>Waterfall model: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7F8673-1CB3-8BEE-E053-1A842F835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1" y="1964266"/>
            <a:ext cx="11658599" cy="4563534"/>
          </a:xfrm>
        </p:spPr>
        <p:txBody>
          <a:bodyPr>
            <a:noAutofit/>
          </a:bodyPr>
          <a:lstStyle/>
          <a:p>
            <a:pPr marL="324000" lvl="1" indent="0" algn="just">
              <a:buNone/>
            </a:pPr>
            <a:r>
              <a:rPr lang="en-US" sz="3200" b="1" u="sng" dirty="0"/>
              <a:t>Phases: </a:t>
            </a:r>
          </a:p>
          <a:p>
            <a:pPr lvl="1" algn="just"/>
            <a:r>
              <a:rPr lang="en-US" sz="3200" dirty="0"/>
              <a:t>1) Requirement : In this phase we </a:t>
            </a:r>
            <a:r>
              <a:rPr lang="en-US" sz="3200" b="1" u="sng" dirty="0"/>
              <a:t>gather necessary information</a:t>
            </a:r>
            <a:r>
              <a:rPr lang="en-US" sz="3200" dirty="0"/>
              <a:t> which will use for development of any project .  This phase defines what to do. </a:t>
            </a:r>
          </a:p>
          <a:p>
            <a:pPr lvl="1" algn="just"/>
            <a:r>
              <a:rPr lang="en-US" sz="3200" dirty="0"/>
              <a:t>2) Design: In design phase we then </a:t>
            </a:r>
            <a:r>
              <a:rPr lang="en-US" sz="3200" b="1" u="sng" dirty="0"/>
              <a:t>construct design</a:t>
            </a:r>
            <a:r>
              <a:rPr lang="en-US" sz="3200" dirty="0"/>
              <a:t> to how to implement that requirements gathered into phase 1 .This phase define how to do 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13866509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C6487-B964-9B6D-17FE-5ACA46C22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9AD8D-DBA6-3D81-E43F-8702EE257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sz="3200" dirty="0"/>
              <a:t>Waterfall model: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759FF2-CE4C-DE3E-8F6D-450EDC38DE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1" y="1964266"/>
            <a:ext cx="11658599" cy="4563534"/>
          </a:xfrm>
        </p:spPr>
        <p:txBody>
          <a:bodyPr>
            <a:noAutofit/>
          </a:bodyPr>
          <a:lstStyle/>
          <a:p>
            <a:pPr lvl="1" algn="just"/>
            <a:r>
              <a:rPr lang="en-US" sz="3200" dirty="0"/>
              <a:t>3) Coding: Now base on design phase we then </a:t>
            </a:r>
            <a:r>
              <a:rPr lang="en-US" sz="3200" b="1" u="sng" dirty="0"/>
              <a:t>write actual code</a:t>
            </a:r>
            <a:r>
              <a:rPr lang="en-US" sz="3200" dirty="0"/>
              <a:t> to implement algorithms. This code should be efficient. </a:t>
            </a:r>
          </a:p>
          <a:p>
            <a:pPr lvl="1" algn="just"/>
            <a:r>
              <a:rPr lang="en-US" sz="3200" dirty="0"/>
              <a:t>4) Testing : This phase use to test our coding part it </a:t>
            </a:r>
            <a:r>
              <a:rPr lang="en-US" sz="3200" b="1" u="sng" dirty="0"/>
              <a:t>checks all the validation</a:t>
            </a:r>
            <a:r>
              <a:rPr lang="en-US" sz="3200" dirty="0"/>
              <a:t> like our code should work for each and every possibilities of input if any bug occur then we have to report that bug to design phase or development phase. </a:t>
            </a:r>
          </a:p>
          <a:p>
            <a:pPr lvl="1" algn="just"/>
            <a:r>
              <a:rPr lang="en-US" sz="3200" dirty="0"/>
              <a:t>5) Maintenance: In this phase we need keep </a:t>
            </a:r>
            <a:r>
              <a:rPr lang="en-US" sz="3200" b="1" u="sng" dirty="0"/>
              <a:t>updating</a:t>
            </a:r>
            <a:r>
              <a:rPr lang="en-US" sz="3200" dirty="0"/>
              <a:t> information.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3585289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41E5A-6C79-BF12-A24C-7EBC88495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8B685-20FD-5142-D32A-63921C828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sz="3200" dirty="0"/>
              <a:t>Waterfall model: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20C7A-EAEB-1A44-361A-5B8720CF4D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1" y="1964266"/>
            <a:ext cx="11658599" cy="4563534"/>
          </a:xfrm>
        </p:spPr>
        <p:txBody>
          <a:bodyPr>
            <a:noAutofit/>
          </a:bodyPr>
          <a:lstStyle/>
          <a:p>
            <a:pPr marL="324000" lvl="1" indent="0" algn="just">
              <a:buNone/>
            </a:pPr>
            <a:r>
              <a:rPr lang="en-US" sz="3200" b="1" u="sng" dirty="0"/>
              <a:t>Process:</a:t>
            </a:r>
          </a:p>
          <a:p>
            <a:pPr lvl="1" algn="just"/>
            <a:r>
              <a:rPr lang="en-US" sz="3200" dirty="0"/>
              <a:t>1) The implementation process contains </a:t>
            </a:r>
            <a:r>
              <a:rPr lang="en-US" sz="3200" b="1" u="sng" dirty="0"/>
              <a:t>software preparation and transition activities</a:t>
            </a:r>
            <a:r>
              <a:rPr lang="en-US" sz="3200" dirty="0"/>
              <a:t>, such as the conception and creation of the maintenance plan;</a:t>
            </a:r>
          </a:p>
          <a:p>
            <a:pPr lvl="1" algn="just"/>
            <a:r>
              <a:rPr lang="en-US" sz="3200" dirty="0"/>
              <a:t>2) The problem and modification analysis process, which is executed once the application has become the </a:t>
            </a:r>
            <a:r>
              <a:rPr lang="en-US" sz="3200" b="1" u="sng" dirty="0"/>
              <a:t>responsibility of the maintenance group</a:t>
            </a:r>
            <a:r>
              <a:rPr lang="en-US" sz="3200" dirty="0"/>
              <a:t>. 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24710904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5DD9D-5062-C088-1C00-5386BFA1F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3FC80-C8D0-A5FA-0E45-B7EAFCC79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sz="3200" dirty="0"/>
              <a:t>Waterfall model: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07894-C10A-9282-1E37-413B926A2F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1" y="1964266"/>
            <a:ext cx="11658599" cy="4563534"/>
          </a:xfrm>
        </p:spPr>
        <p:txBody>
          <a:bodyPr>
            <a:noAutofit/>
          </a:bodyPr>
          <a:lstStyle/>
          <a:p>
            <a:pPr lvl="1" algn="just"/>
            <a:r>
              <a:rPr lang="en-US" sz="3200" dirty="0"/>
              <a:t>The maintenance programmer must </a:t>
            </a:r>
            <a:r>
              <a:rPr lang="en-US" sz="3200" b="1" u="sng" dirty="0"/>
              <a:t>analyze</a:t>
            </a:r>
            <a:r>
              <a:rPr lang="en-US" sz="3200" dirty="0"/>
              <a:t> each request, </a:t>
            </a:r>
            <a:r>
              <a:rPr lang="en-US" sz="3200" b="1" u="sng" dirty="0"/>
              <a:t>confirm</a:t>
            </a:r>
            <a:r>
              <a:rPr lang="en-US" sz="3200" dirty="0"/>
              <a:t> it (by reproducing the situation) and </a:t>
            </a:r>
            <a:r>
              <a:rPr lang="en-US" sz="3200" b="1" u="sng" dirty="0"/>
              <a:t>check</a:t>
            </a:r>
            <a:r>
              <a:rPr lang="en-US" sz="3200" dirty="0"/>
              <a:t> its validity, </a:t>
            </a:r>
            <a:r>
              <a:rPr lang="en-US" sz="3200" b="1" u="sng" dirty="0"/>
              <a:t>investigate</a:t>
            </a:r>
            <a:r>
              <a:rPr lang="en-US" sz="3200" dirty="0"/>
              <a:t> it and </a:t>
            </a:r>
            <a:r>
              <a:rPr lang="en-US" sz="3200" b="1" u="sng" dirty="0"/>
              <a:t>propose</a:t>
            </a:r>
            <a:r>
              <a:rPr lang="en-US" sz="3200" dirty="0"/>
              <a:t> a solution, </a:t>
            </a:r>
          </a:p>
          <a:p>
            <a:pPr lvl="1" algn="just"/>
            <a:r>
              <a:rPr lang="en-US" sz="3200" b="1" u="sng" dirty="0"/>
              <a:t>Document</a:t>
            </a:r>
            <a:r>
              <a:rPr lang="en-US" sz="3200" dirty="0"/>
              <a:t> the request and the solution proposal, and, finally, obtain all the required authorizations to apply the </a:t>
            </a:r>
            <a:r>
              <a:rPr lang="en-US" sz="3200" b="1" u="sng" dirty="0"/>
              <a:t>modifications</a:t>
            </a:r>
            <a:r>
              <a:rPr lang="en-US" sz="3200" dirty="0"/>
              <a:t>.</a:t>
            </a:r>
          </a:p>
          <a:p>
            <a:pPr lvl="1" algn="just"/>
            <a:r>
              <a:rPr lang="en-US" sz="3200" dirty="0"/>
              <a:t>3. The process considering the implementation of the </a:t>
            </a:r>
            <a:r>
              <a:rPr lang="en-US" sz="3200" b="1" u="sng" dirty="0"/>
              <a:t>modification</a:t>
            </a:r>
            <a:r>
              <a:rPr lang="en-US" sz="3200" dirty="0"/>
              <a:t> itself.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12655638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EF741-8CA3-B300-2A22-BCFAB6CD1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BB4C7-C4FB-483A-353B-EE47B4FDC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sz="3200" dirty="0"/>
              <a:t>Waterfall model: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29886A-F72C-1446-8DAD-FF339403C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1" y="1964266"/>
            <a:ext cx="11658599" cy="4563534"/>
          </a:xfrm>
        </p:spPr>
        <p:txBody>
          <a:bodyPr>
            <a:noAutofit/>
          </a:bodyPr>
          <a:lstStyle/>
          <a:p>
            <a:pPr lvl="1" algn="just"/>
            <a:r>
              <a:rPr lang="en-US" sz="3200" dirty="0"/>
              <a:t>4) The </a:t>
            </a:r>
            <a:r>
              <a:rPr lang="en-US" sz="3200" b="1" u="sng" dirty="0"/>
              <a:t>process acceptance </a:t>
            </a:r>
            <a:r>
              <a:rPr lang="en-US" sz="3200" dirty="0"/>
              <a:t>of the modification, by confirming the modified work with the individual who submitted the request in order to make sure the modification provided a solution. </a:t>
            </a:r>
          </a:p>
          <a:p>
            <a:pPr lvl="1" algn="just"/>
            <a:r>
              <a:rPr lang="en-US" sz="3200" dirty="0"/>
              <a:t>5) The </a:t>
            </a:r>
            <a:r>
              <a:rPr lang="en-US" sz="3200" b="1" u="sng" dirty="0"/>
              <a:t>migration process</a:t>
            </a:r>
            <a:r>
              <a:rPr lang="en-US" sz="3200" dirty="0"/>
              <a:t> is exceptional, and is not part of daily maintenance tasks. If the software must be ported to another platform without any change in functionality, this process will be used and a maintenance project team is likely to be assigned to this task. 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37381097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7BEC7-803E-9A44-2499-1CFF7068C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E79DF-B305-E3C7-CDE9-0CAF33370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sz="3200" dirty="0"/>
              <a:t>Waterfall model: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27D81-D00C-DA73-F55D-2CA4458B6F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1" y="1964266"/>
            <a:ext cx="11658599" cy="4563534"/>
          </a:xfrm>
        </p:spPr>
        <p:txBody>
          <a:bodyPr>
            <a:noAutofit/>
          </a:bodyPr>
          <a:lstStyle/>
          <a:p>
            <a:pPr lvl="1" algn="just"/>
            <a:r>
              <a:rPr lang="en-US" sz="3200" dirty="0"/>
              <a:t>6. Finally, the last </a:t>
            </a:r>
            <a:r>
              <a:rPr lang="en-US" sz="3200" b="1" u="sng" dirty="0"/>
              <a:t>maintenance process</a:t>
            </a:r>
            <a:r>
              <a:rPr lang="en-US" sz="3200" dirty="0"/>
              <a:t>, also an event which does not occur on a daily basis, is the retirement of a piece of software.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2237835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F86EB-FDD0-8980-9DE2-F8B53A7F3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346AA-8E0B-4431-47AC-69FD5A0CB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sz="3200" dirty="0"/>
              <a:t>V model: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1A921-1FC0-1E1C-D526-BD8FF903C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1" y="1964266"/>
            <a:ext cx="11658599" cy="4563534"/>
          </a:xfrm>
        </p:spPr>
        <p:txBody>
          <a:bodyPr>
            <a:noAutofit/>
          </a:bodyPr>
          <a:lstStyle/>
          <a:p>
            <a:pPr lvl="1" algn="just"/>
            <a:r>
              <a:rPr lang="en-US" sz="3200" dirty="0"/>
              <a:t>The V-Model is a term applied to a range of models, from a conceptual model designed to </a:t>
            </a:r>
            <a:r>
              <a:rPr lang="en-US" sz="3200" b="1" u="sng" dirty="0"/>
              <a:t>produce a simplified understanding of the complexity</a:t>
            </a:r>
            <a:r>
              <a:rPr lang="en-US" sz="3200" dirty="0"/>
              <a:t> associated with systems development to detailed, rigorous development lifecycle models and project management models. </a:t>
            </a:r>
          </a:p>
          <a:p>
            <a:pPr lvl="1" algn="just"/>
            <a:r>
              <a:rPr lang="en-US" sz="3200" dirty="0"/>
              <a:t>Each test phase is identified with its matching development phase as shown in figure 4.2.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24541524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A6E55-6422-7C4F-FEF9-00C7A2E9D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D2A2A-266E-EADE-AD9E-43010C5F6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sz="3200" dirty="0"/>
              <a:t>V model: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D742021-58A6-62BD-6A89-B35D68B451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40596" y="1826023"/>
            <a:ext cx="7710808" cy="4876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9673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6B307-C932-BE54-8BE2-870EFD334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FAF77-4DD1-D6AD-0973-5DAF06D48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sz="3200" dirty="0"/>
              <a:t>V model: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2E6ED-CCD6-922B-CE58-1592CF6EF6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1" y="1964266"/>
            <a:ext cx="11658599" cy="4563534"/>
          </a:xfrm>
        </p:spPr>
        <p:txBody>
          <a:bodyPr>
            <a:noAutofit/>
          </a:bodyPr>
          <a:lstStyle/>
          <a:p>
            <a:pPr lvl="1" algn="just"/>
            <a:r>
              <a:rPr lang="en-US" sz="3200" dirty="0"/>
              <a:t>The V-model is a graphical representation of the systems </a:t>
            </a:r>
            <a:r>
              <a:rPr lang="en-US" sz="3200" b="1" u="sng" dirty="0"/>
              <a:t>development lifecycle</a:t>
            </a:r>
            <a:r>
              <a:rPr lang="en-US" sz="3200" dirty="0"/>
              <a:t>. It summarizes the </a:t>
            </a:r>
            <a:r>
              <a:rPr lang="en-US" sz="3200" b="1" u="sng" dirty="0"/>
              <a:t>main steps to be taken</a:t>
            </a:r>
            <a:r>
              <a:rPr lang="en-US" sz="3200" dirty="0"/>
              <a:t> in conjunction with the corresponding </a:t>
            </a:r>
            <a:r>
              <a:rPr lang="en-US" sz="3200" b="1" u="sng" dirty="0"/>
              <a:t>deliverables</a:t>
            </a:r>
            <a:r>
              <a:rPr lang="en-US" sz="3200" dirty="0"/>
              <a:t> within computerized system validation framework. </a:t>
            </a:r>
          </a:p>
          <a:p>
            <a:pPr lvl="1" algn="just"/>
            <a:r>
              <a:rPr lang="en-US" sz="3200" dirty="0"/>
              <a:t>The V represents the sequence of steps in a project life cycle development. It describes the </a:t>
            </a:r>
            <a:r>
              <a:rPr lang="en-US" sz="3200" b="1" u="sng" dirty="0"/>
              <a:t>activities</a:t>
            </a:r>
            <a:r>
              <a:rPr lang="en-US" sz="3200" dirty="0"/>
              <a:t> to be performed and the </a:t>
            </a:r>
            <a:r>
              <a:rPr lang="en-US" sz="3200" b="1" u="sng" dirty="0"/>
              <a:t>results</a:t>
            </a:r>
            <a:r>
              <a:rPr lang="en-US" sz="3200" dirty="0"/>
              <a:t> that have to be produced during product development. 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15174712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D3415-8F8F-6849-4B01-D41FC320D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BDBD0-763B-8C3A-23C1-779629288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sz="3200" dirty="0"/>
              <a:t>V model: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51555-EDE9-80E9-68DC-CA0FF87D9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1" y="1964266"/>
            <a:ext cx="11658599" cy="4563534"/>
          </a:xfrm>
        </p:spPr>
        <p:txBody>
          <a:bodyPr>
            <a:noAutofit/>
          </a:bodyPr>
          <a:lstStyle/>
          <a:p>
            <a:pPr lvl="1" algn="just"/>
            <a:r>
              <a:rPr lang="en-US" sz="3200" dirty="0"/>
              <a:t>The left side of the "V" represents the decomposition of </a:t>
            </a:r>
            <a:r>
              <a:rPr lang="en-US" sz="3200" b="1" u="sng" dirty="0"/>
              <a:t>requirements</a:t>
            </a:r>
            <a:r>
              <a:rPr lang="en-US" sz="3200" dirty="0"/>
              <a:t>, and creation of system specifications. The right side of the V represents integration of parts and their </a:t>
            </a:r>
            <a:r>
              <a:rPr lang="en-US" sz="3200" b="1" u="sng" dirty="0"/>
              <a:t>validation</a:t>
            </a:r>
            <a:r>
              <a:rPr lang="en-US" sz="3200" dirty="0"/>
              <a:t>.</a:t>
            </a:r>
          </a:p>
          <a:p>
            <a:pPr lvl="1" algn="just"/>
            <a:r>
              <a:rPr lang="en-US" sz="3200" dirty="0"/>
              <a:t>Validation. The </a:t>
            </a:r>
            <a:r>
              <a:rPr lang="en-US" sz="3200" b="1" u="sng" dirty="0"/>
              <a:t>assurance</a:t>
            </a:r>
            <a:r>
              <a:rPr lang="en-US" sz="3200" dirty="0"/>
              <a:t> that a product, service, or system meets the needs of the customer and other identified stakeholders. It often involves acceptance and suitability with external customers. </a:t>
            </a:r>
          </a:p>
        </p:txBody>
      </p:sp>
    </p:spTree>
    <p:extLst>
      <p:ext uri="{BB962C8B-B14F-4D97-AF65-F5344CB8AC3E}">
        <p14:creationId xmlns:p14="http://schemas.microsoft.com/office/powerpoint/2010/main" val="3798394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61E42-0982-AB04-532D-7BEC5B67C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F4DF0-EDC5-C4A0-46A3-4C3300A3F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sz="3200" dirty="0"/>
              <a:t>V model: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77744-7951-9BC6-A8A0-ABD87C3D02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1" y="1964266"/>
            <a:ext cx="11658599" cy="4563534"/>
          </a:xfrm>
        </p:spPr>
        <p:txBody>
          <a:bodyPr>
            <a:noAutofit/>
          </a:bodyPr>
          <a:lstStyle/>
          <a:p>
            <a:pPr lvl="1" algn="just"/>
            <a:r>
              <a:rPr lang="en-US" sz="3200" dirty="0"/>
              <a:t>Verification. The </a:t>
            </a:r>
            <a:r>
              <a:rPr lang="en-US" sz="3200" b="1" u="sng" dirty="0"/>
              <a:t>evaluation</a:t>
            </a:r>
            <a:r>
              <a:rPr lang="en-US" sz="3200" dirty="0"/>
              <a:t> of whether or not a product, service, or system complies with a regulation, requirement, specification, or imposed condition. It is often an internal process. 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944383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D7418-3184-F310-AD86-7C71700D3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212E0-6975-9107-EA71-39C4EB388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sz="3200" dirty="0"/>
              <a:t>The spiral model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83505B-D5B1-968F-5CAC-629E911BF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1" y="1964266"/>
            <a:ext cx="11658599" cy="4563534"/>
          </a:xfrm>
        </p:spPr>
        <p:txBody>
          <a:bodyPr>
            <a:noAutofit/>
          </a:bodyPr>
          <a:lstStyle/>
          <a:p>
            <a:pPr lvl="1" algn="just"/>
            <a:r>
              <a:rPr lang="en-US" sz="3200" dirty="0"/>
              <a:t>The spiral model is a software development process combining elements of both </a:t>
            </a:r>
            <a:r>
              <a:rPr lang="en-US" sz="3200" b="1" u="sng" dirty="0"/>
              <a:t>design and prototyping-in-stages</a:t>
            </a:r>
            <a:r>
              <a:rPr lang="en-US" sz="3200" dirty="0"/>
              <a:t>, in an effort to combine advantages of top-down and bottom-up concepts. </a:t>
            </a:r>
          </a:p>
          <a:p>
            <a:pPr lvl="1" algn="just"/>
            <a:r>
              <a:rPr lang="en-US" sz="3200" dirty="0"/>
              <a:t>Also known as the spiral lifecycle model (or spiral development), it is a systems development method (SDM) used in information technology (IT). </a:t>
            </a:r>
          </a:p>
        </p:txBody>
      </p:sp>
    </p:spTree>
    <p:extLst>
      <p:ext uri="{BB962C8B-B14F-4D97-AF65-F5344CB8AC3E}">
        <p14:creationId xmlns:p14="http://schemas.microsoft.com/office/powerpoint/2010/main" val="213069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DADDA-316F-7738-3312-838B136E6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98C19-3FB8-3156-7CE1-503619294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sz="3200" dirty="0"/>
              <a:t>The spiral model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91DEB-85C8-ABFB-A42D-28DEE5FF77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1" y="1964266"/>
            <a:ext cx="11658599" cy="4563534"/>
          </a:xfrm>
        </p:spPr>
        <p:txBody>
          <a:bodyPr>
            <a:noAutofit/>
          </a:bodyPr>
          <a:lstStyle/>
          <a:p>
            <a:pPr lvl="1" algn="just"/>
            <a:r>
              <a:rPr lang="en-US" sz="3200" dirty="0"/>
              <a:t>This model of development combines the features of the </a:t>
            </a:r>
            <a:r>
              <a:rPr lang="en-US" sz="3200" b="1" u="sng" dirty="0"/>
              <a:t>prototyping and the waterfall model</a:t>
            </a:r>
            <a:r>
              <a:rPr lang="en-US" sz="3200" dirty="0"/>
              <a:t>. The spiral model is intended for large, expensive and complicated projects. A simplified version of that model is presented in figure 4.3.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26126669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C7CA6-D95A-CFD6-D8EB-31C2D5DBE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4A849-2CC5-2D1B-D0BA-446F283CF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sz="3200" dirty="0"/>
              <a:t>The spiral model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08314B4-161C-45FB-BD0D-F105A6E33B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000" y="2248032"/>
            <a:ext cx="5444876" cy="431363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21FDA6C-D18A-19CC-F485-9E63EE08947D}"/>
              </a:ext>
            </a:extLst>
          </p:cNvPr>
          <p:cNvSpPr txBox="1"/>
          <p:nvPr/>
        </p:nvSpPr>
        <p:spPr>
          <a:xfrm>
            <a:off x="5401733" y="1804598"/>
            <a:ext cx="65278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dirty="0"/>
              <a:t>The steps in spiral model life cycle are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/>
              <a:t>Determine objective, alternatives, and constraints.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/>
              <a:t>Identify and resolve risks.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/>
              <a:t>Evaluate alternatives.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/>
              <a:t>Develop deliverables verify that they are correct.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/>
              <a:t>Plan the next iteration.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/>
              <a:t>Commit to an approach for the next iteration. </a:t>
            </a:r>
            <a:endParaRPr lang="en-PH" sz="3200" dirty="0"/>
          </a:p>
        </p:txBody>
      </p:sp>
    </p:spTree>
    <p:extLst>
      <p:ext uri="{BB962C8B-B14F-4D97-AF65-F5344CB8AC3E}">
        <p14:creationId xmlns:p14="http://schemas.microsoft.com/office/powerpoint/2010/main" val="27140268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0CC50-0017-EF20-F04C-8CE993B07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0440B-D3ED-ACFA-2E0C-983E4F8B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sz="3200" dirty="0"/>
              <a:t>The spiral model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9844F-A5BD-FBE7-2021-C39365971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1" y="1964266"/>
            <a:ext cx="11658599" cy="4563534"/>
          </a:xfrm>
        </p:spPr>
        <p:txBody>
          <a:bodyPr>
            <a:noAutofit/>
          </a:bodyPr>
          <a:lstStyle/>
          <a:p>
            <a:pPr lvl="1" algn="just"/>
            <a:r>
              <a:rPr lang="en-US" sz="3200" dirty="0"/>
              <a:t>The spiral model combines the idea of </a:t>
            </a:r>
            <a:r>
              <a:rPr lang="en-US" sz="3200" b="1" u="sng" dirty="0"/>
              <a:t>iterative development </a:t>
            </a:r>
            <a:r>
              <a:rPr lang="en-US" sz="3200" dirty="0"/>
              <a:t>(prototyping) with the systematic, controlled aspects of the </a:t>
            </a:r>
            <a:r>
              <a:rPr lang="en-US" sz="3200" b="1" u="sng" dirty="0"/>
              <a:t>waterfall model</a:t>
            </a:r>
            <a:r>
              <a:rPr lang="en-US" sz="3200" dirty="0"/>
              <a:t>. It allows for </a:t>
            </a:r>
            <a:r>
              <a:rPr lang="en-US" sz="3200" b="1" u="sng" dirty="0"/>
              <a:t>incremental releases</a:t>
            </a:r>
            <a:r>
              <a:rPr lang="en-US" sz="3200" dirty="0"/>
              <a:t> of the product, or incremental refinement through each time around the spiral. </a:t>
            </a:r>
          </a:p>
          <a:p>
            <a:pPr lvl="1" algn="just"/>
            <a:r>
              <a:rPr lang="en-US" sz="3200" dirty="0"/>
              <a:t>The spiral model also explicitly includes </a:t>
            </a:r>
            <a:r>
              <a:rPr lang="en-US" sz="3200" b="1" u="sng" dirty="0"/>
              <a:t>risk management</a:t>
            </a:r>
            <a:r>
              <a:rPr lang="en-US" sz="3200" dirty="0"/>
              <a:t> within software development. Identifying major risks, both technical and managerial, and determining how to lessen the risk helps keep the software development process under control.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19428508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4B940-5352-8992-5533-CB3E21E07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17567-C0AE-477F-97C4-5F0174C17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sz="3200" dirty="0"/>
              <a:t>The spiral model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9415D3-C648-B554-C90A-95C927AD0E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1" y="1964266"/>
            <a:ext cx="11658599" cy="4563534"/>
          </a:xfrm>
        </p:spPr>
        <p:txBody>
          <a:bodyPr>
            <a:noAutofit/>
          </a:bodyPr>
          <a:lstStyle/>
          <a:p>
            <a:pPr lvl="1" algn="just"/>
            <a:r>
              <a:rPr lang="en-US" sz="3200" dirty="0"/>
              <a:t>The spiral model is based on continuous </a:t>
            </a:r>
            <a:r>
              <a:rPr lang="en-US" sz="3200" b="1" u="sng" dirty="0"/>
              <a:t>refinement</a:t>
            </a:r>
            <a:r>
              <a:rPr lang="en-US" sz="3200" dirty="0"/>
              <a:t> of key </a:t>
            </a:r>
            <a:r>
              <a:rPr lang="en-US" sz="3200" b="1" u="sng" dirty="0"/>
              <a:t>products</a:t>
            </a:r>
            <a:r>
              <a:rPr lang="en-US" sz="3200" dirty="0"/>
              <a:t> for requirements definition and analysis, system and software design, and implementation. At each iteration around the cycle, the products are extensions of an earlier product. </a:t>
            </a:r>
          </a:p>
          <a:p>
            <a:pPr lvl="1" algn="just"/>
            <a:r>
              <a:rPr lang="en-US" sz="3200" dirty="0"/>
              <a:t>This model uses many of the same phases as the waterfall model, in essentially the same order, separated by planning, risk assessment, and the building of prototypes and simulations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29604415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84E16-793C-3A70-3EFB-332466453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6A45D-829D-76D8-44E9-A98B94C7D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sz="3200" dirty="0"/>
              <a:t>Rapid prototype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53D57-BED5-0D35-0C3D-CF6D5045A2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1" y="1964266"/>
            <a:ext cx="11658599" cy="4563534"/>
          </a:xfrm>
        </p:spPr>
        <p:txBody>
          <a:bodyPr>
            <a:noAutofit/>
          </a:bodyPr>
          <a:lstStyle/>
          <a:p>
            <a:pPr lvl="1" algn="just"/>
            <a:r>
              <a:rPr lang="en-US" sz="3200" dirty="0"/>
              <a:t>The Rapid prototyping model is intended to provide a rapid implementation of high-level portions of both the software and the hardware. The approach allows developers to construct </a:t>
            </a:r>
            <a:r>
              <a:rPr lang="en-US" sz="3200" b="1" u="sng" dirty="0"/>
              <a:t>working portion</a:t>
            </a:r>
            <a:r>
              <a:rPr lang="en-US" sz="3200" dirty="0"/>
              <a:t> of hardware and software in incremental stages.</a:t>
            </a:r>
          </a:p>
          <a:p>
            <a:pPr lvl="1" algn="just"/>
            <a:r>
              <a:rPr lang="en-US" sz="3200" dirty="0"/>
              <a:t>Each stage through the cycle, one </a:t>
            </a:r>
            <a:r>
              <a:rPr lang="en-US" sz="3200" b="1" u="sng" dirty="0"/>
              <a:t>incorporates</a:t>
            </a:r>
            <a:r>
              <a:rPr lang="en-US" sz="3200" dirty="0"/>
              <a:t> a little more of the </a:t>
            </a:r>
            <a:r>
              <a:rPr lang="en-US" sz="3200" b="1" u="sng" dirty="0"/>
              <a:t>intended functionality</a:t>
            </a:r>
            <a:r>
              <a:rPr lang="en-US" sz="3200" dirty="0"/>
              <a:t>. The prototype is useful for both the designer and the customer. The prototype can be either evolutionary or throughway. It has the advantage of having a working system early in development process.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35156565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106BE-7D83-417D-75A9-474DCB9D2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C8193-12D3-5338-F6FF-EFE17E755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sz="3200" dirty="0"/>
              <a:t>Problem solving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C930D-F523-CB00-7E09-A3635419C8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1" y="1964266"/>
            <a:ext cx="11658599" cy="4563534"/>
          </a:xfrm>
        </p:spPr>
        <p:txBody>
          <a:bodyPr>
            <a:noAutofit/>
          </a:bodyPr>
          <a:lstStyle/>
          <a:p>
            <a:pPr lvl="1" algn="just"/>
            <a:r>
              <a:rPr lang="en-US" sz="3200" dirty="0"/>
              <a:t>The 5 steps to a successful design are </a:t>
            </a:r>
          </a:p>
          <a:p>
            <a:pPr lvl="1" algn="just"/>
            <a:r>
              <a:rPr lang="en-US" sz="3200" dirty="0"/>
              <a:t>Requirement definition</a:t>
            </a:r>
          </a:p>
          <a:p>
            <a:pPr lvl="1" algn="just"/>
            <a:r>
              <a:rPr lang="en-US" sz="3200" dirty="0"/>
              <a:t>System specification </a:t>
            </a:r>
          </a:p>
          <a:p>
            <a:pPr lvl="1" algn="just"/>
            <a:r>
              <a:rPr lang="en-US" sz="3200" dirty="0"/>
              <a:t>Functional design </a:t>
            </a:r>
          </a:p>
          <a:p>
            <a:pPr lvl="1" algn="just"/>
            <a:r>
              <a:rPr lang="en-US" sz="3200" dirty="0"/>
              <a:t>Architectural design </a:t>
            </a:r>
          </a:p>
          <a:p>
            <a:pPr lvl="1" algn="just"/>
            <a:r>
              <a:rPr lang="en-US" sz="3200" dirty="0"/>
              <a:t>Prototyping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31136390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B1D71-35F7-BB7D-713A-4233B9161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A17EB-6F2C-29B6-988A-49BB92B31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sz="3200" dirty="0"/>
              <a:t>Problem solving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4D83A-FCAB-CED2-C307-76FFA97F2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1" y="1964266"/>
            <a:ext cx="11658599" cy="4563534"/>
          </a:xfrm>
        </p:spPr>
        <p:txBody>
          <a:bodyPr>
            <a:noAutofit/>
          </a:bodyPr>
          <a:lstStyle/>
          <a:p>
            <a:pPr lvl="1" algn="just"/>
            <a:r>
              <a:rPr lang="en-US" sz="3200" dirty="0"/>
              <a:t>The design process comprises of five distinct stages although it may vary for particular projects or design disciplines. This information may be useful when working with a designer to understand the processes involved. </a:t>
            </a:r>
          </a:p>
          <a:p>
            <a:pPr lvl="1" algn="just"/>
            <a:r>
              <a:rPr lang="en-US" sz="3200" dirty="0"/>
              <a:t>Before the project is started however, a </a:t>
            </a:r>
            <a:r>
              <a:rPr lang="en-US" sz="3200" b="1" u="sng" dirty="0"/>
              <a:t>vital question</a:t>
            </a:r>
            <a:r>
              <a:rPr lang="en-US" sz="3200" b="1" dirty="0"/>
              <a:t> </a:t>
            </a:r>
            <a:r>
              <a:rPr lang="en-US" sz="3200" dirty="0"/>
              <a:t>has to be asked: ―Why do you need a new identity, brochure or website </a:t>
            </a:r>
            <a:r>
              <a:rPr lang="en-US" sz="3200" dirty="0" err="1"/>
              <a:t>etc</a:t>
            </a:r>
            <a:r>
              <a:rPr lang="en-US" sz="3200" dirty="0"/>
              <a:t>? 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8871340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21276-AA87-A1FD-AB4E-F23430E8E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705ED-83C6-63B6-55F2-4E375EC25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sz="3200" dirty="0"/>
              <a:t>Problem solving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93337-1A02-EFEB-D5AB-B4B9755B2E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1" y="1964266"/>
            <a:ext cx="11658599" cy="4563534"/>
          </a:xfrm>
        </p:spPr>
        <p:txBody>
          <a:bodyPr>
            <a:noAutofit/>
          </a:bodyPr>
          <a:lstStyle/>
          <a:p>
            <a:pPr lvl="1" algn="just"/>
            <a:r>
              <a:rPr lang="en-US" sz="3200" dirty="0"/>
              <a:t>Identifying and formulating the requirement specification</a:t>
            </a:r>
          </a:p>
          <a:p>
            <a:pPr lvl="1" algn="just"/>
            <a:r>
              <a:rPr lang="en-US" sz="3200" dirty="0"/>
              <a:t>Requirements analysis in systems engineering and software engineering, encompasses those tasks that go into </a:t>
            </a:r>
            <a:r>
              <a:rPr lang="en-US" sz="3200" b="1" u="sng" dirty="0"/>
              <a:t>determining</a:t>
            </a:r>
            <a:r>
              <a:rPr lang="en-US" sz="3200" dirty="0"/>
              <a:t> the needs or conditions to meet for a new or altered product, </a:t>
            </a:r>
            <a:r>
              <a:rPr lang="en-US" sz="3200" b="1" u="sng" dirty="0"/>
              <a:t>taking account</a:t>
            </a:r>
            <a:r>
              <a:rPr lang="en-US" sz="3200" dirty="0"/>
              <a:t> of the possibly conflicting requirements of the various stakeholders, </a:t>
            </a:r>
            <a:r>
              <a:rPr lang="en-US" sz="3200" b="1" u="sng" dirty="0"/>
              <a:t>analyzing, documenting, validating and managing</a:t>
            </a:r>
            <a:r>
              <a:rPr lang="en-US" sz="3200" dirty="0"/>
              <a:t> software or system requirements.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34567694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C7B4D-7C00-DDDA-A8F7-36DF31031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AB17E-BAD4-2E29-16EE-8AE0DAE8D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sz="3200" dirty="0"/>
              <a:t>Problem solving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D1509-098F-26F5-C16B-9E544AB5D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1" y="1964266"/>
            <a:ext cx="11658599" cy="4563534"/>
          </a:xfrm>
        </p:spPr>
        <p:txBody>
          <a:bodyPr>
            <a:noAutofit/>
          </a:bodyPr>
          <a:lstStyle/>
          <a:p>
            <a:pPr lvl="1" algn="just"/>
            <a:r>
              <a:rPr lang="en-US" sz="3200" dirty="0"/>
              <a:t>Requirements analysis is </a:t>
            </a:r>
            <a:r>
              <a:rPr lang="en-US" sz="3200" b="1" u="sng" dirty="0"/>
              <a:t>critical to the success</a:t>
            </a:r>
            <a:r>
              <a:rPr lang="en-US" sz="3200" dirty="0"/>
              <a:t> of a systems or software project. The requirements should be documented, actionable, measurable, testable, traceable, related to identified business needs or opportunities, and defined to a level of detail sufficient for system design.</a:t>
            </a:r>
          </a:p>
          <a:p>
            <a:pPr lvl="1" algn="just"/>
            <a:r>
              <a:rPr lang="en-US" sz="3200" dirty="0"/>
              <a:t>Conceptually, requirements analysis includes three types of activities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33041891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B7263-B08E-FB1E-BD2B-249C13890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47B9-4A4F-286E-89DE-C9FD7EFD9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sz="3200" dirty="0"/>
              <a:t>Problem solving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FF0997-064D-3EFF-0161-2C6AA8AE2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1" y="1964266"/>
            <a:ext cx="11658599" cy="4563534"/>
          </a:xfrm>
        </p:spPr>
        <p:txBody>
          <a:bodyPr>
            <a:noAutofit/>
          </a:bodyPr>
          <a:lstStyle/>
          <a:p>
            <a:pPr lvl="1" algn="just"/>
            <a:r>
              <a:rPr lang="en-US" sz="3200" dirty="0"/>
              <a:t>Eliciting requirements: the task of </a:t>
            </a:r>
            <a:r>
              <a:rPr lang="en-US" sz="3200" b="1" u="sng" dirty="0"/>
              <a:t>identifying</a:t>
            </a:r>
            <a:r>
              <a:rPr lang="en-US" sz="3200" dirty="0"/>
              <a:t> the various types of requirements from various sources including project documentation, business process documentation, and stakeholder interviews. This is sometimes also called </a:t>
            </a:r>
            <a:r>
              <a:rPr lang="en-US" sz="3200" b="1" u="sng" dirty="0"/>
              <a:t>requirements gathering</a:t>
            </a:r>
            <a:r>
              <a:rPr lang="en-US" sz="3200" dirty="0"/>
              <a:t>. </a:t>
            </a:r>
          </a:p>
          <a:p>
            <a:pPr lvl="1" algn="just"/>
            <a:r>
              <a:rPr lang="en-US" sz="3200" dirty="0"/>
              <a:t>Analyzing requirements: </a:t>
            </a:r>
            <a:r>
              <a:rPr lang="en-US" sz="3200" b="1" u="sng" dirty="0"/>
              <a:t>determining</a:t>
            </a:r>
            <a:r>
              <a:rPr lang="en-US" sz="3200" dirty="0"/>
              <a:t> whether the stated requirements are clear, complete, consistent and unambiguous, and resolving any apparent conflicts. 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31459083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D9F55-AF96-011E-142C-1A7CF1954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C8458-7471-4672-8AED-53F43ED1A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sz="3200" dirty="0"/>
              <a:t>Problem solving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7D8EC-FE46-515B-D1BF-66B41EF5A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1" y="1964266"/>
            <a:ext cx="11658599" cy="4563534"/>
          </a:xfrm>
        </p:spPr>
        <p:txBody>
          <a:bodyPr>
            <a:noAutofit/>
          </a:bodyPr>
          <a:lstStyle/>
          <a:p>
            <a:pPr lvl="1" algn="just"/>
            <a:r>
              <a:rPr lang="en-US" sz="3200" dirty="0"/>
              <a:t>Recording requirements: Requirements may be </a:t>
            </a:r>
            <a:r>
              <a:rPr lang="en-US" sz="3200" b="1" u="sng" dirty="0"/>
              <a:t>documented</a:t>
            </a:r>
            <a:r>
              <a:rPr lang="en-US" sz="3200" dirty="0"/>
              <a:t> in various forms, usually including a summary list and may include natural-language documents, use cases, user stories, or process specifications.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5979051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8ACDA-4371-8E3D-50CA-79DDD0107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5962B-12D6-6E30-456F-7C0B32415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sz="3200" dirty="0"/>
              <a:t>Characterizing the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A58C6-A754-A860-FA97-859B5FF88B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1" y="1964266"/>
            <a:ext cx="11658599" cy="4563534"/>
          </a:xfrm>
        </p:spPr>
        <p:txBody>
          <a:bodyPr>
            <a:noAutofit/>
          </a:bodyPr>
          <a:lstStyle/>
          <a:p>
            <a:pPr lvl="1" algn="just"/>
            <a:r>
              <a:rPr lang="en-US" sz="3200" dirty="0"/>
              <a:t>Requirements analysis can be a long and arduous process during which many delicate psychological skills are involved. New systems change the environment and relationships between people, so it is important to identify all the </a:t>
            </a:r>
            <a:r>
              <a:rPr lang="en-US" sz="3200" b="1" u="sng" dirty="0"/>
              <a:t>stakeholders</a:t>
            </a:r>
            <a:r>
              <a:rPr lang="en-US" sz="3200" dirty="0"/>
              <a:t>, take into account all their </a:t>
            </a:r>
            <a:r>
              <a:rPr lang="en-US" sz="3200" b="1" u="sng" dirty="0"/>
              <a:t>needs</a:t>
            </a:r>
            <a:r>
              <a:rPr lang="en-US" sz="3200" dirty="0"/>
              <a:t> and ensure they understand the </a:t>
            </a:r>
            <a:r>
              <a:rPr lang="en-US" sz="3200" b="1" u="sng" dirty="0"/>
              <a:t>implications</a:t>
            </a:r>
            <a:r>
              <a:rPr lang="en-US" sz="3200" dirty="0"/>
              <a:t> of the new systems. </a:t>
            </a:r>
          </a:p>
          <a:p>
            <a:pPr lvl="1" algn="just"/>
            <a:r>
              <a:rPr lang="en-US" sz="3200" dirty="0"/>
              <a:t>Analysts can employ several techniques to elicit the requirements from the customer.</a:t>
            </a:r>
          </a:p>
        </p:txBody>
      </p:sp>
    </p:spTree>
    <p:extLst>
      <p:ext uri="{BB962C8B-B14F-4D97-AF65-F5344CB8AC3E}">
        <p14:creationId xmlns:p14="http://schemas.microsoft.com/office/powerpoint/2010/main" val="15002901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4F23D-FD2D-19D1-3195-BE282FC03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83B17-C08A-585C-55CD-BB4FA670D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sz="3200" dirty="0"/>
              <a:t>Characterizing the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26078-73FB-5CA7-FE2D-6B4541BE2E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1" y="1964266"/>
            <a:ext cx="11658599" cy="4563534"/>
          </a:xfrm>
        </p:spPr>
        <p:txBody>
          <a:bodyPr>
            <a:noAutofit/>
          </a:bodyPr>
          <a:lstStyle/>
          <a:p>
            <a:pPr lvl="1" algn="just"/>
            <a:r>
              <a:rPr lang="en-US" sz="3200" dirty="0"/>
              <a:t>Prototyping may be used to </a:t>
            </a:r>
            <a:r>
              <a:rPr lang="en-US" sz="3200" b="1" u="sng" dirty="0"/>
              <a:t>develop</a:t>
            </a:r>
            <a:r>
              <a:rPr lang="en-US" sz="3200" dirty="0"/>
              <a:t> an example system that can be demonstrated to stakeholders. Where necessary, the analyst will employ a combination of these methods to establish the exact requirements of the stakeholders, so that a system that meets the business needs is produced.</a:t>
            </a:r>
          </a:p>
          <a:p>
            <a:pPr lvl="1" algn="just"/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8726706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EBE7C-0128-F65B-FEA8-479B9A442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120FF-46B0-39D5-DF68-52ADDC304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sz="3200" dirty="0"/>
              <a:t>Characterizing the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D292FD-5D6F-7F73-9AED-06CCBAE679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1" y="1964266"/>
            <a:ext cx="11658599" cy="4563534"/>
          </a:xfrm>
        </p:spPr>
        <p:txBody>
          <a:bodyPr>
            <a:noAutofit/>
          </a:bodyPr>
          <a:lstStyle/>
          <a:p>
            <a:pPr lvl="1" algn="just"/>
            <a:r>
              <a:rPr lang="en-US" sz="3200" dirty="0"/>
              <a:t>The System Design Specification (SDS) is a </a:t>
            </a:r>
            <a:r>
              <a:rPr lang="en-US" sz="3200" b="1" u="sng" dirty="0"/>
              <a:t>complete document </a:t>
            </a:r>
            <a:r>
              <a:rPr lang="en-US" sz="3200" dirty="0"/>
              <a:t>that contains all of the </a:t>
            </a:r>
            <a:r>
              <a:rPr lang="en-US" sz="3200" b="1" u="sng" dirty="0"/>
              <a:t>information needed</a:t>
            </a:r>
            <a:r>
              <a:rPr lang="en-US" sz="3200" dirty="0"/>
              <a:t> to develop the system. Systems design is the </a:t>
            </a:r>
            <a:r>
              <a:rPr lang="en-US" sz="3200" b="1" u="sng" dirty="0"/>
              <a:t>process of defining</a:t>
            </a:r>
            <a:r>
              <a:rPr lang="en-US" sz="3200" dirty="0"/>
              <a:t> the architecture, components, modules, interfaces, and data for a system to satisfy specified requirements. </a:t>
            </a:r>
          </a:p>
          <a:p>
            <a:pPr lvl="1" algn="just"/>
            <a:r>
              <a:rPr lang="en-US" sz="3200" dirty="0"/>
              <a:t>Systems design could be seen as the </a:t>
            </a:r>
            <a:r>
              <a:rPr lang="en-US" sz="3200" b="1" u="sng" dirty="0"/>
              <a:t>application</a:t>
            </a:r>
            <a:r>
              <a:rPr lang="en-US" sz="3200" dirty="0"/>
              <a:t> of systems theory to product development. There is some overlap with the disciplines of systems analysis, systems architecture and systems engineering.</a:t>
            </a:r>
          </a:p>
        </p:txBody>
      </p:sp>
    </p:spTree>
    <p:extLst>
      <p:ext uri="{BB962C8B-B14F-4D97-AF65-F5344CB8AC3E}">
        <p14:creationId xmlns:p14="http://schemas.microsoft.com/office/powerpoint/2010/main" val="40648962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9C395-262B-95CA-5375-968CD1F46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69221-A4CC-C4CC-961E-1541C8EA3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sz="3200" dirty="0"/>
              <a:t>Characterizing the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D69E78-9BEE-5CF8-422D-F9970959F0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1" y="1964266"/>
            <a:ext cx="11658599" cy="4563534"/>
          </a:xfrm>
        </p:spPr>
        <p:txBody>
          <a:bodyPr>
            <a:noAutofit/>
          </a:bodyPr>
          <a:lstStyle/>
          <a:p>
            <a:pPr lvl="1" algn="just"/>
            <a:r>
              <a:rPr lang="en-US" sz="3200" dirty="0"/>
              <a:t>The requirement specifications provides a </a:t>
            </a:r>
            <a:r>
              <a:rPr lang="en-US" sz="3200" b="1" u="sng" dirty="0"/>
              <a:t>view</a:t>
            </a:r>
            <a:r>
              <a:rPr lang="en-US" sz="3200" dirty="0"/>
              <a:t> from the </a:t>
            </a:r>
            <a:r>
              <a:rPr lang="en-US" sz="3200" b="1" u="sng" dirty="0"/>
              <a:t>outside of the system</a:t>
            </a:r>
            <a:r>
              <a:rPr lang="en-US" sz="3200" dirty="0"/>
              <a:t>, design specification provides a view from the inside looking out as well. Design specification has 2 masters:</a:t>
            </a:r>
          </a:p>
          <a:p>
            <a:pPr lvl="2" algn="just"/>
            <a:r>
              <a:rPr lang="en-US" sz="3000" dirty="0"/>
              <a:t>It must </a:t>
            </a:r>
            <a:r>
              <a:rPr lang="en-US" sz="3000" b="1" u="sng" dirty="0"/>
              <a:t>specify</a:t>
            </a:r>
            <a:r>
              <a:rPr lang="en-US" sz="3000" dirty="0"/>
              <a:t> the system‘s </a:t>
            </a:r>
            <a:r>
              <a:rPr lang="en-US" sz="3000" b="1" u="sng" dirty="0"/>
              <a:t>public interface</a:t>
            </a:r>
            <a:r>
              <a:rPr lang="en-US" sz="3000" dirty="0"/>
              <a:t> from inside the system. </a:t>
            </a:r>
          </a:p>
          <a:p>
            <a:pPr lvl="2" algn="just"/>
            <a:r>
              <a:rPr lang="en-US" sz="3000" dirty="0"/>
              <a:t>It must specify how the </a:t>
            </a:r>
            <a:r>
              <a:rPr lang="en-US" sz="3000" b="1" u="sng" dirty="0"/>
              <a:t>requirements defined</a:t>
            </a:r>
            <a:r>
              <a:rPr lang="en-US" sz="3000" dirty="0"/>
              <a:t> for and by the public interface are to be met by the initial functions of the system.</a:t>
            </a:r>
          </a:p>
        </p:txBody>
      </p:sp>
    </p:spTree>
    <p:extLst>
      <p:ext uri="{BB962C8B-B14F-4D97-AF65-F5344CB8AC3E}">
        <p14:creationId xmlns:p14="http://schemas.microsoft.com/office/powerpoint/2010/main" val="25907539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F4509-92D4-C8A1-87AD-83DF8A065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6D726-3AF8-DC75-E62F-8FE32EB01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sz="3200" dirty="0"/>
              <a:t>Characterizing the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224EC-4BED-D7C8-6D95-D8120E7642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1" y="1964266"/>
            <a:ext cx="11658599" cy="4563534"/>
          </a:xfrm>
        </p:spPr>
        <p:txBody>
          <a:bodyPr>
            <a:noAutofit/>
          </a:bodyPr>
          <a:lstStyle/>
          <a:p>
            <a:pPr lvl="1" algn="just"/>
            <a:r>
              <a:rPr lang="en-US" sz="3200" dirty="0"/>
              <a:t>Six areas should be considered are: </a:t>
            </a:r>
          </a:p>
          <a:p>
            <a:pPr marL="838350" lvl="1" indent="-514350" algn="just">
              <a:buFont typeface="+mj-lt"/>
              <a:buAutoNum type="arabicPeriod"/>
            </a:pPr>
            <a:r>
              <a:rPr lang="en-US" sz="3200" dirty="0"/>
              <a:t>Geographical constraints</a:t>
            </a:r>
          </a:p>
          <a:p>
            <a:pPr marL="838350" lvl="1" indent="-514350" algn="just">
              <a:buFont typeface="+mj-lt"/>
              <a:buAutoNum type="arabicPeriod"/>
            </a:pPr>
            <a:r>
              <a:rPr lang="en-US" sz="3200" dirty="0"/>
              <a:t>Characterization of and constraints on interface signals</a:t>
            </a:r>
          </a:p>
          <a:p>
            <a:pPr marL="838350" lvl="1" indent="-514350" algn="just">
              <a:buFont typeface="+mj-lt"/>
              <a:buAutoNum type="arabicPeriod"/>
            </a:pPr>
            <a:r>
              <a:rPr lang="en-US" sz="3200" dirty="0"/>
              <a:t>User interface requirements </a:t>
            </a:r>
          </a:p>
          <a:p>
            <a:pPr marL="838350" lvl="1" indent="-514350" algn="just">
              <a:buFont typeface="+mj-lt"/>
              <a:buAutoNum type="arabicPeriod"/>
            </a:pPr>
            <a:r>
              <a:rPr lang="en-US" sz="3200" dirty="0"/>
              <a:t>Temporal constraints</a:t>
            </a:r>
          </a:p>
          <a:p>
            <a:pPr marL="838350" lvl="1" indent="-514350" algn="just">
              <a:buFont typeface="+mj-lt"/>
              <a:buAutoNum type="arabicPeriod"/>
            </a:pPr>
            <a:r>
              <a:rPr lang="en-US" sz="3200" dirty="0"/>
              <a:t>Electrical infrastructure consideration</a:t>
            </a:r>
          </a:p>
          <a:p>
            <a:pPr marL="838350" lvl="1" indent="-514350" algn="just">
              <a:buFont typeface="+mj-lt"/>
              <a:buAutoNum type="arabicPeriod"/>
            </a:pPr>
            <a:r>
              <a:rPr lang="en-US" sz="3200" dirty="0"/>
              <a:t>Safety and reliability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32696362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5C396-F64B-63CC-449D-5B9B03084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77BB9-E951-7E9B-492E-FB4DDECDD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sz="3200" dirty="0"/>
              <a:t>Characterizing the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E49B0-11E0-E573-54BB-3E62E01220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1" y="1964266"/>
            <a:ext cx="11658599" cy="4563534"/>
          </a:xfrm>
        </p:spPr>
        <p:txBody>
          <a:bodyPr>
            <a:noAutofit/>
          </a:bodyPr>
          <a:lstStyle/>
          <a:p>
            <a:pPr marL="324000" lvl="1" indent="0" algn="just">
              <a:buNone/>
            </a:pPr>
            <a:r>
              <a:rPr lang="en-US" sz="3200" dirty="0"/>
              <a:t>System specification versus system requirements </a:t>
            </a:r>
          </a:p>
          <a:p>
            <a:pPr lvl="1" algn="just"/>
            <a:r>
              <a:rPr lang="en-US" sz="3200" dirty="0"/>
              <a:t>Requirements give a description of something wanted or needed. They are a set of </a:t>
            </a:r>
            <a:r>
              <a:rPr lang="en-US" sz="3200" b="1" u="sng" dirty="0"/>
              <a:t>needed properties</a:t>
            </a:r>
            <a:r>
              <a:rPr lang="en-US" sz="3200" dirty="0"/>
              <a:t>. </a:t>
            </a:r>
          </a:p>
          <a:p>
            <a:pPr lvl="1" algn="just"/>
            <a:r>
              <a:rPr lang="en-US" sz="3200" dirty="0"/>
              <a:t>Specification is a description of some entity that has or </a:t>
            </a:r>
            <a:r>
              <a:rPr lang="en-US" sz="3200" b="1" u="sng" dirty="0"/>
              <a:t>implements</a:t>
            </a:r>
            <a:r>
              <a:rPr lang="en-US" sz="3200" dirty="0"/>
              <a:t> those properties.</a:t>
            </a:r>
          </a:p>
        </p:txBody>
      </p:sp>
    </p:spTree>
    <p:extLst>
      <p:ext uri="{BB962C8B-B14F-4D97-AF65-F5344CB8AC3E}">
        <p14:creationId xmlns:p14="http://schemas.microsoft.com/office/powerpoint/2010/main" val="19012364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768C7-C352-853E-2A23-283F8B681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83541-A780-D24A-49C1-7345299B9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sz="3200" dirty="0"/>
              <a:t>Characterizing the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A95D7-85D7-8F5C-54BF-4FB681C9E4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1" y="1964266"/>
            <a:ext cx="11658599" cy="4563534"/>
          </a:xfrm>
        </p:spPr>
        <p:txBody>
          <a:bodyPr>
            <a:noAutofit/>
          </a:bodyPr>
          <a:lstStyle/>
          <a:p>
            <a:pPr lvl="1" algn="just"/>
            <a:r>
              <a:rPr lang="en-US" sz="3200" dirty="0"/>
              <a:t>There is a distinct difference between requirements and specifications. A requirement is a </a:t>
            </a:r>
            <a:r>
              <a:rPr lang="en-US" sz="3200" b="1" u="sng" dirty="0"/>
              <a:t>condition</a:t>
            </a:r>
            <a:r>
              <a:rPr lang="en-US" sz="3200" dirty="0"/>
              <a:t> needed by a user to solve a problem or achieve an objective. </a:t>
            </a:r>
          </a:p>
          <a:p>
            <a:pPr lvl="1" algn="just"/>
            <a:r>
              <a:rPr lang="en-US" sz="3200" dirty="0"/>
              <a:t>A </a:t>
            </a:r>
            <a:r>
              <a:rPr lang="en-US" sz="3200" b="1" u="sng" dirty="0"/>
              <a:t>specification</a:t>
            </a:r>
            <a:r>
              <a:rPr lang="en-US" sz="3200" dirty="0"/>
              <a:t> is a document that specifies, in a complete, precise, verifiable manner, the requirements, design, behavior, or other characteristics of a system, and often, the procedures for determining whether these provisions have been satisfied.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3327046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22A15-AEAE-D40E-B2A0-014DCD59B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DBFEE-1934-B8B7-B39B-0AF5B450C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sz="3200" dirty="0"/>
              <a:t>Characterizing the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24053-33E2-1D0A-F5EA-89D9763191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1" y="1964266"/>
            <a:ext cx="11658599" cy="4563534"/>
          </a:xfrm>
        </p:spPr>
        <p:txBody>
          <a:bodyPr>
            <a:noAutofit/>
          </a:bodyPr>
          <a:lstStyle/>
          <a:p>
            <a:pPr lvl="1" algn="just"/>
            <a:r>
              <a:rPr lang="en-US" sz="3200" dirty="0"/>
              <a:t>For example, a requirement for a car could be that the </a:t>
            </a:r>
            <a:r>
              <a:rPr lang="en-US" sz="3200" b="1" u="sng" dirty="0"/>
              <a:t>maximum speed</a:t>
            </a:r>
            <a:r>
              <a:rPr lang="en-US" sz="3200" dirty="0"/>
              <a:t> to be at least 120mph. The specification for this requirement would include </a:t>
            </a:r>
            <a:r>
              <a:rPr lang="en-US" sz="3200" b="1" u="sng" dirty="0"/>
              <a:t>technical information</a:t>
            </a:r>
            <a:r>
              <a:rPr lang="en-US" sz="3200" dirty="0"/>
              <a:t> about specific design aspects. </a:t>
            </a:r>
          </a:p>
          <a:p>
            <a:pPr lvl="1" algn="just"/>
            <a:r>
              <a:rPr lang="en-US" sz="3200" dirty="0"/>
              <a:t>Another term that is commonly seen in books and papers is requirements specification which is a document that </a:t>
            </a:r>
            <a:r>
              <a:rPr lang="en-US" sz="3200" b="1" u="sng" dirty="0"/>
              <a:t>specifies the requirements for a system or component.</a:t>
            </a:r>
            <a:r>
              <a:rPr lang="en-US" sz="3200" dirty="0"/>
              <a:t> It includes functional requirements, performance requirements, interface requirements, design requirements, and development standards.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26800917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79506-B6DF-E631-0748-FC3EE9978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09D98-B1FE-1DD8-EFED-5F8A30796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sz="3200" dirty="0"/>
              <a:t>Characterizing the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F32D2-FF1E-1A51-53A8-B943BC8A91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269" y="2006599"/>
            <a:ext cx="11480798" cy="1109134"/>
          </a:xfrm>
        </p:spPr>
        <p:txBody>
          <a:bodyPr>
            <a:noAutofit/>
          </a:bodyPr>
          <a:lstStyle/>
          <a:p>
            <a:pPr lvl="1" algn="just"/>
            <a:r>
              <a:rPr lang="en-US" sz="3200" dirty="0"/>
              <a:t>A specification is a precise description of the system that meets stated requirements. A specification document should be:</a:t>
            </a:r>
            <a:endParaRPr lang="en-US" sz="3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7C40A5-1C98-C0C0-65B0-4E410D2E1A89}"/>
              </a:ext>
            </a:extLst>
          </p:cNvPr>
          <p:cNvSpPr txBox="1"/>
          <p:nvPr/>
        </p:nvSpPr>
        <p:spPr>
          <a:xfrm>
            <a:off x="1007534" y="3029635"/>
            <a:ext cx="60960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dirty="0"/>
              <a:t>Complete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Consistent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Comprehensible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Traceable to the requirement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Unambiguous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Modifiable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Able to be written</a:t>
            </a:r>
            <a:endParaRPr lang="en-PH" sz="3200" dirty="0"/>
          </a:p>
        </p:txBody>
      </p:sp>
    </p:spTree>
    <p:extLst>
      <p:ext uri="{BB962C8B-B14F-4D97-AF65-F5344CB8AC3E}">
        <p14:creationId xmlns:p14="http://schemas.microsoft.com/office/powerpoint/2010/main" val="37643052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29637-4F15-EA5F-487D-BB901A29A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23312-4F27-9937-DE65-2DDCF66F3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sz="3200" dirty="0"/>
              <a:t>Characterizing the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75D87-66E2-5DC6-F31B-3F18EB5D6A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269" y="2006599"/>
            <a:ext cx="11480798" cy="4301068"/>
          </a:xfrm>
        </p:spPr>
        <p:txBody>
          <a:bodyPr>
            <a:noAutofit/>
          </a:bodyPr>
          <a:lstStyle/>
          <a:p>
            <a:pPr marL="324000" lvl="1" indent="0" algn="just">
              <a:buNone/>
            </a:pPr>
            <a:r>
              <a:rPr lang="en-PH" sz="3200" dirty="0"/>
              <a:t>Functional design</a:t>
            </a:r>
          </a:p>
          <a:p>
            <a:pPr lvl="1" algn="just"/>
            <a:r>
              <a:rPr lang="en-US" sz="3200" dirty="0"/>
              <a:t>The functional design process maps the "what to do" of the Requirements Specification into the "</a:t>
            </a:r>
            <a:r>
              <a:rPr lang="en-US" sz="3200" b="1" u="sng" dirty="0"/>
              <a:t>how to do it</a:t>
            </a:r>
            <a:r>
              <a:rPr lang="en-US" sz="3200" dirty="0"/>
              <a:t>" of the design specifications. During this stage, the overall structure of the product is defined from a functional viewpoint. </a:t>
            </a:r>
          </a:p>
          <a:p>
            <a:pPr lvl="1" algn="just"/>
            <a:r>
              <a:rPr lang="en-US" sz="3200" dirty="0"/>
              <a:t>The functional design describes the logical system flow, data organization, system inputs and outputs, processing rules, and operational characteristics of the product from the </a:t>
            </a:r>
            <a:r>
              <a:rPr lang="en-US" sz="3200" b="1" u="sng" dirty="0"/>
              <a:t>user's point of view.</a:t>
            </a:r>
            <a:endParaRPr lang="en-US" sz="3000" b="1" u="sng" dirty="0"/>
          </a:p>
        </p:txBody>
      </p:sp>
    </p:spTree>
    <p:extLst>
      <p:ext uri="{BB962C8B-B14F-4D97-AF65-F5344CB8AC3E}">
        <p14:creationId xmlns:p14="http://schemas.microsoft.com/office/powerpoint/2010/main" val="9758747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0C826-6A18-D686-00E4-E8E094A56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772C4-58A8-34F9-6DEC-5010A18A1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sz="3200" dirty="0"/>
              <a:t>Characterizing the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F50173-BF8B-542D-FCB7-79C8A6FBF8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269" y="2006599"/>
            <a:ext cx="11480798" cy="4301068"/>
          </a:xfrm>
        </p:spPr>
        <p:txBody>
          <a:bodyPr>
            <a:noAutofit/>
          </a:bodyPr>
          <a:lstStyle/>
          <a:p>
            <a:pPr lvl="1" algn="just"/>
            <a:r>
              <a:rPr lang="en-US" sz="3200" dirty="0"/>
              <a:t>Functional Design is a </a:t>
            </a:r>
            <a:r>
              <a:rPr lang="en-US" sz="3200" b="1" u="sng" dirty="0"/>
              <a:t>paradigm</a:t>
            </a:r>
            <a:r>
              <a:rPr lang="en-US" sz="3200" dirty="0"/>
              <a:t> used to simplify the design of hardware and software devices such as computer software and increasingly, 3D models. </a:t>
            </a:r>
          </a:p>
          <a:p>
            <a:pPr lvl="1" algn="just"/>
            <a:r>
              <a:rPr lang="en-US" sz="3200" dirty="0"/>
              <a:t>A functional design assures that each modular part of a device has only </a:t>
            </a:r>
            <a:r>
              <a:rPr lang="en-US" sz="3200" b="1" u="sng" dirty="0"/>
              <a:t>one responsibility</a:t>
            </a:r>
            <a:r>
              <a:rPr lang="en-US" sz="3200" dirty="0"/>
              <a:t> and performs that responsibility with the minimum of side effects on other parts. Functionally designed modules tend to have low coupling. 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298155186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06702-00E7-6917-9393-42ED647B3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B51DA-3B85-8619-31C2-2C69E0A1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sz="3200" dirty="0"/>
              <a:t>Characterizing the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6363B-BE91-FAD1-FB20-E9D65168B7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269" y="2006599"/>
            <a:ext cx="11480798" cy="4301068"/>
          </a:xfrm>
        </p:spPr>
        <p:txBody>
          <a:bodyPr>
            <a:noAutofit/>
          </a:bodyPr>
          <a:lstStyle/>
          <a:p>
            <a:pPr marL="324000" lvl="1" indent="0" algn="just">
              <a:buNone/>
            </a:pPr>
            <a:r>
              <a:rPr lang="en-PH" sz="3200" dirty="0"/>
              <a:t>Architectural design</a:t>
            </a:r>
          </a:p>
          <a:p>
            <a:pPr lvl="1" algn="just"/>
            <a:r>
              <a:rPr lang="en-US" sz="3200" dirty="0"/>
              <a:t>The major objective of the Architectural design activity is the allocation or </a:t>
            </a:r>
            <a:r>
              <a:rPr lang="en-US" sz="3200" b="1" u="sng" dirty="0"/>
              <a:t>mapping</a:t>
            </a:r>
            <a:r>
              <a:rPr lang="en-US" sz="3200" dirty="0"/>
              <a:t> of the different pieces of </a:t>
            </a:r>
            <a:r>
              <a:rPr lang="en-US" sz="3200" b="1" u="sng" dirty="0"/>
              <a:t>system functionality</a:t>
            </a:r>
            <a:r>
              <a:rPr lang="en-US" sz="3200" dirty="0"/>
              <a:t> to the appropriate hardware and software blocks. Work is based on the detailed functional structure. The important constraints that must be considered include items as 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31136465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7746F-BF98-79B8-C859-F993D0B3B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265C1-6D05-2CC8-2BDA-A9E393F62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sz="3200" dirty="0"/>
              <a:t>Characterizing the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50FAFA-D622-3F63-C7EB-4723E114A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269" y="2006599"/>
            <a:ext cx="11480798" cy="4301068"/>
          </a:xfrm>
        </p:spPr>
        <p:txBody>
          <a:bodyPr>
            <a:noAutofit/>
          </a:bodyPr>
          <a:lstStyle/>
          <a:p>
            <a:pPr lvl="1" algn="just"/>
            <a:r>
              <a:rPr lang="en-US" sz="3200" dirty="0"/>
              <a:t>The geographical distribution. </a:t>
            </a:r>
          </a:p>
          <a:p>
            <a:pPr lvl="1" algn="just"/>
            <a:r>
              <a:rPr lang="en-US" sz="3200" dirty="0"/>
              <a:t>Physical and user interfaces </a:t>
            </a:r>
          </a:p>
          <a:p>
            <a:pPr lvl="1" algn="just"/>
            <a:r>
              <a:rPr lang="en-US" sz="3200" dirty="0"/>
              <a:t>System performance specifications. </a:t>
            </a:r>
          </a:p>
          <a:p>
            <a:pPr lvl="1" algn="just"/>
            <a:r>
              <a:rPr lang="en-US" sz="3200" dirty="0"/>
              <a:t>Timing constraints and dependability requirements </a:t>
            </a:r>
          </a:p>
          <a:p>
            <a:pPr lvl="1" algn="just"/>
            <a:r>
              <a:rPr lang="en-US" sz="3200" dirty="0"/>
              <a:t>Power consumption </a:t>
            </a:r>
          </a:p>
          <a:p>
            <a:pPr lvl="1" algn="just"/>
            <a:r>
              <a:rPr lang="en-US" sz="3200" dirty="0"/>
              <a:t>Legacy components and cost. 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151372848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A8FDA-D0BC-1A31-CCAA-27906C388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D763E-FB96-7399-5D2C-224999853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sz="3200" dirty="0"/>
              <a:t>Characterizing the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36B14B-BE04-97AC-5586-FA7E61C7D7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269" y="2006599"/>
            <a:ext cx="11480798" cy="4301068"/>
          </a:xfrm>
        </p:spPr>
        <p:txBody>
          <a:bodyPr>
            <a:noAutofit/>
          </a:bodyPr>
          <a:lstStyle/>
          <a:p>
            <a:pPr marL="324000" lvl="1" indent="0" algn="just">
              <a:buNone/>
            </a:pPr>
            <a:r>
              <a:rPr lang="en-US" sz="3200" dirty="0"/>
              <a:t>Hardware and software specification and design </a:t>
            </a:r>
          </a:p>
          <a:p>
            <a:pPr lvl="1" algn="just"/>
            <a:r>
              <a:rPr lang="en-US" sz="3200" dirty="0"/>
              <a:t>For the software design, the following must be analyzed and decided:</a:t>
            </a:r>
          </a:p>
          <a:p>
            <a:pPr lvl="2" algn="just"/>
            <a:r>
              <a:rPr lang="en-US" sz="3000" dirty="0"/>
              <a:t>Whether to use a real time kernel. </a:t>
            </a:r>
          </a:p>
          <a:p>
            <a:pPr lvl="2" algn="just"/>
            <a:r>
              <a:rPr lang="en-US" sz="3000" dirty="0"/>
              <a:t>Whether several functions can be combined in order to reduce the number of software tasks and if so, how? </a:t>
            </a:r>
          </a:p>
          <a:p>
            <a:pPr lvl="2" algn="just"/>
            <a:r>
              <a:rPr lang="en-US" sz="3000" dirty="0"/>
              <a:t>A priority for each task. </a:t>
            </a:r>
          </a:p>
          <a:p>
            <a:pPr lvl="2" algn="just"/>
            <a:r>
              <a:rPr lang="en-US" sz="3000" dirty="0"/>
              <a:t>An implementation technique for each inter-task relationship.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49417325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23353-EF26-ED32-9101-5BA65084C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A947E-C8FF-4F24-94D7-67B89B9E2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sz="3200" dirty="0"/>
              <a:t>Characterizing the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046767-A06A-5B7F-355C-53E306DBAC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269" y="2006599"/>
            <a:ext cx="11480798" cy="4301068"/>
          </a:xfrm>
        </p:spPr>
        <p:txBody>
          <a:bodyPr>
            <a:noAutofit/>
          </a:bodyPr>
          <a:lstStyle/>
          <a:p>
            <a:pPr lvl="1" algn="just"/>
            <a:r>
              <a:rPr lang="en-US" sz="3200" dirty="0"/>
              <a:t>The important criteria that we strive to optimize are:</a:t>
            </a:r>
          </a:p>
          <a:p>
            <a:pPr lvl="2" algn="just"/>
            <a:r>
              <a:rPr lang="en-US" sz="3200" dirty="0"/>
              <a:t>Implementation cost </a:t>
            </a:r>
          </a:p>
          <a:p>
            <a:pPr lvl="2" algn="just"/>
            <a:r>
              <a:rPr lang="en-US" sz="3200" dirty="0"/>
              <a:t>Development time and cost </a:t>
            </a:r>
          </a:p>
          <a:p>
            <a:pPr lvl="2" algn="just"/>
            <a:r>
              <a:rPr lang="en-US" sz="3200" dirty="0"/>
              <a:t>Performance and dependability constraints </a:t>
            </a:r>
          </a:p>
          <a:p>
            <a:pPr lvl="2" algn="just"/>
            <a:r>
              <a:rPr lang="en-US" sz="3200" dirty="0"/>
              <a:t>Power consumption </a:t>
            </a:r>
          </a:p>
          <a:p>
            <a:pPr lvl="2" algn="just"/>
            <a:r>
              <a:rPr lang="en-US" sz="3200" dirty="0"/>
              <a:t>Size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4685149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84252-35BA-3480-9135-83A966D05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0E3ED-83D9-77DA-3C13-014C8B38D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sz="3200" dirty="0"/>
              <a:t>Characterizing the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6DEFA-98DB-E168-78BF-2D93AA6FA6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269" y="2006599"/>
            <a:ext cx="11480798" cy="4301068"/>
          </a:xfrm>
        </p:spPr>
        <p:txBody>
          <a:bodyPr>
            <a:noAutofit/>
          </a:bodyPr>
          <a:lstStyle/>
          <a:p>
            <a:pPr marL="324000" lvl="1" indent="0" algn="just">
              <a:buNone/>
            </a:pPr>
            <a:r>
              <a:rPr lang="en-PH" sz="3200" dirty="0"/>
              <a:t>Functional model versus architectural model</a:t>
            </a:r>
          </a:p>
          <a:p>
            <a:pPr lvl="1" algn="just"/>
            <a:r>
              <a:rPr lang="en-US" sz="3200" dirty="0"/>
              <a:t>The functional model describes a system through a set of </a:t>
            </a:r>
            <a:r>
              <a:rPr lang="en-US" sz="3200" b="1" u="sng" dirty="0"/>
              <a:t>interacting functional elements</a:t>
            </a:r>
            <a:r>
              <a:rPr lang="en-US" sz="3200" dirty="0"/>
              <a:t>. The design proceeds at a high level without initial bias toward any specific implementation. </a:t>
            </a:r>
          </a:p>
          <a:p>
            <a:pPr lvl="1" algn="just"/>
            <a:r>
              <a:rPr lang="en-US" sz="3200" dirty="0"/>
              <a:t>The functional models will interact using one of the following 3 types of relations:</a:t>
            </a:r>
          </a:p>
        </p:txBody>
      </p:sp>
    </p:spTree>
    <p:extLst>
      <p:ext uri="{BB962C8B-B14F-4D97-AF65-F5344CB8AC3E}">
        <p14:creationId xmlns:p14="http://schemas.microsoft.com/office/powerpoint/2010/main" val="84070267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B8565-FAAF-CE2B-A105-DF84FE7E4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D9CBD-68DB-51F5-8B7F-10DF6CD2B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sz="3200" dirty="0"/>
              <a:t>Characterizing the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D140E-5DC9-BE91-D0FD-C9F9C71530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269" y="2006599"/>
            <a:ext cx="11480798" cy="4301068"/>
          </a:xfrm>
        </p:spPr>
        <p:txBody>
          <a:bodyPr>
            <a:noAutofit/>
          </a:bodyPr>
          <a:lstStyle/>
          <a:p>
            <a:pPr lvl="1" algn="just"/>
            <a:r>
              <a:rPr lang="en-US" sz="3200" dirty="0"/>
              <a:t>The shared variable relation: which defines a </a:t>
            </a:r>
            <a:r>
              <a:rPr lang="en-US" sz="3200" b="1" u="sng" dirty="0"/>
              <a:t>data exchange </a:t>
            </a:r>
            <a:r>
              <a:rPr lang="en-US" sz="3200" dirty="0"/>
              <a:t>without temporal dependencies. </a:t>
            </a:r>
          </a:p>
          <a:p>
            <a:pPr lvl="1" algn="just"/>
            <a:r>
              <a:rPr lang="en-US" sz="3200" dirty="0"/>
              <a:t>The synchronization relation: which specifies </a:t>
            </a:r>
            <a:r>
              <a:rPr lang="en-US" sz="3200" b="1" u="sng" dirty="0"/>
              <a:t>temporal dependency.</a:t>
            </a:r>
            <a:r>
              <a:rPr lang="en-US" sz="3200" dirty="0"/>
              <a:t> </a:t>
            </a:r>
          </a:p>
          <a:p>
            <a:pPr lvl="1" algn="just"/>
            <a:r>
              <a:rPr lang="en-US" sz="3200" dirty="0"/>
              <a:t>The message transfer by port: which implies a </a:t>
            </a:r>
            <a:r>
              <a:rPr lang="en-US" sz="3200" b="1" u="sng" dirty="0"/>
              <a:t>producer/consumer</a:t>
            </a:r>
            <a:r>
              <a:rPr lang="en-US" sz="3200" dirty="0"/>
              <a:t> kind of relationship. </a:t>
            </a:r>
          </a:p>
        </p:txBody>
      </p:sp>
    </p:spTree>
    <p:extLst>
      <p:ext uri="{BB962C8B-B14F-4D97-AF65-F5344CB8AC3E}">
        <p14:creationId xmlns:p14="http://schemas.microsoft.com/office/powerpoint/2010/main" val="390233616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4AC49-0DBB-10ED-4DD4-00A563D73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3C416-95D9-91B1-990B-B3100A63B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sz="3200" dirty="0"/>
              <a:t>Characterizing the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8D647-535A-E27C-643B-766D822E23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269" y="2006599"/>
            <a:ext cx="11480798" cy="4301068"/>
          </a:xfrm>
        </p:spPr>
        <p:txBody>
          <a:bodyPr>
            <a:noAutofit/>
          </a:bodyPr>
          <a:lstStyle/>
          <a:p>
            <a:pPr marL="324000" lvl="1" indent="0" algn="just">
              <a:buNone/>
            </a:pPr>
            <a:r>
              <a:rPr lang="en-US" sz="3200" dirty="0"/>
              <a:t>Architectural model </a:t>
            </a:r>
          </a:p>
          <a:p>
            <a:pPr lvl="1" algn="just"/>
            <a:r>
              <a:rPr lang="en-US" sz="3200" dirty="0"/>
              <a:t>The architectural model describes the </a:t>
            </a:r>
            <a:r>
              <a:rPr lang="en-US" sz="3200" b="1" u="sng" dirty="0"/>
              <a:t>physical architecture</a:t>
            </a:r>
            <a:r>
              <a:rPr lang="en-US" sz="3200" dirty="0"/>
              <a:t> of the system based on real components such as microprocessor, arrayed logics, special purpose processors, analog and digital components, and the many interconnections between them.</a:t>
            </a:r>
          </a:p>
        </p:txBody>
      </p:sp>
    </p:spTree>
    <p:extLst>
      <p:ext uri="{BB962C8B-B14F-4D97-AF65-F5344CB8AC3E}">
        <p14:creationId xmlns:p14="http://schemas.microsoft.com/office/powerpoint/2010/main" val="183606904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131EE-3FFB-DCA4-564D-E54C44137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F0992-C153-E5D1-8280-BF8B11188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sz="3200" dirty="0"/>
              <a:t>Characterizing the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E6F368-2151-6EB3-12A4-948E5F948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269" y="2006599"/>
            <a:ext cx="11480798" cy="4301068"/>
          </a:xfrm>
        </p:spPr>
        <p:txBody>
          <a:bodyPr>
            <a:noAutofit/>
          </a:bodyPr>
          <a:lstStyle/>
          <a:p>
            <a:pPr marL="324000" lvl="1" indent="0" algn="just">
              <a:buNone/>
            </a:pPr>
            <a:r>
              <a:rPr lang="en-US" sz="3200" dirty="0"/>
              <a:t>Prototyping </a:t>
            </a:r>
          </a:p>
          <a:p>
            <a:pPr lvl="1" algn="just"/>
            <a:r>
              <a:rPr lang="en-US" sz="3200" dirty="0"/>
              <a:t>The prototype phase leads to an operational system prototype.  A prototype implementation includes </a:t>
            </a:r>
          </a:p>
          <a:p>
            <a:pPr marL="838350" lvl="1" indent="-514350" algn="just">
              <a:buFont typeface="+mj-lt"/>
              <a:buAutoNum type="arabicPeriod"/>
            </a:pPr>
            <a:r>
              <a:rPr lang="en-US" sz="3200" dirty="0"/>
              <a:t>Detailed design </a:t>
            </a:r>
          </a:p>
          <a:p>
            <a:pPr marL="838350" lvl="1" indent="-514350" algn="just">
              <a:buFont typeface="+mj-lt"/>
              <a:buAutoNum type="arabicPeriod"/>
            </a:pPr>
            <a:r>
              <a:rPr lang="en-US" sz="3200" dirty="0"/>
              <a:t>Debugging </a:t>
            </a:r>
          </a:p>
          <a:p>
            <a:pPr marL="838350" lvl="1" indent="-514350" algn="just">
              <a:buFont typeface="+mj-lt"/>
              <a:buAutoNum type="arabicPeriod"/>
            </a:pPr>
            <a:r>
              <a:rPr lang="en-US" sz="3200" dirty="0"/>
              <a:t>Validation </a:t>
            </a:r>
          </a:p>
          <a:p>
            <a:pPr marL="838350" lvl="1" indent="-514350" algn="just">
              <a:buFont typeface="+mj-lt"/>
              <a:buAutoNum type="arabicPeriod"/>
            </a:pPr>
            <a:r>
              <a:rPr lang="en-US" sz="3200" dirty="0"/>
              <a:t>Testing </a:t>
            </a:r>
          </a:p>
        </p:txBody>
      </p:sp>
    </p:spTree>
    <p:extLst>
      <p:ext uri="{BB962C8B-B14F-4D97-AF65-F5344CB8AC3E}">
        <p14:creationId xmlns:p14="http://schemas.microsoft.com/office/powerpoint/2010/main" val="122137179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D685F-0330-3B20-251F-AA96A6170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FD592-A71C-1E72-94BE-FF01C5F3A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sz="3200" dirty="0"/>
              <a:t>Characterizing the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EB1DF0-42F9-2BF2-03AE-7AD88E489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269" y="2006599"/>
            <a:ext cx="11480798" cy="4301068"/>
          </a:xfrm>
        </p:spPr>
        <p:txBody>
          <a:bodyPr>
            <a:noAutofit/>
          </a:bodyPr>
          <a:lstStyle/>
          <a:p>
            <a:pPr lvl="1" algn="just"/>
            <a:r>
              <a:rPr lang="en-US" sz="3200" dirty="0"/>
              <a:t>A prototype is an </a:t>
            </a:r>
            <a:r>
              <a:rPr lang="en-US" sz="3200" b="1" u="sng" dirty="0"/>
              <a:t>early sample or model</a:t>
            </a:r>
            <a:r>
              <a:rPr lang="en-US" sz="3200" dirty="0"/>
              <a:t> built to test a concept or process or to act as a thing to be replicated or learned from. It is a term used in a variety of contexts, including semantics, design, electronics, and software programming. </a:t>
            </a:r>
          </a:p>
          <a:p>
            <a:pPr lvl="1" algn="just"/>
            <a:r>
              <a:rPr lang="en-US" sz="3200" dirty="0"/>
              <a:t>A prototype is designed to </a:t>
            </a:r>
            <a:r>
              <a:rPr lang="en-US" sz="3200" b="1" u="sng" dirty="0"/>
              <a:t>test and trial</a:t>
            </a:r>
            <a:r>
              <a:rPr lang="en-US" sz="3200" dirty="0"/>
              <a:t> a new design to enhance precision by system analysts and users. Prototyping serves to provide specifications for a real, working system rather than a theoretical one. </a:t>
            </a:r>
          </a:p>
        </p:txBody>
      </p:sp>
    </p:spTree>
    <p:extLst>
      <p:ext uri="{BB962C8B-B14F-4D97-AF65-F5344CB8AC3E}">
        <p14:creationId xmlns:p14="http://schemas.microsoft.com/office/powerpoint/2010/main" val="71666436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{D4BE2E0F-1D33-4ABB-9CD4-FF07D4859B6A}TF319cfb39-eeba-4af5-a5a2-03d53d0375160e3309b2-0adf682d390f</Template>
  <TotalTime>138</TotalTime>
  <Words>2709</Words>
  <Application>Microsoft Office PowerPoint</Application>
  <PresentationFormat>Widescreen</PresentationFormat>
  <Paragraphs>221</Paragraphs>
  <Slides>49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4" baseType="lpstr">
      <vt:lpstr>Arial</vt:lpstr>
      <vt:lpstr>Calibri</vt:lpstr>
      <vt:lpstr>Gill Sans MT</vt:lpstr>
      <vt:lpstr>Wingdings 2</vt:lpstr>
      <vt:lpstr>Dividend</vt:lpstr>
      <vt:lpstr>Implementation Strategies for complex embedded systems</vt:lpstr>
      <vt:lpstr>Lifecycle models:</vt:lpstr>
      <vt:lpstr>Lifecycle models:</vt:lpstr>
      <vt:lpstr>Waterfall model:</vt:lpstr>
      <vt:lpstr>Waterfall model:</vt:lpstr>
      <vt:lpstr>Waterfall model:</vt:lpstr>
      <vt:lpstr>Waterfall model:</vt:lpstr>
      <vt:lpstr>Waterfall model:</vt:lpstr>
      <vt:lpstr>Waterfall model:</vt:lpstr>
      <vt:lpstr>Waterfall model:</vt:lpstr>
      <vt:lpstr>Waterfall model:</vt:lpstr>
      <vt:lpstr>Waterfall model:</vt:lpstr>
      <vt:lpstr>V model:</vt:lpstr>
      <vt:lpstr>V model:</vt:lpstr>
      <vt:lpstr>V model:</vt:lpstr>
      <vt:lpstr>V model:</vt:lpstr>
      <vt:lpstr>V model:</vt:lpstr>
      <vt:lpstr>The spiral model </vt:lpstr>
      <vt:lpstr>The spiral model </vt:lpstr>
      <vt:lpstr>The spiral model </vt:lpstr>
      <vt:lpstr>The spiral model </vt:lpstr>
      <vt:lpstr>The spiral model </vt:lpstr>
      <vt:lpstr>Rapid prototype</vt:lpstr>
      <vt:lpstr>Problem solving</vt:lpstr>
      <vt:lpstr>Problem solving</vt:lpstr>
      <vt:lpstr>Problem solving</vt:lpstr>
      <vt:lpstr>Problem solving</vt:lpstr>
      <vt:lpstr>Problem solving</vt:lpstr>
      <vt:lpstr>Problem solving</vt:lpstr>
      <vt:lpstr>Characterizing the system</vt:lpstr>
      <vt:lpstr>Characterizing the system</vt:lpstr>
      <vt:lpstr>Characterizing the system</vt:lpstr>
      <vt:lpstr>Characterizing the system</vt:lpstr>
      <vt:lpstr>Characterizing the system</vt:lpstr>
      <vt:lpstr>Characterizing the system</vt:lpstr>
      <vt:lpstr>Characterizing the system</vt:lpstr>
      <vt:lpstr>Characterizing the system</vt:lpstr>
      <vt:lpstr>Characterizing the system</vt:lpstr>
      <vt:lpstr>Characterizing the system</vt:lpstr>
      <vt:lpstr>Characterizing the system</vt:lpstr>
      <vt:lpstr>Characterizing the system</vt:lpstr>
      <vt:lpstr>Characterizing the system</vt:lpstr>
      <vt:lpstr>Characterizing the system</vt:lpstr>
      <vt:lpstr>Characterizing the system</vt:lpstr>
      <vt:lpstr>Characterizing the system</vt:lpstr>
      <vt:lpstr>Characterizing the system</vt:lpstr>
      <vt:lpstr>Characterizing the system</vt:lpstr>
      <vt:lpstr>Characterizing the system</vt:lpstr>
      <vt:lpstr>Characterizing the system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Dean Adrian Nombrefia</dc:creator>
  <cp:lastModifiedBy>Dean Adrian Nombrefia</cp:lastModifiedBy>
  <cp:revision>6</cp:revision>
  <dcterms:created xsi:type="dcterms:W3CDTF">2025-11-17T08:59:15Z</dcterms:created>
  <dcterms:modified xsi:type="dcterms:W3CDTF">2025-11-18T00:25:55Z</dcterms:modified>
</cp:coreProperties>
</file>