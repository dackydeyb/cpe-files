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8" r:id="rId1"/>
  </p:sldMasterIdLst>
  <p:notesMasterIdLst>
    <p:notesMasterId r:id="rId46"/>
  </p:notesMasterIdLst>
  <p:sldIdLst>
    <p:sldId id="302" r:id="rId2"/>
    <p:sldId id="303" r:id="rId3"/>
    <p:sldId id="315" r:id="rId4"/>
    <p:sldId id="316" r:id="rId5"/>
    <p:sldId id="317" r:id="rId6"/>
    <p:sldId id="318" r:id="rId7"/>
    <p:sldId id="319" r:id="rId8"/>
    <p:sldId id="304" r:id="rId9"/>
    <p:sldId id="313" r:id="rId10"/>
    <p:sldId id="312" r:id="rId11"/>
    <p:sldId id="320" r:id="rId12"/>
    <p:sldId id="257" r:id="rId13"/>
    <p:sldId id="258" r:id="rId14"/>
    <p:sldId id="261" r:id="rId15"/>
    <p:sldId id="314" r:id="rId16"/>
    <p:sldId id="260" r:id="rId17"/>
    <p:sldId id="263" r:id="rId18"/>
    <p:sldId id="262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2" r:id="rId27"/>
    <p:sldId id="271" r:id="rId28"/>
    <p:sldId id="274" r:id="rId29"/>
    <p:sldId id="273" r:id="rId30"/>
    <p:sldId id="275" r:id="rId31"/>
    <p:sldId id="276" r:id="rId32"/>
    <p:sldId id="278" r:id="rId33"/>
    <p:sldId id="280" r:id="rId34"/>
    <p:sldId id="279" r:id="rId35"/>
    <p:sldId id="281" r:id="rId36"/>
    <p:sldId id="282" r:id="rId37"/>
    <p:sldId id="309" r:id="rId38"/>
    <p:sldId id="283" r:id="rId39"/>
    <p:sldId id="307" r:id="rId40"/>
    <p:sldId id="308" r:id="rId41"/>
    <p:sldId id="310" r:id="rId42"/>
    <p:sldId id="321" r:id="rId43"/>
    <p:sldId id="311" r:id="rId44"/>
    <p:sldId id="322" r:id="rId4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68" autoAdjust="0"/>
    <p:restoredTop sz="91942" autoAdjust="0"/>
  </p:normalViewPr>
  <p:slideViewPr>
    <p:cSldViewPr>
      <p:cViewPr varScale="1">
        <p:scale>
          <a:sx n="76" d="100"/>
          <a:sy n="76" d="100"/>
        </p:scale>
        <p:origin x="1968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F35B601-3AD0-4C51-8D02-0EA9FF003A0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2A7E6D1-A9A1-4A94-9E73-E7E548B45205}">
      <dgm:prSet/>
      <dgm:spPr/>
      <dgm:t>
        <a:bodyPr/>
        <a:lstStyle/>
        <a:p>
          <a:r>
            <a:rPr lang="en-US" b="1"/>
            <a:t>System</a:t>
          </a:r>
          <a:endParaRPr lang="en-US"/>
        </a:p>
      </dgm:t>
    </dgm:pt>
    <dgm:pt modelId="{7AC32334-DCA2-4821-916A-ED090FA77CAC}" type="parTrans" cxnId="{09662EC1-E3EB-4EA0-AE1C-4E087765FE1E}">
      <dgm:prSet/>
      <dgm:spPr/>
      <dgm:t>
        <a:bodyPr/>
        <a:lstStyle/>
        <a:p>
          <a:endParaRPr lang="en-US"/>
        </a:p>
      </dgm:t>
    </dgm:pt>
    <dgm:pt modelId="{88C3376E-DECA-46A5-9A1B-9C398CF55737}" type="sibTrans" cxnId="{09662EC1-E3EB-4EA0-AE1C-4E087765FE1E}">
      <dgm:prSet/>
      <dgm:spPr/>
      <dgm:t>
        <a:bodyPr/>
        <a:lstStyle/>
        <a:p>
          <a:endParaRPr lang="en-US"/>
        </a:p>
      </dgm:t>
    </dgm:pt>
    <dgm:pt modelId="{57D2300D-344C-4885-A046-6FCDE73A0FB2}">
      <dgm:prSet/>
      <dgm:spPr/>
      <dgm:t>
        <a:bodyPr/>
        <a:lstStyle/>
        <a:p>
          <a:r>
            <a:rPr lang="en-PH"/>
            <a:t>process signals to produce a modified or transformed version of the original signal</a:t>
          </a:r>
          <a:endParaRPr lang="en-US"/>
        </a:p>
      </dgm:t>
    </dgm:pt>
    <dgm:pt modelId="{428AECA0-D953-49F5-BB97-4984C28D97B4}" type="parTrans" cxnId="{8EBC5757-B3E2-49E5-B65D-25BDA0B5447A}">
      <dgm:prSet/>
      <dgm:spPr/>
      <dgm:t>
        <a:bodyPr/>
        <a:lstStyle/>
        <a:p>
          <a:endParaRPr lang="en-US"/>
        </a:p>
      </dgm:t>
    </dgm:pt>
    <dgm:pt modelId="{9B2A7057-7F07-4AF7-8CD0-DDF896EC6D55}" type="sibTrans" cxnId="{8EBC5757-B3E2-49E5-B65D-25BDA0B5447A}">
      <dgm:prSet/>
      <dgm:spPr/>
      <dgm:t>
        <a:bodyPr/>
        <a:lstStyle/>
        <a:p>
          <a:endParaRPr lang="en-US"/>
        </a:p>
      </dgm:t>
    </dgm:pt>
    <dgm:pt modelId="{37377ECD-E440-48FF-AEEC-AEFE7699E864}">
      <dgm:prSet/>
      <dgm:spPr/>
      <dgm:t>
        <a:bodyPr/>
        <a:lstStyle/>
        <a:p>
          <a:r>
            <a:rPr lang="en-PH" dirty="0"/>
            <a:t>d</a:t>
          </a:r>
          <a:r>
            <a:rPr lang="en-US" dirty="0" err="1"/>
            <a:t>efined</a:t>
          </a:r>
          <a:r>
            <a:rPr lang="en-US" dirty="0"/>
            <a:t> as a physical device that performs an operation on a signal.</a:t>
          </a:r>
        </a:p>
      </dgm:t>
    </dgm:pt>
    <dgm:pt modelId="{5F69C93D-C41D-4EC5-94FC-35A72186C678}" type="parTrans" cxnId="{1AABD0A1-89E4-415E-A0BA-27DC102A3042}">
      <dgm:prSet/>
      <dgm:spPr/>
      <dgm:t>
        <a:bodyPr/>
        <a:lstStyle/>
        <a:p>
          <a:endParaRPr lang="en-US"/>
        </a:p>
      </dgm:t>
    </dgm:pt>
    <dgm:pt modelId="{C3BD4ABB-18F0-459F-87DA-C4511F1B3AAD}" type="sibTrans" cxnId="{1AABD0A1-89E4-415E-A0BA-27DC102A3042}">
      <dgm:prSet/>
      <dgm:spPr/>
      <dgm:t>
        <a:bodyPr/>
        <a:lstStyle/>
        <a:p>
          <a:endParaRPr lang="en-US"/>
        </a:p>
      </dgm:t>
    </dgm:pt>
    <dgm:pt modelId="{EE1ED788-9026-4E2A-9B17-C670C0F4CE2B}">
      <dgm:prSet/>
      <dgm:spPr/>
      <dgm:t>
        <a:bodyPr/>
        <a:lstStyle/>
        <a:p>
          <a:r>
            <a:rPr lang="en-US" b="1" dirty="0"/>
            <a:t>Example</a:t>
          </a:r>
          <a:r>
            <a:rPr lang="en-US" dirty="0"/>
            <a:t>. </a:t>
          </a:r>
          <a:r>
            <a:rPr lang="en-US" b="1" dirty="0"/>
            <a:t> </a:t>
          </a:r>
          <a:r>
            <a:rPr lang="en-US" dirty="0"/>
            <a:t>A filter used to reduce the noise and interference corrupting a desired information-bearing signal is called a system.</a:t>
          </a:r>
        </a:p>
      </dgm:t>
    </dgm:pt>
    <dgm:pt modelId="{18EAFCEB-4D08-4A19-B1B6-90930A703ABC}" type="parTrans" cxnId="{B44EE448-574E-43C5-A894-89A83081D925}">
      <dgm:prSet/>
      <dgm:spPr/>
      <dgm:t>
        <a:bodyPr/>
        <a:lstStyle/>
        <a:p>
          <a:endParaRPr lang="en-US"/>
        </a:p>
      </dgm:t>
    </dgm:pt>
    <dgm:pt modelId="{0D69C050-6A49-4238-89D7-5A7EF233B84B}" type="sibTrans" cxnId="{B44EE448-574E-43C5-A894-89A83081D925}">
      <dgm:prSet/>
      <dgm:spPr/>
      <dgm:t>
        <a:bodyPr/>
        <a:lstStyle/>
        <a:p>
          <a:endParaRPr lang="en-US"/>
        </a:p>
      </dgm:t>
    </dgm:pt>
    <dgm:pt modelId="{14CEAC1F-7289-4A28-9AE7-B18BB91643DF}">
      <dgm:prSet/>
      <dgm:spPr/>
      <dgm:t>
        <a:bodyPr/>
        <a:lstStyle/>
        <a:p>
          <a:r>
            <a:rPr lang="en-US" b="1"/>
            <a:t>Signal Processing –</a:t>
          </a:r>
          <a:r>
            <a:rPr lang="en-US"/>
            <a:t>the operation on or analysis of signals, or measurements of time-varying or spatially varying physical quantities.</a:t>
          </a:r>
        </a:p>
      </dgm:t>
    </dgm:pt>
    <dgm:pt modelId="{D74A7678-67A5-444F-AE4C-3EDEF4639B85}" type="parTrans" cxnId="{4E3E57DF-D143-4FBE-B8E7-464DBAB0BC61}">
      <dgm:prSet/>
      <dgm:spPr/>
      <dgm:t>
        <a:bodyPr/>
        <a:lstStyle/>
        <a:p>
          <a:endParaRPr lang="en-US"/>
        </a:p>
      </dgm:t>
    </dgm:pt>
    <dgm:pt modelId="{ECB27068-9021-433A-A322-6E4E79BCD84B}" type="sibTrans" cxnId="{4E3E57DF-D143-4FBE-B8E7-464DBAB0BC61}">
      <dgm:prSet/>
      <dgm:spPr/>
      <dgm:t>
        <a:bodyPr/>
        <a:lstStyle/>
        <a:p>
          <a:endParaRPr lang="en-US"/>
        </a:p>
      </dgm:t>
    </dgm:pt>
    <dgm:pt modelId="{E20541BB-3219-4823-8C0D-71FDD1DB254E}" type="pres">
      <dgm:prSet presAssocID="{1F35B601-3AD0-4C51-8D02-0EA9FF003A0D}" presName="root" presStyleCnt="0">
        <dgm:presLayoutVars>
          <dgm:dir/>
          <dgm:resizeHandles val="exact"/>
        </dgm:presLayoutVars>
      </dgm:prSet>
      <dgm:spPr/>
    </dgm:pt>
    <dgm:pt modelId="{DC334371-8C8E-487E-9CAC-8BD502F51003}" type="pres">
      <dgm:prSet presAssocID="{12A7E6D1-A9A1-4A94-9E73-E7E548B45205}" presName="compNode" presStyleCnt="0"/>
      <dgm:spPr/>
    </dgm:pt>
    <dgm:pt modelId="{F36A5827-E54B-4103-A8E8-3A438D86BB2B}" type="pres">
      <dgm:prSet presAssocID="{12A7E6D1-A9A1-4A94-9E73-E7E548B45205}" presName="bgRect" presStyleLbl="bgShp" presStyleIdx="0" presStyleCnt="4"/>
      <dgm:spPr/>
    </dgm:pt>
    <dgm:pt modelId="{D0046F3A-D413-4C8F-A39E-68FDCBAB9068}" type="pres">
      <dgm:prSet presAssocID="{12A7E6D1-A9A1-4A94-9E73-E7E548B4520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C7E7D907-8AE7-4480-B99A-D68B15046413}" type="pres">
      <dgm:prSet presAssocID="{12A7E6D1-A9A1-4A94-9E73-E7E548B45205}" presName="spaceRect" presStyleCnt="0"/>
      <dgm:spPr/>
    </dgm:pt>
    <dgm:pt modelId="{9F2CFE80-10E4-4DAD-A99F-1FE0EAE214DB}" type="pres">
      <dgm:prSet presAssocID="{12A7E6D1-A9A1-4A94-9E73-E7E548B45205}" presName="parTx" presStyleLbl="revTx" presStyleIdx="0" presStyleCnt="5">
        <dgm:presLayoutVars>
          <dgm:chMax val="0"/>
          <dgm:chPref val="0"/>
        </dgm:presLayoutVars>
      </dgm:prSet>
      <dgm:spPr/>
    </dgm:pt>
    <dgm:pt modelId="{D067F506-5AA6-4749-99EE-21BA8500E9BB}" type="pres">
      <dgm:prSet presAssocID="{88C3376E-DECA-46A5-9A1B-9C398CF55737}" presName="sibTrans" presStyleCnt="0"/>
      <dgm:spPr/>
    </dgm:pt>
    <dgm:pt modelId="{143CCA0D-D4F2-46F0-89CC-E7AAD00CA32D}" type="pres">
      <dgm:prSet presAssocID="{57D2300D-344C-4885-A046-6FCDE73A0FB2}" presName="compNode" presStyleCnt="0"/>
      <dgm:spPr/>
    </dgm:pt>
    <dgm:pt modelId="{F63D3815-269A-4478-8ECB-FDABCDED2CE6}" type="pres">
      <dgm:prSet presAssocID="{57D2300D-344C-4885-A046-6FCDE73A0FB2}" presName="bgRect" presStyleLbl="bgShp" presStyleIdx="1" presStyleCnt="4"/>
      <dgm:spPr/>
    </dgm:pt>
    <dgm:pt modelId="{F72788E5-8582-4C75-88BF-5CC78BDA14F8}" type="pres">
      <dgm:prSet presAssocID="{57D2300D-344C-4885-A046-6FCDE73A0FB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D35F6175-D09C-4277-AD63-D02BEE38D232}" type="pres">
      <dgm:prSet presAssocID="{57D2300D-344C-4885-A046-6FCDE73A0FB2}" presName="spaceRect" presStyleCnt="0"/>
      <dgm:spPr/>
    </dgm:pt>
    <dgm:pt modelId="{7A0700A9-F38E-4B24-BFFC-6FAB26AAA2E4}" type="pres">
      <dgm:prSet presAssocID="{57D2300D-344C-4885-A046-6FCDE73A0FB2}" presName="parTx" presStyleLbl="revTx" presStyleIdx="1" presStyleCnt="5">
        <dgm:presLayoutVars>
          <dgm:chMax val="0"/>
          <dgm:chPref val="0"/>
        </dgm:presLayoutVars>
      </dgm:prSet>
      <dgm:spPr/>
    </dgm:pt>
    <dgm:pt modelId="{944D58C9-320B-4075-87DE-110AF306EA12}" type="pres">
      <dgm:prSet presAssocID="{9B2A7057-7F07-4AF7-8CD0-DDF896EC6D55}" presName="sibTrans" presStyleCnt="0"/>
      <dgm:spPr/>
    </dgm:pt>
    <dgm:pt modelId="{1A7BB11D-BD49-4C3B-8167-2717D487A8A3}" type="pres">
      <dgm:prSet presAssocID="{37377ECD-E440-48FF-AEEC-AEFE7699E864}" presName="compNode" presStyleCnt="0"/>
      <dgm:spPr/>
    </dgm:pt>
    <dgm:pt modelId="{BB13EF97-2FB0-4580-B65A-BDCCD671EBD3}" type="pres">
      <dgm:prSet presAssocID="{37377ECD-E440-48FF-AEEC-AEFE7699E864}" presName="bgRect" presStyleLbl="bgShp" presStyleIdx="2" presStyleCnt="4"/>
      <dgm:spPr/>
    </dgm:pt>
    <dgm:pt modelId="{8C1AAACC-ADFC-4627-8102-7C73E6EB0A6E}" type="pres">
      <dgm:prSet presAssocID="{37377ECD-E440-48FF-AEEC-AEFE7699E86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16A659CD-19F6-4057-9D4E-69CF4D3885EB}" type="pres">
      <dgm:prSet presAssocID="{37377ECD-E440-48FF-AEEC-AEFE7699E864}" presName="spaceRect" presStyleCnt="0"/>
      <dgm:spPr/>
    </dgm:pt>
    <dgm:pt modelId="{FF5DEFEB-1751-4108-A463-A2881C6B80A0}" type="pres">
      <dgm:prSet presAssocID="{37377ECD-E440-48FF-AEEC-AEFE7699E864}" presName="parTx" presStyleLbl="revTx" presStyleIdx="2" presStyleCnt="5">
        <dgm:presLayoutVars>
          <dgm:chMax val="0"/>
          <dgm:chPref val="0"/>
        </dgm:presLayoutVars>
      </dgm:prSet>
      <dgm:spPr/>
    </dgm:pt>
    <dgm:pt modelId="{1B3C7811-1217-46F9-901C-7FCAAFA47C14}" type="pres">
      <dgm:prSet presAssocID="{37377ECD-E440-48FF-AEEC-AEFE7699E864}" presName="desTx" presStyleLbl="revTx" presStyleIdx="3" presStyleCnt="5">
        <dgm:presLayoutVars/>
      </dgm:prSet>
      <dgm:spPr/>
    </dgm:pt>
    <dgm:pt modelId="{73CDC886-B741-45D0-98C6-CA0D9891F0CD}" type="pres">
      <dgm:prSet presAssocID="{C3BD4ABB-18F0-459F-87DA-C4511F1B3AAD}" presName="sibTrans" presStyleCnt="0"/>
      <dgm:spPr/>
    </dgm:pt>
    <dgm:pt modelId="{40ADD03A-FF18-4A48-86E2-4C9A2CAF6255}" type="pres">
      <dgm:prSet presAssocID="{14CEAC1F-7289-4A28-9AE7-B18BB91643DF}" presName="compNode" presStyleCnt="0"/>
      <dgm:spPr/>
    </dgm:pt>
    <dgm:pt modelId="{FC5207F4-8BED-4588-92C2-7BEC584298F0}" type="pres">
      <dgm:prSet presAssocID="{14CEAC1F-7289-4A28-9AE7-B18BB91643DF}" presName="bgRect" presStyleLbl="bgShp" presStyleIdx="3" presStyleCnt="4"/>
      <dgm:spPr/>
    </dgm:pt>
    <dgm:pt modelId="{35D0AC83-9189-4FB4-B6AB-D7EFA059FB40}" type="pres">
      <dgm:prSet presAssocID="{14CEAC1F-7289-4A28-9AE7-B18BB91643D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BF731262-2B51-4C6A-8355-D4B4995487B5}" type="pres">
      <dgm:prSet presAssocID="{14CEAC1F-7289-4A28-9AE7-B18BB91643DF}" presName="spaceRect" presStyleCnt="0"/>
      <dgm:spPr/>
    </dgm:pt>
    <dgm:pt modelId="{AE351D89-EF31-4BD3-B88E-6C0AF1F28BAE}" type="pres">
      <dgm:prSet presAssocID="{14CEAC1F-7289-4A28-9AE7-B18BB91643DF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4104C60B-A89C-4D59-A25A-878FD3F4AFA6}" type="presOf" srcId="{37377ECD-E440-48FF-AEEC-AEFE7699E864}" destId="{FF5DEFEB-1751-4108-A463-A2881C6B80A0}" srcOrd="0" destOrd="0" presId="urn:microsoft.com/office/officeart/2018/2/layout/IconVerticalSolidList"/>
    <dgm:cxn modelId="{0144C25C-8B95-415C-B112-E703ED1D1522}" type="presOf" srcId="{EE1ED788-9026-4E2A-9B17-C670C0F4CE2B}" destId="{1B3C7811-1217-46F9-901C-7FCAAFA47C14}" srcOrd="0" destOrd="0" presId="urn:microsoft.com/office/officeart/2018/2/layout/IconVerticalSolidList"/>
    <dgm:cxn modelId="{B44EE448-574E-43C5-A894-89A83081D925}" srcId="{37377ECD-E440-48FF-AEEC-AEFE7699E864}" destId="{EE1ED788-9026-4E2A-9B17-C670C0F4CE2B}" srcOrd="0" destOrd="0" parTransId="{18EAFCEB-4D08-4A19-B1B6-90930A703ABC}" sibTransId="{0D69C050-6A49-4238-89D7-5A7EF233B84B}"/>
    <dgm:cxn modelId="{8EBC5757-B3E2-49E5-B65D-25BDA0B5447A}" srcId="{1F35B601-3AD0-4C51-8D02-0EA9FF003A0D}" destId="{57D2300D-344C-4885-A046-6FCDE73A0FB2}" srcOrd="1" destOrd="0" parTransId="{428AECA0-D953-49F5-BB97-4984C28D97B4}" sibTransId="{9B2A7057-7F07-4AF7-8CD0-DDF896EC6D55}"/>
    <dgm:cxn modelId="{6998FC9C-FA07-4198-A484-F7EE4E417808}" type="presOf" srcId="{14CEAC1F-7289-4A28-9AE7-B18BB91643DF}" destId="{AE351D89-EF31-4BD3-B88E-6C0AF1F28BAE}" srcOrd="0" destOrd="0" presId="urn:microsoft.com/office/officeart/2018/2/layout/IconVerticalSolidList"/>
    <dgm:cxn modelId="{1AABD0A1-89E4-415E-A0BA-27DC102A3042}" srcId="{1F35B601-3AD0-4C51-8D02-0EA9FF003A0D}" destId="{37377ECD-E440-48FF-AEEC-AEFE7699E864}" srcOrd="2" destOrd="0" parTransId="{5F69C93D-C41D-4EC5-94FC-35A72186C678}" sibTransId="{C3BD4ABB-18F0-459F-87DA-C4511F1B3AAD}"/>
    <dgm:cxn modelId="{5DB87BA8-3B2B-49B9-A2E9-E2A1B73703D5}" type="presOf" srcId="{12A7E6D1-A9A1-4A94-9E73-E7E548B45205}" destId="{9F2CFE80-10E4-4DAD-A99F-1FE0EAE214DB}" srcOrd="0" destOrd="0" presId="urn:microsoft.com/office/officeart/2018/2/layout/IconVerticalSolidList"/>
    <dgm:cxn modelId="{09662EC1-E3EB-4EA0-AE1C-4E087765FE1E}" srcId="{1F35B601-3AD0-4C51-8D02-0EA9FF003A0D}" destId="{12A7E6D1-A9A1-4A94-9E73-E7E548B45205}" srcOrd="0" destOrd="0" parTransId="{7AC32334-DCA2-4821-916A-ED090FA77CAC}" sibTransId="{88C3376E-DECA-46A5-9A1B-9C398CF55737}"/>
    <dgm:cxn modelId="{5B7E0EDF-0056-4619-8C24-4BF9BFE016AB}" type="presOf" srcId="{57D2300D-344C-4885-A046-6FCDE73A0FB2}" destId="{7A0700A9-F38E-4B24-BFFC-6FAB26AAA2E4}" srcOrd="0" destOrd="0" presId="urn:microsoft.com/office/officeart/2018/2/layout/IconVerticalSolidList"/>
    <dgm:cxn modelId="{4E3E57DF-D143-4FBE-B8E7-464DBAB0BC61}" srcId="{1F35B601-3AD0-4C51-8D02-0EA9FF003A0D}" destId="{14CEAC1F-7289-4A28-9AE7-B18BB91643DF}" srcOrd="3" destOrd="0" parTransId="{D74A7678-67A5-444F-AE4C-3EDEF4639B85}" sibTransId="{ECB27068-9021-433A-A322-6E4E79BCD84B}"/>
    <dgm:cxn modelId="{92F000F9-B765-4F45-9754-61898FF5765B}" type="presOf" srcId="{1F35B601-3AD0-4C51-8D02-0EA9FF003A0D}" destId="{E20541BB-3219-4823-8C0D-71FDD1DB254E}" srcOrd="0" destOrd="0" presId="urn:microsoft.com/office/officeart/2018/2/layout/IconVerticalSolidList"/>
    <dgm:cxn modelId="{B478D776-D8F5-4083-B18A-039ADF5F698B}" type="presParOf" srcId="{E20541BB-3219-4823-8C0D-71FDD1DB254E}" destId="{DC334371-8C8E-487E-9CAC-8BD502F51003}" srcOrd="0" destOrd="0" presId="urn:microsoft.com/office/officeart/2018/2/layout/IconVerticalSolidList"/>
    <dgm:cxn modelId="{6590A9E8-96FD-4A5D-AD54-B0F74226A197}" type="presParOf" srcId="{DC334371-8C8E-487E-9CAC-8BD502F51003}" destId="{F36A5827-E54B-4103-A8E8-3A438D86BB2B}" srcOrd="0" destOrd="0" presId="urn:microsoft.com/office/officeart/2018/2/layout/IconVerticalSolidList"/>
    <dgm:cxn modelId="{79A7DF86-7C9A-44EA-8A1E-646D2DCED56F}" type="presParOf" srcId="{DC334371-8C8E-487E-9CAC-8BD502F51003}" destId="{D0046F3A-D413-4C8F-A39E-68FDCBAB9068}" srcOrd="1" destOrd="0" presId="urn:microsoft.com/office/officeart/2018/2/layout/IconVerticalSolidList"/>
    <dgm:cxn modelId="{A9398487-25CC-4335-A13C-3A3C47DF52D2}" type="presParOf" srcId="{DC334371-8C8E-487E-9CAC-8BD502F51003}" destId="{C7E7D907-8AE7-4480-B99A-D68B15046413}" srcOrd="2" destOrd="0" presId="urn:microsoft.com/office/officeart/2018/2/layout/IconVerticalSolidList"/>
    <dgm:cxn modelId="{7CA55374-7B18-4D93-A113-1719CF61AB8F}" type="presParOf" srcId="{DC334371-8C8E-487E-9CAC-8BD502F51003}" destId="{9F2CFE80-10E4-4DAD-A99F-1FE0EAE214DB}" srcOrd="3" destOrd="0" presId="urn:microsoft.com/office/officeart/2018/2/layout/IconVerticalSolidList"/>
    <dgm:cxn modelId="{025620E3-342C-4F82-BBED-E71B7D791BCE}" type="presParOf" srcId="{E20541BB-3219-4823-8C0D-71FDD1DB254E}" destId="{D067F506-5AA6-4749-99EE-21BA8500E9BB}" srcOrd="1" destOrd="0" presId="urn:microsoft.com/office/officeart/2018/2/layout/IconVerticalSolidList"/>
    <dgm:cxn modelId="{93167F79-46F1-41CF-AEDD-B9670F1DA107}" type="presParOf" srcId="{E20541BB-3219-4823-8C0D-71FDD1DB254E}" destId="{143CCA0D-D4F2-46F0-89CC-E7AAD00CA32D}" srcOrd="2" destOrd="0" presId="urn:microsoft.com/office/officeart/2018/2/layout/IconVerticalSolidList"/>
    <dgm:cxn modelId="{6D978FDF-1473-4D43-8EE6-35C126B6A62B}" type="presParOf" srcId="{143CCA0D-D4F2-46F0-89CC-E7AAD00CA32D}" destId="{F63D3815-269A-4478-8ECB-FDABCDED2CE6}" srcOrd="0" destOrd="0" presId="urn:microsoft.com/office/officeart/2018/2/layout/IconVerticalSolidList"/>
    <dgm:cxn modelId="{8A4327F3-55BD-474E-9E24-AF550B61CC82}" type="presParOf" srcId="{143CCA0D-D4F2-46F0-89CC-E7AAD00CA32D}" destId="{F72788E5-8582-4C75-88BF-5CC78BDA14F8}" srcOrd="1" destOrd="0" presId="urn:microsoft.com/office/officeart/2018/2/layout/IconVerticalSolidList"/>
    <dgm:cxn modelId="{35C5802E-F117-4A2A-AD84-7BE72C8C85CA}" type="presParOf" srcId="{143CCA0D-D4F2-46F0-89CC-E7AAD00CA32D}" destId="{D35F6175-D09C-4277-AD63-D02BEE38D232}" srcOrd="2" destOrd="0" presId="urn:microsoft.com/office/officeart/2018/2/layout/IconVerticalSolidList"/>
    <dgm:cxn modelId="{AF253784-8EC2-430F-9535-BDB99CA9B694}" type="presParOf" srcId="{143CCA0D-D4F2-46F0-89CC-E7AAD00CA32D}" destId="{7A0700A9-F38E-4B24-BFFC-6FAB26AAA2E4}" srcOrd="3" destOrd="0" presId="urn:microsoft.com/office/officeart/2018/2/layout/IconVerticalSolidList"/>
    <dgm:cxn modelId="{90BE87D1-5155-4680-916F-8621ADA50F50}" type="presParOf" srcId="{E20541BB-3219-4823-8C0D-71FDD1DB254E}" destId="{944D58C9-320B-4075-87DE-110AF306EA12}" srcOrd="3" destOrd="0" presId="urn:microsoft.com/office/officeart/2018/2/layout/IconVerticalSolidList"/>
    <dgm:cxn modelId="{E010B332-FD8B-4C2B-93BB-EFF249885AE8}" type="presParOf" srcId="{E20541BB-3219-4823-8C0D-71FDD1DB254E}" destId="{1A7BB11D-BD49-4C3B-8167-2717D487A8A3}" srcOrd="4" destOrd="0" presId="urn:microsoft.com/office/officeart/2018/2/layout/IconVerticalSolidList"/>
    <dgm:cxn modelId="{2BD89C30-2A37-4263-8028-5A8907E3AF10}" type="presParOf" srcId="{1A7BB11D-BD49-4C3B-8167-2717D487A8A3}" destId="{BB13EF97-2FB0-4580-B65A-BDCCD671EBD3}" srcOrd="0" destOrd="0" presId="urn:microsoft.com/office/officeart/2018/2/layout/IconVerticalSolidList"/>
    <dgm:cxn modelId="{2208E16F-5459-4C49-A969-733D10D7F810}" type="presParOf" srcId="{1A7BB11D-BD49-4C3B-8167-2717D487A8A3}" destId="{8C1AAACC-ADFC-4627-8102-7C73E6EB0A6E}" srcOrd="1" destOrd="0" presId="urn:microsoft.com/office/officeart/2018/2/layout/IconVerticalSolidList"/>
    <dgm:cxn modelId="{7E965313-6F50-48E5-A84E-16F6B72D3329}" type="presParOf" srcId="{1A7BB11D-BD49-4C3B-8167-2717D487A8A3}" destId="{16A659CD-19F6-4057-9D4E-69CF4D3885EB}" srcOrd="2" destOrd="0" presId="urn:microsoft.com/office/officeart/2018/2/layout/IconVerticalSolidList"/>
    <dgm:cxn modelId="{692662AE-4DF7-4EC2-97AB-1F7324049898}" type="presParOf" srcId="{1A7BB11D-BD49-4C3B-8167-2717D487A8A3}" destId="{FF5DEFEB-1751-4108-A463-A2881C6B80A0}" srcOrd="3" destOrd="0" presId="urn:microsoft.com/office/officeart/2018/2/layout/IconVerticalSolidList"/>
    <dgm:cxn modelId="{F6FA50E3-D6FD-4F13-8B88-1CE26A31E9C4}" type="presParOf" srcId="{1A7BB11D-BD49-4C3B-8167-2717D487A8A3}" destId="{1B3C7811-1217-46F9-901C-7FCAAFA47C14}" srcOrd="4" destOrd="0" presId="urn:microsoft.com/office/officeart/2018/2/layout/IconVerticalSolidList"/>
    <dgm:cxn modelId="{C1CD2305-8416-4EA4-8920-BF8A6BEB9BA5}" type="presParOf" srcId="{E20541BB-3219-4823-8C0D-71FDD1DB254E}" destId="{73CDC886-B741-45D0-98C6-CA0D9891F0CD}" srcOrd="5" destOrd="0" presId="urn:microsoft.com/office/officeart/2018/2/layout/IconVerticalSolidList"/>
    <dgm:cxn modelId="{C04392CB-A0F1-409F-AA39-FF87C649B9C1}" type="presParOf" srcId="{E20541BB-3219-4823-8C0D-71FDD1DB254E}" destId="{40ADD03A-FF18-4A48-86E2-4C9A2CAF6255}" srcOrd="6" destOrd="0" presId="urn:microsoft.com/office/officeart/2018/2/layout/IconVerticalSolidList"/>
    <dgm:cxn modelId="{94EBABFB-9481-4B0D-9C83-4FBDF1E81EE5}" type="presParOf" srcId="{40ADD03A-FF18-4A48-86E2-4C9A2CAF6255}" destId="{FC5207F4-8BED-4588-92C2-7BEC584298F0}" srcOrd="0" destOrd="0" presId="urn:microsoft.com/office/officeart/2018/2/layout/IconVerticalSolidList"/>
    <dgm:cxn modelId="{8F895BB3-9E2C-4A3B-A68B-A944299FE927}" type="presParOf" srcId="{40ADD03A-FF18-4A48-86E2-4C9A2CAF6255}" destId="{35D0AC83-9189-4FB4-B6AB-D7EFA059FB40}" srcOrd="1" destOrd="0" presId="urn:microsoft.com/office/officeart/2018/2/layout/IconVerticalSolidList"/>
    <dgm:cxn modelId="{03941334-BBB7-4C80-88F1-E92A85C085E8}" type="presParOf" srcId="{40ADD03A-FF18-4A48-86E2-4C9A2CAF6255}" destId="{BF731262-2B51-4C6A-8355-D4B4995487B5}" srcOrd="2" destOrd="0" presId="urn:microsoft.com/office/officeart/2018/2/layout/IconVerticalSolidList"/>
    <dgm:cxn modelId="{93CA88C0-884A-49FB-945F-54405D07B981}" type="presParOf" srcId="{40ADD03A-FF18-4A48-86E2-4C9A2CAF6255}" destId="{AE351D89-EF31-4BD3-B88E-6C0AF1F28BA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6A5827-E54B-4103-A8E8-3A438D86BB2B}">
      <dsp:nvSpPr>
        <dsp:cNvPr id="0" name=""/>
        <dsp:cNvSpPr/>
      </dsp:nvSpPr>
      <dsp:spPr>
        <a:xfrm>
          <a:off x="0" y="4737"/>
          <a:ext cx="4793456" cy="110257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046F3A-D413-4C8F-A39E-68FDCBAB9068}">
      <dsp:nvSpPr>
        <dsp:cNvPr id="0" name=""/>
        <dsp:cNvSpPr/>
      </dsp:nvSpPr>
      <dsp:spPr>
        <a:xfrm>
          <a:off x="333527" y="252815"/>
          <a:ext cx="606414" cy="6064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2CFE80-10E4-4DAD-A99F-1FE0EAE214DB}">
      <dsp:nvSpPr>
        <dsp:cNvPr id="0" name=""/>
        <dsp:cNvSpPr/>
      </dsp:nvSpPr>
      <dsp:spPr>
        <a:xfrm>
          <a:off x="1273469" y="4737"/>
          <a:ext cx="3518741" cy="11025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689" tIns="116689" rIns="116689" bIns="116689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System</a:t>
          </a:r>
          <a:endParaRPr lang="en-US" sz="1400" kern="1200"/>
        </a:p>
      </dsp:txBody>
      <dsp:txXfrm>
        <a:off x="1273469" y="4737"/>
        <a:ext cx="3518741" cy="1102571"/>
      </dsp:txXfrm>
    </dsp:sp>
    <dsp:sp modelId="{F63D3815-269A-4478-8ECB-FDABCDED2CE6}">
      <dsp:nvSpPr>
        <dsp:cNvPr id="0" name=""/>
        <dsp:cNvSpPr/>
      </dsp:nvSpPr>
      <dsp:spPr>
        <a:xfrm>
          <a:off x="0" y="1382951"/>
          <a:ext cx="4793456" cy="110257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2788E5-8582-4C75-88BF-5CC78BDA14F8}">
      <dsp:nvSpPr>
        <dsp:cNvPr id="0" name=""/>
        <dsp:cNvSpPr/>
      </dsp:nvSpPr>
      <dsp:spPr>
        <a:xfrm>
          <a:off x="333527" y="1631029"/>
          <a:ext cx="606414" cy="6064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0700A9-F38E-4B24-BFFC-6FAB26AAA2E4}">
      <dsp:nvSpPr>
        <dsp:cNvPr id="0" name=""/>
        <dsp:cNvSpPr/>
      </dsp:nvSpPr>
      <dsp:spPr>
        <a:xfrm>
          <a:off x="1273469" y="1382951"/>
          <a:ext cx="3518741" cy="11025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689" tIns="116689" rIns="116689" bIns="116689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1400" kern="1200"/>
            <a:t>process signals to produce a modified or transformed version of the original signal</a:t>
          </a:r>
          <a:endParaRPr lang="en-US" sz="1400" kern="1200"/>
        </a:p>
      </dsp:txBody>
      <dsp:txXfrm>
        <a:off x="1273469" y="1382951"/>
        <a:ext cx="3518741" cy="1102571"/>
      </dsp:txXfrm>
    </dsp:sp>
    <dsp:sp modelId="{BB13EF97-2FB0-4580-B65A-BDCCD671EBD3}">
      <dsp:nvSpPr>
        <dsp:cNvPr id="0" name=""/>
        <dsp:cNvSpPr/>
      </dsp:nvSpPr>
      <dsp:spPr>
        <a:xfrm>
          <a:off x="0" y="2761164"/>
          <a:ext cx="4793456" cy="110257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1AAACC-ADFC-4627-8102-7C73E6EB0A6E}">
      <dsp:nvSpPr>
        <dsp:cNvPr id="0" name=""/>
        <dsp:cNvSpPr/>
      </dsp:nvSpPr>
      <dsp:spPr>
        <a:xfrm>
          <a:off x="333527" y="3009243"/>
          <a:ext cx="606414" cy="6064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5DEFEB-1751-4108-A463-A2881C6B80A0}">
      <dsp:nvSpPr>
        <dsp:cNvPr id="0" name=""/>
        <dsp:cNvSpPr/>
      </dsp:nvSpPr>
      <dsp:spPr>
        <a:xfrm>
          <a:off x="1273469" y="2761164"/>
          <a:ext cx="2157055" cy="11025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689" tIns="116689" rIns="116689" bIns="116689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1400" kern="1200" dirty="0"/>
            <a:t>d</a:t>
          </a:r>
          <a:r>
            <a:rPr lang="en-US" sz="1400" kern="1200" dirty="0" err="1"/>
            <a:t>efined</a:t>
          </a:r>
          <a:r>
            <a:rPr lang="en-US" sz="1400" kern="1200" dirty="0"/>
            <a:t> as a physical device that performs an operation on a signal.</a:t>
          </a:r>
        </a:p>
      </dsp:txBody>
      <dsp:txXfrm>
        <a:off x="1273469" y="2761164"/>
        <a:ext cx="2157055" cy="1102571"/>
      </dsp:txXfrm>
    </dsp:sp>
    <dsp:sp modelId="{1B3C7811-1217-46F9-901C-7FCAAFA47C14}">
      <dsp:nvSpPr>
        <dsp:cNvPr id="0" name=""/>
        <dsp:cNvSpPr/>
      </dsp:nvSpPr>
      <dsp:spPr>
        <a:xfrm>
          <a:off x="3430524" y="2761164"/>
          <a:ext cx="1361686" cy="11025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689" tIns="116689" rIns="116689" bIns="116689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Example</a:t>
          </a:r>
          <a:r>
            <a:rPr lang="en-US" sz="1100" kern="1200" dirty="0"/>
            <a:t>. </a:t>
          </a:r>
          <a:r>
            <a:rPr lang="en-US" sz="1100" b="1" kern="1200" dirty="0"/>
            <a:t> </a:t>
          </a:r>
          <a:r>
            <a:rPr lang="en-US" sz="1100" kern="1200" dirty="0"/>
            <a:t>A filter used to reduce the noise and interference corrupting a desired information-bearing signal is called a system.</a:t>
          </a:r>
        </a:p>
      </dsp:txBody>
      <dsp:txXfrm>
        <a:off x="3430524" y="2761164"/>
        <a:ext cx="1361686" cy="1102571"/>
      </dsp:txXfrm>
    </dsp:sp>
    <dsp:sp modelId="{FC5207F4-8BED-4588-92C2-7BEC584298F0}">
      <dsp:nvSpPr>
        <dsp:cNvPr id="0" name=""/>
        <dsp:cNvSpPr/>
      </dsp:nvSpPr>
      <dsp:spPr>
        <a:xfrm>
          <a:off x="0" y="4139378"/>
          <a:ext cx="4793456" cy="110257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D0AC83-9189-4FB4-B6AB-D7EFA059FB40}">
      <dsp:nvSpPr>
        <dsp:cNvPr id="0" name=""/>
        <dsp:cNvSpPr/>
      </dsp:nvSpPr>
      <dsp:spPr>
        <a:xfrm>
          <a:off x="333527" y="4387457"/>
          <a:ext cx="606414" cy="60641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351D89-EF31-4BD3-B88E-6C0AF1F28BAE}">
      <dsp:nvSpPr>
        <dsp:cNvPr id="0" name=""/>
        <dsp:cNvSpPr/>
      </dsp:nvSpPr>
      <dsp:spPr>
        <a:xfrm>
          <a:off x="1273469" y="4139378"/>
          <a:ext cx="3518741" cy="11025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689" tIns="116689" rIns="116689" bIns="116689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Signal Processing –</a:t>
          </a:r>
          <a:r>
            <a:rPr lang="en-US" sz="1400" kern="1200"/>
            <a:t>the operation on or analysis of signals, or measurements of time-varying or spatially varying physical quantities.</a:t>
          </a:r>
        </a:p>
      </dsp:txBody>
      <dsp:txXfrm>
        <a:off x="1273469" y="4139378"/>
        <a:ext cx="3518741" cy="11025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A50050-BE96-45EE-B3CA-AF8849F1C5D2}" type="datetimeFigureOut">
              <a:rPr lang="en-PH" smtClean="0"/>
              <a:t>8/27/2025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EF6BA3-DBF6-4A26-8DB5-A9523DAED63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644344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EF6BA3-DBF6-4A26-8DB5-A9523DAED632}" type="slidenum">
              <a:rPr lang="en-PH" smtClean="0"/>
              <a:t>14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500083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EF6BA3-DBF6-4A26-8DB5-A9523DAED632}" type="slidenum">
              <a:rPr lang="en-PH" smtClean="0"/>
              <a:t>15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30531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EF6BA3-DBF6-4A26-8DB5-A9523DAED632}" type="slidenum">
              <a:rPr lang="en-PH" smtClean="0"/>
              <a:t>16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387514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EF6BA3-DBF6-4A26-8DB5-A9523DAED632}" type="slidenum">
              <a:rPr lang="en-PH" smtClean="0"/>
              <a:t>17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175135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EF6BA3-DBF6-4A26-8DB5-A9523DAED632}" type="slidenum">
              <a:rPr lang="en-PH" smtClean="0"/>
              <a:t>20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154891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EF6BA3-DBF6-4A26-8DB5-A9523DAED632}" type="slidenum">
              <a:rPr lang="en-PH" smtClean="0"/>
              <a:t>21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277408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PH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PH" dirty="0" smtClean="0"/>
                  <a:t>We have used the magnitude squared values of x[n], so that our definition applies to complex-valued signal as well as real-valued</a:t>
                </a:r>
                <a:r>
                  <a:rPr lang="en-PH" baseline="0" dirty="0" smtClean="0"/>
                  <a:t> signals.</a:t>
                </a:r>
              </a:p>
              <a:p>
                <a:endParaRPr lang="en-PH" baseline="0" dirty="0" smtClean="0"/>
              </a:p>
              <a:p>
                <a:r>
                  <a:rPr lang="en-PH" baseline="0" dirty="0" smtClean="0"/>
                  <a:t>Sometimes we add a subscript x to E to emphasize that </a:t>
                </a:r>
                <a:r>
                  <a:rPr lang="en-PH" b="0" i="0" baseline="0" smtClean="0">
                    <a:latin typeface="Cambria Math" panose="02040503050406030204" pitchFamily="18" charset="0"/>
                  </a:rPr>
                  <a:t>𝐸_𝑥</a:t>
                </a:r>
                <a:r>
                  <a:rPr lang="en-PH" dirty="0" smtClean="0"/>
                  <a:t> is the energy of the signal x[n].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EF6BA3-DBF6-4A26-8DB5-A9523DAED632}" type="slidenum">
              <a:rPr lang="en-PH" smtClean="0"/>
              <a:t>22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334843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EF6BA3-DBF6-4A26-8DB5-A9523DAED632}" type="slidenum">
              <a:rPr lang="en-PH" smtClean="0"/>
              <a:t>25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76440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EF6BA3-DBF6-4A26-8DB5-A9523DAED632}" type="slidenum">
              <a:rPr lang="en-PH" smtClean="0"/>
              <a:t>26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916530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EF6BA3-DBF6-4A26-8DB5-A9523DAED632}" type="slidenum">
              <a:rPr lang="en-PH" smtClean="0"/>
              <a:t>28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173969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PH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PH" dirty="0" smtClean="0"/>
                  <a:t>It is important to note that the operations of folding and time delaying (or advancing)</a:t>
                </a:r>
                <a:r>
                  <a:rPr lang="en-PH" baseline="0" dirty="0" smtClean="0"/>
                  <a:t> a signal are not commutative.  If we note the time-delay operation by TD and the folding operation by FD, we can write</a:t>
                </a:r>
              </a:p>
              <a:p>
                <a:pPr algn="ctr"/>
                <a:r>
                  <a:rPr lang="en-PH" i="0" smtClean="0">
                    <a:latin typeface="Cambria Math" panose="02040503050406030204" pitchFamily="18" charset="0"/>
                  </a:rPr>
                  <a:t>〖</a:t>
                </a:r>
                <a:r>
                  <a:rPr lang="en-PH" b="0" i="0" smtClean="0">
                    <a:latin typeface="Cambria Math" panose="02040503050406030204" pitchFamily="18" charset="0"/>
                  </a:rPr>
                  <a:t>𝑇𝐷〗_𝑘 {</a:t>
                </a:r>
                <a:r>
                  <a:rPr lang="en-PH" b="0" i="0" smtClean="0">
                    <a:latin typeface="Cambria Math" panose="02040503050406030204" pitchFamily="18" charset="0"/>
                  </a:rPr>
                  <a:t>𝑥[</a:t>
                </a:r>
                <a:r>
                  <a:rPr lang="en-PH" b="0" i="0" smtClean="0">
                    <a:latin typeface="Cambria Math" panose="02040503050406030204" pitchFamily="18" charset="0"/>
                  </a:rPr>
                  <a:t>𝑛]</a:t>
                </a:r>
                <a:r>
                  <a:rPr lang="en-PH" b="0" i="0" smtClean="0">
                    <a:latin typeface="Cambria Math" panose="02040503050406030204" pitchFamily="18" charset="0"/>
                  </a:rPr>
                  <a:t>}</a:t>
                </a:r>
                <a:r>
                  <a:rPr lang="en-PH" b="0" i="0" smtClean="0">
                    <a:latin typeface="Cambria Math" panose="02040503050406030204" pitchFamily="18" charset="0"/>
                  </a:rPr>
                  <a:t>=𝑥[𝑛−𝑘]</a:t>
                </a:r>
                <a:r>
                  <a:rPr lang="en-PH" dirty="0" smtClean="0"/>
                  <a:t> </a:t>
                </a:r>
                <a:r>
                  <a:rPr lang="en-PH" b="0" i="0" dirty="0" smtClean="0">
                    <a:latin typeface="Cambria Math" panose="02040503050406030204" pitchFamily="18" charset="0"/>
                  </a:rPr>
                  <a:t> 𝑘&gt;0</a:t>
                </a:r>
                <a:endParaRPr lang="en-PH" b="0" dirty="0" smtClean="0"/>
              </a:p>
              <a:p>
                <a:pPr algn="ctr"/>
                <a:r>
                  <a:rPr lang="en-PH" b="0" i="0" smtClean="0">
                    <a:latin typeface="Cambria Math" panose="02040503050406030204" pitchFamily="18" charset="0"/>
                  </a:rPr>
                  <a:t>𝐹𝐷</a:t>
                </a:r>
                <a:r>
                  <a:rPr lang="en-PH" dirty="0" smtClean="0"/>
                  <a:t> </a:t>
                </a:r>
                <a:r>
                  <a:rPr lang="en-PH" b="0" i="0" smtClean="0">
                    <a:latin typeface="Cambria Math" panose="02040503050406030204" pitchFamily="18" charset="0"/>
                  </a:rPr>
                  <a:t>{𝑥[</a:t>
                </a:r>
                <a:r>
                  <a:rPr lang="en-PH" b="0" i="0" smtClean="0">
                    <a:latin typeface="Cambria Math" panose="02040503050406030204" pitchFamily="18" charset="0"/>
                  </a:rPr>
                  <a:t>𝑛]</a:t>
                </a:r>
                <a:r>
                  <a:rPr lang="en-PH" b="0" i="0" smtClean="0">
                    <a:latin typeface="Cambria Math" panose="02040503050406030204" pitchFamily="18" charset="0"/>
                  </a:rPr>
                  <a:t>}=𝑥[−𝑛]</a:t>
                </a:r>
                <a:endParaRPr lang="en-PH" dirty="0" smtClean="0"/>
              </a:p>
              <a:p>
                <a:r>
                  <a:rPr lang="en-PH" dirty="0" smtClean="0"/>
                  <a:t>Now</a:t>
                </a:r>
              </a:p>
              <a:p>
                <a:r>
                  <a:rPr lang="en-PH" i="0" smtClean="0">
                    <a:latin typeface="Cambria Math" panose="02040503050406030204" pitchFamily="18" charset="0"/>
                  </a:rPr>
                  <a:t>〖</a:t>
                </a:r>
                <a:r>
                  <a:rPr lang="en-PH" b="0" i="0" smtClean="0">
                    <a:latin typeface="Cambria Math" panose="02040503050406030204" pitchFamily="18" charset="0"/>
                  </a:rPr>
                  <a:t>𝑇𝐷</a:t>
                </a:r>
                <a:r>
                  <a:rPr lang="en-PH" b="0" i="0" smtClean="0">
                    <a:latin typeface="Cambria Math" panose="02040503050406030204" pitchFamily="18" charset="0"/>
                  </a:rPr>
                  <a:t>〗_</a:t>
                </a:r>
                <a:r>
                  <a:rPr lang="en-PH" b="0" i="0" smtClean="0">
                    <a:latin typeface="Cambria Math" panose="02040503050406030204" pitchFamily="18" charset="0"/>
                  </a:rPr>
                  <a:t>𝑘 {</a:t>
                </a:r>
                <a:r>
                  <a:rPr lang="en-PH" b="0" i="0" smtClean="0">
                    <a:latin typeface="Cambria Math" panose="02040503050406030204" pitchFamily="18" charset="0"/>
                  </a:rPr>
                  <a:t>𝐹𝐷(</a:t>
                </a:r>
                <a:r>
                  <a:rPr lang="en-PH" b="0" i="0" smtClean="0">
                    <a:latin typeface="Cambria Math" panose="02040503050406030204" pitchFamily="18" charset="0"/>
                  </a:rPr>
                  <a:t>𝑥[𝑛]</a:t>
                </a:r>
                <a:r>
                  <a:rPr lang="en-PH" b="0" i="0" smtClean="0">
                    <a:latin typeface="Cambria Math" panose="02040503050406030204" pitchFamily="18" charset="0"/>
                  </a:rPr>
                  <a:t>)}=</a:t>
                </a:r>
                <a:r>
                  <a:rPr lang="en-PH" i="0" smtClean="0">
                    <a:latin typeface="Cambria Math" panose="02040503050406030204" pitchFamily="18" charset="0"/>
                  </a:rPr>
                  <a:t>〖</a:t>
                </a:r>
                <a:r>
                  <a:rPr lang="en-PH" b="0" i="0" smtClean="0">
                    <a:latin typeface="Cambria Math" panose="02040503050406030204" pitchFamily="18" charset="0"/>
                  </a:rPr>
                  <a:t>𝑇𝐷</a:t>
                </a:r>
                <a:r>
                  <a:rPr lang="en-PH" b="0" i="0" smtClean="0">
                    <a:latin typeface="Cambria Math" panose="02040503050406030204" pitchFamily="18" charset="0"/>
                  </a:rPr>
                  <a:t>〗_</a:t>
                </a:r>
                <a:r>
                  <a:rPr lang="en-PH" b="0" i="0" smtClean="0">
                    <a:latin typeface="Cambria Math" panose="02040503050406030204" pitchFamily="18" charset="0"/>
                  </a:rPr>
                  <a:t>𝑘 {𝑥[</a:t>
                </a:r>
                <a:r>
                  <a:rPr lang="en-PH" b="0" i="0" smtClean="0">
                    <a:latin typeface="Cambria Math" panose="02040503050406030204" pitchFamily="18" charset="0"/>
                  </a:rPr>
                  <a:t>−</a:t>
                </a:r>
                <a:r>
                  <a:rPr lang="en-PH" b="0" i="0" smtClean="0">
                    <a:latin typeface="Cambria Math" panose="02040503050406030204" pitchFamily="18" charset="0"/>
                  </a:rPr>
                  <a:t>𝑛]}</a:t>
                </a:r>
                <a:r>
                  <a:rPr lang="en-PH" b="0" i="0" smtClean="0">
                    <a:latin typeface="Cambria Math" panose="02040503050406030204" pitchFamily="18" charset="0"/>
                  </a:rPr>
                  <a:t>=𝑥[−𝑛+𝑘]</a:t>
                </a:r>
                <a:endParaRPr lang="en-PH" dirty="0" smtClean="0"/>
              </a:p>
              <a:p>
                <a:r>
                  <a:rPr lang="en-PH" dirty="0" err="1" smtClean="0"/>
                  <a:t>Wheras</a:t>
                </a:r>
                <a:endParaRPr lang="en-PH" dirty="0" smtClean="0"/>
              </a:p>
              <a:p>
                <a:r>
                  <a:rPr lang="en-PH" b="0" i="0" smtClean="0">
                    <a:latin typeface="Cambria Math" panose="02040503050406030204" pitchFamily="18" charset="0"/>
                  </a:rPr>
                  <a:t>𝐹𝐷</a:t>
                </a:r>
                <a:r>
                  <a:rPr lang="en-PH" b="0" i="0" smtClean="0">
                    <a:latin typeface="Cambria Math" panose="02040503050406030204" pitchFamily="18" charset="0"/>
                  </a:rPr>
                  <a:t>{</a:t>
                </a:r>
                <a:r>
                  <a:rPr lang="en-PH" b="0" i="0" smtClean="0">
                    <a:latin typeface="Cambria Math" panose="02040503050406030204" pitchFamily="18" charset="0"/>
                  </a:rPr>
                  <a:t>〖</a:t>
                </a:r>
                <a:r>
                  <a:rPr lang="en-PH" b="0" i="0" smtClean="0">
                    <a:latin typeface="Cambria Math" panose="02040503050406030204" pitchFamily="18" charset="0"/>
                  </a:rPr>
                  <a:t>𝑇𝐷</a:t>
                </a:r>
                <a:r>
                  <a:rPr lang="en-PH" b="0" i="0" smtClean="0">
                    <a:latin typeface="Cambria Math" panose="02040503050406030204" pitchFamily="18" charset="0"/>
                  </a:rPr>
                  <a:t>〗_</a:t>
                </a:r>
                <a:r>
                  <a:rPr lang="en-PH" b="0" i="0" smtClean="0">
                    <a:latin typeface="Cambria Math" panose="02040503050406030204" pitchFamily="18" charset="0"/>
                  </a:rPr>
                  <a:t>𝑘 (𝑥[𝑛])}=</a:t>
                </a:r>
                <a:r>
                  <a:rPr lang="en-PH" i="0" smtClean="0">
                    <a:latin typeface="Cambria Math" panose="02040503050406030204" pitchFamily="18" charset="0"/>
                  </a:rPr>
                  <a:t>𝐹</a:t>
                </a:r>
                <a:r>
                  <a:rPr lang="en-PH" b="0" i="0" smtClean="0">
                    <a:latin typeface="Cambria Math" panose="02040503050406030204" pitchFamily="18" charset="0"/>
                  </a:rPr>
                  <a:t>𝐷</a:t>
                </a:r>
                <a:r>
                  <a:rPr lang="en-PH" b="0" i="0" smtClean="0">
                    <a:latin typeface="Cambria Math" panose="02040503050406030204" pitchFamily="18" charset="0"/>
                  </a:rPr>
                  <a:t>{</a:t>
                </a:r>
                <a:r>
                  <a:rPr lang="en-PH" b="0" i="0" smtClean="0">
                    <a:latin typeface="Cambria Math" panose="02040503050406030204" pitchFamily="18" charset="0"/>
                  </a:rPr>
                  <a:t>𝑥[</a:t>
                </a:r>
                <a:r>
                  <a:rPr lang="en-PH" b="0" i="0" smtClean="0">
                    <a:latin typeface="Cambria Math" panose="02040503050406030204" pitchFamily="18" charset="0"/>
                  </a:rPr>
                  <a:t>𝑛</a:t>
                </a:r>
                <a:r>
                  <a:rPr lang="en-PH" b="0" i="0" smtClean="0">
                    <a:latin typeface="Cambria Math" panose="02040503050406030204" pitchFamily="18" charset="0"/>
                  </a:rPr>
                  <a:t>−𝑘]}</a:t>
                </a:r>
                <a:r>
                  <a:rPr lang="en-PH" b="0" i="0" smtClean="0">
                    <a:latin typeface="Cambria Math" panose="02040503050406030204" pitchFamily="18" charset="0"/>
                  </a:rPr>
                  <a:t>=𝑥[−𝑛</a:t>
                </a:r>
                <a:r>
                  <a:rPr lang="en-PH" b="0" i="0" smtClean="0">
                    <a:latin typeface="Cambria Math" panose="02040503050406030204" pitchFamily="18" charset="0"/>
                  </a:rPr>
                  <a:t>−</a:t>
                </a:r>
                <a:r>
                  <a:rPr lang="en-PH" b="0" i="0" smtClean="0">
                    <a:latin typeface="Cambria Math" panose="02040503050406030204" pitchFamily="18" charset="0"/>
                  </a:rPr>
                  <a:t>𝑘</a:t>
                </a:r>
                <a:r>
                  <a:rPr lang="en-PH" b="0" i="0" smtClean="0">
                    <a:latin typeface="Cambria Math" panose="02040503050406030204" pitchFamily="18" charset="0"/>
                  </a:rPr>
                  <a:t>]</a:t>
                </a:r>
                <a:endParaRPr lang="en-PH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EF6BA3-DBF6-4A26-8DB5-A9523DAED632}" type="slidenum">
              <a:rPr lang="en-PH" smtClean="0"/>
              <a:t>31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961831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EF6BA3-DBF6-4A26-8DB5-A9523DAED632}" type="slidenum">
              <a:rPr lang="en-PH" smtClean="0"/>
              <a:t>32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526850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H" dirty="0"/>
              <a:t>Example:</a:t>
            </a:r>
          </a:p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EF6BA3-DBF6-4A26-8DB5-A9523DAED632}" type="slidenum">
              <a:rPr lang="en-PH" smtClean="0"/>
              <a:t>33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0634680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PH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PH" dirty="0" smtClean="0"/>
                  <a:t>In general,</a:t>
                </a:r>
                <a:r>
                  <a:rPr lang="en-PH" baseline="0" dirty="0" smtClean="0"/>
                  <a:t> we may view a system as an operations performed on the input x[n] to produce the output signal y[n</a:t>
                </a:r>
                <a:r>
                  <a:rPr lang="en-PH" baseline="0" dirty="0" smtClean="0"/>
                  <a:t>].</a:t>
                </a:r>
              </a:p>
              <a:p>
                <a:endParaRPr lang="en-PH" baseline="0" dirty="0" smtClean="0"/>
              </a:p>
              <a:p>
                <a:r>
                  <a:rPr lang="en-PH" b="1" i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𝓣</a:t>
                </a:r>
                <a:r>
                  <a:rPr lang="en-PH" baseline="0" dirty="0" smtClean="0"/>
                  <a:t> denotes transformation (also called an operator), or processing performed by the system on x[n] to produce y[n]. The mathematical relationship in equation above is depicted graphically in figure above.</a:t>
                </a:r>
                <a:endParaRPr lang="en-PH" baseline="0" dirty="0" smtClean="0"/>
              </a:p>
              <a:p>
                <a:endParaRPr lang="en-PH" baseline="0" dirty="0" smtClean="0"/>
              </a:p>
              <a:p>
                <a:r>
                  <a:rPr lang="en-PH" baseline="0" dirty="0" smtClean="0"/>
                  <a:t> </a:t>
                </a:r>
                <a:endParaRPr lang="en-PH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EF6BA3-DBF6-4A26-8DB5-A9523DAED632}" type="slidenum">
              <a:rPr lang="en-PH" smtClean="0"/>
              <a:t>34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8834955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PH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PH" dirty="0" smtClean="0"/>
                  <a:t>The exact internal structure of the system  is either unknown or ignored. Thus the only way to interact</a:t>
                </a:r>
                <a:r>
                  <a:rPr lang="en-PH" baseline="0" dirty="0" smtClean="0"/>
                  <a:t> with the system is by using its input and output terminals(i.e.,  the system is assumed to be a” black box” to he user.</a:t>
                </a:r>
              </a:p>
              <a:p>
                <a:r>
                  <a:rPr lang="en-PH" baseline="0" dirty="0" smtClean="0"/>
                  <a:t>Graphically same as figure in the previous slide as well as the equation.</a:t>
                </a:r>
              </a:p>
              <a:p>
                <a:r>
                  <a:rPr lang="en-PH" baseline="0" dirty="0" smtClean="0"/>
                  <a:t>It simply means that y[n] is the response of the system </a:t>
                </a:r>
                <a:r>
                  <a:rPr lang="en-PH" i="0" baseline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𝒯</a:t>
                </a:r>
                <a:r>
                  <a:rPr lang="en-PH" dirty="0" smtClean="0"/>
                  <a:t> to the excitation x[n].</a:t>
                </a:r>
                <a:endParaRPr lang="en-PH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EF6BA3-DBF6-4A26-8DB5-A9523DAED632}" type="slidenum">
              <a:rPr lang="en-PH" smtClean="0"/>
              <a:t>35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470092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EF6BA3-DBF6-4A26-8DB5-A9523DAED632}" type="slidenum">
              <a:rPr lang="en-PH" smtClean="0"/>
              <a:t>36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150492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EF6BA3-DBF6-4A26-8DB5-A9523DAED632}" type="slidenum">
              <a:rPr lang="en-PH" smtClean="0"/>
              <a:t>37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3457967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EF6BA3-DBF6-4A26-8DB5-A9523DAED632}" type="slidenum">
              <a:rPr lang="en-PH" smtClean="0"/>
              <a:t>38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9785074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EF6BA3-DBF6-4A26-8DB5-A9523DAED632}" type="slidenum">
              <a:rPr lang="en-PH" smtClean="0"/>
              <a:t>39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7942211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PH" baseline="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PH" dirty="0" smtClean="0"/>
                  <a:t>The</a:t>
                </a:r>
                <a:r>
                  <a:rPr lang="en-PH" baseline="0" dirty="0" smtClean="0"/>
                  <a:t> unit delay is a special system that simply delays the signal passing through it by one sample. The given figure illustrates such a system. If the input signal is x[n], the output is x[n-1]. In fact, the sample x[n-1] is stored in memory at time n-1 and it is recalled from the memory at time n to form </a:t>
                </a:r>
                <a:r>
                  <a:rPr lang="en-PH" b="0" i="0" baseline="0" smtClean="0">
                    <a:latin typeface="Cambria Math" panose="02040503050406030204" pitchFamily="18" charset="0"/>
                  </a:rPr>
                  <a:t>𝑦[𝑛]=𝑥[𝑛−1]</a:t>
                </a:r>
                <a:r>
                  <a:rPr lang="en-PH" baseline="0" dirty="0" smtClean="0"/>
                  <a:t>. 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EF6BA3-DBF6-4A26-8DB5-A9523DAED632}" type="slidenum">
              <a:rPr lang="en-PH" smtClean="0"/>
              <a:t>40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5254087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EF6BA3-DBF6-4A26-8DB5-A9523DAED632}" type="slidenum">
              <a:rPr lang="en-PH" smtClean="0"/>
              <a:t>41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9998550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EF6BA3-DBF6-4A26-8DB5-A9523DAED632}" type="slidenum">
              <a:rPr lang="en-PH" smtClean="0"/>
              <a:t>43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5241979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EF6BA3-DBF6-4A26-8DB5-A9523DAED632}" type="slidenum">
              <a:rPr lang="en-PH" smtClean="0"/>
              <a:t>44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56118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Oval 8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1" y="2222623"/>
            <a:ext cx="5917679" cy="2554983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866441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76937" y="1828799"/>
            <a:ext cx="990599" cy="228659"/>
          </a:xfrm>
        </p:spPr>
        <p:txBody>
          <a:bodyPr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A563E81C-52A1-4927-B0F6-AE8BF1C2109C}" type="datetimeFigureOut">
              <a:rPr lang="en-PH" smtClean="0"/>
              <a:t>8/27/2025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10" y="3264407"/>
            <a:ext cx="3859795" cy="228659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endParaRPr lang="en-PH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052817A9-83F6-4B6B-A696-2DBA247D986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40281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3E81C-52A1-4927-B0F6-AE8BF1C2109C}" type="datetimeFigureOut">
              <a:rPr lang="en-PH" smtClean="0"/>
              <a:t>8/27/2025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052817A9-83F6-4B6B-A696-2DBA247D986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68676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9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 bwMode="gray"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2257588"/>
            <a:ext cx="3101765" cy="3020343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7"/>
            <a:ext cx="3054653" cy="302034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3E81C-52A1-4927-B0F6-AE8BF1C2109C}" type="datetimeFigureOut">
              <a:rPr lang="en-PH" smtClean="0"/>
              <a:t>8/27/2025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15" name="Rectangle 14"/>
          <p:cNvSpPr/>
          <p:nvPr/>
        </p:nvSpPr>
        <p:spPr>
          <a:xfrm>
            <a:off x="7738039" y="7605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052817A9-83F6-4B6B-A696-2DBA247D986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803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199"/>
            <a:ext cx="3636980" cy="353060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0" y="2489199"/>
            <a:ext cx="3636981" cy="35306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3E81C-52A1-4927-B0F6-AE8BF1C2109C}" type="datetimeFigureOut">
              <a:rPr lang="en-PH" smtClean="0"/>
              <a:t>8/27/2025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052817A9-83F6-4B6B-A696-2DBA247D986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51296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94298"/>
            <a:ext cx="3636980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39" y="3253588"/>
            <a:ext cx="3636981" cy="276621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3E81C-52A1-4927-B0F6-AE8BF1C2109C}" type="datetimeFigureOut">
              <a:rPr lang="en-PH" smtClean="0"/>
              <a:t>8/27/2025</a:t>
            </a:fld>
            <a:endParaRPr lang="en-P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052817A9-83F6-4B6B-A696-2DBA247D986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30643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3E81C-52A1-4927-B0F6-AE8BF1C2109C}" type="datetimeFigureOut">
              <a:rPr lang="en-PH" smtClean="0"/>
              <a:t>8/27/2025</a:t>
            </a:fld>
            <a:endParaRPr lang="en-P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052817A9-83F6-4B6B-A696-2DBA247D986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24550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3E81C-52A1-4927-B0F6-AE8BF1C2109C}" type="datetimeFigureOut">
              <a:rPr lang="en-PH" smtClean="0"/>
              <a:t>8/27/2025</a:t>
            </a:fld>
            <a:endParaRPr lang="en-P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Rectangle 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052817A9-83F6-4B6B-A696-2DBA247D986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28535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8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89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1182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3086845"/>
            <a:ext cx="2712589" cy="2938036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3E81C-52A1-4927-B0F6-AE8BF1C2109C}" type="datetimeFigureOut">
              <a:rPr lang="en-PH" smtClean="0"/>
              <a:t>8/27/2025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052817A9-83F6-4B6B-A696-2DBA247D986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31430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8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1591" y="1340000"/>
            <a:ext cx="3001938" cy="161619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51591" y="3086100"/>
            <a:ext cx="3001938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3E81C-52A1-4927-B0F6-AE8BF1C2109C}" type="datetimeFigureOut">
              <a:rPr lang="en-PH" smtClean="0"/>
              <a:t>8/27/2025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052817A9-83F6-4B6B-A696-2DBA247D986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80225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Rectangle 8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9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5" y="4961453"/>
            <a:ext cx="6422002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3" y="5528191"/>
            <a:ext cx="6422003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3E81C-52A1-4927-B0F6-AE8BF1C2109C}" type="datetimeFigureOut">
              <a:rPr lang="en-PH" smtClean="0"/>
              <a:t>8/27/2025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052817A9-83F6-4B6B-A696-2DBA247D986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2469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8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927101"/>
            <a:ext cx="6422004" cy="1692720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8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3E81C-52A1-4927-B0F6-AE8BF1C2109C}" type="datetimeFigureOut">
              <a:rPr lang="en-PH" smtClean="0"/>
              <a:t>8/27/2025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12" name="Rectangle 11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052817A9-83F6-4B6B-A696-2DBA247D986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54037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12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3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12" name="TextBox 11"/>
          <p:cNvSpPr txBox="1"/>
          <p:nvPr/>
        </p:nvSpPr>
        <p:spPr bwMode="gray">
          <a:xfrm>
            <a:off x="7033422" y="2898648"/>
            <a:ext cx="6605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8000" dirty="0"/>
              <a:t>”</a:t>
            </a:r>
          </a:p>
        </p:txBody>
      </p:sp>
      <p:sp>
        <p:nvSpPr>
          <p:cNvPr id="11" name="TextBox 10"/>
          <p:cNvSpPr txBox="1"/>
          <p:nvPr/>
        </p:nvSpPr>
        <p:spPr bwMode="gray">
          <a:xfrm>
            <a:off x="651683" y="589767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8000" dirty="0"/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58" y="903421"/>
            <a:ext cx="6160385" cy="2895658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9" y="3809278"/>
            <a:ext cx="5646142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5"/>
            <a:ext cx="6422005" cy="1024065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3E81C-52A1-4927-B0F6-AE8BF1C2109C}" type="datetimeFigureOut">
              <a:rPr lang="en-PH" smtClean="0"/>
              <a:t>8/27/2025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22" name="Rectangle 21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052817A9-83F6-4B6B-A696-2DBA247D986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613047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2057400"/>
            <a:ext cx="6422004" cy="2095500"/>
          </a:xfrm>
        </p:spPr>
        <p:txBody>
          <a:bodyPr anchor="b"/>
          <a:lstStyle>
            <a:lvl1pPr algn="l">
              <a:defRPr sz="3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3E81C-52A1-4927-B0F6-AE8BF1C2109C}" type="datetimeFigureOut">
              <a:rPr lang="en-PH" smtClean="0"/>
              <a:t>8/27/2025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12" name="Rectangle 11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052817A9-83F6-4B6B-A696-2DBA247D986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331017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922305"/>
            <a:ext cx="6423592" cy="71466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2489200"/>
            <a:ext cx="2313433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5"/>
            <a:ext cx="2313432" cy="2877714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8472" y="2489200"/>
            <a:ext cx="2326750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2" y="3147165"/>
            <a:ext cx="2326749" cy="2869878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63820" y="2489201"/>
            <a:ext cx="2313740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3821" y="3147164"/>
            <a:ext cx="2313740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3E81C-52A1-4927-B0F6-AE8BF1C2109C}" type="datetimeFigureOut">
              <a:rPr lang="en-PH" smtClean="0"/>
              <a:t>8/27/2025</a:t>
            </a:fld>
            <a:endParaRPr lang="en-P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052817A9-83F6-4B6B-A696-2DBA247D986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0293017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927101"/>
            <a:ext cx="6423592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461" y="4180095"/>
            <a:ext cx="229904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2743" y="2486221"/>
            <a:ext cx="2021456" cy="1450321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21"/>
          </p:nvPr>
        </p:nvSpPr>
        <p:spPr>
          <a:xfrm>
            <a:off x="881461" y="4837558"/>
            <a:ext cx="2298410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4318" y="4179596"/>
            <a:ext cx="2317790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16"/>
          </p:nvPr>
        </p:nvSpPr>
        <p:spPr>
          <a:xfrm>
            <a:off x="3550622" y="2509453"/>
            <a:ext cx="2025182" cy="1427089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04318" y="4837558"/>
            <a:ext cx="2330903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63821" y="4179595"/>
            <a:ext cx="229949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17"/>
          </p:nvPr>
        </p:nvSpPr>
        <p:spPr>
          <a:xfrm>
            <a:off x="6104946" y="2509453"/>
            <a:ext cx="2018839" cy="1427089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63821" y="4837558"/>
            <a:ext cx="229949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3E81C-52A1-4927-B0F6-AE8BF1C2109C}" type="datetimeFigureOut">
              <a:rPr lang="en-PH" smtClean="0"/>
              <a:t>8/27/2025</a:t>
            </a:fld>
            <a:endParaRPr lang="en-P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052817A9-83F6-4B6B-A696-2DBA247D986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263189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3E81C-52A1-4927-B0F6-AE8BF1C2109C}" type="datetimeFigureOut">
              <a:rPr lang="en-PH" smtClean="0"/>
              <a:t>8/27/2025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052817A9-83F6-4B6B-A696-2DBA247D986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301920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8"/>
            <p:cNvSpPr/>
            <p:nvPr/>
          </p:nvSpPr>
          <p:spPr bwMode="gray">
            <a:xfrm rot="5400000">
              <a:off x="1299309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 bwMode="gray">
            <a:xfrm>
              <a:off x="414867" y="402165"/>
              <a:ext cx="46105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68970" y="1447799"/>
            <a:ext cx="1077347" cy="4571999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440" y="1447799"/>
            <a:ext cx="4417234" cy="4572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3E81C-52A1-4927-B0F6-AE8BF1C2109C}" type="datetimeFigureOut">
              <a:rPr lang="en-PH" smtClean="0"/>
              <a:t>8/27/2025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052817A9-83F6-4B6B-A696-2DBA247D986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71598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25" name="Rectangle 24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18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3202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2489200"/>
            <a:ext cx="6343201" cy="353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39638" y="6365499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  <a:latin typeface="+mn-lt"/>
              </a:defRPr>
            </a:lvl1pPr>
          </a:lstStyle>
          <a:p>
            <a:fld id="{A563E81C-52A1-4927-B0F6-AE8BF1C2109C}" type="datetimeFigureOut">
              <a:rPr lang="en-PH" smtClean="0"/>
              <a:t>8/27/2025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8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PH"/>
          </a:p>
        </p:txBody>
      </p:sp>
      <p:sp>
        <p:nvSpPr>
          <p:cNvPr id="22" name="Rectangle 21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052817A9-83F6-4B6B-A696-2DBA247D986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38802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9" r:id="rId1"/>
    <p:sldLayoutId id="2147483900" r:id="rId2"/>
    <p:sldLayoutId id="2147483901" r:id="rId3"/>
    <p:sldLayoutId id="2147483902" r:id="rId4"/>
    <p:sldLayoutId id="2147483903" r:id="rId5"/>
    <p:sldLayoutId id="2147483904" r:id="rId6"/>
    <p:sldLayoutId id="2147483905" r:id="rId7"/>
    <p:sldLayoutId id="2147483906" r:id="rId8"/>
    <p:sldLayoutId id="2147483907" r:id="rId9"/>
    <p:sldLayoutId id="2147483908" r:id="rId10"/>
    <p:sldLayoutId id="2147483909" r:id="rId11"/>
    <p:sldLayoutId id="2147483910" r:id="rId12"/>
    <p:sldLayoutId id="2147483911" r:id="rId13"/>
    <p:sldLayoutId id="2147483912" r:id="rId14"/>
    <p:sldLayoutId id="2147483913" r:id="rId15"/>
    <p:sldLayoutId id="2147483914" r:id="rId16"/>
    <p:sldLayoutId id="214748391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0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0.png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3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e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1.png"/><Relationship Id="rId2" Type="http://schemas.openxmlformats.org/officeDocument/2006/relationships/image" Target="../media/image48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2400" b="1" dirty="0"/>
              <a:t>SIGNALS, SYSTEMS, AND SIGNAL PROCESSING </a:t>
            </a:r>
            <a:endParaRPr lang="en-PH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66441" y="2133600"/>
                <a:ext cx="7515559" cy="4572000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 algn="just">
                  <a:buNone/>
                </a:pPr>
                <a:r>
                  <a:rPr lang="en-US" b="1" dirty="0"/>
                  <a:t>Signal</a:t>
                </a:r>
                <a:endParaRPr lang="en-US" dirty="0"/>
              </a:p>
              <a:p>
                <a:r>
                  <a:rPr lang="en-US" dirty="0"/>
                  <a:t>Convey information from one point to another (</a:t>
                </a:r>
                <a:r>
                  <a:rPr lang="en-PH" dirty="0"/>
                  <a:t>They may be generated by electronic means, or by some natural means such as talking, walking, your heart beating, an earthquake, the sun heating the sidewalk)</a:t>
                </a:r>
                <a:endParaRPr lang="en-US" dirty="0"/>
              </a:p>
              <a:p>
                <a:pPr algn="just"/>
                <a:r>
                  <a:rPr lang="en-US" dirty="0"/>
                  <a:t>described by a function of one or more independent variables. The value of the function (i.e., the dependent variable) can be real-valued scalar quantity a complex-valued quantity or perhaps a vector.</a:t>
                </a:r>
              </a:p>
              <a:p>
                <a:pPr algn="just"/>
                <a:endParaRPr lang="en-PH" dirty="0"/>
              </a:p>
              <a:p>
                <a:pPr marL="0" indent="0" algn="just">
                  <a:buNone/>
                </a:pPr>
                <a:r>
                  <a:rPr lang="en-US" b="1" dirty="0"/>
                  <a:t>Examples:</a:t>
                </a: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PH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PH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𝐴𝑠𝑖𝑛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3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PH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PH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=5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,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PH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ctrlPr>
                          <a:rPr lang="en-PH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=5</m:t>
                    </m:r>
                    <m:sSup>
                      <m:sSupPr>
                        <m:ctrlPr>
                          <a:rPr lang="en-PH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PH" dirty="0"/>
              </a:p>
              <a:p>
                <a:pPr marL="0" indent="0" algn="just">
                  <a:buNone/>
                </a:pPr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PH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d>
                      <m:dPr>
                        <m:ctrlPr>
                          <a:rPr lang="en-PH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=3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+10</m:t>
                    </m:r>
                    <m:sSup>
                      <m:sSupPr>
                        <m:ctrlPr>
                          <a:rPr lang="en-PH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PH" dirty="0"/>
              </a:p>
              <a:p>
                <a:pPr marL="0" indent="0" algn="just">
                  <a:buNone/>
                </a:pPr>
                <a:r>
                  <a:rPr lang="en-US" dirty="0"/>
                  <a:t>  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PH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d>
                      <m:dPr>
                        <m:ctrlPr>
                          <a:rPr lang="en-PH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sSup>
                      <m:sSupPr>
                        <m:ctrlPr>
                          <a:rPr lang="en-PH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𝐴𝑐𝑜𝑠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3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𝑗𝐴𝑠𝑖𝑛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3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PH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d>
                        <m:dPr>
                          <m:ctrlPr>
                            <a:rPr lang="en-PH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PH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PH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PH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PH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PH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PH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PH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PH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PH" dirty="0"/>
              </a:p>
              <a:p>
                <a:endParaRPr lang="en-PH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66441" y="2133600"/>
                <a:ext cx="7515559" cy="4572000"/>
              </a:xfrm>
              <a:blipFill rotWithShape="0">
                <a:blip r:embed="rId2"/>
                <a:stretch>
                  <a:fillRect l="-487" t="-1467" r="-568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71700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CAF1E58-D170-4EF3-8E1A-992DA3688F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>
              <a:duotone>
                <a:schemeClr val="dk2">
                  <a:shade val="69000"/>
                  <a:hueMod val="108000"/>
                  <a:satMod val="164000"/>
                  <a:lumMod val="74000"/>
                </a:schemeClr>
                <a:schemeClr val="dk2">
                  <a:tint val="96000"/>
                  <a:hueMod val="88000"/>
                  <a:satMod val="140000"/>
                  <a:lumMod val="132000"/>
                </a:schemeClr>
              </a:duotone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H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EACCB19-3F29-416E-BD93-24BDDE3739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667000"/>
            <a:ext cx="314325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H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9C41423-F9F7-4333-A541-61582D3D23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895600"/>
            <a:ext cx="177165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H"/>
          </a:p>
        </p:txBody>
      </p:sp>
      <p:sp>
        <p:nvSpPr>
          <p:cNvPr id="15" name="Freeform 5">
            <a:extLst>
              <a:ext uri="{FF2B5EF4-FFF2-40B4-BE49-F238E27FC236}">
                <a16:creationId xmlns:a16="http://schemas.microsoft.com/office/drawing/2014/main" id="{A66DA090-6BD9-45CC-B782-02767069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1942938" y="1881194"/>
            <a:ext cx="3299407" cy="330693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PH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A9F93AF-9489-4B8A-AA6B-1B00D3CA68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4285059" y="402165"/>
            <a:ext cx="4541439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H"/>
          </a:p>
        </p:txBody>
      </p:sp>
      <p:sp>
        <p:nvSpPr>
          <p:cNvPr id="19" name="Freeform 5">
            <a:extLst>
              <a:ext uri="{FF2B5EF4-FFF2-40B4-BE49-F238E27FC236}">
                <a16:creationId xmlns:a16="http://schemas.microsoft.com/office/drawing/2014/main" id="{2F459F0B-865B-481D-9AC3-15C76A3360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915324" y="2958541"/>
            <a:ext cx="6053670" cy="940919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PH"/>
          </a:p>
        </p:txBody>
      </p:sp>
      <p:sp>
        <p:nvSpPr>
          <p:cNvPr id="21" name="Freeform 5">
            <a:extLst>
              <a:ext uri="{FF2B5EF4-FFF2-40B4-BE49-F238E27FC236}">
                <a16:creationId xmlns:a16="http://schemas.microsoft.com/office/drawing/2014/main" id="{61CDB3A6-B686-4E1D-AD52-3DC038A45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PH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3667"/>
            <a:ext cx="2206657" cy="4833745"/>
          </a:xfrm>
        </p:spPr>
        <p:txBody>
          <a:bodyPr>
            <a:normAutofit/>
          </a:bodyPr>
          <a:lstStyle/>
          <a:p>
            <a:r>
              <a:rPr lang="en-US" sz="2500" b="1">
                <a:solidFill>
                  <a:srgbClr val="EBEBEB"/>
                </a:solidFill>
              </a:rPr>
              <a:t>SIGNALS, SYSTEMS, AND SIGNAL PROCESSING </a:t>
            </a:r>
            <a:endParaRPr lang="en-PH" sz="2500">
              <a:solidFill>
                <a:srgbClr val="EBEBEB"/>
              </a:solidFill>
            </a:endParaRPr>
          </a:p>
        </p:txBody>
      </p:sp>
      <p:sp>
        <p:nvSpPr>
          <p:cNvPr id="25" name="Rectangle 22">
            <a:extLst>
              <a:ext uri="{FF2B5EF4-FFF2-40B4-BE49-F238E27FC236}">
                <a16:creationId xmlns:a16="http://schemas.microsoft.com/office/drawing/2014/main" id="{3D38E400-4F30-481D-A5DC-5AA21A2CB8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H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9567D8D-4455-43CC-1B7B-314A6CE596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13435244"/>
              </p:ext>
            </p:extLst>
          </p:nvPr>
        </p:nvGraphicFramePr>
        <p:xfrm>
          <a:off x="3895725" y="808038"/>
          <a:ext cx="4793456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587096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05594-DAB1-0064-C59B-83C6FE552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440" y="927099"/>
            <a:ext cx="6677360" cy="709865"/>
          </a:xfrm>
        </p:spPr>
        <p:txBody>
          <a:bodyPr/>
          <a:lstStyle/>
          <a:p>
            <a:r>
              <a:rPr lang="en-US" dirty="0"/>
              <a:t>Basic Elements of a Digital Signal Processing System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1574DF-2147-1620-68B2-0B7B7677B8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2819400"/>
            <a:ext cx="5485180" cy="1676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645B197-32AF-FB2B-7F04-0E15341033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0" y="4876800"/>
            <a:ext cx="3429000" cy="61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7508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AFE0EBE-093F-7675-E1C8-92B520EDA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2286000"/>
            <a:ext cx="85725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340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2AAFE-365E-5FCD-B271-6007B89E0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85800"/>
            <a:ext cx="6905960" cy="1054101"/>
          </a:xfrm>
        </p:spPr>
        <p:txBody>
          <a:bodyPr/>
          <a:lstStyle/>
          <a:p>
            <a:r>
              <a:rPr lang="en-US" dirty="0"/>
              <a:t>Multichannel and Multidimensional Signals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2AF8CF-4F01-B0CC-7AF0-1FF07A6D67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362" y="2363996"/>
            <a:ext cx="2390775" cy="5048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705333E-9B4F-0666-A5AE-C52388E9FB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3095625"/>
            <a:ext cx="4086225" cy="3333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0D4751B-68E8-A796-0AFE-5225FED82B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713" y="3492916"/>
            <a:ext cx="2000250" cy="86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576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F195D76-DAD9-40E0-051C-791EEB9E49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981200"/>
            <a:ext cx="8534400" cy="4524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46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4633679-3E7D-70AE-C1E4-16AA34DD59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862" y="1143000"/>
            <a:ext cx="7534275" cy="522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4802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Continuous-Time versus Discrete Time Signals</a:t>
            </a:r>
            <a:endParaRPr lang="en-PH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66441" y="2489200"/>
                <a:ext cx="7667959" cy="3530600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b="1" dirty="0"/>
                  <a:t>Discrete- time signals</a:t>
                </a:r>
                <a:r>
                  <a:rPr lang="en-US" dirty="0"/>
                  <a:t> are defined only at certain specific values of time. To emphasize the discrete- time nature of a signal, we shall denote such a signal as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or x[n] instead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PH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dirty="0"/>
                  <a:t> If the time instants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PH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are equally spaced (i.e.,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PH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𝑛𝑇</m:t>
                    </m:r>
                  </m:oMath>
                </a14:m>
                <a:r>
                  <a:rPr lang="en-US" dirty="0"/>
                  <a:t>), the notation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𝑛𝑇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also used. </a:t>
                </a:r>
                <a:endParaRPr lang="en-PH" dirty="0"/>
              </a:p>
              <a:p>
                <a:endParaRPr lang="en-PH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66441" y="2489200"/>
                <a:ext cx="7667959" cy="3530600"/>
              </a:xfrm>
              <a:blipFill rotWithShape="0">
                <a:blip r:embed="rId2"/>
                <a:stretch>
                  <a:fillRect l="-159" t="-862" r="-715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/>
          <p:nvPr/>
        </p:nvPicPr>
        <p:blipFill rotWithShape="1">
          <a:blip r:embed="rId3"/>
          <a:srcRect l="5386" t="6497" r="52051" b="75034"/>
          <a:stretch/>
        </p:blipFill>
        <p:spPr bwMode="auto">
          <a:xfrm>
            <a:off x="1905000" y="3910647"/>
            <a:ext cx="5914242" cy="212820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866440" y="6057900"/>
                <a:ext cx="7820360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1" dirty="0">
                    <a:latin typeface="Arial" panose="020B0604020202020204" pitchFamily="34" charset="0"/>
                    <a:ea typeface="Times New Roman" panose="02020603050405020304" pitchFamily="18" charset="0"/>
                  </a:rPr>
                  <a:t>Graphical representation of the discrete time signal </a:t>
                </a:r>
                <a14:m>
                  <m:oMath xmlns:m="http://schemas.openxmlformats.org/officeDocument/2006/math"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𝒙</m:t>
                    </m:r>
                    <m:d>
                      <m:dPr>
                        <m:begChr m:val="["/>
                        <m:endChr m:val="]"/>
                        <m:ctrlPr>
                          <a:rPr lang="en-PH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𝒏</m:t>
                        </m:r>
                      </m:e>
                    </m:d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</m:t>
                    </m:r>
                    <m:sSup>
                      <m:sSupPr>
                        <m:ctrlPr>
                          <a:rPr lang="en-PH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𝟎</m:t>
                        </m:r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.</m:t>
                        </m:r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𝟖</m:t>
                        </m:r>
                      </m:e>
                      <m:sup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en-US" b="1" dirty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 for </a:t>
                </a:r>
                <a14:m>
                  <m:oMath xmlns:m="http://schemas.openxmlformats.org/officeDocument/2006/math"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𝒏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&gt;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𝟎</m:t>
                    </m:r>
                  </m:oMath>
                </a14:m>
                <a:r>
                  <a:rPr lang="en-US" b="1" dirty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𝒙</m:t>
                    </m:r>
                    <m:d>
                      <m:dPr>
                        <m:begChr m:val="["/>
                        <m:endChr m:val="]"/>
                        <m:ctrlPr>
                          <a:rPr lang="en-PH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𝒏</m:t>
                        </m:r>
                      </m:e>
                    </m:d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𝟎</m:t>
                    </m:r>
                  </m:oMath>
                </a14:m>
                <a:r>
                  <a:rPr lang="en-US" b="1" dirty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 for </a:t>
                </a:r>
                <a14:m>
                  <m:oMath xmlns:m="http://schemas.openxmlformats.org/officeDocument/2006/math"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𝒏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&lt;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𝟎</m:t>
                    </m:r>
                  </m:oMath>
                </a14:m>
                <a:endParaRPr lang="en-PH" sz="80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440" y="6057900"/>
                <a:ext cx="7820360" cy="646331"/>
              </a:xfrm>
              <a:prstGeom prst="rect">
                <a:avLst/>
              </a:prstGeom>
              <a:blipFill rotWithShape="0">
                <a:blip r:embed="rId4"/>
                <a:stretch>
                  <a:fillRect t="-5660" b="-14151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78253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Continuous-Time versus Discrete Time Signals</a:t>
            </a:r>
            <a:endParaRPr lang="en-PH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66441" y="2489200"/>
                <a:ext cx="7820359" cy="3530600"/>
              </a:xfrm>
            </p:spPr>
            <p:txBody>
              <a:bodyPr>
                <a:normAutofit/>
              </a:bodyPr>
              <a:lstStyle/>
              <a:p>
                <a:r>
                  <a:rPr lang="en-US" b="1" dirty="0"/>
                  <a:t>Continuous- time signals or analog signals</a:t>
                </a:r>
                <a:r>
                  <a:rPr lang="en-US" dirty="0"/>
                  <a:t> are defined for every value of time and they take on values in the continuous interval (a, b), where a can be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−∞</m:t>
                    </m:r>
                  </m:oMath>
                </a14:m>
                <a:r>
                  <a:rPr lang="en-US" dirty="0"/>
                  <a:t> and b can be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dirty="0"/>
                  <a:t>.</a:t>
                </a:r>
                <a:endParaRPr lang="en-PH" dirty="0"/>
              </a:p>
              <a:p>
                <a:r>
                  <a:rPr lang="en-US" dirty="0"/>
                  <a:t>Example. Speech waveform, signals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PH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PH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PH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func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PH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PH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PH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PH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, −∞&lt;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&lt;∞</m:t>
                    </m:r>
                  </m:oMath>
                </a14:m>
                <a:endParaRPr lang="en-PH" dirty="0"/>
              </a:p>
              <a:p>
                <a:pPr marL="0" indent="0">
                  <a:buNone/>
                </a:pPr>
                <a:endParaRPr lang="en-PH" dirty="0"/>
              </a:p>
              <a:p>
                <a:endParaRPr lang="en-PH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66441" y="2489200"/>
                <a:ext cx="7820359" cy="3530600"/>
              </a:xfrm>
              <a:blipFill>
                <a:blip r:embed="rId2"/>
                <a:stretch>
                  <a:fillRect l="-156" t="-8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31845" t="41666" r="24817" b="11459"/>
          <a:stretch/>
        </p:blipFill>
        <p:spPr>
          <a:xfrm>
            <a:off x="1447800" y="4114800"/>
            <a:ext cx="4038600" cy="24559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0" y="5029200"/>
            <a:ext cx="297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PH" b="1" dirty="0"/>
              <a:t>Example of a speech signal</a:t>
            </a:r>
          </a:p>
        </p:txBody>
      </p:sp>
    </p:spTree>
    <p:extLst>
      <p:ext uri="{BB962C8B-B14F-4D97-AF65-F5344CB8AC3E}">
        <p14:creationId xmlns:p14="http://schemas.microsoft.com/office/powerpoint/2010/main" val="37711466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Continuous-Valued versus Discrete-Valued Signals</a:t>
            </a:r>
            <a:endParaRPr lang="en-P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3199" y="2286000"/>
            <a:ext cx="7819801" cy="1371600"/>
          </a:xfrm>
        </p:spPr>
        <p:txBody>
          <a:bodyPr/>
          <a:lstStyle/>
          <a:p>
            <a:pPr algn="just"/>
            <a:r>
              <a:rPr lang="en-US" b="1" dirty="0"/>
              <a:t>Continuous- Valued Signals- </a:t>
            </a:r>
            <a:r>
              <a:rPr lang="en-US" dirty="0"/>
              <a:t>if a signal takes on all possible values on a finite or an infinite range.</a:t>
            </a:r>
          </a:p>
          <a:p>
            <a:pPr algn="just"/>
            <a:r>
              <a:rPr lang="en-US" b="1" dirty="0"/>
              <a:t>Discrete –Valued Signal –</a:t>
            </a:r>
            <a:r>
              <a:rPr lang="en-US" dirty="0"/>
              <a:t> if the signal takes on values from a finite set of possible values.</a:t>
            </a:r>
            <a:endParaRPr lang="en-PH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16618" t="32292" r="35944" b="7292"/>
          <a:stretch/>
        </p:blipFill>
        <p:spPr>
          <a:xfrm>
            <a:off x="228600" y="4036483"/>
            <a:ext cx="3886200" cy="278271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l="37702" t="43750" r="13689" b="11459"/>
          <a:stretch/>
        </p:blipFill>
        <p:spPr>
          <a:xfrm>
            <a:off x="4495800" y="4263263"/>
            <a:ext cx="4495800" cy="232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9076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5F38D-2B91-CE21-30D5-8F49347D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Deterministic vs Random Signals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E512F7-975C-2C26-00D0-8EC3A4791163}"/>
              </a:ext>
            </a:extLst>
          </p:cNvPr>
          <p:cNvSpPr txBox="1"/>
          <p:nvPr/>
        </p:nvSpPr>
        <p:spPr>
          <a:xfrm>
            <a:off x="838200" y="2362200"/>
            <a:ext cx="7467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Deterministic</a:t>
            </a:r>
            <a:r>
              <a:rPr lang="en-US" dirty="0"/>
              <a:t> -  Any signal that can be uniquely described by an explicit mathematical expression, a table of data, or a well-defined rule.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F3B156-B96F-11CE-E99B-BA1EBCE0B144}"/>
              </a:ext>
            </a:extLst>
          </p:cNvPr>
          <p:cNvSpPr txBox="1"/>
          <p:nvPr/>
        </p:nvSpPr>
        <p:spPr>
          <a:xfrm>
            <a:off x="866440" y="3474720"/>
            <a:ext cx="78203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Random</a:t>
            </a:r>
            <a:r>
              <a:rPr lang="en-US" dirty="0"/>
              <a:t> - are signals that either cannot be described to any reasonable degree of accuracy by explicit mathematical formulas, or such a description is too com plicated to be of any practical use</a:t>
            </a:r>
          </a:p>
        </p:txBody>
      </p:sp>
    </p:spTree>
    <p:extLst>
      <p:ext uri="{BB962C8B-B14F-4D97-AF65-F5344CB8AC3E}">
        <p14:creationId xmlns:p14="http://schemas.microsoft.com/office/powerpoint/2010/main" val="17217414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099"/>
            <a:ext cx="6982160" cy="709865"/>
          </a:xfrm>
        </p:spPr>
        <p:txBody>
          <a:bodyPr/>
          <a:lstStyle/>
          <a:p>
            <a:r>
              <a:rPr lang="en-PH" dirty="0"/>
              <a:t>Discrete-Time Signal or Sequence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PH" dirty="0"/>
              <a:t>Graphically, it can be represented as</a:t>
            </a:r>
          </a:p>
          <a:p>
            <a:endParaRPr lang="en-PH" dirty="0"/>
          </a:p>
          <a:p>
            <a:endParaRPr lang="en-PH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440" y="3200400"/>
            <a:ext cx="7931987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1581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099"/>
            <a:ext cx="7363160" cy="709865"/>
          </a:xfrm>
        </p:spPr>
        <p:txBody>
          <a:bodyPr/>
          <a:lstStyle/>
          <a:p>
            <a:r>
              <a:rPr lang="en-PH" dirty="0"/>
              <a:t>Discrete Time Signals or Sequence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66441" y="2489200"/>
                <a:ext cx="7744159" cy="3530600"/>
              </a:xfrm>
            </p:spPr>
            <p:txBody>
              <a:bodyPr/>
              <a:lstStyle/>
              <a:p>
                <a:r>
                  <a:rPr lang="en-PH" dirty="0"/>
                  <a:t>Besides the graphical, there are some alternative representation:</a:t>
                </a:r>
              </a:p>
              <a:p>
                <a:pPr>
                  <a:buFont typeface="+mj-lt"/>
                  <a:buAutoNum type="arabicPeriod"/>
                </a:pPr>
                <a:r>
                  <a:rPr lang="en-PH" dirty="0"/>
                  <a:t>Functional representation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PH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PH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PH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PH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PH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PH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PH" b="0" i="1" smtClean="0">
                                <a:latin typeface="Cambria Math" panose="02040503050406030204" pitchFamily="18" charset="0"/>
                              </a:rPr>
                              <m:t>1,     </m:t>
                            </m:r>
                            <m:r>
                              <a:rPr lang="en-PH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PH" b="0" i="1" smtClean="0">
                                <a:latin typeface="Cambria Math" panose="02040503050406030204" pitchFamily="18" charset="0"/>
                              </a:rPr>
                              <m:t>=1,3</m:t>
                            </m:r>
                          </m:e>
                          <m:e>
                            <m:r>
                              <a:rPr lang="en-PH" b="0" i="1" smtClean="0">
                                <a:latin typeface="Cambria Math" panose="02040503050406030204" pitchFamily="18" charset="0"/>
                              </a:rPr>
                              <m:t>4,         </m:t>
                            </m:r>
                            <m:r>
                              <a:rPr lang="en-PH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PH" b="0" i="1" smtClean="0">
                                <a:latin typeface="Cambria Math" panose="02040503050406030204" pitchFamily="18" charset="0"/>
                              </a:rPr>
                              <m:t>=2</m:t>
                            </m:r>
                          </m:e>
                          <m:e>
                            <m:r>
                              <a:rPr lang="en-PH" b="0" i="1" smtClean="0">
                                <a:latin typeface="Cambria Math" panose="02040503050406030204" pitchFamily="18" charset="0"/>
                              </a:rPr>
                              <m:t>    0,   </m:t>
                            </m:r>
                            <m:r>
                              <a:rPr lang="en-PH" b="0" i="1" smtClean="0">
                                <a:latin typeface="Cambria Math" panose="02040503050406030204" pitchFamily="18" charset="0"/>
                              </a:rPr>
                              <m:t>𝑒𝑙𝑠𝑒𝑤h𝑒𝑟𝑒</m:t>
                            </m:r>
                          </m:e>
                        </m:eqArr>
                      </m:e>
                    </m:d>
                  </m:oMath>
                </a14:m>
                <a:r>
                  <a:rPr lang="en-PH" dirty="0"/>
                  <a:t> </a:t>
                </a:r>
              </a:p>
              <a:p>
                <a:pPr>
                  <a:buFont typeface="+mj-lt"/>
                  <a:buAutoNum type="arabicPeriod" startAt="2"/>
                </a:pPr>
                <a:r>
                  <a:rPr lang="en-PH" dirty="0"/>
                  <a:t>Tabular representation</a:t>
                </a:r>
              </a:p>
              <a:p>
                <a:pPr marL="0" indent="0">
                  <a:buNone/>
                </a:pPr>
                <a:endParaRPr lang="en-PH" b="0" dirty="0"/>
              </a:p>
              <a:p>
                <a:pPr marL="0" indent="0">
                  <a:buNone/>
                </a:pPr>
                <a:endParaRPr lang="en-PH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66441" y="2489200"/>
                <a:ext cx="7744159" cy="3530600"/>
              </a:xfrm>
              <a:blipFill rotWithShape="0">
                <a:blip r:embed="rId2"/>
                <a:stretch>
                  <a:fillRect l="-236" t="-862" r="-393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9946950"/>
              </p:ext>
            </p:extLst>
          </p:nvPr>
        </p:nvGraphicFramePr>
        <p:xfrm>
          <a:off x="1447800" y="4876800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solidFill>
                            <a:schemeClr val="tx1"/>
                          </a:solidFill>
                        </a:rPr>
                        <a:t>x[n]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63710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099"/>
            <a:ext cx="7363160" cy="709865"/>
          </a:xfrm>
        </p:spPr>
        <p:txBody>
          <a:bodyPr/>
          <a:lstStyle/>
          <a:p>
            <a:r>
              <a:rPr lang="en-PH" dirty="0"/>
              <a:t>Discrete Time Signals or Sequence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69753" y="2120900"/>
                <a:ext cx="7744159" cy="4292600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PH" dirty="0"/>
                  <a:t>Besides the graphical, there are some alternative representation:</a:t>
                </a:r>
              </a:p>
              <a:p>
                <a:pPr>
                  <a:buFont typeface="+mj-lt"/>
                  <a:buAutoNum type="arabicPeriod" startAt="3"/>
                </a:pPr>
                <a:r>
                  <a:rPr lang="en-PH" dirty="0"/>
                  <a:t>Sequence Representation </a:t>
                </a:r>
              </a:p>
              <a:p>
                <a:pPr lvl="1"/>
                <a:r>
                  <a:rPr lang="en-PH" dirty="0">
                    <a:latin typeface="+mj-lt"/>
                  </a:rPr>
                  <a:t>An infinite-duration signal or sequence with the time origin </a:t>
                </a:r>
                <a14:m>
                  <m:oMath xmlns:m="http://schemas.openxmlformats.org/officeDocument/2006/math">
                    <m:r>
                      <a:rPr lang="en-PH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PH" b="0" i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PH" b="0" i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PH" b="0" dirty="0">
                    <a:latin typeface="+mj-lt"/>
                  </a:rPr>
                  <a:t>) indicated by the symbol </a:t>
                </a:r>
                <a:r>
                  <a:rPr lang="en-PH" b="1" dirty="0">
                    <a:latin typeface="+mj-lt"/>
                    <a:ea typeface="Cambria Math" panose="02040503050406030204" pitchFamily="18" charset="0"/>
                  </a:rPr>
                  <a:t>↑ </a:t>
                </a:r>
                <a:r>
                  <a:rPr lang="en-PH" dirty="0">
                    <a:latin typeface="+mj-lt"/>
                    <a:ea typeface="Cambria Math" panose="02040503050406030204" pitchFamily="18" charset="0"/>
                  </a:rPr>
                  <a:t>is represented as</a:t>
                </a:r>
                <a:endParaRPr lang="en-PH" dirty="0">
                  <a:latin typeface="+mj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PH" b="0" i="0" smtClean="0">
                          <a:latin typeface="Cambria Math" panose="02040503050406030204" pitchFamily="18" charset="0"/>
                        </a:rPr>
                        <m:t>x</m:t>
                      </m:r>
                      <m:d>
                        <m:dPr>
                          <m:begChr m:val="["/>
                          <m:endChr m:val="]"/>
                          <m:ctrlPr>
                            <a:rPr lang="en-PH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PH" b="0" i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</m:d>
                      <m:r>
                        <a:rPr lang="en-PH" b="0" i="0" smtClean="0">
                          <a:latin typeface="Cambria Math" panose="02040503050406030204" pitchFamily="18" charset="0"/>
                        </a:rPr>
                        <m:t>={… 0, 0, 1, 4, 1, 0,0,…)</m:t>
                      </m:r>
                    </m:oMath>
                  </m:oMathPara>
                </a14:m>
                <a:endParaRPr lang="en-PH" b="0" dirty="0"/>
              </a:p>
              <a:p>
                <a:pPr marL="0" indent="0">
                  <a:buNone/>
                </a:pPr>
                <a:endParaRPr lang="en-PH" dirty="0"/>
              </a:p>
              <a:p>
                <a:pPr marL="628650" lvl="1" indent="-285750"/>
                <a:r>
                  <a:rPr lang="en-PH" b="0" dirty="0"/>
                  <a:t>A sequence x[n], which is zero for </a:t>
                </a:r>
                <a14:m>
                  <m:oMath xmlns:m="http://schemas.openxmlformats.org/officeDocument/2006/math">
                    <m:r>
                      <a:rPr lang="en-PH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PH" b="0" i="1" dirty="0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PH" b="0" dirty="0"/>
                  <a:t>, can be represented as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PH">
                          <a:latin typeface="Cambria Math" panose="02040503050406030204" pitchFamily="18" charset="0"/>
                        </a:rPr>
                        <m:t>x</m:t>
                      </m:r>
                      <m:d>
                        <m:dPr>
                          <m:begChr m:val="["/>
                          <m:endChr m:val="]"/>
                          <m:ctrlPr>
                            <a:rPr lang="en-PH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PH"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</m:d>
                      <m:r>
                        <a:rPr lang="en-PH"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en-PH" b="0" i="0" smtClean="0">
                          <a:latin typeface="Cambria Math" panose="02040503050406030204" pitchFamily="18" charset="0"/>
                        </a:rPr>
                        <m:t>0, </m:t>
                      </m:r>
                      <m:r>
                        <a:rPr lang="en-PH">
                          <a:latin typeface="Cambria Math" panose="02040503050406030204" pitchFamily="18" charset="0"/>
                        </a:rPr>
                        <m:t>1, 4, 1, 0,0,…</m:t>
                      </m:r>
                      <m:r>
                        <a:rPr lang="en-PH" b="0" i="0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PH" dirty="0"/>
              </a:p>
              <a:p>
                <a:pPr marL="0" indent="0">
                  <a:buNone/>
                </a:pPr>
                <a:endParaRPr lang="en-PH" dirty="0"/>
              </a:p>
              <a:p>
                <a:pPr lvl="1"/>
                <a:r>
                  <a:rPr lang="en-PH" dirty="0"/>
                  <a:t>A finite –duration sequence can be represented as</a:t>
                </a:r>
              </a:p>
              <a:p>
                <a:pPr marL="402336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PH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PH" b="0" i="1" smtClean="0">
                          <a:latin typeface="Cambria Math" panose="02040503050406030204" pitchFamily="18" charset="0"/>
                        </a:rPr>
                        <m:t>={3,−1,−2, 5, 0, 4, 1}</m:t>
                      </m:r>
                    </m:oMath>
                  </m:oMathPara>
                </a14:m>
                <a:endParaRPr lang="en-PH" dirty="0"/>
              </a:p>
              <a:p>
                <a:pPr marL="402336" lvl="1" indent="0">
                  <a:buNone/>
                </a:pPr>
                <a:r>
                  <a:rPr lang="en-US" dirty="0"/>
                  <a:t>whereas a finite-duration sequence that satisfies the condition x[n] = 0 for n &lt; 0 can be represented as</a:t>
                </a:r>
              </a:p>
              <a:p>
                <a:pPr marL="402336" lvl="1" indent="0">
                  <a:buNone/>
                </a:pPr>
                <a:r>
                  <a:rPr lang="pt-BR" dirty="0"/>
                  <a:t>                                                   x[n] = { 0, 1, 4, 1}</a:t>
                </a:r>
                <a:r>
                  <a:rPr lang="en-US" dirty="0"/>
                  <a:t> </a:t>
                </a:r>
                <a:endParaRPr lang="en-PH" dirty="0"/>
              </a:p>
              <a:p>
                <a:pPr marL="0" indent="0">
                  <a:buNone/>
                </a:pPr>
                <a:endParaRPr lang="en-PH" b="0" dirty="0"/>
              </a:p>
              <a:p>
                <a:pPr marL="0" indent="0">
                  <a:buNone/>
                </a:pPr>
                <a:endParaRPr lang="en-PH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69753" y="2120900"/>
                <a:ext cx="7744159" cy="4292600"/>
              </a:xfrm>
              <a:blipFill>
                <a:blip r:embed="rId3"/>
                <a:stretch>
                  <a:fillRect l="-157" t="-1136" r="-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/>
          <p:nvPr/>
        </p:nvCxnSpPr>
        <p:spPr>
          <a:xfrm flipV="1">
            <a:off x="4771649" y="5410200"/>
            <a:ext cx="0" cy="228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4648200" y="3581400"/>
            <a:ext cx="0" cy="228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21BDFCA-61F0-124A-F4F4-C2A071781968}"/>
              </a:ext>
            </a:extLst>
          </p:cNvPr>
          <p:cNvCxnSpPr/>
          <p:nvPr/>
        </p:nvCxnSpPr>
        <p:spPr>
          <a:xfrm flipV="1">
            <a:off x="4771649" y="6300857"/>
            <a:ext cx="0" cy="228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A24502B-883F-F739-6458-3BCAD117A0F4}"/>
              </a:ext>
            </a:extLst>
          </p:cNvPr>
          <p:cNvCxnSpPr/>
          <p:nvPr/>
        </p:nvCxnSpPr>
        <p:spPr>
          <a:xfrm flipV="1">
            <a:off x="4419600" y="4495800"/>
            <a:ext cx="0" cy="228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20493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PH" b="1" dirty="0"/>
              <a:t>SEATWORK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66441" y="2489200"/>
                <a:ext cx="7439359" cy="3759200"/>
              </a:xfrm>
            </p:spPr>
            <p:txBody>
              <a:bodyPr>
                <a:noAutofit/>
              </a:bodyPr>
              <a:lstStyle/>
              <a:p>
                <a:pPr marL="0" indent="0" algn="just">
                  <a:buNone/>
                </a:pPr>
                <a:r>
                  <a:rPr lang="en-PH" sz="2400" dirty="0"/>
                  <a:t>A discrete time signal is defined as </a:t>
                </a:r>
              </a:p>
              <a:p>
                <a:pPr algn="just"/>
                <a:endParaRPr lang="en-PH" sz="2400" dirty="0"/>
              </a:p>
              <a:p>
                <a:pPr marL="0" indent="0" algn="just">
                  <a:buNone/>
                </a:pPr>
                <a:r>
                  <a:rPr lang="en-PH" sz="2400" dirty="0"/>
                  <a:t>	</a:t>
                </a:r>
                <a14:m>
                  <m:oMath xmlns:m="http://schemas.openxmlformats.org/officeDocument/2006/math">
                    <m:r>
                      <a:rPr lang="en-PH" sz="2400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PH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PH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PH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PH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PH" sz="2400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PH" sz="2400" b="0" i="1" smtClean="0">
                                <a:latin typeface="Cambria Math" panose="02040503050406030204" pitchFamily="18" charset="0"/>
                              </a:rPr>
                              <m:t>1+</m:t>
                            </m:r>
                            <m:f>
                              <m:fPr>
                                <m:ctrlPr>
                                  <a:rPr lang="en-PH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PH" sz="24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PH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  <m:e>
                            <m:r>
                              <a:rPr lang="en-PH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PH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eqArr>
                      </m:e>
                    </m:d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en-PH" sz="2400" b="0" i="1" smtClean="0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PH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</m:e>
                      </m:mr>
                      <m:mr>
                        <m:e>
                          <m:r>
                            <a:rPr lang="en-PH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</m:e>
                      </m:mr>
                      <m:mr>
                        <m:e>
                          <m:r>
                            <a:rPr lang="en-PH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</m:e>
                      </m:mr>
                    </m:m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en-PH" sz="2400" b="0" i="1" smtClean="0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PH" sz="24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PH" sz="2400" b="0" i="0" smtClean="0">
                              <a:latin typeface="Cambria Math" panose="02040503050406030204" pitchFamily="18" charset="0"/>
                            </a:rPr>
                            <m:t>−3≤</m:t>
                          </m:r>
                          <m:r>
                            <m:rPr>
                              <m:sty m:val="p"/>
                            </m:rPr>
                            <a:rPr lang="en-PH" sz="2400" b="0" i="0" smtClean="0"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en-PH" sz="2400" b="0" i="0" smtClean="0">
                              <a:latin typeface="Cambria Math" panose="02040503050406030204" pitchFamily="18" charset="0"/>
                            </a:rPr>
                            <m:t>≤−1</m:t>
                          </m:r>
                        </m:e>
                      </m:mr>
                      <m:mr>
                        <m:e>
                          <m:r>
                            <a:rPr lang="en-PH" sz="2400" b="0" i="0" smtClean="0">
                              <a:latin typeface="Cambria Math" panose="02040503050406030204" pitchFamily="18" charset="0"/>
                            </a:rPr>
                            <m:t>0≤</m:t>
                          </m:r>
                          <m:r>
                            <m:rPr>
                              <m:sty m:val="p"/>
                            </m:rPr>
                            <a:rPr lang="en-PH" sz="2400" b="0" i="0" smtClean="0"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en-PH" sz="2400" b="0" i="0" smtClean="0">
                              <a:latin typeface="Cambria Math" panose="02040503050406030204" pitchFamily="18" charset="0"/>
                            </a:rPr>
                            <m:t>≤3</m:t>
                          </m:r>
                        </m:e>
                      </m:mr>
                      <m:mr>
                        <m:e>
                          <m:r>
                            <m:rPr>
                              <m:sty m:val="p"/>
                            </m:rPr>
                            <a:rPr lang="en-PH" sz="2400" b="0" i="0" smtClean="0">
                              <a:latin typeface="Cambria Math" panose="02040503050406030204" pitchFamily="18" charset="0"/>
                            </a:rPr>
                            <m:t>elsewhere</m:t>
                          </m:r>
                        </m:e>
                      </m:mr>
                    </m:m>
                  </m:oMath>
                </a14:m>
                <a:endParaRPr lang="en-PH" sz="2400" dirty="0"/>
              </a:p>
              <a:p>
                <a:pPr marL="0" indent="0" algn="just">
                  <a:buNone/>
                </a:pPr>
                <a:endParaRPr lang="en-PH" sz="2400" dirty="0"/>
              </a:p>
              <a:p>
                <a:pPr marL="0" indent="0" algn="just">
                  <a:buNone/>
                </a:pPr>
                <a:r>
                  <a:rPr lang="en-PH" sz="2400" b="1" dirty="0"/>
                  <a:t>A.  </a:t>
                </a:r>
                <a:r>
                  <a:rPr lang="en-PH" sz="2400" dirty="0"/>
                  <a:t>Give the graphical, tabular and sequential representation of the given functional representation.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66441" y="2489200"/>
                <a:ext cx="7439359" cy="3759200"/>
              </a:xfrm>
              <a:blipFill rotWithShape="0">
                <a:blip r:embed="rId3"/>
                <a:stretch>
                  <a:fillRect l="-1229" t="-1297" r="-1229" b="-13938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64174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PH" dirty="0"/>
              <a:t>Some Elementary Discrete Time Signal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66441" y="2489200"/>
                <a:ext cx="7744159" cy="3530600"/>
              </a:xfrm>
            </p:spPr>
            <p:txBody>
              <a:bodyPr/>
              <a:lstStyle/>
              <a:p>
                <a:pPr>
                  <a:buFont typeface="+mj-lt"/>
                  <a:buAutoNum type="arabicPeriod"/>
                </a:pPr>
                <a:r>
                  <a:rPr lang="en-PH" b="1" dirty="0"/>
                  <a:t>Unit  Sample Sequence</a:t>
                </a:r>
                <a:r>
                  <a:rPr lang="en-PH" dirty="0"/>
                  <a:t> </a:t>
                </a:r>
              </a:p>
              <a:p>
                <a:pPr lvl="1"/>
                <a:r>
                  <a:rPr lang="en-PH" dirty="0"/>
                  <a:t>a signal that is zero everywhere except at </a:t>
                </a:r>
                <a14:m>
                  <m:oMath xmlns:m="http://schemas.openxmlformats.org/officeDocument/2006/math">
                    <m:r>
                      <a:rPr lang="en-PH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PH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PH" dirty="0"/>
                  <a:t> where its value is unity. Denoted by </a:t>
                </a:r>
                <a14:m>
                  <m:oMath xmlns:m="http://schemas.openxmlformats.org/officeDocument/2006/math">
                    <m:r>
                      <a:rPr lang="en-PH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d>
                      <m:dPr>
                        <m:begChr m:val="["/>
                        <m:endChr m:val="]"/>
                        <m:ctrlPr>
                          <a:rPr lang="en-PH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PH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PH" dirty="0"/>
              </a:p>
              <a:p>
                <a:pPr lvl="1"/>
                <a:r>
                  <a:rPr lang="en-PH" dirty="0"/>
                  <a:t>It is sometimes referred to as a unit impulse.</a:t>
                </a:r>
              </a:p>
              <a:p>
                <a:pPr lvl="1"/>
                <a:r>
                  <a:rPr lang="en-PH" dirty="0"/>
                  <a:t>Functional representation</a:t>
                </a:r>
              </a:p>
              <a:p>
                <a:pPr marL="402336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d>
                        <m:dPr>
                          <m:begChr m:val="["/>
                          <m:endChr m:val="]"/>
                          <m:ctrlPr>
                            <a:rPr lang="en-PH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PH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PH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PH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1, </m:t>
                              </m:r>
                              <m:r>
                                <a:rPr lang="en-PH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PH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=0</m:t>
                              </m:r>
                            </m:e>
                            <m:e>
                              <m:r>
                                <a:rPr lang="en-PH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0, </m:t>
                              </m:r>
                              <m:r>
                                <a:rPr lang="en-PH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PH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≠0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PH" dirty="0"/>
              </a:p>
              <a:p>
                <a:pPr marL="688086" lvl="1" indent="-285750"/>
                <a:r>
                  <a:rPr lang="en-PH" dirty="0"/>
                  <a:t>Graphical representation</a:t>
                </a:r>
              </a:p>
              <a:p>
                <a:pPr>
                  <a:buFont typeface="+mj-lt"/>
                  <a:buAutoNum type="arabicPeriod"/>
                </a:pPr>
                <a:endParaRPr lang="en-PH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66441" y="2489200"/>
                <a:ext cx="7744159" cy="3530600"/>
              </a:xfrm>
              <a:blipFill rotWithShape="0">
                <a:blip r:embed="rId3"/>
                <a:stretch>
                  <a:fillRect l="-315" t="-862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5534439"/>
            <a:ext cx="3305175" cy="1295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886200" y="5334000"/>
                <a:ext cx="381000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d>
                        <m:dPr>
                          <m:begChr m:val="["/>
                          <m:endChr m:val="]"/>
                          <m:ctrlPr>
                            <a:rPr lang="en-PH" sz="1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1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PH" sz="10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6200" y="5334000"/>
                <a:ext cx="381000" cy="246221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98181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PH" dirty="0"/>
              <a:t>Some Elementary Discrete Time Signal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66441" y="2489200"/>
                <a:ext cx="7744159" cy="3530600"/>
              </a:xfrm>
            </p:spPr>
            <p:txBody>
              <a:bodyPr/>
              <a:lstStyle/>
              <a:p>
                <a:pPr>
                  <a:buFont typeface="+mj-lt"/>
                  <a:buAutoNum type="arabicPeriod" startAt="2"/>
                </a:pPr>
                <a:r>
                  <a:rPr lang="en-PH" b="1" dirty="0"/>
                  <a:t>Unit Step Signal </a:t>
                </a:r>
              </a:p>
              <a:p>
                <a:pPr lvl="1"/>
                <a:r>
                  <a:rPr lang="en-PH" dirty="0"/>
                  <a:t>Denoted by u[n]</a:t>
                </a:r>
              </a:p>
              <a:p>
                <a:pPr lvl="1"/>
                <a:r>
                  <a:rPr lang="en-PH" dirty="0"/>
                  <a:t>Functional representation</a:t>
                </a:r>
              </a:p>
              <a:p>
                <a:pPr marL="402336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d>
                        <m:dPr>
                          <m:begChr m:val="["/>
                          <m:endChr m:val="]"/>
                          <m:ctrlPr>
                            <a:rPr lang="en-PH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PH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PH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PH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1, </m:t>
                              </m:r>
                              <m:r>
                                <a:rPr lang="en-PH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PH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PH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PH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0, </m:t>
                              </m:r>
                              <m:r>
                                <a:rPr lang="en-PH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PH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PH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PH" dirty="0"/>
              </a:p>
              <a:p>
                <a:pPr lvl="1"/>
                <a:r>
                  <a:rPr lang="en-PH" dirty="0"/>
                  <a:t>Graphical representation</a:t>
                </a:r>
              </a:p>
              <a:p>
                <a:pPr marL="402336" lvl="1" indent="0">
                  <a:buNone/>
                </a:pPr>
                <a:endParaRPr lang="en-PH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66441" y="2489200"/>
                <a:ext cx="7744159" cy="3530600"/>
              </a:xfrm>
              <a:blipFill>
                <a:blip r:embed="rId3"/>
                <a:stretch>
                  <a:fillRect l="-315" t="-8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7000" y="4886325"/>
            <a:ext cx="3476625" cy="11334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657600" y="4800600"/>
                <a:ext cx="6096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PH" sz="1200" b="1" dirty="0">
                    <a:ea typeface="Cambria Math" panose="02040503050406030204" pitchFamily="18" charset="0"/>
                  </a:rPr>
                  <a:t>u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PH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PH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</m:e>
                    </m:d>
                  </m:oMath>
                </a14:m>
                <a:endParaRPr lang="en-PH" sz="1200" b="1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4800600"/>
                <a:ext cx="609600" cy="276999"/>
              </a:xfrm>
              <a:prstGeom prst="rect">
                <a:avLst/>
              </a:prstGeom>
              <a:blipFill rotWithShape="0">
                <a:blip r:embed="rId5"/>
                <a:stretch>
                  <a:fillRect t="-2222" b="-15556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62501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PH" dirty="0"/>
              <a:t>Some Elementary Discrete Time Signal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66441" y="2489200"/>
                <a:ext cx="7744159" cy="3530600"/>
              </a:xfrm>
            </p:spPr>
            <p:txBody>
              <a:bodyPr/>
              <a:lstStyle/>
              <a:p>
                <a:pPr>
                  <a:buFont typeface="+mj-lt"/>
                  <a:buAutoNum type="arabicPeriod" startAt="3"/>
                </a:pPr>
                <a:r>
                  <a:rPr lang="en-PH" b="1" dirty="0"/>
                  <a:t>Unit Ramp Signal </a:t>
                </a:r>
              </a:p>
              <a:p>
                <a:pPr lvl="1"/>
                <a:r>
                  <a:rPr lang="en-PH" dirty="0"/>
                  <a:t>denoted by </a:t>
                </a:r>
              </a:p>
              <a:p>
                <a:pPr lvl="1"/>
                <a:endParaRPr lang="en-PH" dirty="0"/>
              </a:p>
              <a:p>
                <a:pPr marL="402336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PH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PH" i="1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PH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PH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PH" i="1">
                          <a:latin typeface="Cambria Math" panose="02040503050406030204" pitchFamily="18" charset="0"/>
                        </a:rPr>
                        <m:t>]=</m:t>
                      </m:r>
                      <m:d>
                        <m:dPr>
                          <m:begChr m:val="{"/>
                          <m:endChr m:val=""/>
                          <m:ctrlPr>
                            <a:rPr lang="en-PH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PH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PH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PH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PH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≥0</m:t>
                              </m:r>
                            </m:e>
                            <m:e>
                              <m:r>
                                <a:rPr lang="en-PH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PH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PH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PH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PH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PH" dirty="0"/>
                      <m:t>Graphical</m:t>
                    </m:r>
                    <m:r>
                      <m:rPr>
                        <m:nor/>
                      </m:rPr>
                      <a:rPr lang="en-PH" dirty="0"/>
                      <m:t> </m:t>
                    </m:r>
                    <m:r>
                      <m:rPr>
                        <m:nor/>
                      </m:rPr>
                      <a:rPr lang="en-PH" dirty="0"/>
                      <m:t>representation</m:t>
                    </m:r>
                  </m:oMath>
                </a14:m>
                <a:endParaRPr lang="en-PH" dirty="0"/>
              </a:p>
              <a:p>
                <a:pPr marL="402336" lvl="1" indent="0">
                  <a:buNone/>
                </a:pPr>
                <a:endParaRPr lang="en-PH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66441" y="2489200"/>
                <a:ext cx="7744159" cy="3530600"/>
              </a:xfrm>
              <a:blipFill>
                <a:blip r:embed="rId2"/>
                <a:stretch>
                  <a:fillRect l="-315" t="-8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1762" y="5077599"/>
            <a:ext cx="3190875" cy="11906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352800" y="50570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PH" sz="1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PH" sz="1200" i="1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PH" sz="1200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PH" sz="12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PH" sz="1200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PH" sz="1200" b="1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2800" y="5057001"/>
                <a:ext cx="609600" cy="276999"/>
              </a:xfrm>
              <a:prstGeom prst="rect">
                <a:avLst/>
              </a:prstGeom>
              <a:blipFill rotWithShape="0">
                <a:blip r:embed="rId4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4038041" y="5057002"/>
            <a:ext cx="381559" cy="1868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60683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PH" dirty="0"/>
              <a:t>Some Elementary Discrete Time Signal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66441" y="2489200"/>
                <a:ext cx="7744159" cy="3530600"/>
              </a:xfrm>
            </p:spPr>
            <p:txBody>
              <a:bodyPr/>
              <a:lstStyle/>
              <a:p>
                <a:pPr>
                  <a:buFont typeface="+mj-lt"/>
                  <a:buAutoNum type="arabicPeriod" startAt="4"/>
                </a:pPr>
                <a:r>
                  <a:rPr lang="en-PH" b="1" dirty="0"/>
                  <a:t>Exponential signal</a:t>
                </a:r>
              </a:p>
              <a:p>
                <a:pPr lvl="1"/>
                <a:r>
                  <a:rPr lang="en-PH" dirty="0"/>
                  <a:t>A sequence of the form </a:t>
                </a:r>
                <a14:m>
                  <m:oMath xmlns:m="http://schemas.openxmlformats.org/officeDocument/2006/math">
                    <m:r>
                      <a:rPr lang="en-PH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PH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PH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PH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PH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PH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PH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PH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PH" b="0" i="0" smtClean="0">
                        <a:latin typeface="Cambria Math" panose="02040503050406030204" pitchFamily="18" charset="0"/>
                      </a:rPr>
                      <m:t>for</m:t>
                    </m:r>
                    <m:r>
                      <a:rPr lang="en-PH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PH" b="0" i="0" smtClean="0">
                        <a:latin typeface="Cambria Math" panose="02040503050406030204" pitchFamily="18" charset="0"/>
                      </a:rPr>
                      <m:t>all</m:t>
                    </m:r>
                    <m:r>
                      <a:rPr lang="en-PH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PH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PH" i="1" dirty="0"/>
              </a:p>
              <a:p>
                <a:pPr lvl="1"/>
                <a:r>
                  <a:rPr lang="en-PH" dirty="0"/>
                  <a:t>Graphical representation (Parameter </a:t>
                </a:r>
                <a:r>
                  <a:rPr lang="en-PH" b="1" dirty="0"/>
                  <a:t>a </a:t>
                </a:r>
                <a:r>
                  <a:rPr lang="en-PH" dirty="0"/>
                  <a:t>is real)</a:t>
                </a:r>
              </a:p>
              <a:p>
                <a:pPr marL="402336" lvl="1" indent="0">
                  <a:buNone/>
                </a:pPr>
                <a:r>
                  <a:rPr lang="en-PH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66441" y="2489200"/>
                <a:ext cx="7744159" cy="3530600"/>
              </a:xfrm>
              <a:blipFill>
                <a:blip r:embed="rId2"/>
                <a:stretch>
                  <a:fillRect l="-315" t="-8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3657600"/>
            <a:ext cx="5591175" cy="267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7010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PH" dirty="0"/>
              <a:t>Some Elementary Discrete Time Signal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66440" y="2286000"/>
                <a:ext cx="7820359" cy="1701800"/>
              </a:xfrm>
            </p:spPr>
            <p:txBody>
              <a:bodyPr/>
              <a:lstStyle/>
              <a:p>
                <a:pPr>
                  <a:buFont typeface="+mj-lt"/>
                  <a:buAutoNum type="arabicPeriod" startAt="4"/>
                </a:pPr>
                <a:r>
                  <a:rPr lang="en-PH" b="1" dirty="0"/>
                  <a:t>Exponential signal </a:t>
                </a:r>
                <a:r>
                  <a:rPr lang="en-PH" dirty="0"/>
                  <a:t>(</a:t>
                </a:r>
                <a:r>
                  <a:rPr lang="en-PH" dirty="0" err="1"/>
                  <a:t>cont</a:t>
                </a:r>
                <a:r>
                  <a:rPr lang="en-PH" dirty="0"/>
                  <a:t>…)</a:t>
                </a:r>
              </a:p>
              <a:p>
                <a:pPr lvl="1"/>
                <a:r>
                  <a:rPr lang="en-PH" dirty="0"/>
                  <a:t>Graphical representation (Parameter </a:t>
                </a:r>
                <a:r>
                  <a:rPr lang="en-PH" b="1" dirty="0"/>
                  <a:t>a </a:t>
                </a:r>
                <a:r>
                  <a:rPr lang="en-PH" dirty="0"/>
                  <a:t>is complex-valued)</a:t>
                </a:r>
              </a:p>
              <a:p>
                <a:pPr marL="402336" lvl="1" indent="0" algn="ctr">
                  <a:buNone/>
                </a:pPr>
                <a14:m>
                  <m:oMath xmlns:m="http://schemas.openxmlformats.org/officeDocument/2006/math">
                    <m:r>
                      <a:rPr lang="en-PH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PH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PH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PH" b="0" i="1" smtClean="0">
                            <a:latin typeface="Cambria Math" panose="02040503050406030204" pitchFamily="18" charset="0"/>
                          </a:rPr>
                          <m:t>𝑟𝑒</m:t>
                        </m:r>
                      </m:e>
                      <m:sup>
                        <m:r>
                          <a:rPr lang="en-PH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PH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p>
                    </m:sSup>
                    <m:r>
                      <a:rPr lang="en-PH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PH" dirty="0"/>
                  <a:t>where r and </a:t>
                </a:r>
                <a:r>
                  <a:rPr lang="el-GR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θ</a:t>
                </a:r>
                <a:r>
                  <a:rPr lang="en-PH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are now parameters.</a:t>
                </a:r>
                <a:r>
                  <a:rPr lang="en-PH" dirty="0"/>
                  <a:t> </a:t>
                </a:r>
              </a:p>
              <a:p>
                <a:pPr marL="402336" lvl="1" indent="0" algn="ctr">
                  <a:buNone/>
                </a:pPr>
                <a:r>
                  <a:rPr lang="en-PH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∴ </a:t>
                </a:r>
                <a14:m>
                  <m:oMath xmlns:m="http://schemas.openxmlformats.org/officeDocument/2006/math">
                    <m:r>
                      <a:rPr lang="en-PH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PH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PH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PH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PH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PH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PH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PH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PH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PH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PH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PH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PH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PH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PH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PH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PH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PH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PH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PH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PH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PH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PH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𝑗𝑠𝑖𝑛</m:t>
                    </m:r>
                    <m:r>
                      <a:rPr lang="en-PH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PH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PH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PH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PH" dirty="0"/>
              </a:p>
              <a:p>
                <a:pPr marL="402336" lvl="1" indent="0" algn="ctr">
                  <a:buNone/>
                </a:pPr>
                <a:endParaRPr lang="en-PH" dirty="0"/>
              </a:p>
              <a:p>
                <a:pPr lvl="1">
                  <a:buFont typeface="+mj-lt"/>
                  <a:buAutoNum type="arabicPeriod" startAt="4"/>
                </a:pPr>
                <a:endParaRPr lang="en-PH" dirty="0"/>
              </a:p>
              <a:p>
                <a:pPr lvl="1"/>
                <a:endParaRPr lang="en-PH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66440" y="2286000"/>
                <a:ext cx="7820359" cy="1701800"/>
              </a:xfrm>
              <a:blipFill>
                <a:blip r:embed="rId3"/>
                <a:stretch>
                  <a:fillRect l="-312" t="-17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862" y="3886200"/>
            <a:ext cx="3995738" cy="278827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2937" y="3851891"/>
            <a:ext cx="4538663" cy="2929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5940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PH" dirty="0"/>
              <a:t>Some Elementary Discrete Time Signal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2628900"/>
            <a:ext cx="2922417" cy="14668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1400" y="2628900"/>
            <a:ext cx="4953000" cy="191391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6440" y="5257800"/>
            <a:ext cx="7515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b="1" dirty="0"/>
              <a:t>Graph of amplitude and phase function of a complex-valued exponential signa</a:t>
            </a:r>
            <a:r>
              <a:rPr lang="en-PH" dirty="0"/>
              <a:t>l</a:t>
            </a:r>
          </a:p>
        </p:txBody>
      </p:sp>
    </p:spTree>
    <p:extLst>
      <p:ext uri="{BB962C8B-B14F-4D97-AF65-F5344CB8AC3E}">
        <p14:creationId xmlns:p14="http://schemas.microsoft.com/office/powerpoint/2010/main" val="25144347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099"/>
            <a:ext cx="7591760" cy="709865"/>
          </a:xfrm>
        </p:spPr>
        <p:txBody>
          <a:bodyPr/>
          <a:lstStyle/>
          <a:p>
            <a:r>
              <a:rPr lang="en-PH" dirty="0"/>
              <a:t>Classification of Discrete-Time Signals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66441" y="2489200"/>
                <a:ext cx="7591759" cy="3530600"/>
              </a:xfrm>
            </p:spPr>
            <p:txBody>
              <a:bodyPr/>
              <a:lstStyle/>
              <a:p>
                <a:pPr>
                  <a:buFont typeface="+mj-lt"/>
                  <a:buAutoNum type="alphaUcPeriod"/>
                </a:pPr>
                <a:r>
                  <a:rPr lang="en-PH" b="1" dirty="0"/>
                  <a:t>Energy signals and Power Signals</a:t>
                </a:r>
              </a:p>
              <a:p>
                <a:pPr>
                  <a:buFont typeface="+mj-lt"/>
                  <a:buAutoNum type="arabicPeriod"/>
                </a:pPr>
                <a:r>
                  <a:rPr lang="en-PH" b="1" dirty="0"/>
                  <a:t>Energy signals</a:t>
                </a:r>
              </a:p>
              <a:p>
                <a:pPr lvl="1"/>
                <a:r>
                  <a:rPr lang="en-PH" dirty="0"/>
                  <a:t>The energy </a:t>
                </a:r>
                <a:r>
                  <a:rPr lang="en-PH" i="1" dirty="0"/>
                  <a:t>E</a:t>
                </a:r>
                <a:r>
                  <a:rPr lang="en-PH" dirty="0"/>
                  <a:t> of a signal x[n] is defined as </a:t>
                </a:r>
              </a:p>
              <a:p>
                <a:pPr marL="402336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PH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PH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PH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PH" b="0" i="1" smtClean="0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PH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PH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PH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PH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PH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PH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PH" b="0" dirty="0"/>
              </a:p>
              <a:p>
                <a:pPr lvl="1"/>
                <a:r>
                  <a:rPr lang="en-PH" dirty="0"/>
                  <a:t>It can be finite or infinite.</a:t>
                </a:r>
              </a:p>
              <a:p>
                <a:pPr lvl="2"/>
                <a:r>
                  <a:rPr lang="en-PH" dirty="0"/>
                  <a:t>If </a:t>
                </a:r>
                <a:r>
                  <a:rPr lang="en-PH" i="1" dirty="0"/>
                  <a:t>E</a:t>
                </a:r>
                <a:r>
                  <a:rPr lang="en-PH" dirty="0"/>
                  <a:t> is finite (</a:t>
                </a:r>
                <a:r>
                  <a:rPr lang="en-PH" dirty="0" err="1"/>
                  <a:t>i.e</a:t>
                </a:r>
                <a:r>
                  <a:rPr lang="en-PH" dirty="0"/>
                  <a:t> , </a:t>
                </a:r>
                <a14:m>
                  <m:oMath xmlns:m="http://schemas.openxmlformats.org/officeDocument/2006/math">
                    <m:r>
                      <a:rPr lang="en-PH" b="0" i="1" smtClean="0">
                        <a:latin typeface="Cambria Math" panose="02040503050406030204" pitchFamily="18" charset="0"/>
                      </a:rPr>
                      <m:t>0&lt;</m:t>
                    </m:r>
                    <m:r>
                      <a:rPr lang="en-PH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PH" b="0" i="1" smtClean="0">
                        <a:latin typeface="Cambria Math" panose="02040503050406030204" pitchFamily="18" charset="0"/>
                      </a:rPr>
                      <m:t>&lt;∞)</m:t>
                    </m:r>
                  </m:oMath>
                </a14:m>
                <a:r>
                  <a:rPr lang="en-PH" dirty="0"/>
                  <a:t>, then x[n] is called an </a:t>
                </a:r>
                <a:r>
                  <a:rPr lang="en-PH" i="1" dirty="0"/>
                  <a:t>energy signal.</a:t>
                </a:r>
                <a:endParaRPr lang="en-PH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66441" y="2489200"/>
                <a:ext cx="7591759" cy="3530600"/>
              </a:xfrm>
              <a:blipFill rotWithShape="0">
                <a:blip r:embed="rId3"/>
                <a:stretch>
                  <a:fillRect l="-321" t="-862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11793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PH" dirty="0"/>
              <a:t>Classification of Discrete-Time Signals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66441" y="2489200"/>
                <a:ext cx="7667959" cy="3987800"/>
              </a:xfrm>
            </p:spPr>
            <p:txBody>
              <a:bodyPr>
                <a:normAutofit fontScale="92500" lnSpcReduction="10000"/>
              </a:bodyPr>
              <a:lstStyle/>
              <a:p>
                <a:pPr>
                  <a:buFont typeface="+mj-lt"/>
                  <a:buAutoNum type="arabicPeriod" startAt="2"/>
                </a:pPr>
                <a:r>
                  <a:rPr lang="en-PH" b="1" dirty="0"/>
                  <a:t>Power Signal </a:t>
                </a:r>
              </a:p>
              <a:p>
                <a:pPr lvl="1"/>
                <a:r>
                  <a:rPr lang="en-PH" dirty="0"/>
                  <a:t>Many signals that possess infinite energy, have a finite average power.</a:t>
                </a:r>
              </a:p>
              <a:p>
                <a:pPr lvl="1"/>
                <a:r>
                  <a:rPr lang="en-PH" dirty="0"/>
                  <a:t>It is defined as </a:t>
                </a:r>
                <a14:m>
                  <m:oMath xmlns:m="http://schemas.openxmlformats.org/officeDocument/2006/math">
                    <m:r>
                      <a:rPr lang="en-PH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PH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PH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PH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PH" b="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PH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PH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PH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PH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PH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PH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PH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den>
                        </m:f>
                      </m:e>
                    </m:func>
                    <m:nary>
                      <m:naryPr>
                        <m:chr m:val="∑"/>
                        <m:ctrlPr>
                          <a:rPr lang="en-PH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PH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PH" i="1">
                            <a:latin typeface="Cambria Math" panose="02040503050406030204" pitchFamily="18" charset="0"/>
                          </a:rPr>
                          <m:t>=−∞</m:t>
                        </m:r>
                      </m:sub>
                      <m:sup>
                        <m:r>
                          <a:rPr lang="en-PH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PH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PH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PH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PH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PH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PH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en-PH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PH" dirty="0"/>
                  <a:t>.</a:t>
                </a:r>
              </a:p>
              <a:p>
                <a:pPr lvl="2"/>
                <a:r>
                  <a:rPr lang="en-PH" dirty="0"/>
                  <a:t>If we define the signal energy of x[n] over the finite interval </a:t>
                </a:r>
                <a14:m>
                  <m:oMath xmlns:m="http://schemas.openxmlformats.org/officeDocument/2006/math">
                    <m:r>
                      <a:rPr lang="en-PH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PH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PH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PH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PH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PH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PH" dirty="0"/>
                  <a:t> as</a:t>
                </a:r>
              </a:p>
              <a:p>
                <a:pPr marL="731520" lvl="2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PH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PH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PH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PH" b="0" i="1" dirty="0">
                    <a:latin typeface="Cambria Math" panose="02040503050406030204" pitchFamily="18" charset="0"/>
                  </a:rPr>
                  <a:t>=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PH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PH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PH" i="1">
                            <a:latin typeface="Cambria Math" panose="02040503050406030204" pitchFamily="18" charset="0"/>
                          </a:rPr>
                          <m:t>=−</m:t>
                        </m:r>
                        <m:r>
                          <a:rPr lang="en-PH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  <m:sup>
                        <m:r>
                          <a:rPr lang="en-PH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p>
                          <m:sSupPr>
                            <m:ctrlPr>
                              <a:rPr lang="en-PH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PH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PH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PH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PH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PH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en-PH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PH" i="1" dirty="0">
                  <a:latin typeface="Cambria Math" panose="02040503050406030204" pitchFamily="18" charset="0"/>
                </a:endParaRPr>
              </a:p>
              <a:p>
                <a:pPr lvl="2"/>
                <a:r>
                  <a:rPr lang="en-PH" b="0" dirty="0">
                    <a:latin typeface="Cambria Math" panose="02040503050406030204" pitchFamily="18" charset="0"/>
                  </a:rPr>
                  <a:t>Signal energy can be expressed as</a:t>
                </a:r>
              </a:p>
              <a:p>
                <a:pPr marL="731520" lvl="2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PH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PH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PH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PH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PH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PH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PH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PH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PH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PH" dirty="0"/>
              </a:p>
              <a:p>
                <a:pPr lvl="2"/>
                <a:r>
                  <a:rPr lang="en-PH" dirty="0"/>
                  <a:t>The average power of the signal x[n] as</a:t>
                </a:r>
              </a:p>
              <a:p>
                <a:pPr marL="731520" lvl="2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en-PH" i="1" smtClean="0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r>
                            <a:rPr lang="en-PH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PH" i="1">
                              <a:latin typeface="Cambria Math" panose="02040503050406030204" pitchFamily="18" charset="0"/>
                            </a:rPr>
                            <m:t>=</m:t>
                          </m:r>
                          <m:func>
                            <m:funcPr>
                              <m:ctrlPr>
                                <a:rPr lang="en-PH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PH" i="1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PH">
                                      <a:latin typeface="Cambria Math" panose="02040503050406030204" pitchFamily="18" charset="0"/>
                                    </a:rPr>
                                    <m:t>lim</m:t>
                                  </m:r>
                                </m:e>
                                <m:lim>
                                  <m:r>
                                    <a:rPr lang="en-PH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en-PH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→∞</m:t>
                                  </m:r>
                                </m:lim>
                              </m:limLow>
                            </m:fName>
                            <m:e>
                              <m:f>
                                <m:fPr>
                                  <m:ctrlPr>
                                    <a:rPr lang="en-PH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PH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PH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PH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en-PH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den>
                              </m:f>
                            </m:e>
                          </m:func>
                          <m:sSub>
                            <m:sSubPr>
                              <m:ctrlPr>
                                <a:rPr lang="en-PH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PH" i="1" dirty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PH" i="1" dirty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e>
                      </m:borderBox>
                    </m:oMath>
                  </m:oMathPara>
                </a14:m>
                <a:endParaRPr lang="en-PH" dirty="0"/>
              </a:p>
              <a:p>
                <a:pPr lvl="1"/>
                <a:r>
                  <a:rPr lang="en-PH" dirty="0"/>
                  <a:t>If E is finite, </a:t>
                </a:r>
                <a14:m>
                  <m:oMath xmlns:m="http://schemas.openxmlformats.org/officeDocument/2006/math">
                    <m:r>
                      <a:rPr lang="en-PH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PH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PH" dirty="0"/>
                  <a:t>. On the other hand, if </a:t>
                </a:r>
                <a:r>
                  <a:rPr lang="en-PH" i="1" dirty="0"/>
                  <a:t>E</a:t>
                </a:r>
                <a:r>
                  <a:rPr lang="en-PH" dirty="0"/>
                  <a:t> is infinite, the average power may be either finite or infinite.</a:t>
                </a:r>
              </a:p>
              <a:p>
                <a:pPr lvl="1"/>
                <a:r>
                  <a:rPr lang="en-PH" dirty="0"/>
                  <a:t>If P is finite(and nonzero), the signal is called a power signal.</a:t>
                </a:r>
              </a:p>
              <a:p>
                <a:pPr marL="114300" indent="0" algn="ctr">
                  <a:buNone/>
                </a:pPr>
                <a:endParaRPr lang="en-PH" dirty="0"/>
              </a:p>
              <a:p>
                <a:pPr marL="731520" lvl="2" indent="0" algn="ctr">
                  <a:buNone/>
                </a:pPr>
                <a:endParaRPr lang="en-PH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66441" y="2489200"/>
                <a:ext cx="7667959" cy="3987800"/>
              </a:xfrm>
              <a:blipFill>
                <a:blip r:embed="rId2"/>
                <a:stretch>
                  <a:fillRect l="-159" t="-9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01151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Sample Problems: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66441" y="2565400"/>
                <a:ext cx="7744159" cy="3530600"/>
              </a:xfrm>
            </p:spPr>
            <p:txBody>
              <a:bodyPr>
                <a:normAutofit/>
              </a:bodyPr>
              <a:lstStyle/>
              <a:p>
                <a:pPr>
                  <a:buFont typeface="+mj-lt"/>
                  <a:buAutoNum type="arabicPeriod"/>
                </a:pPr>
                <a:r>
                  <a:rPr lang="en-PH" dirty="0"/>
                  <a:t>Determine the power and energy of the unit step sequence.</a:t>
                </a:r>
              </a:p>
              <a:p>
                <a:pPr>
                  <a:buFont typeface="+mj-lt"/>
                  <a:buAutoNum type="arabicPeriod"/>
                </a:pPr>
                <a:r>
                  <a:rPr lang="en-PH" dirty="0"/>
                  <a:t>Find the power and signal energy of </a:t>
                </a:r>
                <a14:m>
                  <m:oMath xmlns:m="http://schemas.openxmlformats.org/officeDocument/2006/math">
                    <m:r>
                      <a:rPr lang="en-PH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PH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PH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PH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PH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PH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PH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PH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PH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PH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PH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PH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PH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PH" dirty="0"/>
              </a:p>
              <a:p>
                <a:pPr>
                  <a:buFont typeface="+mj-lt"/>
                  <a:buAutoNum type="arabicPeriod"/>
                </a:pPr>
                <a:r>
                  <a:rPr lang="en-PH" dirty="0"/>
                  <a:t>Find the power and signal energy of </a:t>
                </a:r>
                <a14:m>
                  <m:oMath xmlns:m="http://schemas.openxmlformats.org/officeDocument/2006/math">
                    <m:r>
                      <a:rPr lang="en-PH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PH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PH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PH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PH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PH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PH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PH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PH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  <m:r>
                                  <a:rPr lang="en-PH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en-PH" dirty="0"/>
                  <a:t>. </a:t>
                </a:r>
              </a:p>
              <a:p>
                <a:pPr>
                  <a:buFont typeface="+mj-lt"/>
                  <a:buAutoNum type="arabicPeriod"/>
                </a:pPr>
                <a:r>
                  <a:rPr lang="en-PH" dirty="0"/>
                  <a:t>Find the power and signal energy of</a:t>
                </a:r>
                <a14:m>
                  <m:oMath xmlns:m="http://schemas.openxmlformats.org/officeDocument/2006/math">
                    <m:r>
                      <a:rPr lang="en-PH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PH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PH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PH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PH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PH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PH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PH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PH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  <m:r>
                                  <a:rPr lang="en-PH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en-PH" dirty="0"/>
                  <a:t>.</a:t>
                </a:r>
              </a:p>
              <a:p>
                <a:pPr>
                  <a:buFont typeface="+mj-lt"/>
                  <a:buAutoNum type="arabicPeriod"/>
                </a:pPr>
                <a:r>
                  <a:rPr lang="en-PH" dirty="0"/>
                  <a:t>Find the signal energy of </a:t>
                </a:r>
                <a14:m>
                  <m:oMath xmlns:m="http://schemas.openxmlformats.org/officeDocument/2006/math">
                    <m:r>
                      <a:rPr lang="en-PH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PH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PH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PH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PH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[−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func>
                  </m:oMath>
                </a14:m>
                <a:r>
                  <a:rPr lang="en-PH" dirty="0"/>
                  <a:t>.</a:t>
                </a:r>
              </a:p>
              <a:p>
                <a:pPr>
                  <a:buFont typeface="+mj-lt"/>
                  <a:buAutoNum type="arabicPeriod"/>
                </a:pPr>
                <a:r>
                  <a:rPr lang="en-PH" dirty="0"/>
                  <a:t>Find the power and signal energy of </a:t>
                </a:r>
                <a14:m>
                  <m:oMath xmlns:m="http://schemas.openxmlformats.org/officeDocument/2006/math">
                    <m:r>
                      <a:rPr lang="en-PH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PH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PH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PH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PH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ctrlPr>
                              <a:rPr lang="en-PH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sup>
                    </m:sSup>
                  </m:oMath>
                </a14:m>
                <a:endParaRPr lang="en-PH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66441" y="2565400"/>
                <a:ext cx="7744159" cy="3530600"/>
              </a:xfrm>
              <a:blipFill>
                <a:blip r:embed="rId2"/>
                <a:stretch>
                  <a:fillRect l="-236" t="-1036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1496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66440" y="927099"/>
            <a:ext cx="7515560" cy="709865"/>
          </a:xfrm>
        </p:spPr>
        <p:txBody>
          <a:bodyPr/>
          <a:lstStyle/>
          <a:p>
            <a:pPr algn="ctr"/>
            <a:r>
              <a:rPr lang="en-PH" dirty="0"/>
              <a:t>Classification of Discrete-Time Signals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66441" y="2489200"/>
                <a:ext cx="7744159" cy="3530600"/>
              </a:xfrm>
            </p:spPr>
            <p:txBody>
              <a:bodyPr/>
              <a:lstStyle/>
              <a:p>
                <a:pPr>
                  <a:buFont typeface="+mj-lt"/>
                  <a:buAutoNum type="alphaUcPeriod" startAt="2"/>
                </a:pPr>
                <a:r>
                  <a:rPr lang="en-PH" b="1" dirty="0"/>
                  <a:t>Symmetric(Even) and </a:t>
                </a:r>
                <a:r>
                  <a:rPr lang="en-PH" b="1" dirty="0" err="1"/>
                  <a:t>Antisymmetric</a:t>
                </a:r>
                <a:r>
                  <a:rPr lang="en-PH" b="1" dirty="0"/>
                  <a:t> (Odd)</a:t>
                </a:r>
              </a:p>
              <a:p>
                <a:pPr lvl="1"/>
                <a:r>
                  <a:rPr lang="en-PH" dirty="0"/>
                  <a:t>A real-valued signal x[n] is called symmetric(even) if </a:t>
                </a:r>
                <a14:m>
                  <m:oMath xmlns:m="http://schemas.openxmlformats.org/officeDocument/2006/math">
                    <m:r>
                      <a:rPr lang="en-PH" b="1" i="1" smtClean="0">
                        <a:latin typeface="Cambria Math" panose="02040503050406030204" pitchFamily="18" charset="0"/>
                      </a:rPr>
                      <m:t>𝒙</m:t>
                    </m:r>
                    <m:d>
                      <m:dPr>
                        <m:begChr m:val="["/>
                        <m:endChr m:val="]"/>
                        <m:ctrlPr>
                          <a:rPr lang="en-PH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PH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PH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PH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PH" b="1" i="1" smtClean="0">
                        <a:latin typeface="Cambria Math" panose="02040503050406030204" pitchFamily="18" charset="0"/>
                      </a:rPr>
                      <m:t>𝒙</m:t>
                    </m:r>
                    <m:d>
                      <m:dPr>
                        <m:begChr m:val="["/>
                        <m:endChr m:val="]"/>
                        <m:ctrlPr>
                          <a:rPr lang="en-PH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PH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PH" b="1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PH" b="1" dirty="0"/>
              </a:p>
              <a:p>
                <a:pPr lvl="1"/>
                <a:r>
                  <a:rPr lang="en-PH" dirty="0"/>
                  <a:t>A real-valued signal x[n] is called </a:t>
                </a:r>
                <a:r>
                  <a:rPr lang="en-PH" dirty="0" err="1"/>
                  <a:t>antisymmetric</a:t>
                </a:r>
                <a:r>
                  <a:rPr lang="en-PH" dirty="0"/>
                  <a:t>(odd) if </a:t>
                </a:r>
                <a14:m>
                  <m:oMath xmlns:m="http://schemas.openxmlformats.org/officeDocument/2006/math">
                    <m:r>
                      <a:rPr lang="en-PH" b="1" i="1">
                        <a:latin typeface="Cambria Math" panose="02040503050406030204" pitchFamily="18" charset="0"/>
                      </a:rPr>
                      <m:t>𝒙</m:t>
                    </m:r>
                    <m:d>
                      <m:dPr>
                        <m:begChr m:val="["/>
                        <m:endChr m:val="]"/>
                        <m:ctrlPr>
                          <a:rPr lang="en-PH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PH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PH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PH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PH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PH" b="1" i="1">
                        <a:latin typeface="Cambria Math" panose="02040503050406030204" pitchFamily="18" charset="0"/>
                      </a:rPr>
                      <m:t>𝒙</m:t>
                    </m:r>
                    <m:d>
                      <m:dPr>
                        <m:begChr m:val="["/>
                        <m:endChr m:val="]"/>
                        <m:ctrlPr>
                          <a:rPr lang="en-PH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PH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PH" b="1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PH" dirty="0"/>
              </a:p>
              <a:p>
                <a:pPr lvl="1"/>
                <a:r>
                  <a:rPr lang="en-PH" dirty="0"/>
                  <a:t>Examples of signals with even and odd symmetry.</a:t>
                </a:r>
              </a:p>
              <a:p>
                <a:pPr lvl="1"/>
                <a:endParaRPr lang="en-PH" dirty="0"/>
              </a:p>
              <a:p>
                <a:pPr marL="402336" lvl="1" indent="0">
                  <a:buNone/>
                </a:pPr>
                <a:endParaRPr lang="en-PH" b="1" dirty="0"/>
              </a:p>
              <a:p>
                <a:pPr lvl="1"/>
                <a:endParaRPr lang="en-PH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66441" y="2489200"/>
                <a:ext cx="7744159" cy="3530600"/>
              </a:xfrm>
              <a:blipFill>
                <a:blip r:embed="rId3"/>
                <a:stretch>
                  <a:fillRect l="-315" t="-8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5291" y="4544929"/>
            <a:ext cx="2952750" cy="14668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6891" y="3922296"/>
            <a:ext cx="3476625" cy="207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518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66440" y="927099"/>
            <a:ext cx="7515560" cy="709865"/>
          </a:xfrm>
        </p:spPr>
        <p:txBody>
          <a:bodyPr/>
          <a:lstStyle/>
          <a:p>
            <a:pPr algn="ctr"/>
            <a:r>
              <a:rPr lang="en-PH" dirty="0"/>
              <a:t>Classification of Discrete-Time Signals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66441" y="2438400"/>
                <a:ext cx="7744159" cy="3530600"/>
              </a:xfrm>
            </p:spPr>
            <p:txBody>
              <a:bodyPr/>
              <a:lstStyle/>
              <a:p>
                <a:pPr>
                  <a:buFont typeface="+mj-lt"/>
                  <a:buAutoNum type="alphaUcPeriod" startAt="2"/>
                </a:pPr>
                <a:r>
                  <a:rPr lang="en-PH" b="1" dirty="0"/>
                  <a:t>Symmetric(Even) and </a:t>
                </a:r>
                <a:r>
                  <a:rPr lang="en-PH" b="1" dirty="0" err="1"/>
                  <a:t>Antisymmetric</a:t>
                </a:r>
                <a:r>
                  <a:rPr lang="en-PH" b="1" dirty="0"/>
                  <a:t> (Odd)</a:t>
                </a:r>
              </a:p>
              <a:p>
                <a:pPr lvl="1"/>
                <a:r>
                  <a:rPr lang="en-PH" dirty="0"/>
                  <a:t>Even Signal Component</a:t>
                </a:r>
              </a:p>
              <a:p>
                <a:pPr marL="402336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PH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PH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PH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PH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PH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PH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PH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PH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PH" b="0" i="1" smtClean="0">
                              <a:latin typeface="Cambria Math" panose="02040503050406030204" pitchFamily="18" charset="0"/>
                            </a:rPr>
                            <m:t>[−</m:t>
                          </m:r>
                          <m:r>
                            <a:rPr lang="en-PH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PH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num>
                        <m:den>
                          <m:r>
                            <a:rPr lang="en-PH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PH" dirty="0"/>
              </a:p>
              <a:p>
                <a:pPr lvl="1"/>
                <a:r>
                  <a:rPr lang="en-PH" dirty="0"/>
                  <a:t>Odd Signal Component</a:t>
                </a:r>
              </a:p>
              <a:p>
                <a:pPr marL="402336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PH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PH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PH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PH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PH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PH" i="1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PH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PH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PH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PH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PH" i="1">
                              <a:latin typeface="Cambria Math" panose="02040503050406030204" pitchFamily="18" charset="0"/>
                            </a:rPr>
                            <m:t>[−</m:t>
                          </m:r>
                          <m:r>
                            <a:rPr lang="en-PH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PH" i="1">
                              <a:latin typeface="Cambria Math" panose="02040503050406030204" pitchFamily="18" charset="0"/>
                            </a:rPr>
                            <m:t>]</m:t>
                          </m:r>
                        </m:num>
                        <m:den>
                          <m:r>
                            <a:rPr lang="en-PH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PH" dirty="0"/>
              </a:p>
              <a:p>
                <a:pPr lvl="1"/>
                <a:r>
                  <a:rPr lang="en-PH" dirty="0"/>
                  <a:t>Any arbitrary signal can be expressed as</a:t>
                </a:r>
              </a:p>
              <a:p>
                <a:pPr marL="402336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PH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PH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PH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PH" i="1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PH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PH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PH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PH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PH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PH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PH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66441" y="2438400"/>
                <a:ext cx="7744159" cy="3530600"/>
              </a:xfrm>
              <a:blipFill>
                <a:blip r:embed="rId3"/>
                <a:stretch>
                  <a:fillRect l="-315" t="-8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36911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Sample Problem: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2514600"/>
                <a:ext cx="7848600" cy="3530600"/>
              </a:xfrm>
            </p:spPr>
            <p:txBody>
              <a:bodyPr/>
              <a:lstStyle/>
              <a:p>
                <a:pPr>
                  <a:buFont typeface="+mj-lt"/>
                  <a:buAutoNum type="arabicPeriod"/>
                </a:pPr>
                <a:r>
                  <a:rPr lang="en-PH" dirty="0"/>
                  <a:t>Find the even and odd part of the function </a:t>
                </a:r>
                <a14:m>
                  <m:oMath xmlns:m="http://schemas.openxmlformats.org/officeDocument/2006/math">
                    <m:r>
                      <a:rPr lang="en-PH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PH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PH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PH" i="1" dirty="0" smtClean="0">
                        <a:latin typeface="Cambria Math" panose="02040503050406030204" pitchFamily="18" charset="0"/>
                      </a:rPr>
                      <m:t>]=</m:t>
                    </m:r>
                    <m:sSup>
                      <m:sSupPr>
                        <m:ctrlPr>
                          <a:rPr lang="en-PH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PH" dirty="0"/>
              </a:p>
              <a:p>
                <a:pPr>
                  <a:buFont typeface="+mj-lt"/>
                  <a:buAutoNum type="arabicPeriod"/>
                </a:pPr>
                <a:r>
                  <a:rPr lang="en-PH" dirty="0"/>
                  <a:t>What are the even and odd parts of the function </a:t>
                </a:r>
                <a14:m>
                  <m:oMath xmlns:m="http://schemas.openxmlformats.org/officeDocument/2006/math">
                    <m:r>
                      <a:rPr lang="en-PH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PH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PH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sup>
                    </m:sSup>
                  </m:oMath>
                </a14:m>
                <a:endParaRPr lang="en-US" b="0" dirty="0"/>
              </a:p>
              <a:p>
                <a:pPr>
                  <a:buFont typeface="+mj-lt"/>
                  <a:buAutoNum type="arabicPeriod"/>
                </a:pPr>
                <a:r>
                  <a:rPr lang="en-PH" dirty="0"/>
                  <a:t>What are the even and odd parts of the function </a:t>
                </a:r>
                <a14:m>
                  <m:oMath xmlns:m="http://schemas.openxmlformats.org/officeDocument/2006/math">
                    <m:r>
                      <a:rPr lang="en-PH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PH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PH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={2,−2,6,−2}</m:t>
                    </m:r>
                  </m:oMath>
                </a14:m>
                <a:endParaRPr lang="en-US" b="0" dirty="0"/>
              </a:p>
              <a:p>
                <a:pPr>
                  <a:buFont typeface="+mj-lt"/>
                  <a:buAutoNum type="arabicPeriod"/>
                </a:pPr>
                <a:endParaRPr lang="en-US" b="0" dirty="0"/>
              </a:p>
              <a:p>
                <a:pPr>
                  <a:buFont typeface="+mj-lt"/>
                  <a:buAutoNum type="arabicPeriod"/>
                </a:pPr>
                <a:endParaRPr lang="en-PH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2514600"/>
                <a:ext cx="7848600" cy="3530600"/>
              </a:xfrm>
              <a:blipFill>
                <a:blip r:embed="rId2"/>
                <a:stretch>
                  <a:fillRect l="-233" t="-10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42A0CF4-62B7-9127-5792-48D17363D6AC}"/>
              </a:ext>
            </a:extLst>
          </p:cNvPr>
          <p:cNvCxnSpPr/>
          <p:nvPr/>
        </p:nvCxnSpPr>
        <p:spPr>
          <a:xfrm flipV="1">
            <a:off x="1219200" y="4114800"/>
            <a:ext cx="0" cy="228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26627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66440" y="927099"/>
            <a:ext cx="7515560" cy="709865"/>
          </a:xfrm>
        </p:spPr>
        <p:txBody>
          <a:bodyPr/>
          <a:lstStyle/>
          <a:p>
            <a:pPr algn="ctr"/>
            <a:r>
              <a:rPr lang="en-PH" dirty="0"/>
              <a:t>Classification of Discrete-Time Signals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66441" y="2489200"/>
                <a:ext cx="7744159" cy="3530600"/>
              </a:xfrm>
            </p:spPr>
            <p:txBody>
              <a:bodyPr>
                <a:normAutofit lnSpcReduction="10000"/>
              </a:bodyPr>
              <a:lstStyle/>
              <a:p>
                <a:pPr>
                  <a:buFont typeface="+mj-lt"/>
                  <a:buAutoNum type="alphaUcPeriod" startAt="3"/>
                </a:pPr>
                <a:r>
                  <a:rPr lang="en-PH" b="1" dirty="0"/>
                  <a:t>Periodic and Aperiodic Signals</a:t>
                </a:r>
              </a:p>
              <a:p>
                <a:pPr lvl="1"/>
                <a:r>
                  <a:rPr lang="en-PH" dirty="0"/>
                  <a:t>A signal x[n] is periodic with period </a:t>
                </a:r>
                <a14:m>
                  <m:oMath xmlns:m="http://schemas.openxmlformats.org/officeDocument/2006/math">
                    <m:r>
                      <a:rPr lang="en-PH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PH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PH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PH" b="0" i="1" smtClean="0">
                        <a:latin typeface="Cambria Math" panose="02040503050406030204" pitchFamily="18" charset="0"/>
                      </a:rPr>
                      <m:t>&gt;0)</m:t>
                    </m:r>
                  </m:oMath>
                </a14:m>
                <a:r>
                  <a:rPr lang="en-PH" dirty="0"/>
                  <a:t> if and only if </a:t>
                </a:r>
              </a:p>
              <a:p>
                <a:pPr marL="402336" lvl="1" indent="0" algn="ctr">
                  <a:buNone/>
                </a:pPr>
                <a14:m>
                  <m:oMath xmlns:m="http://schemas.openxmlformats.org/officeDocument/2006/math">
                    <m:r>
                      <a:rPr lang="en-PH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PH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PH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PH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PH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en-PH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PH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PH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PH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PH" dirty="0"/>
                  <a:t> for all </a:t>
                </a:r>
                <a:r>
                  <a:rPr lang="en-PH" i="1" dirty="0"/>
                  <a:t>n.</a:t>
                </a:r>
                <a:r>
                  <a:rPr lang="en-PH" dirty="0"/>
                  <a:t> </a:t>
                </a:r>
              </a:p>
              <a:p>
                <a:pPr lvl="1"/>
                <a:r>
                  <a:rPr lang="en-PH" dirty="0"/>
                  <a:t>If there is no value of </a:t>
                </a:r>
                <a:r>
                  <a:rPr lang="en-PH" i="1" dirty="0"/>
                  <a:t>N</a:t>
                </a:r>
                <a:r>
                  <a:rPr lang="en-PH" dirty="0"/>
                  <a:t> that satisfies the equation above, the signal is called non periodic or aperiodic.</a:t>
                </a:r>
              </a:p>
              <a:p>
                <a:pPr lvl="1"/>
                <a:r>
                  <a:rPr lang="en-PH" dirty="0"/>
                  <a:t>Periodic signals are power signal.</a:t>
                </a:r>
              </a:p>
              <a:p>
                <a:pPr lvl="1"/>
                <a:r>
                  <a:rPr lang="en-PH" dirty="0"/>
                  <a:t>N = fundamental period in discrete time. N must be a positive integer.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PH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PH" dirty="0"/>
                  <a:t> fundamental angle of frequency or discrete angle of frequency. It is denoted as </a:t>
                </a:r>
                <a14:m>
                  <m:oMath xmlns:m="http://schemas.openxmlformats.org/officeDocument/2006/math">
                    <m:r>
                      <a:rPr lang="en-PH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endParaRPr lang="en-PH" dirty="0"/>
              </a:p>
              <a:p>
                <a:pPr lvl="1"/>
                <a:r>
                  <a:rPr lang="en-PH" dirty="0"/>
                  <a:t>Frequency is denoted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</m:oMath>
                </a14:m>
                <a:endParaRPr lang="en-PH" dirty="0"/>
              </a:p>
              <a:p>
                <a:pPr marL="402336" lvl="1" indent="0">
                  <a:buNone/>
                </a:pPr>
                <a:endParaRPr lang="en-PH" b="1" dirty="0"/>
              </a:p>
              <a:p>
                <a:pPr lvl="1"/>
                <a:endParaRPr lang="en-PH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66441" y="2489200"/>
                <a:ext cx="7744159" cy="3530600"/>
              </a:xfrm>
              <a:blipFill>
                <a:blip r:embed="rId3"/>
                <a:stretch>
                  <a:fillRect l="-315" t="-1724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06311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099"/>
            <a:ext cx="7210760" cy="709865"/>
          </a:xfrm>
        </p:spPr>
        <p:txBody>
          <a:bodyPr/>
          <a:lstStyle/>
          <a:p>
            <a:pPr algn="ctr"/>
            <a:r>
              <a:rPr lang="en-PH" dirty="0"/>
              <a:t>Simple Manipulation of Discrete-Time Signals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66441" y="2489200"/>
                <a:ext cx="7667959" cy="35306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PH" dirty="0"/>
                  <a:t>In this section we consider some simple modifications or manipulations involving the independent variable and the signal amplitude (dependent variable).</a:t>
                </a:r>
              </a:p>
              <a:p>
                <a:pPr marL="0" indent="0">
                  <a:buNone/>
                </a:pPr>
                <a:endParaRPr lang="en-PH" b="1" dirty="0"/>
              </a:p>
              <a:p>
                <a:pPr marL="0" indent="0">
                  <a:buNone/>
                </a:pPr>
                <a:r>
                  <a:rPr lang="en-PH" b="1" dirty="0"/>
                  <a:t>Transformation of the independent variable(time)</a:t>
                </a:r>
              </a:p>
              <a:p>
                <a:r>
                  <a:rPr lang="en-PH" dirty="0"/>
                  <a:t>A signal x[n] may be shifted in time by replacing the independent variable n by n</a:t>
                </a:r>
                <a14:m>
                  <m:oMath xmlns:m="http://schemas.openxmlformats.org/officeDocument/2006/math">
                    <m:r>
                      <a:rPr lang="en-PH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PH" b="0" i="0" smtClean="0">
                        <a:latin typeface="Cambria Math" panose="02040503050406030204" pitchFamily="18" charset="0"/>
                      </a:rPr>
                      <m:t>k</m:t>
                    </m:r>
                  </m:oMath>
                </a14:m>
                <a:r>
                  <a:rPr lang="en-PH" dirty="0"/>
                  <a:t> , where k is an integer. </a:t>
                </a:r>
              </a:p>
              <a:p>
                <a:pPr lvl="1"/>
                <a:r>
                  <a:rPr lang="en-PH" dirty="0"/>
                  <a:t>If k is a positive integer, the time shift results in a </a:t>
                </a:r>
                <a:r>
                  <a:rPr lang="en-PH" b="1" dirty="0"/>
                  <a:t>delay </a:t>
                </a:r>
                <a:r>
                  <a:rPr lang="en-PH" dirty="0"/>
                  <a:t> of the signal by k units.</a:t>
                </a:r>
              </a:p>
              <a:p>
                <a:pPr lvl="1"/>
                <a:r>
                  <a:rPr lang="en-PH" dirty="0"/>
                  <a:t>If k is a negative integer, </a:t>
                </a:r>
                <a:r>
                  <a:rPr lang="en-PH" b="1" dirty="0"/>
                  <a:t>advance </a:t>
                </a:r>
                <a:r>
                  <a:rPr lang="en-PH" dirty="0"/>
                  <a:t> the signal by k.</a:t>
                </a:r>
              </a:p>
              <a:p>
                <a:endParaRPr lang="en-PH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66441" y="2489200"/>
                <a:ext cx="7667959" cy="3530600"/>
              </a:xfrm>
              <a:blipFill rotWithShape="0">
                <a:blip r:embed="rId2"/>
                <a:stretch>
                  <a:fillRect l="-636" t="-862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9930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099"/>
            <a:ext cx="7210760" cy="709865"/>
          </a:xfrm>
        </p:spPr>
        <p:txBody>
          <a:bodyPr/>
          <a:lstStyle/>
          <a:p>
            <a:pPr algn="ctr"/>
            <a:r>
              <a:rPr lang="en-PH" dirty="0"/>
              <a:t>Simple Manipulation of Discrete-Time Signals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66441" y="2489200"/>
                <a:ext cx="7667959" cy="3530600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PH" b="1" dirty="0"/>
                  <a:t>Transformation of the independent variable(time)</a:t>
                </a:r>
                <a:r>
                  <a:rPr lang="en-PH" dirty="0"/>
                  <a:t> (</a:t>
                </a:r>
                <a:r>
                  <a:rPr lang="en-PH" dirty="0" err="1"/>
                  <a:t>cont</a:t>
                </a:r>
                <a:r>
                  <a:rPr lang="en-PH" dirty="0"/>
                  <a:t>…)</a:t>
                </a:r>
              </a:p>
              <a:p>
                <a:pPr marL="0" indent="0">
                  <a:buNone/>
                </a:pPr>
                <a:r>
                  <a:rPr lang="en-PH" b="1" dirty="0"/>
                  <a:t>Example:</a:t>
                </a:r>
              </a:p>
              <a:p>
                <a:pPr marL="0" indent="0">
                  <a:buNone/>
                </a:pPr>
                <a:r>
                  <a:rPr lang="en-PH" dirty="0"/>
                  <a:t>The signal is graphically illustrated below:</a:t>
                </a:r>
              </a:p>
              <a:p>
                <a:pPr marL="0" indent="0">
                  <a:buNone/>
                </a:pPr>
                <a:endParaRPr lang="en-PH" dirty="0"/>
              </a:p>
              <a:p>
                <a:pPr marL="0" indent="0">
                  <a:buNone/>
                </a:pPr>
                <a:endParaRPr lang="en-PH" dirty="0"/>
              </a:p>
              <a:p>
                <a:pPr marL="0" indent="0">
                  <a:buNone/>
                </a:pPr>
                <a:endParaRPr lang="en-PH" dirty="0"/>
              </a:p>
              <a:p>
                <a:pPr marL="0" indent="0">
                  <a:buNone/>
                </a:pPr>
                <a:endParaRPr lang="en-PH" dirty="0"/>
              </a:p>
              <a:p>
                <a:pPr marL="0" indent="0">
                  <a:buNone/>
                </a:pPr>
                <a:endParaRPr lang="en-PH" dirty="0"/>
              </a:p>
              <a:p>
                <a:pPr marL="0" indent="0">
                  <a:buNone/>
                </a:pPr>
                <a:endParaRPr lang="en-PH" dirty="0"/>
              </a:p>
              <a:p>
                <a:pPr marL="0" indent="0">
                  <a:buNone/>
                </a:pPr>
                <a:r>
                  <a:rPr lang="en-PH" dirty="0"/>
                  <a:t>Show the graphical representation of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PH" b="0" i="0" smtClean="0">
                        <a:latin typeface="Cambria Math" panose="02040503050406030204" pitchFamily="18" charset="0"/>
                      </a:rPr>
                      <m:t>x</m:t>
                    </m:r>
                    <m:d>
                      <m:dPr>
                        <m:begChr m:val="["/>
                        <m:endChr m:val="]"/>
                        <m:ctrlPr>
                          <a:rPr lang="en-PH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PH" b="0" i="0" smtClean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PH" b="0" i="0" smtClean="0">
                            <a:latin typeface="Cambria Math" panose="02040503050406030204" pitchFamily="18" charset="0"/>
                          </a:rPr>
                          <m:t>−3</m:t>
                        </m:r>
                      </m:e>
                    </m:d>
                  </m:oMath>
                </a14:m>
                <a:r>
                  <a:rPr lang="en-PH" b="0" dirty="0"/>
                  <a:t> and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PH" b="0" i="0" smtClean="0">
                        <a:latin typeface="Cambria Math" panose="02040503050406030204" pitchFamily="18" charset="0"/>
                      </a:rPr>
                      <m:t>x</m:t>
                    </m:r>
                    <m:d>
                      <m:dPr>
                        <m:begChr m:val="["/>
                        <m:endChr m:val="]"/>
                        <m:ctrlPr>
                          <a:rPr lang="en-PH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PH" b="0" i="0" smtClean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PH" b="0" i="0" smtClean="0">
                            <a:latin typeface="Cambria Math" panose="02040503050406030204" pitchFamily="18" charset="0"/>
                          </a:rPr>
                          <m:t>+2</m:t>
                        </m:r>
                      </m:e>
                    </m:d>
                  </m:oMath>
                </a14:m>
                <a:endParaRPr lang="en-PH" b="0" dirty="0"/>
              </a:p>
              <a:p>
                <a:pPr marL="0" indent="0">
                  <a:buNone/>
                </a:pPr>
                <a:endParaRPr lang="en-PH" b="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66441" y="2489200"/>
                <a:ext cx="7667959" cy="3530600"/>
              </a:xfrm>
              <a:blipFill rotWithShape="0">
                <a:blip r:embed="rId2"/>
                <a:stretch>
                  <a:fillRect l="-477" t="-189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9222" y="3693029"/>
            <a:ext cx="5283555" cy="1676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581400" y="3429000"/>
                <a:ext cx="6096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PH" sz="1200" b="0" i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PH" sz="1200" i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PH" sz="1200" i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PH" sz="1200" i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PH" sz="1200" b="1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1400" y="3429000"/>
                <a:ext cx="609600" cy="276999"/>
              </a:xfrm>
              <a:prstGeom prst="rect">
                <a:avLst/>
              </a:prstGeom>
              <a:blipFill rotWithShape="0">
                <a:blip r:embed="rId4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27713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66440" y="927099"/>
            <a:ext cx="7210760" cy="709865"/>
          </a:xfrm>
        </p:spPr>
        <p:txBody>
          <a:bodyPr/>
          <a:lstStyle/>
          <a:p>
            <a:pPr algn="ctr"/>
            <a:r>
              <a:rPr lang="en-PH" dirty="0"/>
              <a:t>Simple Manipulation of Discrete-Time Signals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66441" y="2489200"/>
                <a:ext cx="7820359" cy="3530600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PH" b="1" dirty="0"/>
                  <a:t>Transformation of the independent variable(time)</a:t>
                </a:r>
                <a:r>
                  <a:rPr lang="en-PH" dirty="0"/>
                  <a:t> (</a:t>
                </a:r>
                <a:r>
                  <a:rPr lang="en-PH" dirty="0" err="1"/>
                  <a:t>cont</a:t>
                </a:r>
                <a:r>
                  <a:rPr lang="en-PH" dirty="0"/>
                  <a:t>…)</a:t>
                </a:r>
              </a:p>
              <a:p>
                <a:r>
                  <a:rPr lang="en-PH" b="1" dirty="0"/>
                  <a:t>Folding or reflection </a:t>
                </a:r>
              </a:p>
              <a:p>
                <a:pPr lvl="1"/>
                <a:r>
                  <a:rPr lang="en-PH" dirty="0"/>
                  <a:t>Replace the independent variable </a:t>
                </a:r>
                <a:r>
                  <a:rPr lang="en-PH" i="1" dirty="0"/>
                  <a:t>n </a:t>
                </a:r>
                <a:r>
                  <a:rPr lang="en-PH" dirty="0"/>
                  <a:t>by </a:t>
                </a:r>
                <a:r>
                  <a:rPr lang="en-PH" i="1" dirty="0"/>
                  <a:t>–n</a:t>
                </a:r>
                <a:r>
                  <a:rPr lang="en-PH" dirty="0"/>
                  <a:t>. </a:t>
                </a:r>
              </a:p>
              <a:p>
                <a:pPr lvl="1"/>
                <a:r>
                  <a:rPr lang="en-PH" dirty="0"/>
                  <a:t>The result of this operation is a </a:t>
                </a:r>
                <a:r>
                  <a:rPr lang="en-PH" b="1" dirty="0"/>
                  <a:t>folding</a:t>
                </a:r>
                <a:r>
                  <a:rPr lang="en-PH" dirty="0"/>
                  <a:t> or a </a:t>
                </a:r>
                <a:r>
                  <a:rPr lang="en-PH" b="1" dirty="0"/>
                  <a:t>reflection </a:t>
                </a:r>
                <a:r>
                  <a:rPr lang="en-PH" dirty="0"/>
                  <a:t>of the signal about the time origin </a:t>
                </a:r>
                <a14:m>
                  <m:oMath xmlns:m="http://schemas.openxmlformats.org/officeDocument/2006/math">
                    <m:r>
                      <a:rPr lang="en-PH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PH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PH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PH" b="1" dirty="0"/>
                  <a:t>.</a:t>
                </a:r>
              </a:p>
              <a:p>
                <a:pPr marL="0" indent="0">
                  <a:buNone/>
                </a:pPr>
                <a:r>
                  <a:rPr lang="en-PH" b="1" dirty="0"/>
                  <a:t>Example.</a:t>
                </a:r>
              </a:p>
              <a:p>
                <a:pPr marL="0" indent="0">
                  <a:buNone/>
                </a:pPr>
                <a:r>
                  <a:rPr lang="en-PH" dirty="0"/>
                  <a:t>Show the graphical representation of the signal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PH" i="0" dirty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PH" i="0" dirty="0" smtClean="0">
                        <a:latin typeface="Cambria Math" panose="02040503050406030204" pitchFamily="18" charset="0"/>
                      </a:rPr>
                      <m:t>[−</m:t>
                    </m:r>
                    <m:r>
                      <m:rPr>
                        <m:sty m:val="p"/>
                      </m:rPr>
                      <a:rPr lang="en-PH" i="0" dirty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PH" i="0" dirty="0" smtClean="0">
                        <a:latin typeface="Cambria Math" panose="02040503050406030204" pitchFamily="18" charset="0"/>
                      </a:rPr>
                      <m:t>] </m:t>
                    </m:r>
                  </m:oMath>
                </a14:m>
                <a:r>
                  <a:rPr lang="en-PH" dirty="0"/>
                  <a:t> and </a:t>
                </a:r>
                <a14:m>
                  <m:oMath xmlns:m="http://schemas.openxmlformats.org/officeDocument/2006/math">
                    <m:r>
                      <a:rPr lang="en-PH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PH" b="0" i="1" smtClean="0">
                        <a:latin typeface="Cambria Math" panose="02040503050406030204" pitchFamily="18" charset="0"/>
                      </a:rPr>
                      <m:t>[−</m:t>
                    </m:r>
                    <m:r>
                      <a:rPr lang="en-PH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PH" b="0" i="1" smtClean="0">
                        <a:latin typeface="Cambria Math" panose="02040503050406030204" pitchFamily="18" charset="0"/>
                      </a:rPr>
                      <m:t>+2]</m:t>
                    </m:r>
                  </m:oMath>
                </a14:m>
                <a:r>
                  <a:rPr lang="en-PH" dirty="0"/>
                  <a:t>, where x[n] is the signal illustrated in the previous  slide.</a:t>
                </a:r>
              </a:p>
              <a:p>
                <a:pPr lvl="1"/>
                <a:endParaRPr lang="en-PH" b="1" dirty="0"/>
              </a:p>
              <a:p>
                <a:pPr marL="402336" lvl="1" indent="0">
                  <a:buNone/>
                </a:pPr>
                <a:r>
                  <a:rPr lang="en-PH" b="1" dirty="0"/>
                  <a:t> </a:t>
                </a:r>
              </a:p>
              <a:p>
                <a:pPr marL="0" indent="0">
                  <a:buNone/>
                </a:pPr>
                <a:endParaRPr lang="en-PH" b="0" dirty="0"/>
              </a:p>
            </p:txBody>
          </p:sp>
        </mc:Choice>
        <mc:Fallback xmlns="">
          <p:sp>
            <p:nvSpPr>
              <p:cNvPr id="5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66441" y="2489200"/>
                <a:ext cx="7820359" cy="3530600"/>
              </a:xfrm>
              <a:blipFill rotWithShape="0">
                <a:blip r:embed="rId3"/>
                <a:stretch>
                  <a:fillRect l="-624" t="-1724" r="-546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51160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66440" y="927099"/>
            <a:ext cx="7210760" cy="709865"/>
          </a:xfrm>
        </p:spPr>
        <p:txBody>
          <a:bodyPr/>
          <a:lstStyle/>
          <a:p>
            <a:pPr algn="ctr"/>
            <a:r>
              <a:rPr lang="en-PH" dirty="0"/>
              <a:t>Simple Manipulation of Discrete-Time Signals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66441" y="2489200"/>
                <a:ext cx="7820359" cy="2159000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PH" b="1" dirty="0"/>
                  <a:t>Transformation of the independent variable(time)</a:t>
                </a:r>
                <a:r>
                  <a:rPr lang="en-PH" dirty="0"/>
                  <a:t> (</a:t>
                </a:r>
                <a:r>
                  <a:rPr lang="en-PH" dirty="0" err="1"/>
                  <a:t>cont</a:t>
                </a:r>
                <a:r>
                  <a:rPr lang="en-PH" dirty="0"/>
                  <a:t>…)</a:t>
                </a:r>
              </a:p>
              <a:p>
                <a:r>
                  <a:rPr lang="en-PH" b="1" dirty="0"/>
                  <a:t>Time Scaling or Down Sampling</a:t>
                </a:r>
              </a:p>
              <a:p>
                <a:pPr lvl="1"/>
                <a:r>
                  <a:rPr lang="en-PH" dirty="0"/>
                  <a:t>A third modification of the independent variable which involves by replacing by </a:t>
                </a:r>
                <a14:m>
                  <m:oMath xmlns:m="http://schemas.openxmlformats.org/officeDocument/2006/math">
                    <m:r>
                      <a:rPr lang="en-PH" b="1" i="0" smtClean="0">
                        <a:latin typeface="Cambria Math" panose="02040503050406030204" pitchFamily="18" charset="0"/>
                      </a:rPr>
                      <m:t>𝐧</m:t>
                    </m:r>
                    <m:r>
                      <a:rPr lang="en-PH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PH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PH" dirty="0"/>
                  <a:t>by </a:t>
                </a:r>
                <a:r>
                  <a:rPr lang="en-PH" b="1" dirty="0">
                    <a:latin typeface="+mj-lt"/>
                    <a:ea typeface="Cambria Math" panose="02040503050406030204" pitchFamily="18" charset="0"/>
                  </a:rPr>
                  <a:t>𝛍n</a:t>
                </a:r>
                <a:r>
                  <a:rPr lang="en-PH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PH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where </a:t>
                </a:r>
                <a:r>
                  <a:rPr lang="en-PH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𝛍</a:t>
                </a:r>
                <a:r>
                  <a:rPr lang="en-PH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is an integer.</a:t>
                </a:r>
              </a:p>
              <a:p>
                <a:pPr marL="0" indent="0">
                  <a:buNone/>
                </a:pPr>
                <a:r>
                  <a:rPr lang="en-PH" b="1" dirty="0">
                    <a:latin typeface="+mj-lt"/>
                    <a:ea typeface="Cambria Math" panose="02040503050406030204" pitchFamily="18" charset="0"/>
                  </a:rPr>
                  <a:t>Example. </a:t>
                </a:r>
                <a:r>
                  <a:rPr lang="en-PH" dirty="0">
                    <a:latin typeface="+mj-lt"/>
                    <a:ea typeface="Cambria Math" panose="02040503050406030204" pitchFamily="18" charset="0"/>
                  </a:rPr>
                  <a:t>Show the graphical representation of the signal </a:t>
                </a:r>
                <a:endParaRPr lang="en-PH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PH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PH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PH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PH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PH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PH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[2</m:t>
                    </m:r>
                    <m:r>
                      <a:rPr lang="en-PH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PH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PH" dirty="0">
                    <a:latin typeface="+mj-lt"/>
                    <a:ea typeface="Cambria Math" panose="02040503050406030204" pitchFamily="18" charset="0"/>
                  </a:rPr>
                  <a:t> , where x[n] is the signal illustrated below.</a:t>
                </a:r>
                <a:endParaRPr lang="en-PH" b="1" dirty="0"/>
              </a:p>
              <a:p>
                <a:pPr marL="0" indent="0">
                  <a:buNone/>
                </a:pPr>
                <a:endParaRPr lang="en-PH" b="0" dirty="0"/>
              </a:p>
            </p:txBody>
          </p:sp>
        </mc:Choice>
        <mc:Fallback xmlns="">
          <p:sp>
            <p:nvSpPr>
              <p:cNvPr id="5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66441" y="2489200"/>
                <a:ext cx="7820359" cy="2159000"/>
              </a:xfrm>
              <a:blipFill rotWithShape="0">
                <a:blip r:embed="rId3"/>
                <a:stretch>
                  <a:fillRect l="-624" t="-281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09741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66440" y="927099"/>
            <a:ext cx="7210760" cy="709865"/>
          </a:xfrm>
        </p:spPr>
        <p:txBody>
          <a:bodyPr/>
          <a:lstStyle/>
          <a:p>
            <a:pPr algn="ctr"/>
            <a:r>
              <a:rPr lang="en-PH" dirty="0"/>
              <a:t>Simple Manipulation of Discrete-Time Signals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66441" y="2489200"/>
                <a:ext cx="7820359" cy="3759200"/>
              </a:xfrm>
            </p:spPr>
            <p:txBody>
              <a:bodyPr>
                <a:normAutofit/>
              </a:bodyPr>
              <a:lstStyle/>
              <a:p>
                <a:r>
                  <a:rPr lang="en-PH" b="1" dirty="0"/>
                  <a:t>Addition, multiplication, and scaling of sequences</a:t>
                </a:r>
              </a:p>
              <a:p>
                <a:pPr lvl="1"/>
                <a:r>
                  <a:rPr lang="en-PH" b="1" dirty="0"/>
                  <a:t>Amplitude scaling </a:t>
                </a:r>
                <a:r>
                  <a:rPr lang="en-PH" dirty="0"/>
                  <a:t>of a signal by a constant </a:t>
                </a:r>
                <a:r>
                  <a:rPr lang="en-PH" b="1" dirty="0"/>
                  <a:t>A </a:t>
                </a:r>
                <a:r>
                  <a:rPr lang="en-PH" dirty="0"/>
                  <a:t>is accomplished by multiplying the value of every signal sample by </a:t>
                </a:r>
                <a:r>
                  <a:rPr lang="en-PH" b="1" dirty="0"/>
                  <a:t>A. </a:t>
                </a:r>
              </a:p>
              <a:p>
                <a:pPr marL="402336" lvl="1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b="1" i="0" smtClean="0">
                          <a:latin typeface="Cambria Math" panose="02040503050406030204" pitchFamily="18" charset="0"/>
                        </a:rPr>
                        <m:t>𝐲</m:t>
                      </m:r>
                      <m:d>
                        <m:dPr>
                          <m:begChr m:val="["/>
                          <m:endChr m:val="]"/>
                          <m:ctrlPr>
                            <a:rPr lang="en-PH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b="1" i="0" smtClean="0">
                              <a:latin typeface="Cambria Math" panose="02040503050406030204" pitchFamily="18" charset="0"/>
                            </a:rPr>
                            <m:t>𝐧</m:t>
                          </m:r>
                        </m:e>
                      </m:d>
                      <m:r>
                        <a:rPr lang="en-PH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PH" b="1" i="0" smtClean="0">
                          <a:latin typeface="Cambria Math" panose="02040503050406030204" pitchFamily="18" charset="0"/>
                        </a:rPr>
                        <m:t>𝐀𝐱</m:t>
                      </m:r>
                      <m:d>
                        <m:dPr>
                          <m:begChr m:val="["/>
                          <m:endChr m:val="]"/>
                          <m:ctrlPr>
                            <a:rPr lang="en-PH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b="1" i="0" smtClean="0">
                              <a:latin typeface="Cambria Math" panose="02040503050406030204" pitchFamily="18" charset="0"/>
                            </a:rPr>
                            <m:t>𝐧</m:t>
                          </m:r>
                        </m:e>
                      </m:d>
                    </m:oMath>
                  </m:oMathPara>
                </a14:m>
                <a:endParaRPr lang="en-PH" b="1" dirty="0"/>
              </a:p>
              <a:p>
                <a:pPr lvl="1" algn="just"/>
                <a:r>
                  <a:rPr lang="en-PH" b="1" dirty="0"/>
                  <a:t>Addition of sequences or signal</a:t>
                </a:r>
              </a:p>
              <a:p>
                <a:pPr lvl="2" algn="just"/>
                <a:r>
                  <a:rPr lang="en-PH" dirty="0"/>
                  <a:t>The sum of two signals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PH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PH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PH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PH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PH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PH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PH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PH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PH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PH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PH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PH" dirty="0"/>
                  <a:t> is a signal </a:t>
                </a:r>
                <a14:m>
                  <m:oMath xmlns:m="http://schemas.openxmlformats.org/officeDocument/2006/math">
                    <m:r>
                      <a:rPr lang="en-PH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PH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PH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PH" dirty="0"/>
                  <a:t>, whose value at any instant is equal to the sum of the values of these two signals at the instant</a:t>
                </a:r>
              </a:p>
              <a:p>
                <a:pPr marL="731520" lvl="2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begChr m:val="["/>
                          <m:endChr m:val="]"/>
                          <m:ctrlPr>
                            <a:rPr lang="en-PH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PH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PH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PH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PH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PH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PH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PH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PH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PH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PH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PH" b="0" i="1" smtClean="0">
                          <a:latin typeface="Cambria Math" panose="02040503050406030204" pitchFamily="18" charset="0"/>
                        </a:rPr>
                        <m:t>    −</m:t>
                      </m:r>
                      <m:r>
                        <a:rPr lang="en-PH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∞&lt;</m:t>
                      </m:r>
                      <m:r>
                        <a:rPr lang="en-PH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PH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&lt;∞ </m:t>
                      </m:r>
                    </m:oMath>
                  </m:oMathPara>
                </a14:m>
                <a:endParaRPr lang="en-PH" b="0" dirty="0"/>
              </a:p>
              <a:p>
                <a:pPr marL="742950" lvl="1" indent="-285750" algn="just"/>
                <a:r>
                  <a:rPr lang="en-PH" b="1" dirty="0"/>
                  <a:t>Product of sequences or signal</a:t>
                </a:r>
              </a:p>
              <a:p>
                <a:pPr marL="1017270" lvl="2" indent="-285750" algn="just"/>
                <a:r>
                  <a:rPr lang="en-PH" dirty="0"/>
                  <a:t>The product of two signals is similarly defined on a sample-to-sample basis as</a:t>
                </a:r>
              </a:p>
              <a:p>
                <a:pPr marL="731520" lvl="2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i="1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begChr m:val="["/>
                          <m:endChr m:val="]"/>
                          <m:ctrlPr>
                            <a:rPr lang="en-PH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PH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PH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PH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PH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PH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sSub>
                        <m:sSubPr>
                          <m:ctrlPr>
                            <a:rPr lang="en-PH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PH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PH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PH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PH" i="1">
                          <a:latin typeface="Cambria Math" panose="02040503050406030204" pitchFamily="18" charset="0"/>
                        </a:rPr>
                        <m:t>    −</m:t>
                      </m:r>
                      <m:r>
                        <a:rPr lang="en-PH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∞&lt;</m:t>
                      </m:r>
                      <m:r>
                        <a:rPr lang="en-PH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PH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&lt;∞ </m:t>
                      </m:r>
                    </m:oMath>
                  </m:oMathPara>
                </a14:m>
                <a:endParaRPr lang="en-PH" dirty="0"/>
              </a:p>
              <a:p>
                <a:pPr marL="731520" lvl="2" indent="0" algn="ctr">
                  <a:buNone/>
                </a:pPr>
                <a:endParaRPr lang="en-PH" dirty="0"/>
              </a:p>
            </p:txBody>
          </p:sp>
        </mc:Choice>
        <mc:Fallback xmlns="">
          <p:sp>
            <p:nvSpPr>
              <p:cNvPr id="5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66441" y="2489200"/>
                <a:ext cx="7820359" cy="3759200"/>
              </a:xfrm>
              <a:blipFill rotWithShape="0">
                <a:blip r:embed="rId3"/>
                <a:stretch>
                  <a:fillRect l="-156" t="-810" r="-234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00678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DISCRETE TIME SYSTEMS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66441" y="2489200"/>
                <a:ext cx="7744159" cy="4140200"/>
              </a:xfrm>
            </p:spPr>
            <p:txBody>
              <a:bodyPr/>
              <a:lstStyle/>
              <a:p>
                <a:pPr algn="just"/>
                <a:r>
                  <a:rPr lang="en-PH" dirty="0"/>
                  <a:t>It is a device or algorithm that operates on a discrete-time signal </a:t>
                </a:r>
                <a:r>
                  <a:rPr lang="en-PH" b="1" dirty="0"/>
                  <a:t>(input or excitation)</a:t>
                </a:r>
                <a:r>
                  <a:rPr lang="en-PH" dirty="0"/>
                  <a:t> to produce another discrete-time signal </a:t>
                </a:r>
                <a:r>
                  <a:rPr lang="en-PH" b="1" dirty="0"/>
                  <a:t>(output or response).</a:t>
                </a:r>
              </a:p>
              <a:p>
                <a:pPr algn="just"/>
                <a:endParaRPr lang="en-PH" b="1" dirty="0"/>
              </a:p>
              <a:p>
                <a:pPr algn="just"/>
                <a:endParaRPr lang="en-PH" b="1" dirty="0"/>
              </a:p>
              <a:p>
                <a:pPr algn="just"/>
                <a:endParaRPr lang="en-PH" b="1" dirty="0"/>
              </a:p>
              <a:p>
                <a:pPr lvl="6" algn="just"/>
                <a:r>
                  <a:rPr lang="en-PH" b="1" dirty="0"/>
                  <a:t>Block diagram representation</a:t>
                </a:r>
              </a:p>
              <a:p>
                <a:pPr algn="just"/>
                <a:r>
                  <a:rPr lang="en-PH" dirty="0"/>
                  <a:t>We say that the input signal x[n] is </a:t>
                </a:r>
                <a:r>
                  <a:rPr lang="en-PH" i="1" dirty="0"/>
                  <a:t>transformed </a:t>
                </a:r>
                <a:r>
                  <a:rPr lang="en-PH" dirty="0"/>
                  <a:t>by the system into a signal y[n] and express the general relationship between x[n] and y[n] as 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b="1" i="1" smtClean="0">
                          <a:latin typeface="Cambria Math" panose="02040503050406030204" pitchFamily="18" charset="0"/>
                        </a:rPr>
                        <m:t>𝒚</m:t>
                      </m:r>
                      <m:d>
                        <m:dPr>
                          <m:begChr m:val="["/>
                          <m:endChr m:val="]"/>
                          <m:ctrlPr>
                            <a:rPr lang="en-PH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PH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r>
                        <a:rPr lang="en-PH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𝓣</m:t>
                      </m:r>
                      <m:d>
                        <m:dPr>
                          <m:begChr m:val="["/>
                          <m:endChr m:val="]"/>
                          <m:ctrlPr>
                            <a:rPr lang="en-PH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PH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PH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PH" b="1" dirty="0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n-PH" b="1" dirty="0"/>
              </a:p>
              <a:p>
                <a:pPr algn="just"/>
                <a:endParaRPr lang="en-PH" b="1" dirty="0"/>
              </a:p>
              <a:p>
                <a:endParaRPr lang="en-PH" b="1" dirty="0"/>
              </a:p>
              <a:p>
                <a:endParaRPr lang="en-PH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66441" y="2489200"/>
                <a:ext cx="7744159" cy="4140200"/>
              </a:xfrm>
              <a:blipFill rotWithShape="0">
                <a:blip r:embed="rId3"/>
                <a:stretch>
                  <a:fillRect l="-157" t="-735" r="-629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3600" y="3429000"/>
            <a:ext cx="4190999" cy="1243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1390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1640" y="914400"/>
            <a:ext cx="7820360" cy="709865"/>
          </a:xfrm>
        </p:spPr>
        <p:txBody>
          <a:bodyPr/>
          <a:lstStyle/>
          <a:p>
            <a:r>
              <a:rPr lang="en-PH" dirty="0"/>
              <a:t>Input-Output Description of the System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66441" y="2489200"/>
                <a:ext cx="7820359" cy="3530600"/>
              </a:xfrm>
            </p:spPr>
            <p:txBody>
              <a:bodyPr/>
              <a:lstStyle/>
              <a:p>
                <a:r>
                  <a:rPr lang="en-PH" dirty="0"/>
                  <a:t>It consists of a mathematical expressions or rule, which explicitly defines the relation between the input and output signals (input-output relationship).</a:t>
                </a:r>
              </a:p>
              <a:p>
                <a:r>
                  <a:rPr lang="en-PH" dirty="0"/>
                  <a:t>Aside from the previous figure and equation, alternatively, we use  the notation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PH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PH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PH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groupChr>
                      <m:groupChrPr>
                        <m:chr m:val="→"/>
                        <m:vertJc m:val="bot"/>
                        <m:ctrlPr>
                          <a:rPr lang="en-PH" b="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PH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𝒯</m:t>
                        </m:r>
                      </m:e>
                    </m:groupChr>
                    <m:r>
                      <a:rPr lang="en-PH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PH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PH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PH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PH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66441" y="2489200"/>
                <a:ext cx="7820359" cy="3530600"/>
              </a:xfrm>
              <a:blipFill rotWithShape="0">
                <a:blip r:embed="rId3"/>
                <a:stretch>
                  <a:fillRect l="-156" t="-862" r="-2104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0470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1640" y="914400"/>
            <a:ext cx="7820360" cy="709865"/>
          </a:xfrm>
        </p:spPr>
        <p:txBody>
          <a:bodyPr/>
          <a:lstStyle/>
          <a:p>
            <a:r>
              <a:rPr lang="en-PH" dirty="0"/>
              <a:t>Input-Output Description of the System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61640" y="2209800"/>
                <a:ext cx="8096919" cy="46482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PH" b="1" dirty="0"/>
                  <a:t>Example:</a:t>
                </a:r>
              </a:p>
              <a:p>
                <a:pPr marL="0" indent="0">
                  <a:buNone/>
                </a:pPr>
                <a:r>
                  <a:rPr lang="en-PH" dirty="0"/>
                  <a:t>Determine the response of the following the systems to the input signal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PH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PH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PH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PH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PH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e>
                            <m:e>
                              <m: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  <m:t>0 </m:t>
                              </m:r>
                            </m:e>
                          </m:eqArr>
                        </m:e>
                      </m:d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PH" b="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PH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PH" b="0" i="1" smtClean="0">
                                <a:latin typeface="Cambria Math" panose="02040503050406030204" pitchFamily="18" charset="0"/>
                              </a:rPr>
                              <m:t>  ,  −3≤</m:t>
                            </m:r>
                            <m:r>
                              <a:rPr lang="en-PH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PH" b="0" i="1" smtClean="0">
                                <a:latin typeface="Cambria Math" panose="02040503050406030204" pitchFamily="18" charset="0"/>
                              </a:rPr>
                              <m:t>≤3</m:t>
                            </m:r>
                          </m:e>
                        </m:mr>
                        <m:mr>
                          <m:e>
                            <m:r>
                              <a:rPr lang="en-PH" b="0" i="1" smtClean="0">
                                <a:latin typeface="Cambria Math" panose="02040503050406030204" pitchFamily="18" charset="0"/>
                              </a:rPr>
                              <m:t>   ,  </m:t>
                            </m:r>
                            <m:r>
                              <a:rPr lang="en-PH" b="0" i="1" smtClean="0">
                                <a:latin typeface="Cambria Math" panose="02040503050406030204" pitchFamily="18" charset="0"/>
                              </a:rPr>
                              <m:t>𝑜𝑡h𝑒𝑟𝑤𝑖𝑠𝑒</m:t>
                            </m:r>
                            <m:r>
                              <a:rPr lang="en-PH" b="0" i="1" smtClean="0">
                                <a:latin typeface="Cambria Math" panose="02040503050406030204" pitchFamily="18" charset="0"/>
                              </a:rPr>
                              <m:t>  </m:t>
                            </m:r>
                          </m:e>
                        </m:mr>
                      </m:m>
                    </m:oMath>
                  </m:oMathPara>
                </a14:m>
                <a:endParaRPr lang="en-PH" dirty="0"/>
              </a:p>
              <a:p>
                <a:pPr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n-PH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PH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PH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PH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PH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PH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PH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PH" dirty="0"/>
              </a:p>
              <a:p>
                <a:pPr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n-PH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PH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PH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PH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PH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PH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PH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PH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endParaRPr lang="en-PH" dirty="0"/>
              </a:p>
              <a:p>
                <a:pPr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n-PH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PH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PH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PH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PH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PH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PH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PH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endParaRPr lang="en-PH" dirty="0"/>
              </a:p>
              <a:p>
                <a:pPr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n-PH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PH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PH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PH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PH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PH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PH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PH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PH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PH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PH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PH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  <m:r>
                          <a:rPr lang="en-PH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PH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begChr m:val="["/>
                            <m:endChr m:val="}"/>
                            <m:ctrlPr>
                              <a:rPr lang="en-PH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PH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PH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PH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PH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PH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PH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</m:d>
                  </m:oMath>
                </a14:m>
                <a:endParaRPr lang="en-PH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1640" y="2209800"/>
                <a:ext cx="8096919" cy="4648200"/>
              </a:xfrm>
              <a:blipFill>
                <a:blip r:embed="rId3"/>
                <a:stretch>
                  <a:fillRect l="-602" t="-78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17118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099"/>
            <a:ext cx="7744160" cy="709865"/>
          </a:xfrm>
        </p:spPr>
        <p:txBody>
          <a:bodyPr/>
          <a:lstStyle/>
          <a:p>
            <a:pPr algn="ctr"/>
            <a:r>
              <a:rPr lang="en-PH" dirty="0"/>
              <a:t>Block Diagram Representation of Discrete-Time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441" y="2489200"/>
            <a:ext cx="7744159" cy="3530600"/>
          </a:xfrm>
        </p:spPr>
        <p:txBody>
          <a:bodyPr/>
          <a:lstStyle/>
          <a:p>
            <a:r>
              <a:rPr lang="en-PH" b="1" dirty="0"/>
              <a:t>Adder</a:t>
            </a:r>
          </a:p>
          <a:p>
            <a:endParaRPr lang="en-PH" dirty="0"/>
          </a:p>
          <a:p>
            <a:endParaRPr lang="en-PH" dirty="0"/>
          </a:p>
        </p:txBody>
      </p:sp>
      <p:pic>
        <p:nvPicPr>
          <p:cNvPr id="4" name="Picture 3"/>
          <p:cNvPicPr/>
          <p:nvPr/>
        </p:nvPicPr>
        <p:blipFill>
          <a:blip r:embed="rId3"/>
          <a:stretch>
            <a:fillRect/>
          </a:stretch>
        </p:blipFill>
        <p:spPr>
          <a:xfrm>
            <a:off x="2514600" y="3124200"/>
            <a:ext cx="4724400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08246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099"/>
            <a:ext cx="7744160" cy="709865"/>
          </a:xfrm>
        </p:spPr>
        <p:txBody>
          <a:bodyPr/>
          <a:lstStyle/>
          <a:p>
            <a:pPr algn="ctr"/>
            <a:r>
              <a:rPr lang="en-PH" dirty="0"/>
              <a:t>Block Diagram Representation of Discrete-Time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441" y="2489200"/>
            <a:ext cx="7744159" cy="3530600"/>
          </a:xfrm>
        </p:spPr>
        <p:txBody>
          <a:bodyPr/>
          <a:lstStyle/>
          <a:p>
            <a:r>
              <a:rPr lang="en-PH" b="1" dirty="0"/>
              <a:t>Constant Multiplier</a:t>
            </a:r>
          </a:p>
          <a:p>
            <a:endParaRPr lang="en-PH" dirty="0"/>
          </a:p>
          <a:p>
            <a:endParaRPr lang="en-PH" dirty="0"/>
          </a:p>
        </p:txBody>
      </p:sp>
      <p:pic>
        <p:nvPicPr>
          <p:cNvPr id="4" name="Picture 3"/>
          <p:cNvPicPr/>
          <p:nvPr/>
        </p:nvPicPr>
        <p:blipFill>
          <a:blip r:embed="rId3"/>
          <a:stretch>
            <a:fillRect/>
          </a:stretch>
        </p:blipFill>
        <p:spPr>
          <a:xfrm>
            <a:off x="2362200" y="3657600"/>
            <a:ext cx="4267199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5721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099"/>
            <a:ext cx="7744160" cy="709865"/>
          </a:xfrm>
        </p:spPr>
        <p:txBody>
          <a:bodyPr/>
          <a:lstStyle/>
          <a:p>
            <a:pPr algn="ctr"/>
            <a:r>
              <a:rPr lang="en-PH" dirty="0"/>
              <a:t>Block Diagram Representation of Discrete-Time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441" y="2489200"/>
            <a:ext cx="7744159" cy="3530600"/>
          </a:xfrm>
        </p:spPr>
        <p:txBody>
          <a:bodyPr/>
          <a:lstStyle/>
          <a:p>
            <a:r>
              <a:rPr lang="en-PH" b="1" dirty="0"/>
              <a:t>Signal Multiplier</a:t>
            </a:r>
          </a:p>
          <a:p>
            <a:endParaRPr lang="en-PH" dirty="0"/>
          </a:p>
          <a:p>
            <a:endParaRPr lang="en-PH" dirty="0"/>
          </a:p>
        </p:txBody>
      </p:sp>
      <p:pic>
        <p:nvPicPr>
          <p:cNvPr id="4" name="Picture 3"/>
          <p:cNvPicPr/>
          <p:nvPr/>
        </p:nvPicPr>
        <p:blipFill>
          <a:blip r:embed="rId3"/>
          <a:stretch>
            <a:fillRect/>
          </a:stretch>
        </p:blipFill>
        <p:spPr>
          <a:xfrm>
            <a:off x="2514600" y="3048000"/>
            <a:ext cx="4267200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6190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099"/>
            <a:ext cx="7744160" cy="709865"/>
          </a:xfrm>
        </p:spPr>
        <p:txBody>
          <a:bodyPr/>
          <a:lstStyle/>
          <a:p>
            <a:pPr algn="ctr"/>
            <a:r>
              <a:rPr lang="en-PH" dirty="0"/>
              <a:t>Block Diagram Representation of Discrete-Time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441" y="2489200"/>
            <a:ext cx="7744159" cy="3530600"/>
          </a:xfrm>
        </p:spPr>
        <p:txBody>
          <a:bodyPr/>
          <a:lstStyle/>
          <a:p>
            <a:r>
              <a:rPr lang="en-PH" b="1" dirty="0"/>
              <a:t>Unit delay element</a:t>
            </a:r>
          </a:p>
          <a:p>
            <a:endParaRPr lang="en-PH" dirty="0"/>
          </a:p>
          <a:p>
            <a:endParaRPr lang="en-PH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0683" y="3581400"/>
            <a:ext cx="7026674" cy="1791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30289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099"/>
            <a:ext cx="7744160" cy="709865"/>
          </a:xfrm>
        </p:spPr>
        <p:txBody>
          <a:bodyPr/>
          <a:lstStyle/>
          <a:p>
            <a:pPr algn="ctr"/>
            <a:r>
              <a:rPr lang="en-PH" dirty="0"/>
              <a:t>Block Diagram Representation of Discrete-Time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441" y="2489200"/>
            <a:ext cx="7744159" cy="3530600"/>
          </a:xfrm>
        </p:spPr>
        <p:txBody>
          <a:bodyPr/>
          <a:lstStyle/>
          <a:p>
            <a:r>
              <a:rPr lang="en-PH" b="1" dirty="0"/>
              <a:t>A unit advance element</a:t>
            </a:r>
          </a:p>
          <a:p>
            <a:endParaRPr lang="en-PH" dirty="0"/>
          </a:p>
          <a:p>
            <a:endParaRPr lang="en-PH" dirty="0"/>
          </a:p>
          <a:p>
            <a:endParaRPr lang="en-PH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7114" y="4254500"/>
            <a:ext cx="5522812" cy="1247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84524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2BB3-01D5-0304-2560-21AE867F3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NO. 1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15051B8-AF13-151F-2679-C48B5236E11F}"/>
              </a:ext>
            </a:extLst>
          </p:cNvPr>
          <p:cNvCxnSpPr>
            <a:cxnSpLocks/>
          </p:cNvCxnSpPr>
          <p:nvPr/>
        </p:nvCxnSpPr>
        <p:spPr>
          <a:xfrm>
            <a:off x="1600200" y="2657519"/>
            <a:ext cx="77292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704880A-25FF-CED7-EF07-E04193198F58}"/>
              </a:ext>
            </a:extLst>
          </p:cNvPr>
          <p:cNvSpPr txBox="1"/>
          <p:nvPr/>
        </p:nvSpPr>
        <p:spPr>
          <a:xfrm>
            <a:off x="1006983" y="2431443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x[n]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25BC0F7-6EDB-E6AF-08D1-8F378C681F30}"/>
              </a:ext>
            </a:extLst>
          </p:cNvPr>
          <p:cNvSpPr/>
          <p:nvPr/>
        </p:nvSpPr>
        <p:spPr>
          <a:xfrm>
            <a:off x="3276600" y="2374687"/>
            <a:ext cx="533400" cy="565664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+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6D1D56A-CB26-8B22-AE0D-AB1D39587967}"/>
              </a:ext>
            </a:extLst>
          </p:cNvPr>
          <p:cNvCxnSpPr>
            <a:endCxn id="9" idx="4"/>
          </p:cNvCxnSpPr>
          <p:nvPr/>
        </p:nvCxnSpPr>
        <p:spPr>
          <a:xfrm flipV="1">
            <a:off x="3543300" y="2940351"/>
            <a:ext cx="0" cy="108876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DA4CC0D9-EA0F-EC99-05C5-902006D86C7D}"/>
              </a:ext>
            </a:extLst>
          </p:cNvPr>
          <p:cNvSpPr/>
          <p:nvPr/>
        </p:nvSpPr>
        <p:spPr>
          <a:xfrm>
            <a:off x="3276600" y="4029119"/>
            <a:ext cx="533400" cy="565664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+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8D60BBF-DAA9-125F-570B-066A724F38EE}"/>
              </a:ext>
            </a:extLst>
          </p:cNvPr>
          <p:cNvCxnSpPr>
            <a:endCxn id="9" idx="2"/>
          </p:cNvCxnSpPr>
          <p:nvPr/>
        </p:nvCxnSpPr>
        <p:spPr>
          <a:xfrm>
            <a:off x="2373122" y="2657519"/>
            <a:ext cx="90347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2CAA9EE-D1D2-A80D-7472-BB1F6D037FD4}"/>
              </a:ext>
            </a:extLst>
          </p:cNvPr>
          <p:cNvCxnSpPr>
            <a:cxnSpLocks/>
          </p:cNvCxnSpPr>
          <p:nvPr/>
        </p:nvCxnSpPr>
        <p:spPr>
          <a:xfrm flipH="1">
            <a:off x="4343400" y="4333919"/>
            <a:ext cx="9144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FBC84E6-A0AA-8A60-B7E7-DA83F7E493E5}"/>
              </a:ext>
            </a:extLst>
          </p:cNvPr>
          <p:cNvCxnSpPr>
            <a:cxnSpLocks/>
          </p:cNvCxnSpPr>
          <p:nvPr/>
        </p:nvCxnSpPr>
        <p:spPr>
          <a:xfrm flipH="1">
            <a:off x="3810000" y="4333919"/>
            <a:ext cx="62052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5FD73B2F-CBE0-BBFF-5A61-7DE7091E432E}"/>
                  </a:ext>
                </a:extLst>
              </p:cNvPr>
              <p:cNvSpPr/>
              <p:nvPr/>
            </p:nvSpPr>
            <p:spPr>
              <a:xfrm>
                <a:off x="5257799" y="4083351"/>
                <a:ext cx="620522" cy="45720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p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5FD73B2F-CBE0-BBFF-5A61-7DE7091E43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7799" y="4083351"/>
                <a:ext cx="620522" cy="4572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0BA51203-DF1B-D2F8-BC4E-F0505E5B99A7}"/>
              </a:ext>
            </a:extLst>
          </p:cNvPr>
          <p:cNvSpPr txBox="1"/>
          <p:nvPr/>
        </p:nvSpPr>
        <p:spPr>
          <a:xfrm>
            <a:off x="4094018" y="3844453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5/6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66E2B16-F600-9169-4360-B087CD9CECC5}"/>
              </a:ext>
            </a:extLst>
          </p:cNvPr>
          <p:cNvSpPr txBox="1"/>
          <p:nvPr/>
        </p:nvSpPr>
        <p:spPr>
          <a:xfrm>
            <a:off x="2209800" y="22860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1E21E3D6-BC83-5925-04CB-1614C6041236}"/>
                  </a:ext>
                </a:extLst>
              </p:cNvPr>
              <p:cNvSpPr/>
              <p:nvPr/>
            </p:nvSpPr>
            <p:spPr>
              <a:xfrm>
                <a:off x="5257799" y="5334732"/>
                <a:ext cx="620522" cy="45720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p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1E21E3D6-BC83-5925-04CB-1614C60412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7799" y="5334732"/>
                <a:ext cx="620522" cy="4572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FB96C83-8A32-9057-161B-7C62A13DC727}"/>
              </a:ext>
            </a:extLst>
          </p:cNvPr>
          <p:cNvCxnSpPr>
            <a:stCxn id="22" idx="2"/>
            <a:endCxn id="25" idx="0"/>
          </p:cNvCxnSpPr>
          <p:nvPr/>
        </p:nvCxnSpPr>
        <p:spPr>
          <a:xfrm>
            <a:off x="5568060" y="4540551"/>
            <a:ext cx="0" cy="7941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21D1486-8E7A-2144-D267-6B8EAA352981}"/>
              </a:ext>
            </a:extLst>
          </p:cNvPr>
          <p:cNvCxnSpPr>
            <a:cxnSpLocks/>
          </p:cNvCxnSpPr>
          <p:nvPr/>
        </p:nvCxnSpPr>
        <p:spPr>
          <a:xfrm flipH="1">
            <a:off x="4339936" y="5563332"/>
            <a:ext cx="9144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045C7913-00C7-909C-FCD0-9E41171DA146}"/>
              </a:ext>
            </a:extLst>
          </p:cNvPr>
          <p:cNvCxnSpPr>
            <a:endCxn id="12" idx="4"/>
          </p:cNvCxnSpPr>
          <p:nvPr/>
        </p:nvCxnSpPr>
        <p:spPr>
          <a:xfrm rot="16200000" flipV="1">
            <a:off x="3457344" y="4680740"/>
            <a:ext cx="968549" cy="796636"/>
          </a:xfrm>
          <a:prstGeom prst="bentConnector3">
            <a:avLst>
              <a:gd name="adj1" fmla="val -1496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96B36B44-1CCE-795D-AA0E-F318E638F6E8}"/>
              </a:ext>
            </a:extLst>
          </p:cNvPr>
          <p:cNvSpPr txBox="1"/>
          <p:nvPr/>
        </p:nvSpPr>
        <p:spPr>
          <a:xfrm>
            <a:off x="4029676" y="5079062"/>
            <a:ext cx="673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-1/6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F0E84D0-C711-8037-B5E6-F56CFC15435B}"/>
              </a:ext>
            </a:extLst>
          </p:cNvPr>
          <p:cNvCxnSpPr>
            <a:cxnSpLocks/>
          </p:cNvCxnSpPr>
          <p:nvPr/>
        </p:nvCxnSpPr>
        <p:spPr>
          <a:xfrm>
            <a:off x="5568060" y="2655332"/>
            <a:ext cx="0" cy="142801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F5F84B8-94FE-F024-A24B-5B03E8BDF0AF}"/>
              </a:ext>
            </a:extLst>
          </p:cNvPr>
          <p:cNvCxnSpPr>
            <a:cxnSpLocks/>
          </p:cNvCxnSpPr>
          <p:nvPr/>
        </p:nvCxnSpPr>
        <p:spPr>
          <a:xfrm>
            <a:off x="3810000" y="2655332"/>
            <a:ext cx="35814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E08AFEB5-803A-CF05-91E6-55317601CB49}"/>
              </a:ext>
            </a:extLst>
          </p:cNvPr>
          <p:cNvSpPr txBox="1"/>
          <p:nvPr/>
        </p:nvSpPr>
        <p:spPr>
          <a:xfrm>
            <a:off x="7346373" y="2438341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y[n]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CA8488-EB83-C6A3-21FE-41B0CB6372E6}"/>
              </a:ext>
            </a:extLst>
          </p:cNvPr>
          <p:cNvSpPr txBox="1"/>
          <p:nvPr/>
        </p:nvSpPr>
        <p:spPr>
          <a:xfrm>
            <a:off x="838200" y="5846508"/>
            <a:ext cx="685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/>
              <a:t>Give the input-output relation of the given system above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12558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NO. 2</a:t>
            </a:r>
            <a:endParaRPr lang="en-PH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66441" y="2489200"/>
                <a:ext cx="7667959" cy="3530600"/>
              </a:xfrm>
            </p:spPr>
            <p:txBody>
              <a:bodyPr/>
              <a:lstStyle/>
              <a:p>
                <a:pPr algn="just"/>
                <a:r>
                  <a:rPr lang="en-PH" dirty="0"/>
                  <a:t>Using basic building blocks introduced, sketch the block diagram representation of the discrete time system described by the input-output relation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begChr m:val="["/>
                          <m:endChr m:val="]"/>
                          <m:ctrlPr>
                            <a:rPr lang="en-PH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PH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PH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PH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PH" i="1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begChr m:val="["/>
                          <m:endChr m:val="]"/>
                          <m:ctrlPr>
                            <a:rPr lang="en-PH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PH" i="1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PH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PH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PH" i="1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begChr m:val="["/>
                          <m:endChr m:val="]"/>
                          <m:ctrlPr>
                            <a:rPr lang="en-PH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PH" i="1"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PH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PH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PH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PH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PH" dirty="0"/>
              </a:p>
              <a:p>
                <a:pPr algn="just"/>
                <a:endParaRPr lang="en-PH" dirty="0"/>
              </a:p>
              <a:p>
                <a:pPr algn="just"/>
                <a:r>
                  <a:rPr lang="en-PH" dirty="0"/>
                  <a:t>where x[n] is the input and y[n] is the output of the system.</a:t>
                </a:r>
              </a:p>
              <a:p>
                <a:pPr algn="just"/>
                <a:endParaRPr lang="en-PH" dirty="0"/>
              </a:p>
              <a:p>
                <a:pPr algn="just"/>
                <a:endParaRPr lang="en-PH" dirty="0"/>
              </a:p>
              <a:p>
                <a:pPr marL="0" indent="0" algn="just">
                  <a:buNone/>
                </a:pPr>
                <a:endParaRPr lang="en-PH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66441" y="2489200"/>
                <a:ext cx="7667959" cy="3530600"/>
              </a:xfrm>
              <a:blipFill>
                <a:blip r:embed="rId3"/>
                <a:stretch>
                  <a:fillRect l="-159" t="-862" r="-715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903188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NO. 3</a:t>
            </a:r>
            <a:endParaRPr lang="en-PH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66441" y="2489200"/>
                <a:ext cx="7667959" cy="3530600"/>
              </a:xfrm>
            </p:spPr>
            <p:txBody>
              <a:bodyPr/>
              <a:lstStyle/>
              <a:p>
                <a:pPr algn="just"/>
                <a:r>
                  <a:rPr lang="en-PH" dirty="0"/>
                  <a:t>Using basic building blocks introduced, sketch the block diagram representation of the discrete time system described by the input-output relation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begChr m:val="["/>
                          <m:endChr m:val="]"/>
                          <m:ctrlPr>
                            <a:rPr lang="en-PH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PH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PH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PH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PH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PH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begChr m:val="["/>
                          <m:endChr m:val="]"/>
                          <m:ctrlPr>
                            <a:rPr lang="en-PH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PH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PH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PH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PH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PH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PH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PH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PH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PH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PH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PH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PH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PH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PH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PH" b="0" i="1" smtClean="0">
                          <a:latin typeface="Cambria Math" panose="02040503050406030204" pitchFamily="18" charset="0"/>
                        </a:rPr>
                        <m:t>−1]</m:t>
                      </m:r>
                    </m:oMath>
                  </m:oMathPara>
                </a14:m>
                <a:endParaRPr lang="en-PH" dirty="0"/>
              </a:p>
              <a:p>
                <a:pPr algn="just"/>
                <a:endParaRPr lang="en-PH" dirty="0"/>
              </a:p>
              <a:p>
                <a:pPr algn="just"/>
                <a:r>
                  <a:rPr lang="en-PH" dirty="0"/>
                  <a:t>where x[n] is the input and y[n] is the output of the system.</a:t>
                </a:r>
              </a:p>
              <a:p>
                <a:pPr algn="just"/>
                <a:endParaRPr lang="en-PH" dirty="0"/>
              </a:p>
              <a:p>
                <a:pPr algn="just"/>
                <a:endParaRPr lang="en-PH" dirty="0"/>
              </a:p>
              <a:p>
                <a:pPr marL="0" indent="0" algn="just">
                  <a:buNone/>
                </a:pPr>
                <a:endParaRPr lang="en-PH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66441" y="2489200"/>
                <a:ext cx="7667959" cy="3530600"/>
              </a:xfrm>
              <a:blipFill rotWithShape="0">
                <a:blip r:embed="rId3"/>
                <a:stretch>
                  <a:fillRect l="-159" t="-862" r="-715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01078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tint val="100000"/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A3AB87EF-B655-4FFF-8D05-F333AD7F278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4447dd6a-a4a1-440b-a6a3-9124ef1ee017}" enabled="1" method="Privileged" siteId="{7a18110d-ef9b-4274-acef-e62ab0fe28e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8012</TotalTime>
  <Words>2253</Words>
  <Application>Microsoft Office PowerPoint</Application>
  <PresentationFormat>On-screen Show (4:3)</PresentationFormat>
  <Paragraphs>288</Paragraphs>
  <Slides>44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1" baseType="lpstr">
      <vt:lpstr>Arial</vt:lpstr>
      <vt:lpstr>Calibri</vt:lpstr>
      <vt:lpstr>Cambria Math</vt:lpstr>
      <vt:lpstr>Century Gothic</vt:lpstr>
      <vt:lpstr>Times New Roman</vt:lpstr>
      <vt:lpstr>Wingdings 3</vt:lpstr>
      <vt:lpstr>Ion Boardroom</vt:lpstr>
      <vt:lpstr>SIGNALS, SYSTEMS, AND SIGNAL PROCESSING </vt:lpstr>
      <vt:lpstr>SIGNALS, SYSTEMS, AND SIGNAL PROCESSING </vt:lpstr>
      <vt:lpstr>Basic Elements of a Digital Signal Processing System </vt:lpstr>
      <vt:lpstr>PowerPoint Presentation</vt:lpstr>
      <vt:lpstr>Multichannel and Multidimensional Signals</vt:lpstr>
      <vt:lpstr>PowerPoint Presentation</vt:lpstr>
      <vt:lpstr>PowerPoint Presentation</vt:lpstr>
      <vt:lpstr>Continuous-Time versus Discrete Time Signals</vt:lpstr>
      <vt:lpstr>Continuous-Time versus Discrete Time Signals</vt:lpstr>
      <vt:lpstr>Continuous-Valued versus Discrete-Valued Signals</vt:lpstr>
      <vt:lpstr>Deterministic vs Random Signals</vt:lpstr>
      <vt:lpstr>Discrete-Time Signal or Sequence</vt:lpstr>
      <vt:lpstr>Discrete Time Signals or Sequence</vt:lpstr>
      <vt:lpstr>Discrete Time Signals or Sequence</vt:lpstr>
      <vt:lpstr>SEATWORK</vt:lpstr>
      <vt:lpstr>Some Elementary Discrete Time Signal</vt:lpstr>
      <vt:lpstr>Some Elementary Discrete Time Signal</vt:lpstr>
      <vt:lpstr>Some Elementary Discrete Time Signal</vt:lpstr>
      <vt:lpstr>Some Elementary Discrete Time Signal</vt:lpstr>
      <vt:lpstr>Some Elementary Discrete Time Signal</vt:lpstr>
      <vt:lpstr>Some Elementary Discrete Time Signal</vt:lpstr>
      <vt:lpstr>Classification of Discrete-Time Signals</vt:lpstr>
      <vt:lpstr>Classification of Discrete-Time Signals</vt:lpstr>
      <vt:lpstr>Sample Problems:</vt:lpstr>
      <vt:lpstr>Classification of Discrete-Time Signals</vt:lpstr>
      <vt:lpstr>Classification of Discrete-Time Signals</vt:lpstr>
      <vt:lpstr>Sample Problem:</vt:lpstr>
      <vt:lpstr>Classification of Discrete-Time Signals</vt:lpstr>
      <vt:lpstr>Simple Manipulation of Discrete-Time Signals</vt:lpstr>
      <vt:lpstr>Simple Manipulation of Discrete-Time Signals</vt:lpstr>
      <vt:lpstr>Simple Manipulation of Discrete-Time Signals</vt:lpstr>
      <vt:lpstr>Simple Manipulation of Discrete-Time Signals</vt:lpstr>
      <vt:lpstr>Simple Manipulation of Discrete-Time Signals</vt:lpstr>
      <vt:lpstr>DISCRETE TIME SYSTEMS</vt:lpstr>
      <vt:lpstr>Input-Output Description of the System</vt:lpstr>
      <vt:lpstr>Input-Output Description of the System</vt:lpstr>
      <vt:lpstr>Block Diagram Representation of Discrete-Time Systems</vt:lpstr>
      <vt:lpstr>Block Diagram Representation of Discrete-Time Systems</vt:lpstr>
      <vt:lpstr>Block Diagram Representation of Discrete-Time Systems</vt:lpstr>
      <vt:lpstr>Block Diagram Representation of Discrete-Time Systems</vt:lpstr>
      <vt:lpstr>Block Diagram Representation of Discrete-Time Systems</vt:lpstr>
      <vt:lpstr>EXAMPLE NO. 1</vt:lpstr>
      <vt:lpstr>EXAMPLE NO. 2</vt:lpstr>
      <vt:lpstr>EXAMPLE NO. 3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ELECTromagnetics</dc:title>
  <dc:creator>USER</dc:creator>
  <cp:lastModifiedBy>Ralph Monsour Delima</cp:lastModifiedBy>
  <cp:revision>312</cp:revision>
  <dcterms:created xsi:type="dcterms:W3CDTF">2014-11-04T02:41:34Z</dcterms:created>
  <dcterms:modified xsi:type="dcterms:W3CDTF">2025-08-27T15:28:19Z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447dd6a-a4a1-440b-a6a3-9124ef1ee017_Enabled">
    <vt:lpwstr>true</vt:lpwstr>
  </property>
  <property fmtid="{D5CDD505-2E9C-101B-9397-08002B2CF9AE}" pid="3" name="MSIP_Label_4447dd6a-a4a1-440b-a6a3-9124ef1ee017_SetDate">
    <vt:lpwstr>2022-09-15T23:05:16Z</vt:lpwstr>
  </property>
  <property fmtid="{D5CDD505-2E9C-101B-9397-08002B2CF9AE}" pid="4" name="MSIP_Label_4447dd6a-a4a1-440b-a6a3-9124ef1ee017_Method">
    <vt:lpwstr>Privileged</vt:lpwstr>
  </property>
  <property fmtid="{D5CDD505-2E9C-101B-9397-08002B2CF9AE}" pid="5" name="MSIP_Label_4447dd6a-a4a1-440b-a6a3-9124ef1ee017_Name">
    <vt:lpwstr>NO TECH DATA</vt:lpwstr>
  </property>
  <property fmtid="{D5CDD505-2E9C-101B-9397-08002B2CF9AE}" pid="6" name="MSIP_Label_4447dd6a-a4a1-440b-a6a3-9124ef1ee017_SiteId">
    <vt:lpwstr>7a18110d-ef9b-4274-acef-e62ab0fe28ed</vt:lpwstr>
  </property>
  <property fmtid="{D5CDD505-2E9C-101B-9397-08002B2CF9AE}" pid="7" name="MSIP_Label_4447dd6a-a4a1-440b-a6a3-9124ef1ee017_ActionId">
    <vt:lpwstr>184af763-939f-48f9-bb55-ae5174af5e22</vt:lpwstr>
  </property>
  <property fmtid="{D5CDD505-2E9C-101B-9397-08002B2CF9AE}" pid="8" name="MSIP_Label_4447dd6a-a4a1-440b-a6a3-9124ef1ee017_ContentBits">
    <vt:lpwstr>0</vt:lpwstr>
  </property>
</Properties>
</file>