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8" r:id="rId1"/>
  </p:sldMasterIdLst>
  <p:notesMasterIdLst>
    <p:notesMasterId r:id="rId36"/>
  </p:notesMasterIdLst>
  <p:sldIdLst>
    <p:sldId id="285" r:id="rId2"/>
    <p:sldId id="291" r:id="rId3"/>
    <p:sldId id="292" r:id="rId4"/>
    <p:sldId id="293" r:id="rId5"/>
    <p:sldId id="294" r:id="rId6"/>
    <p:sldId id="295" r:id="rId7"/>
    <p:sldId id="296" r:id="rId8"/>
    <p:sldId id="301" r:id="rId9"/>
    <p:sldId id="297" r:id="rId10"/>
    <p:sldId id="298" r:id="rId11"/>
    <p:sldId id="299" r:id="rId12"/>
    <p:sldId id="300" r:id="rId13"/>
    <p:sldId id="323" r:id="rId14"/>
    <p:sldId id="259" r:id="rId15"/>
    <p:sldId id="324" r:id="rId16"/>
    <p:sldId id="325" r:id="rId17"/>
    <p:sldId id="326" r:id="rId18"/>
    <p:sldId id="327" r:id="rId19"/>
    <p:sldId id="328" r:id="rId20"/>
    <p:sldId id="335" r:id="rId21"/>
    <p:sldId id="336" r:id="rId22"/>
    <p:sldId id="332" r:id="rId23"/>
    <p:sldId id="305" r:id="rId24"/>
    <p:sldId id="330" r:id="rId25"/>
    <p:sldId id="333" r:id="rId26"/>
    <p:sldId id="334" r:id="rId27"/>
    <p:sldId id="331" r:id="rId28"/>
    <p:sldId id="344" r:id="rId29"/>
    <p:sldId id="339" r:id="rId30"/>
    <p:sldId id="341" r:id="rId31"/>
    <p:sldId id="337" r:id="rId32"/>
    <p:sldId id="340" r:id="rId33"/>
    <p:sldId id="342" r:id="rId34"/>
    <p:sldId id="343"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568" autoAdjust="0"/>
    <p:restoredTop sz="91942" autoAdjust="0"/>
  </p:normalViewPr>
  <p:slideViewPr>
    <p:cSldViewPr>
      <p:cViewPr varScale="1">
        <p:scale>
          <a:sx n="76" d="100"/>
          <a:sy n="76" d="100"/>
        </p:scale>
        <p:origin x="1968" y="53"/>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3A50050-BE96-45EE-B3CA-AF8849F1C5D2}" type="datetimeFigureOut">
              <a:rPr lang="en-PH" smtClean="0"/>
              <a:t>9/23/2025</a:t>
            </a:fld>
            <a:endParaRPr lang="en-PH"/>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FEF6BA3-DBF6-4A26-8DB5-A9523DAED632}" type="slidenum">
              <a:rPr lang="en-PH" smtClean="0"/>
              <a:t>‹#›</a:t>
            </a:fld>
            <a:endParaRPr lang="en-PH"/>
          </a:p>
        </p:txBody>
      </p:sp>
    </p:spTree>
    <p:extLst>
      <p:ext uri="{BB962C8B-B14F-4D97-AF65-F5344CB8AC3E}">
        <p14:creationId xmlns:p14="http://schemas.microsoft.com/office/powerpoint/2010/main" val="42644344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10"/>
          </p:nvPr>
        </p:nvSpPr>
        <p:spPr/>
        <p:txBody>
          <a:bodyPr/>
          <a:lstStyle/>
          <a:p>
            <a:fld id="{7FEF6BA3-DBF6-4A26-8DB5-A9523DAED632}" type="slidenum">
              <a:rPr lang="en-PH" smtClean="0"/>
              <a:t>1</a:t>
            </a:fld>
            <a:endParaRPr lang="en-PH"/>
          </a:p>
        </p:txBody>
      </p:sp>
    </p:spTree>
    <p:extLst>
      <p:ext uri="{BB962C8B-B14F-4D97-AF65-F5344CB8AC3E}">
        <p14:creationId xmlns:p14="http://schemas.microsoft.com/office/powerpoint/2010/main" val="4356730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10"/>
          </p:nvPr>
        </p:nvSpPr>
        <p:spPr/>
        <p:txBody>
          <a:bodyPr/>
          <a:lstStyle/>
          <a:p>
            <a:fld id="{7FEF6BA3-DBF6-4A26-8DB5-A9523DAED632}" type="slidenum">
              <a:rPr lang="en-PH" smtClean="0"/>
              <a:t>2</a:t>
            </a:fld>
            <a:endParaRPr lang="en-PH"/>
          </a:p>
        </p:txBody>
      </p:sp>
    </p:spTree>
    <p:extLst>
      <p:ext uri="{BB962C8B-B14F-4D97-AF65-F5344CB8AC3E}">
        <p14:creationId xmlns:p14="http://schemas.microsoft.com/office/powerpoint/2010/main" val="6662013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402336" lvl="1" indent="0" algn="just">
                  <a:buNone/>
                </a:pPr>
                <a:endParaRPr lang="en-PH" dirty="0"/>
              </a:p>
            </p:txBody>
          </p:sp>
        </mc:Choice>
        <mc:Fallback xmlns="">
          <p:sp>
            <p:nvSpPr>
              <p:cNvPr id="3" name="Notes Placeholder 2"/>
              <p:cNvSpPr>
                <a:spLocks noGrp="1"/>
              </p:cNvSpPr>
              <p:nvPr>
                <p:ph type="body" idx="1"/>
              </p:nvPr>
            </p:nvSpPr>
            <p:spPr/>
            <p:txBody>
              <a:bodyPr/>
              <a:lstStyle/>
              <a:p>
                <a:pPr marL="402336" lvl="1" indent="0" algn="just">
                  <a:buNone/>
                </a:pPr>
                <a:r>
                  <a:rPr lang="en-PH" dirty="0" smtClean="0"/>
                  <a:t>How to determine if the system is time invariant?</a:t>
                </a:r>
              </a:p>
              <a:p>
                <a:pPr marL="402336" lvl="1" indent="0" algn="just">
                  <a:buNone/>
                </a:pPr>
                <a:r>
                  <a:rPr lang="en-PH" dirty="0"/>
                  <a:t>S</a:t>
                </a:r>
                <a:r>
                  <a:rPr lang="en-PH" dirty="0" smtClean="0"/>
                  <a:t>uppose that we have a system </a:t>
                </a:r>
                <a:r>
                  <a:rPr lang="en-PH" i="0" smtClean="0">
                    <a:latin typeface="Cambria Math" panose="02040503050406030204" pitchFamily="18" charset="0"/>
                    <a:ea typeface="Cambria Math" panose="02040503050406030204" pitchFamily="18" charset="0"/>
                  </a:rPr>
                  <a:t>𝒯</a:t>
                </a:r>
                <a:r>
                  <a:rPr lang="en-PH" b="0" i="0" smtClean="0">
                    <a:latin typeface="Cambria Math" panose="02040503050406030204" pitchFamily="18" charset="0"/>
                    <a:ea typeface="Cambria Math" panose="02040503050406030204" pitchFamily="18" charset="0"/>
                  </a:rPr>
                  <a:t> </a:t>
                </a:r>
                <a:r>
                  <a:rPr lang="en-PH" dirty="0" smtClean="0"/>
                  <a:t>in a relaxed state which, when excited by an input signal x[n] produces an output signal y[n].</a:t>
                </a:r>
              </a:p>
              <a:p>
                <a:pPr marL="745236" lvl="1" indent="-342900" algn="just">
                  <a:buFont typeface="+mj-lt"/>
                  <a:buAutoNum type="arabicPeriod"/>
                </a:pPr>
                <a:r>
                  <a:rPr lang="en-PH" dirty="0" smtClean="0"/>
                  <a:t>Now suppose that the same input signal is delayed by k units of time to yield x[n</a:t>
                </a:r>
                <a:r>
                  <a:rPr lang="en-PH" b="0" i="0" smtClean="0">
                    <a:latin typeface="Cambria Math" panose="02040503050406030204" pitchFamily="18" charset="0"/>
                  </a:rPr>
                  <a:t>−</a:t>
                </a:r>
                <a:r>
                  <a:rPr lang="en-PH" dirty="0" smtClean="0"/>
                  <a:t>k], and again applied to the same systems.</a:t>
                </a:r>
              </a:p>
              <a:p>
                <a:pPr marL="745236" lvl="1" indent="-342900" algn="just">
                  <a:buFont typeface="+mj-lt"/>
                  <a:buAutoNum type="arabicPeriod"/>
                </a:pPr>
                <a:r>
                  <a:rPr lang="en-PH" dirty="0" smtClean="0"/>
                  <a:t>If the characteristics of the system do not change with time, the output of the relaxed system will be y[n</a:t>
                </a:r>
                <a:r>
                  <a:rPr lang="en-PH" i="0" dirty="0" smtClean="0">
                    <a:latin typeface="Cambria Math" panose="02040503050406030204" pitchFamily="18" charset="0"/>
                  </a:rPr>
                  <a:t>−</a:t>
                </a:r>
                <a:r>
                  <a:rPr lang="en-PH" dirty="0" smtClean="0"/>
                  <a:t>k].</a:t>
                </a:r>
              </a:p>
              <a:p>
                <a:pPr marL="745236" lvl="1" indent="-342900" algn="just">
                  <a:buFont typeface="+mj-lt"/>
                  <a:buAutoNum type="arabicPeriod"/>
                </a:pPr>
                <a:r>
                  <a:rPr lang="en-PH" dirty="0" smtClean="0"/>
                  <a:t>That is, the output will be the same as the response to x[n]  except that it will be delayed by the same k units in time that the input was delayed.</a:t>
                </a:r>
              </a:p>
            </p:txBody>
          </p:sp>
        </mc:Fallback>
      </mc:AlternateContent>
      <p:sp>
        <p:nvSpPr>
          <p:cNvPr id="4" name="Slide Number Placeholder 3"/>
          <p:cNvSpPr>
            <a:spLocks noGrp="1"/>
          </p:cNvSpPr>
          <p:nvPr>
            <p:ph type="sldNum" sz="quarter" idx="10"/>
          </p:nvPr>
        </p:nvSpPr>
        <p:spPr/>
        <p:txBody>
          <a:bodyPr/>
          <a:lstStyle/>
          <a:p>
            <a:fld id="{7FEF6BA3-DBF6-4A26-8DB5-A9523DAED632}" type="slidenum">
              <a:rPr lang="en-PH" smtClean="0"/>
              <a:t>3</a:t>
            </a:fld>
            <a:endParaRPr lang="en-PH"/>
          </a:p>
        </p:txBody>
      </p:sp>
    </p:spTree>
    <p:extLst>
      <p:ext uri="{BB962C8B-B14F-4D97-AF65-F5344CB8AC3E}">
        <p14:creationId xmlns:p14="http://schemas.microsoft.com/office/powerpoint/2010/main" val="41062284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10"/>
          </p:nvPr>
        </p:nvSpPr>
        <p:spPr/>
        <p:txBody>
          <a:bodyPr/>
          <a:lstStyle/>
          <a:p>
            <a:fld id="{7FEF6BA3-DBF6-4A26-8DB5-A9523DAED632}" type="slidenum">
              <a:rPr lang="en-PH" smtClean="0"/>
              <a:t>4</a:t>
            </a:fld>
            <a:endParaRPr lang="en-PH"/>
          </a:p>
        </p:txBody>
      </p:sp>
    </p:spTree>
    <p:extLst>
      <p:ext uri="{BB962C8B-B14F-4D97-AF65-F5344CB8AC3E}">
        <p14:creationId xmlns:p14="http://schemas.microsoft.com/office/powerpoint/2010/main" val="4016979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10"/>
          </p:nvPr>
        </p:nvSpPr>
        <p:spPr/>
        <p:txBody>
          <a:bodyPr/>
          <a:lstStyle/>
          <a:p>
            <a:fld id="{7FEF6BA3-DBF6-4A26-8DB5-A9523DAED632}" type="slidenum">
              <a:rPr lang="en-PH" smtClean="0"/>
              <a:t>5</a:t>
            </a:fld>
            <a:endParaRPr lang="en-PH"/>
          </a:p>
        </p:txBody>
      </p:sp>
    </p:spTree>
    <p:extLst>
      <p:ext uri="{BB962C8B-B14F-4D97-AF65-F5344CB8AC3E}">
        <p14:creationId xmlns:p14="http://schemas.microsoft.com/office/powerpoint/2010/main" val="14564555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10"/>
          </p:nvPr>
        </p:nvSpPr>
        <p:spPr/>
        <p:txBody>
          <a:bodyPr/>
          <a:lstStyle/>
          <a:p>
            <a:fld id="{7FEF6BA3-DBF6-4A26-8DB5-A9523DAED632}" type="slidenum">
              <a:rPr lang="en-PH" smtClean="0"/>
              <a:t>6</a:t>
            </a:fld>
            <a:endParaRPr lang="en-PH"/>
          </a:p>
        </p:txBody>
      </p:sp>
    </p:spTree>
    <p:extLst>
      <p:ext uri="{BB962C8B-B14F-4D97-AF65-F5344CB8AC3E}">
        <p14:creationId xmlns:p14="http://schemas.microsoft.com/office/powerpoint/2010/main" val="36856093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10"/>
          </p:nvPr>
        </p:nvSpPr>
        <p:spPr/>
        <p:txBody>
          <a:bodyPr/>
          <a:lstStyle/>
          <a:p>
            <a:fld id="{7FEF6BA3-DBF6-4A26-8DB5-A9523DAED632}" type="slidenum">
              <a:rPr lang="en-PH" smtClean="0"/>
              <a:t>7</a:t>
            </a:fld>
            <a:endParaRPr lang="en-PH"/>
          </a:p>
        </p:txBody>
      </p:sp>
    </p:spTree>
    <p:extLst>
      <p:ext uri="{BB962C8B-B14F-4D97-AF65-F5344CB8AC3E}">
        <p14:creationId xmlns:p14="http://schemas.microsoft.com/office/powerpoint/2010/main" val="30411350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PH" dirty="0"/>
              </a:p>
            </p:txBody>
          </p:sp>
        </mc:Choice>
        <mc:Fallback xmlns="">
          <p:sp>
            <p:nvSpPr>
              <p:cNvPr id="3" name="Notes Placeholder 2"/>
              <p:cNvSpPr>
                <a:spLocks noGrp="1"/>
              </p:cNvSpPr>
              <p:nvPr>
                <p:ph type="body" idx="1"/>
              </p:nvPr>
            </p:nvSpPr>
            <p:spPr/>
            <p:txBody>
              <a:bodyPr/>
              <a:lstStyle/>
              <a:p>
                <a:r>
                  <a:rPr lang="en-PH" dirty="0" smtClean="0"/>
                  <a:t>The superposition principle embodied in the relation (2.2.26 </a:t>
                </a:r>
                <a:r>
                  <a:rPr lang="en-PH" dirty="0" err="1" smtClean="0"/>
                  <a:t>ung</a:t>
                </a:r>
                <a:r>
                  <a:rPr lang="en-PH" dirty="0" smtClean="0"/>
                  <a:t> </a:t>
                </a:r>
                <a:r>
                  <a:rPr lang="en-PH" dirty="0" err="1" smtClean="0"/>
                  <a:t>nsa</a:t>
                </a:r>
                <a:r>
                  <a:rPr lang="en-PH" dirty="0" smtClean="0"/>
                  <a:t> </a:t>
                </a:r>
                <a:r>
                  <a:rPr lang="en-PH" dirty="0" err="1" smtClean="0"/>
                  <a:t>def</a:t>
                </a:r>
                <a:r>
                  <a:rPr lang="en-PH" dirty="0" smtClean="0"/>
                  <a:t>) can be separated</a:t>
                </a:r>
                <a:r>
                  <a:rPr lang="en-PH" baseline="0" dirty="0" smtClean="0"/>
                  <a:t> into two parts. First, suppose that </a:t>
                </a:r>
                <a:r>
                  <a:rPr lang="en-PH" b="0" i="0" baseline="0" smtClean="0">
                    <a:latin typeface="Cambria Math" panose="02040503050406030204" pitchFamily="18" charset="0"/>
                  </a:rPr>
                  <a:t>𝑎_2=0</a:t>
                </a:r>
                <a:r>
                  <a:rPr lang="en-PH" dirty="0" smtClean="0"/>
                  <a:t>. Then (2.2.26) reduces</a:t>
                </a:r>
                <a:r>
                  <a:rPr lang="en-PH" baseline="0" dirty="0" smtClean="0"/>
                  <a:t> to</a:t>
                </a:r>
              </a:p>
              <a:p>
                <a:r>
                  <a:rPr lang="en-PH" i="0" dirty="0" smtClean="0">
                    <a:latin typeface="Cambria Math" panose="02040503050406030204" pitchFamily="18" charset="0"/>
                    <a:ea typeface="Cambria Math" panose="02040503050406030204" pitchFamily="18" charset="0"/>
                  </a:rPr>
                  <a:t>𝒯</a:t>
                </a:r>
                <a:r>
                  <a:rPr lang="en-PH" b="0" i="0" dirty="0" smtClean="0">
                    <a:latin typeface="Cambria Math" panose="02040503050406030204" pitchFamily="18" charset="0"/>
                    <a:ea typeface="Cambria Math" panose="02040503050406030204" pitchFamily="18" charset="0"/>
                  </a:rPr>
                  <a:t>[𝑎_1</a:t>
                </a:r>
                <a:r>
                  <a:rPr lang="en-PH" b="0" i="0" dirty="0">
                    <a:latin typeface="Cambria Math" panose="02040503050406030204" pitchFamily="18" charset="0"/>
                    <a:ea typeface="Cambria Math" panose="02040503050406030204" pitchFamily="18" charset="0"/>
                  </a:rPr>
                  <a:t> </a:t>
                </a:r>
                <a:r>
                  <a:rPr lang="en-PH" b="0" i="0" dirty="0" smtClean="0">
                    <a:latin typeface="Cambria Math" panose="02040503050406030204" pitchFamily="18" charset="0"/>
                    <a:ea typeface="Cambria Math" panose="02040503050406030204" pitchFamily="18" charset="0"/>
                  </a:rPr>
                  <a:t>𝑥</a:t>
                </a:r>
                <a:r>
                  <a:rPr lang="en-PH" b="0" i="0" dirty="0">
                    <a:latin typeface="Cambria Math" panose="02040503050406030204" pitchFamily="18" charset="0"/>
                    <a:ea typeface="Cambria Math" panose="02040503050406030204" pitchFamily="18" charset="0"/>
                  </a:rPr>
                  <a:t>_</a:t>
                </a:r>
                <a:r>
                  <a:rPr lang="en-PH" b="0" i="0" dirty="0" smtClean="0">
                    <a:latin typeface="Cambria Math" panose="02040503050406030204" pitchFamily="18" charset="0"/>
                    <a:ea typeface="Cambria Math" panose="02040503050406030204" pitchFamily="18" charset="0"/>
                  </a:rPr>
                  <a:t>1 [𝑛]]=𝑎</a:t>
                </a:r>
                <a:r>
                  <a:rPr lang="en-PH" b="0" i="0" dirty="0">
                    <a:latin typeface="Cambria Math" panose="02040503050406030204" pitchFamily="18" charset="0"/>
                    <a:ea typeface="Cambria Math" panose="02040503050406030204" pitchFamily="18" charset="0"/>
                  </a:rPr>
                  <a:t>_</a:t>
                </a:r>
                <a:r>
                  <a:rPr lang="en-PH" b="0" i="0" dirty="0" smtClean="0">
                    <a:latin typeface="Cambria Math" panose="02040503050406030204" pitchFamily="18" charset="0"/>
                    <a:ea typeface="Cambria Math" panose="02040503050406030204" pitchFamily="18" charset="0"/>
                  </a:rPr>
                  <a:t>1</a:t>
                </a:r>
                <a:r>
                  <a:rPr lang="en-PH" b="0" i="0" dirty="0">
                    <a:latin typeface="Cambria Math" panose="02040503050406030204" pitchFamily="18" charset="0"/>
                    <a:ea typeface="Cambria Math" panose="02040503050406030204" pitchFamily="18" charset="0"/>
                  </a:rPr>
                  <a:t> </a:t>
                </a:r>
                <a:r>
                  <a:rPr lang="en-PH" i="0" dirty="0">
                    <a:latin typeface="Cambria Math" panose="02040503050406030204" pitchFamily="18" charset="0"/>
                    <a:ea typeface="Cambria Math" panose="02040503050406030204" pitchFamily="18" charset="0"/>
                  </a:rPr>
                  <a:t>𝒯</a:t>
                </a:r>
                <a:r>
                  <a:rPr lang="en-PH" b="0" i="0" dirty="0" smtClean="0">
                    <a:latin typeface="Cambria Math" panose="02040503050406030204" pitchFamily="18" charset="0"/>
                    <a:ea typeface="Cambria Math" panose="02040503050406030204" pitchFamily="18" charset="0"/>
                  </a:rPr>
                  <a:t>[𝑥</a:t>
                </a:r>
                <a:r>
                  <a:rPr lang="en-PH" b="0" i="0" dirty="0">
                    <a:latin typeface="Cambria Math" panose="02040503050406030204" pitchFamily="18" charset="0"/>
                    <a:ea typeface="Cambria Math" panose="02040503050406030204" pitchFamily="18" charset="0"/>
                  </a:rPr>
                  <a:t>_</a:t>
                </a:r>
                <a:r>
                  <a:rPr lang="en-PH" b="0" i="0" dirty="0" smtClean="0">
                    <a:latin typeface="Cambria Math" panose="02040503050406030204" pitchFamily="18" charset="0"/>
                    <a:ea typeface="Cambria Math" panose="02040503050406030204" pitchFamily="18" charset="0"/>
                  </a:rPr>
                  <a:t>1 [𝑛]]</a:t>
                </a:r>
                <a:r>
                  <a:rPr lang="en-PH" b="0" i="0" dirty="0" smtClean="0">
                    <a:latin typeface="Cambria Math" panose="02040503050406030204" pitchFamily="18" charset="0"/>
                    <a:ea typeface="Cambria Math" panose="02040503050406030204" pitchFamily="18" charset="0"/>
                  </a:rPr>
                  <a:t>=</a:t>
                </a:r>
                <a:r>
                  <a:rPr lang="en-PH" b="0" i="0" dirty="0" smtClean="0">
                    <a:latin typeface="Cambria Math" panose="02040503050406030204" pitchFamily="18" charset="0"/>
                    <a:ea typeface="Cambria Math" panose="02040503050406030204" pitchFamily="18" charset="0"/>
                  </a:rPr>
                  <a:t>𝑎</a:t>
                </a:r>
                <a:r>
                  <a:rPr lang="en-PH" b="0" i="0" dirty="0">
                    <a:latin typeface="Cambria Math" panose="02040503050406030204" pitchFamily="18" charset="0"/>
                    <a:ea typeface="Cambria Math" panose="02040503050406030204" pitchFamily="18" charset="0"/>
                  </a:rPr>
                  <a:t>_</a:t>
                </a:r>
                <a:r>
                  <a:rPr lang="en-PH" b="0" i="0" dirty="0" smtClean="0">
                    <a:latin typeface="Cambria Math" panose="02040503050406030204" pitchFamily="18" charset="0"/>
                    <a:ea typeface="Cambria Math" panose="02040503050406030204" pitchFamily="18" charset="0"/>
                  </a:rPr>
                  <a:t>1 𝑦_1</a:t>
                </a:r>
                <a:r>
                  <a:rPr lang="en-PH" b="0" i="0" dirty="0">
                    <a:latin typeface="Cambria Math" panose="02040503050406030204" pitchFamily="18" charset="0"/>
                    <a:ea typeface="Cambria Math" panose="02040503050406030204" pitchFamily="18" charset="0"/>
                  </a:rPr>
                  <a:t> </a:t>
                </a:r>
                <a:r>
                  <a:rPr lang="en-PH" i="0" dirty="0">
                    <a:latin typeface="Cambria Math" panose="02040503050406030204" pitchFamily="18" charset="0"/>
                    <a:ea typeface="Cambria Math" panose="02040503050406030204" pitchFamily="18" charset="0"/>
                  </a:rPr>
                  <a:t>[</a:t>
                </a:r>
                <a:r>
                  <a:rPr lang="en-PH" b="0" i="0" dirty="0" smtClean="0">
                    <a:latin typeface="Cambria Math" panose="02040503050406030204" pitchFamily="18" charset="0"/>
                    <a:ea typeface="Cambria Math" panose="02040503050406030204" pitchFamily="18" charset="0"/>
                  </a:rPr>
                  <a:t>𝑛]</a:t>
                </a:r>
                <a:r>
                  <a:rPr lang="en-PH" b="0" i="0" dirty="0" smtClean="0">
                    <a:latin typeface="Cambria Math" panose="02040503050406030204" pitchFamily="18" charset="0"/>
                    <a:ea typeface="Cambria Math" panose="02040503050406030204" pitchFamily="18" charset="0"/>
                  </a:rPr>
                  <a:t>  2.2.27</a:t>
                </a:r>
                <a:endParaRPr lang="en-PH" baseline="0" dirty="0" smtClean="0"/>
              </a:p>
              <a:p>
                <a:r>
                  <a:rPr lang="en-PH" baseline="0" dirty="0" smtClean="0"/>
                  <a:t>where</a:t>
                </a:r>
              </a:p>
              <a:p>
                <a:r>
                  <a:rPr lang="en-PH" baseline="0" dirty="0" smtClean="0"/>
                  <a:t>		</a:t>
                </a:r>
                <a:r>
                  <a:rPr lang="en-PH" b="0" i="0" baseline="0" smtClean="0">
                    <a:latin typeface="Cambria Math" panose="02040503050406030204" pitchFamily="18" charset="0"/>
                  </a:rPr>
                  <a:t>𝑦_1 [𝑛]=</a:t>
                </a:r>
                <a:r>
                  <a:rPr lang="en-PH" i="0" dirty="0" smtClean="0">
                    <a:latin typeface="Cambria Math" panose="02040503050406030204" pitchFamily="18" charset="0"/>
                    <a:ea typeface="Cambria Math" panose="02040503050406030204" pitchFamily="18" charset="0"/>
                  </a:rPr>
                  <a:t>𝒯</a:t>
                </a:r>
                <a:r>
                  <a:rPr lang="en-PH" b="0" i="0" dirty="0" smtClean="0">
                    <a:latin typeface="Cambria Math" panose="02040503050406030204" pitchFamily="18" charset="0"/>
                    <a:ea typeface="Cambria Math" panose="02040503050406030204" pitchFamily="18" charset="0"/>
                  </a:rPr>
                  <a:t>[𝑥</a:t>
                </a:r>
                <a:r>
                  <a:rPr lang="en-PH" b="0" i="0" dirty="0">
                    <a:latin typeface="Cambria Math" panose="02040503050406030204" pitchFamily="18" charset="0"/>
                    <a:ea typeface="Cambria Math" panose="02040503050406030204" pitchFamily="18" charset="0"/>
                  </a:rPr>
                  <a:t>_</a:t>
                </a:r>
                <a:r>
                  <a:rPr lang="en-PH" b="0" i="0" dirty="0" smtClean="0">
                    <a:latin typeface="Cambria Math" panose="02040503050406030204" pitchFamily="18" charset="0"/>
                    <a:ea typeface="Cambria Math" panose="02040503050406030204" pitchFamily="18" charset="0"/>
                  </a:rPr>
                  <a:t>1 [𝑛]]</a:t>
                </a:r>
                <a:endParaRPr lang="en-PH" baseline="0" dirty="0" smtClean="0"/>
              </a:p>
              <a:p>
                <a:endParaRPr lang="en-PH" dirty="0" smtClean="0"/>
              </a:p>
              <a:p>
                <a:r>
                  <a:rPr lang="en-PH" dirty="0" smtClean="0"/>
                  <a:t>The relation(2.2.27) demonstrates</a:t>
                </a:r>
                <a:r>
                  <a:rPr lang="en-PH" baseline="0" dirty="0" smtClean="0"/>
                  <a:t> the multiplicative or scaling property of a linear system. That is, if the response of the system to input </a:t>
                </a:r>
                <a:r>
                  <a:rPr lang="en-PH" b="0" i="0" baseline="0" smtClean="0">
                    <a:latin typeface="Cambria Math" panose="02040503050406030204" pitchFamily="18" charset="0"/>
                  </a:rPr>
                  <a:t>𝑥_1 [𝑛]  </a:t>
                </a:r>
                <a:r>
                  <a:rPr lang="en-PH" dirty="0" smtClean="0"/>
                  <a:t>is </a:t>
                </a:r>
                <a:r>
                  <a:rPr lang="en-PH" b="0" i="0" smtClean="0">
                    <a:latin typeface="Cambria Math" panose="02040503050406030204" pitchFamily="18" charset="0"/>
                  </a:rPr>
                  <a:t>𝑦_1 [𝑛]</a:t>
                </a:r>
                <a:r>
                  <a:rPr lang="en-PH" dirty="0" smtClean="0"/>
                  <a:t>. Thus</a:t>
                </a:r>
                <a:r>
                  <a:rPr lang="en-PH" baseline="0" dirty="0" smtClean="0"/>
                  <a:t> any scaling of input results in an identical scaling of the corresponding output.</a:t>
                </a:r>
              </a:p>
              <a:p>
                <a:endParaRPr lang="en-PH" baseline="0" dirty="0" smtClean="0"/>
              </a:p>
              <a:p>
                <a:r>
                  <a:rPr lang="en-PH" baseline="0" dirty="0" smtClean="0"/>
                  <a:t>Second, suppose that </a:t>
                </a:r>
                <a:r>
                  <a:rPr lang="en-PH" b="0" i="0" baseline="0" smtClean="0">
                    <a:latin typeface="Cambria Math" panose="02040503050406030204" pitchFamily="18" charset="0"/>
                  </a:rPr>
                  <a:t>𝑎_1=𝑎_2=1</a:t>
                </a:r>
                <a:r>
                  <a:rPr lang="en-PH" dirty="0" smtClean="0"/>
                  <a:t>. Then</a:t>
                </a:r>
              </a:p>
              <a:p>
                <a:r>
                  <a:rPr lang="en-PH" i="0" dirty="0" smtClean="0">
                    <a:latin typeface="Cambria Math" panose="02040503050406030204" pitchFamily="18" charset="0"/>
                    <a:ea typeface="Cambria Math" panose="02040503050406030204" pitchFamily="18" charset="0"/>
                  </a:rPr>
                  <a:t>𝒯</a:t>
                </a:r>
                <a:r>
                  <a:rPr lang="en-PH" b="0" i="0" dirty="0" smtClean="0">
                    <a:latin typeface="Cambria Math" panose="02040503050406030204" pitchFamily="18" charset="0"/>
                    <a:ea typeface="Cambria Math" panose="02040503050406030204" pitchFamily="18" charset="0"/>
                  </a:rPr>
                  <a:t>[𝑥</a:t>
                </a:r>
                <a:r>
                  <a:rPr lang="en-PH" b="0" i="0" dirty="0" smtClean="0">
                    <a:latin typeface="Cambria Math" panose="02040503050406030204" pitchFamily="18" charset="0"/>
                    <a:ea typeface="Cambria Math" panose="02040503050406030204" pitchFamily="18" charset="0"/>
                  </a:rPr>
                  <a:t>_</a:t>
                </a:r>
                <a:r>
                  <a:rPr lang="en-PH" b="0" i="0" dirty="0" smtClean="0">
                    <a:latin typeface="Cambria Math" panose="02040503050406030204" pitchFamily="18" charset="0"/>
                    <a:ea typeface="Cambria Math" panose="02040503050406030204" pitchFamily="18" charset="0"/>
                  </a:rPr>
                  <a:t>1 [𝑛]+𝑥</a:t>
                </a:r>
                <a:r>
                  <a:rPr lang="en-PH" b="0" i="0" dirty="0">
                    <a:latin typeface="Cambria Math" panose="02040503050406030204" pitchFamily="18" charset="0"/>
                    <a:ea typeface="Cambria Math" panose="02040503050406030204" pitchFamily="18" charset="0"/>
                  </a:rPr>
                  <a:t>_</a:t>
                </a:r>
                <a:r>
                  <a:rPr lang="en-PH" b="0" i="0" dirty="0" smtClean="0">
                    <a:latin typeface="Cambria Math" panose="02040503050406030204" pitchFamily="18" charset="0"/>
                    <a:ea typeface="Cambria Math" panose="02040503050406030204" pitchFamily="18" charset="0"/>
                  </a:rPr>
                  <a:t>2 [𝑛]]=</a:t>
                </a:r>
                <a:r>
                  <a:rPr lang="en-PH" i="0" dirty="0">
                    <a:latin typeface="Cambria Math" panose="02040503050406030204" pitchFamily="18" charset="0"/>
                    <a:ea typeface="Cambria Math" panose="02040503050406030204" pitchFamily="18" charset="0"/>
                  </a:rPr>
                  <a:t>𝒯</a:t>
                </a:r>
                <a:r>
                  <a:rPr lang="en-PH" b="0" i="0" dirty="0" smtClean="0">
                    <a:latin typeface="Cambria Math" panose="02040503050406030204" pitchFamily="18" charset="0"/>
                    <a:ea typeface="Cambria Math" panose="02040503050406030204" pitchFamily="18" charset="0"/>
                  </a:rPr>
                  <a:t>[𝑥</a:t>
                </a:r>
                <a:r>
                  <a:rPr lang="en-PH" b="0" i="0" dirty="0">
                    <a:latin typeface="Cambria Math" panose="02040503050406030204" pitchFamily="18" charset="0"/>
                    <a:ea typeface="Cambria Math" panose="02040503050406030204" pitchFamily="18" charset="0"/>
                  </a:rPr>
                  <a:t>_</a:t>
                </a:r>
                <a:r>
                  <a:rPr lang="en-PH" b="0" i="0" dirty="0" smtClean="0">
                    <a:latin typeface="Cambria Math" panose="02040503050406030204" pitchFamily="18" charset="0"/>
                    <a:ea typeface="Cambria Math" panose="02040503050406030204" pitchFamily="18" charset="0"/>
                  </a:rPr>
                  <a:t>1 [𝑛]]+</a:t>
                </a:r>
                <a:r>
                  <a:rPr lang="en-PH" i="0" dirty="0">
                    <a:latin typeface="Cambria Math" panose="02040503050406030204" pitchFamily="18" charset="0"/>
                    <a:ea typeface="Cambria Math" panose="02040503050406030204" pitchFamily="18" charset="0"/>
                  </a:rPr>
                  <a:t>𝒯[</a:t>
                </a:r>
                <a:r>
                  <a:rPr lang="en-PH" b="0" i="0" dirty="0" smtClean="0">
                    <a:latin typeface="Cambria Math" panose="02040503050406030204" pitchFamily="18" charset="0"/>
                    <a:ea typeface="Cambria Math" panose="02040503050406030204" pitchFamily="18" charset="0"/>
                  </a:rPr>
                  <a:t>𝑥</a:t>
                </a:r>
                <a:r>
                  <a:rPr lang="en-PH" b="0" i="0" dirty="0">
                    <a:latin typeface="Cambria Math" panose="02040503050406030204" pitchFamily="18" charset="0"/>
                    <a:ea typeface="Cambria Math" panose="02040503050406030204" pitchFamily="18" charset="0"/>
                  </a:rPr>
                  <a:t>_</a:t>
                </a:r>
                <a:r>
                  <a:rPr lang="en-PH" b="0" i="0" dirty="0" smtClean="0">
                    <a:latin typeface="Cambria Math" panose="02040503050406030204" pitchFamily="18" charset="0"/>
                    <a:ea typeface="Cambria Math" panose="02040503050406030204" pitchFamily="18" charset="0"/>
                  </a:rPr>
                  <a:t>2</a:t>
                </a:r>
                <a:r>
                  <a:rPr lang="en-PH" b="0" i="0" dirty="0">
                    <a:latin typeface="Cambria Math" panose="02040503050406030204" pitchFamily="18" charset="0"/>
                    <a:ea typeface="Cambria Math" panose="02040503050406030204" pitchFamily="18" charset="0"/>
                  </a:rPr>
                  <a:t> [</a:t>
                </a:r>
                <a:r>
                  <a:rPr lang="en-PH" b="0" i="0" dirty="0" smtClean="0">
                    <a:latin typeface="Cambria Math" panose="02040503050406030204" pitchFamily="18" charset="0"/>
                    <a:ea typeface="Cambria Math" panose="02040503050406030204" pitchFamily="18" charset="0"/>
                  </a:rPr>
                  <a:t>𝑛]]</a:t>
                </a:r>
                <a:r>
                  <a:rPr lang="en-PH" b="0" i="0" dirty="0" smtClean="0">
                    <a:latin typeface="Cambria Math" panose="02040503050406030204" pitchFamily="18" charset="0"/>
                    <a:ea typeface="Cambria Math" panose="02040503050406030204" pitchFamily="18" charset="0"/>
                  </a:rPr>
                  <a:t>=𝑦_1 [𝑛]+𝑦_2 [𝑛]</a:t>
                </a:r>
                <a:endParaRPr lang="en-PH" dirty="0" smtClean="0"/>
              </a:p>
              <a:p>
                <a:endParaRPr lang="en-PH" dirty="0" smtClean="0"/>
              </a:p>
              <a:p>
                <a:r>
                  <a:rPr lang="en-PH" dirty="0" smtClean="0"/>
                  <a:t>This relation demonstrates the additive property of a linear system. The </a:t>
                </a:r>
                <a:r>
                  <a:rPr lang="en-PH" dirty="0" err="1" smtClean="0"/>
                  <a:t>additivty</a:t>
                </a:r>
                <a:r>
                  <a:rPr lang="en-PH" baseline="0" dirty="0" smtClean="0"/>
                  <a:t> and multiplicative properties constitute the superposition principle as it applies to linear systems.</a:t>
                </a:r>
              </a:p>
              <a:p>
                <a:endParaRPr lang="en-PH" dirty="0" smtClean="0"/>
              </a:p>
              <a:p>
                <a:endParaRPr lang="en-PH" dirty="0" smtClean="0"/>
              </a:p>
              <a:p>
                <a:endParaRPr lang="en-PH" dirty="0" smtClean="0"/>
              </a:p>
              <a:p>
                <a:endParaRPr lang="en-PH" dirty="0"/>
              </a:p>
            </p:txBody>
          </p:sp>
        </mc:Fallback>
      </mc:AlternateContent>
      <p:sp>
        <p:nvSpPr>
          <p:cNvPr id="4" name="Slide Number Placeholder 3"/>
          <p:cNvSpPr>
            <a:spLocks noGrp="1"/>
          </p:cNvSpPr>
          <p:nvPr>
            <p:ph type="sldNum" sz="quarter" idx="10"/>
          </p:nvPr>
        </p:nvSpPr>
        <p:spPr/>
        <p:txBody>
          <a:bodyPr/>
          <a:lstStyle/>
          <a:p>
            <a:fld id="{7FEF6BA3-DBF6-4A26-8DB5-A9523DAED632}" type="slidenum">
              <a:rPr lang="en-PH" smtClean="0"/>
              <a:t>8</a:t>
            </a:fld>
            <a:endParaRPr lang="en-PH"/>
          </a:p>
        </p:txBody>
      </p:sp>
    </p:spTree>
    <p:extLst>
      <p:ext uri="{BB962C8B-B14F-4D97-AF65-F5344CB8AC3E}">
        <p14:creationId xmlns:p14="http://schemas.microsoft.com/office/powerpoint/2010/main" val="6944635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10"/>
          </p:nvPr>
        </p:nvSpPr>
        <p:spPr/>
        <p:txBody>
          <a:bodyPr/>
          <a:lstStyle/>
          <a:p>
            <a:fld id="{7FEF6BA3-DBF6-4A26-8DB5-A9523DAED632}" type="slidenum">
              <a:rPr lang="en-PH" smtClean="0"/>
              <a:t>9</a:t>
            </a:fld>
            <a:endParaRPr lang="en-PH"/>
          </a:p>
        </p:txBody>
      </p:sp>
    </p:spTree>
    <p:extLst>
      <p:ext uri="{BB962C8B-B14F-4D97-AF65-F5344CB8AC3E}">
        <p14:creationId xmlns:p14="http://schemas.microsoft.com/office/powerpoint/2010/main" val="3685610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10"/>
          </p:nvPr>
        </p:nvSpPr>
        <p:spPr/>
        <p:txBody>
          <a:bodyPr/>
          <a:lstStyle/>
          <a:p>
            <a:fld id="{7FEF6BA3-DBF6-4A26-8DB5-A9523DAED632}" type="slidenum">
              <a:rPr lang="en-PH" smtClean="0"/>
              <a:t>10</a:t>
            </a:fld>
            <a:endParaRPr lang="en-PH"/>
          </a:p>
        </p:txBody>
      </p:sp>
    </p:spTree>
    <p:extLst>
      <p:ext uri="{BB962C8B-B14F-4D97-AF65-F5344CB8AC3E}">
        <p14:creationId xmlns:p14="http://schemas.microsoft.com/office/powerpoint/2010/main" val="9182052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a:t>In the analysis as </a:t>
            </a:r>
            <a:r>
              <a:rPr lang="en-PH" dirty="0" err="1"/>
              <a:t>wa</a:t>
            </a:r>
            <a:endParaRPr lang="en-PH" dirty="0"/>
          </a:p>
        </p:txBody>
      </p:sp>
      <p:sp>
        <p:nvSpPr>
          <p:cNvPr id="4" name="Slide Number Placeholder 3"/>
          <p:cNvSpPr>
            <a:spLocks noGrp="1"/>
          </p:cNvSpPr>
          <p:nvPr>
            <p:ph type="sldNum" sz="quarter" idx="10"/>
          </p:nvPr>
        </p:nvSpPr>
        <p:spPr/>
        <p:txBody>
          <a:bodyPr/>
          <a:lstStyle/>
          <a:p>
            <a:fld id="{7FEF6BA3-DBF6-4A26-8DB5-A9523DAED632}" type="slidenum">
              <a:rPr lang="en-PH" smtClean="0"/>
              <a:t>11</a:t>
            </a:fld>
            <a:endParaRPr lang="en-PH"/>
          </a:p>
        </p:txBody>
      </p:sp>
    </p:spTree>
    <p:extLst>
      <p:ext uri="{BB962C8B-B14F-4D97-AF65-F5344CB8AC3E}">
        <p14:creationId xmlns:p14="http://schemas.microsoft.com/office/powerpoint/2010/main" val="33230484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a:t>In the analysis as </a:t>
            </a:r>
            <a:r>
              <a:rPr lang="en-PH" dirty="0" err="1"/>
              <a:t>wa</a:t>
            </a:r>
            <a:endParaRPr lang="en-PH" dirty="0"/>
          </a:p>
        </p:txBody>
      </p:sp>
      <p:sp>
        <p:nvSpPr>
          <p:cNvPr id="4" name="Slide Number Placeholder 3"/>
          <p:cNvSpPr>
            <a:spLocks noGrp="1"/>
          </p:cNvSpPr>
          <p:nvPr>
            <p:ph type="sldNum" sz="quarter" idx="10"/>
          </p:nvPr>
        </p:nvSpPr>
        <p:spPr/>
        <p:txBody>
          <a:bodyPr/>
          <a:lstStyle/>
          <a:p>
            <a:fld id="{7FEF6BA3-DBF6-4A26-8DB5-A9523DAED632}" type="slidenum">
              <a:rPr lang="en-PH" smtClean="0"/>
              <a:t>12</a:t>
            </a:fld>
            <a:endParaRPr lang="en-PH"/>
          </a:p>
        </p:txBody>
      </p:sp>
    </p:spTree>
    <p:extLst>
      <p:ext uri="{BB962C8B-B14F-4D97-AF65-F5344CB8AC3E}">
        <p14:creationId xmlns:p14="http://schemas.microsoft.com/office/powerpoint/2010/main" val="30347368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10"/>
          </p:nvPr>
        </p:nvSpPr>
        <p:spPr/>
        <p:txBody>
          <a:bodyPr/>
          <a:lstStyle/>
          <a:p>
            <a:fld id="{7FEF6BA3-DBF6-4A26-8DB5-A9523DAED632}" type="slidenum">
              <a:rPr lang="en-PH" smtClean="0"/>
              <a:t>14</a:t>
            </a:fld>
            <a:endParaRPr lang="en-PH"/>
          </a:p>
        </p:txBody>
      </p:sp>
    </p:spTree>
    <p:extLst>
      <p:ext uri="{BB962C8B-B14F-4D97-AF65-F5344CB8AC3E}">
        <p14:creationId xmlns:p14="http://schemas.microsoft.com/office/powerpoint/2010/main" val="35991072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10"/>
          </p:nvPr>
        </p:nvSpPr>
        <p:spPr/>
        <p:txBody>
          <a:bodyPr/>
          <a:lstStyle/>
          <a:p>
            <a:fld id="{7FEF6BA3-DBF6-4A26-8DB5-A9523DAED632}" type="slidenum">
              <a:rPr lang="en-PH" smtClean="0"/>
              <a:t>15</a:t>
            </a:fld>
            <a:endParaRPr lang="en-PH"/>
          </a:p>
        </p:txBody>
      </p:sp>
    </p:spTree>
    <p:extLst>
      <p:ext uri="{BB962C8B-B14F-4D97-AF65-F5344CB8AC3E}">
        <p14:creationId xmlns:p14="http://schemas.microsoft.com/office/powerpoint/2010/main" val="10821109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10"/>
          </p:nvPr>
        </p:nvSpPr>
        <p:spPr/>
        <p:txBody>
          <a:bodyPr/>
          <a:lstStyle/>
          <a:p>
            <a:fld id="{7FEF6BA3-DBF6-4A26-8DB5-A9523DAED632}" type="slidenum">
              <a:rPr lang="en-PH" smtClean="0"/>
              <a:t>16</a:t>
            </a:fld>
            <a:endParaRPr lang="en-PH"/>
          </a:p>
        </p:txBody>
      </p:sp>
    </p:spTree>
    <p:extLst>
      <p:ext uri="{BB962C8B-B14F-4D97-AF65-F5344CB8AC3E}">
        <p14:creationId xmlns:p14="http://schemas.microsoft.com/office/powerpoint/2010/main" val="30323173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EF6BA3-DBF6-4A26-8DB5-A9523DAED632}" type="slidenum">
              <a:rPr lang="en-PH" smtClean="0"/>
              <a:t>33</a:t>
            </a:fld>
            <a:endParaRPr lang="en-PH"/>
          </a:p>
        </p:txBody>
      </p:sp>
    </p:spTree>
    <p:extLst>
      <p:ext uri="{BB962C8B-B14F-4D97-AF65-F5344CB8AC3E}">
        <p14:creationId xmlns:p14="http://schemas.microsoft.com/office/powerpoint/2010/main" val="152262620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6" name="Group 5"/>
          <p:cNvGrpSpPr/>
          <p:nvPr/>
        </p:nvGrpSpPr>
        <p:grpSpPr>
          <a:xfrm>
            <a:off x="0" y="0"/>
            <a:ext cx="9144000" cy="6860799"/>
            <a:chOff x="0" y="0"/>
            <a:chExt cx="9144000" cy="6860799"/>
          </a:xfrm>
        </p:grpSpPr>
        <p:sp>
          <p:nvSpPr>
            <p:cNvPr id="8" name="Rectangle 7"/>
            <p:cNvSpPr/>
            <p:nvPr/>
          </p:nvSpPr>
          <p:spPr>
            <a:xfrm>
              <a:off x="0" y="0"/>
              <a:ext cx="911883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Oval 8"/>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9"/>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866441" y="2222623"/>
            <a:ext cx="5917679" cy="2554983"/>
          </a:xfrm>
        </p:spPr>
        <p:txBody>
          <a:bodyPr anchor="b"/>
          <a:lstStyle>
            <a:lvl1pPr>
              <a:defRPr sz="4800"/>
            </a:lvl1pPr>
          </a:lstStyle>
          <a:p>
            <a:r>
              <a:rPr lang="en-US"/>
              <a:t>Click to edit Master title style</a:t>
            </a:r>
            <a:endParaRPr lang="en-US" dirty="0"/>
          </a:p>
        </p:txBody>
      </p:sp>
      <p:sp>
        <p:nvSpPr>
          <p:cNvPr id="3" name="Subtitle 2"/>
          <p:cNvSpPr>
            <a:spLocks noGrp="1"/>
          </p:cNvSpPr>
          <p:nvPr>
            <p:ph type="subTitle" idx="1"/>
          </p:nvPr>
        </p:nvSpPr>
        <p:spPr bwMode="gray">
          <a:xfrm>
            <a:off x="866441" y="4777380"/>
            <a:ext cx="5917679"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7476937" y="1828799"/>
            <a:ext cx="990599" cy="228659"/>
          </a:xfrm>
        </p:spPr>
        <p:txBody>
          <a:bodyPr/>
          <a:lstStyle>
            <a:lvl1pPr algn="l">
              <a:defRPr b="0" i="0">
                <a:solidFill>
                  <a:schemeClr val="bg1"/>
                </a:solidFill>
              </a:defRPr>
            </a:lvl1pPr>
          </a:lstStyle>
          <a:p>
            <a:fld id="{A563E81C-52A1-4927-B0F6-AE8BF1C2109C}" type="datetimeFigureOut">
              <a:rPr lang="en-PH" smtClean="0"/>
              <a:t>9/23/2025</a:t>
            </a:fld>
            <a:endParaRPr lang="en-PH"/>
          </a:p>
        </p:txBody>
      </p:sp>
      <p:sp>
        <p:nvSpPr>
          <p:cNvPr id="5" name="Footer Placeholder 4"/>
          <p:cNvSpPr>
            <a:spLocks noGrp="1"/>
          </p:cNvSpPr>
          <p:nvPr>
            <p:ph type="ftr" sz="quarter" idx="11"/>
          </p:nvPr>
        </p:nvSpPr>
        <p:spPr bwMode="gray">
          <a:xfrm rot="5400000">
            <a:off x="6236210" y="3264407"/>
            <a:ext cx="3859795" cy="228659"/>
          </a:xfrm>
        </p:spPr>
        <p:txBody>
          <a:bodyPr/>
          <a:lstStyle>
            <a:lvl1pPr>
              <a:defRPr b="0" i="0">
                <a:solidFill>
                  <a:schemeClr val="bg1"/>
                </a:solidFill>
              </a:defRPr>
            </a:lvl1pPr>
          </a:lstStyle>
          <a:p>
            <a:endParaRPr lang="en-PH"/>
          </a:p>
        </p:txBody>
      </p:sp>
      <p:sp>
        <p:nvSpPr>
          <p:cNvPr id="11" name="Rectangle 10"/>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0" name="Slide Number Placeholder 5"/>
          <p:cNvSpPr>
            <a:spLocks noGrp="1"/>
          </p:cNvSpPr>
          <p:nvPr>
            <p:ph type="sldNum" sz="quarter" idx="4"/>
          </p:nvPr>
        </p:nvSpPr>
        <p:spPr>
          <a:xfrm>
            <a:off x="7678616" y="295730"/>
            <a:ext cx="791308"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052817A9-83F6-4B6B-A696-2DBA247D9865}" type="slidenum">
              <a:rPr lang="en-PH" smtClean="0"/>
              <a:t>‹#›</a:t>
            </a:fld>
            <a:endParaRPr lang="en-PH"/>
          </a:p>
        </p:txBody>
      </p:sp>
    </p:spTree>
    <p:extLst>
      <p:ext uri="{BB962C8B-B14F-4D97-AF65-F5344CB8AC3E}">
        <p14:creationId xmlns:p14="http://schemas.microsoft.com/office/powerpoint/2010/main" val="42402813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63E81C-52A1-4927-B0F6-AE8BF1C2109C}" type="datetimeFigureOut">
              <a:rPr lang="en-PH" smtClean="0"/>
              <a:t>9/23/2025</a:t>
            </a:fld>
            <a:endParaRPr lang="en-PH"/>
          </a:p>
        </p:txBody>
      </p:sp>
      <p:sp>
        <p:nvSpPr>
          <p:cNvPr id="5" name="Footer Placeholder 4"/>
          <p:cNvSpPr>
            <a:spLocks noGrp="1"/>
          </p:cNvSpPr>
          <p:nvPr>
            <p:ph type="ftr" sz="quarter" idx="11"/>
          </p:nvPr>
        </p:nvSpPr>
        <p:spPr/>
        <p:txBody>
          <a:bodyPr/>
          <a:lstStyle/>
          <a:p>
            <a:endParaRPr lang="en-PH"/>
          </a:p>
        </p:txBody>
      </p:sp>
      <p:sp>
        <p:nvSpPr>
          <p:cNvPr id="9" name="Slide Number Placeholder 5"/>
          <p:cNvSpPr>
            <a:spLocks noGrp="1"/>
          </p:cNvSpPr>
          <p:nvPr>
            <p:ph type="sldNum" sz="quarter" idx="4"/>
          </p:nvPr>
        </p:nvSpPr>
        <p:spPr>
          <a:xfrm>
            <a:off x="7678616" y="295730"/>
            <a:ext cx="791308"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052817A9-83F6-4B6B-A696-2DBA247D9865}" type="slidenum">
              <a:rPr lang="en-PH" smtClean="0"/>
              <a:t>‹#›</a:t>
            </a:fld>
            <a:endParaRPr lang="en-PH"/>
          </a:p>
        </p:txBody>
      </p:sp>
    </p:spTree>
    <p:extLst>
      <p:ext uri="{BB962C8B-B14F-4D97-AF65-F5344CB8AC3E}">
        <p14:creationId xmlns:p14="http://schemas.microsoft.com/office/powerpoint/2010/main" val="40686760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6" name="Group 5"/>
          <p:cNvGrpSpPr/>
          <p:nvPr/>
        </p:nvGrpSpPr>
        <p:grpSpPr>
          <a:xfrm>
            <a:off x="0" y="0"/>
            <a:ext cx="9144000" cy="6860799"/>
            <a:chOff x="0" y="0"/>
            <a:chExt cx="9144000" cy="6860799"/>
          </a:xfrm>
        </p:grpSpPr>
        <p:sp>
          <p:nvSpPr>
            <p:cNvPr id="12" name="Rectangle 11"/>
            <p:cNvSpPr/>
            <p:nvPr/>
          </p:nvSpPr>
          <p:spPr>
            <a:xfrm>
              <a:off x="0" y="0"/>
              <a:ext cx="911883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9"/>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5687606">
              <a:off x="3320102"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9"/>
            <p:cNvSpPr/>
            <p:nvPr/>
          </p:nvSpPr>
          <p:spPr bwMode="gray">
            <a:xfrm rot="16200000">
              <a:off x="3105027"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9" name="Rectangle 8"/>
            <p:cNvSpPr/>
            <p:nvPr/>
          </p:nvSpPr>
          <p:spPr bwMode="gray">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1" y="2257588"/>
            <a:ext cx="3101765" cy="3020343"/>
          </a:xfrm>
        </p:spPr>
        <p:txBody>
          <a:bodyPr anchor="ct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5119261" y="2257587"/>
            <a:ext cx="3054653" cy="3020343"/>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563E81C-52A1-4927-B0F6-AE8BF1C2109C}" type="datetimeFigureOut">
              <a:rPr lang="en-PH" smtClean="0"/>
              <a:t>9/23/2025</a:t>
            </a:fld>
            <a:endParaRPr lang="en-PH"/>
          </a:p>
        </p:txBody>
      </p:sp>
      <p:sp>
        <p:nvSpPr>
          <p:cNvPr id="5" name="Footer Placeholder 4"/>
          <p:cNvSpPr>
            <a:spLocks noGrp="1"/>
          </p:cNvSpPr>
          <p:nvPr>
            <p:ph type="ftr" sz="quarter" idx="11"/>
          </p:nvPr>
        </p:nvSpPr>
        <p:spPr/>
        <p:txBody>
          <a:bodyPr/>
          <a:lstStyle/>
          <a:p>
            <a:endParaRPr lang="en-PH"/>
          </a:p>
        </p:txBody>
      </p:sp>
      <p:sp>
        <p:nvSpPr>
          <p:cNvPr id="15" name="Rectangle 14"/>
          <p:cNvSpPr/>
          <p:nvPr/>
        </p:nvSpPr>
        <p:spPr>
          <a:xfrm>
            <a:off x="7738039" y="7605"/>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5"/>
          <p:cNvSpPr>
            <a:spLocks noGrp="1"/>
          </p:cNvSpPr>
          <p:nvPr>
            <p:ph type="sldNum" sz="quarter" idx="4"/>
          </p:nvPr>
        </p:nvSpPr>
        <p:spPr>
          <a:xfrm>
            <a:off x="7678616" y="295730"/>
            <a:ext cx="791308"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052817A9-83F6-4B6B-A696-2DBA247D9865}" type="slidenum">
              <a:rPr lang="en-PH" smtClean="0"/>
              <a:t>‹#›</a:t>
            </a:fld>
            <a:endParaRPr lang="en-PH"/>
          </a:p>
        </p:txBody>
      </p:sp>
    </p:spTree>
    <p:extLst>
      <p:ext uri="{BB962C8B-B14F-4D97-AF65-F5344CB8AC3E}">
        <p14:creationId xmlns:p14="http://schemas.microsoft.com/office/powerpoint/2010/main" val="398038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t>Click to edit Master title style</a:t>
            </a:r>
            <a:endParaRPr lang="en-US" dirty="0"/>
          </a:p>
        </p:txBody>
      </p:sp>
      <p:sp>
        <p:nvSpPr>
          <p:cNvPr id="3" name="Content Placeholder 2"/>
          <p:cNvSpPr>
            <a:spLocks noGrp="1"/>
          </p:cNvSpPr>
          <p:nvPr>
            <p:ph sz="half" idx="1"/>
          </p:nvPr>
        </p:nvSpPr>
        <p:spPr>
          <a:xfrm>
            <a:off x="866440" y="2489199"/>
            <a:ext cx="3636980" cy="353060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0580" y="2489199"/>
            <a:ext cx="3636981" cy="35306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563E81C-52A1-4927-B0F6-AE8BF1C2109C}" type="datetimeFigureOut">
              <a:rPr lang="en-PH" smtClean="0"/>
              <a:t>9/23/2025</a:t>
            </a:fld>
            <a:endParaRPr lang="en-PH"/>
          </a:p>
        </p:txBody>
      </p:sp>
      <p:sp>
        <p:nvSpPr>
          <p:cNvPr id="6" name="Footer Placeholder 5"/>
          <p:cNvSpPr>
            <a:spLocks noGrp="1"/>
          </p:cNvSpPr>
          <p:nvPr>
            <p:ph type="ftr" sz="quarter" idx="11"/>
          </p:nvPr>
        </p:nvSpPr>
        <p:spPr/>
        <p:txBody>
          <a:bodyPr/>
          <a:lstStyle/>
          <a:p>
            <a:endParaRPr lang="en-PH"/>
          </a:p>
        </p:txBody>
      </p:sp>
      <p:sp>
        <p:nvSpPr>
          <p:cNvPr id="8" name="Slide Number Placeholder 5"/>
          <p:cNvSpPr>
            <a:spLocks noGrp="1"/>
          </p:cNvSpPr>
          <p:nvPr>
            <p:ph type="sldNum" sz="quarter" idx="4"/>
          </p:nvPr>
        </p:nvSpPr>
        <p:spPr>
          <a:xfrm>
            <a:off x="7678616" y="295730"/>
            <a:ext cx="791308"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052817A9-83F6-4B6B-A696-2DBA247D9865}" type="slidenum">
              <a:rPr lang="en-PH" smtClean="0"/>
              <a:t>‹#›</a:t>
            </a:fld>
            <a:endParaRPr lang="en-PH"/>
          </a:p>
        </p:txBody>
      </p:sp>
    </p:spTree>
    <p:extLst>
      <p:ext uri="{BB962C8B-B14F-4D97-AF65-F5344CB8AC3E}">
        <p14:creationId xmlns:p14="http://schemas.microsoft.com/office/powerpoint/2010/main" val="11512960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66440" y="2494298"/>
            <a:ext cx="3636980" cy="759290"/>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66439" y="3253588"/>
            <a:ext cx="3636981" cy="276621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0581" y="2489200"/>
            <a:ext cx="3636979" cy="759290"/>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0581" y="3248490"/>
            <a:ext cx="3636980" cy="277131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563E81C-52A1-4927-B0F6-AE8BF1C2109C}" type="datetimeFigureOut">
              <a:rPr lang="en-PH" smtClean="0"/>
              <a:t>9/23/2025</a:t>
            </a:fld>
            <a:endParaRPr lang="en-PH"/>
          </a:p>
        </p:txBody>
      </p:sp>
      <p:sp>
        <p:nvSpPr>
          <p:cNvPr id="8" name="Footer Placeholder 7"/>
          <p:cNvSpPr>
            <a:spLocks noGrp="1"/>
          </p:cNvSpPr>
          <p:nvPr>
            <p:ph type="ftr" sz="quarter" idx="11"/>
          </p:nvPr>
        </p:nvSpPr>
        <p:spPr/>
        <p:txBody>
          <a:bodyPr/>
          <a:lstStyle/>
          <a:p>
            <a:endParaRPr lang="en-PH"/>
          </a:p>
        </p:txBody>
      </p:sp>
      <p:sp>
        <p:nvSpPr>
          <p:cNvPr id="10" name="Slide Number Placeholder 5"/>
          <p:cNvSpPr>
            <a:spLocks noGrp="1"/>
          </p:cNvSpPr>
          <p:nvPr>
            <p:ph type="sldNum" sz="quarter" idx="12"/>
          </p:nvPr>
        </p:nvSpPr>
        <p:spPr>
          <a:xfrm>
            <a:off x="7678616" y="295730"/>
            <a:ext cx="791308"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052817A9-83F6-4B6B-A696-2DBA247D9865}" type="slidenum">
              <a:rPr lang="en-PH" smtClean="0"/>
              <a:t>‹#›</a:t>
            </a:fld>
            <a:endParaRPr lang="en-PH"/>
          </a:p>
        </p:txBody>
      </p:sp>
    </p:spTree>
    <p:extLst>
      <p:ext uri="{BB962C8B-B14F-4D97-AF65-F5344CB8AC3E}">
        <p14:creationId xmlns:p14="http://schemas.microsoft.com/office/powerpoint/2010/main" val="41306432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563E81C-52A1-4927-B0F6-AE8BF1C2109C}" type="datetimeFigureOut">
              <a:rPr lang="en-PH" smtClean="0"/>
              <a:t>9/23/2025</a:t>
            </a:fld>
            <a:endParaRPr lang="en-PH"/>
          </a:p>
        </p:txBody>
      </p:sp>
      <p:sp>
        <p:nvSpPr>
          <p:cNvPr id="4" name="Footer Placeholder 3"/>
          <p:cNvSpPr>
            <a:spLocks noGrp="1"/>
          </p:cNvSpPr>
          <p:nvPr>
            <p:ph type="ftr" sz="quarter" idx="11"/>
          </p:nvPr>
        </p:nvSpPr>
        <p:spPr/>
        <p:txBody>
          <a:bodyPr/>
          <a:lstStyle/>
          <a:p>
            <a:endParaRPr lang="en-PH"/>
          </a:p>
        </p:txBody>
      </p:sp>
      <p:sp>
        <p:nvSpPr>
          <p:cNvPr id="6" name="Slide Number Placeholder 5"/>
          <p:cNvSpPr>
            <a:spLocks noGrp="1"/>
          </p:cNvSpPr>
          <p:nvPr>
            <p:ph type="sldNum" sz="quarter" idx="4"/>
          </p:nvPr>
        </p:nvSpPr>
        <p:spPr>
          <a:xfrm>
            <a:off x="7678616" y="295730"/>
            <a:ext cx="791308"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052817A9-83F6-4B6B-A696-2DBA247D9865}" type="slidenum">
              <a:rPr lang="en-PH" smtClean="0"/>
              <a:t>‹#›</a:t>
            </a:fld>
            <a:endParaRPr lang="en-PH"/>
          </a:p>
        </p:txBody>
      </p:sp>
    </p:spTree>
    <p:extLst>
      <p:ext uri="{BB962C8B-B14F-4D97-AF65-F5344CB8AC3E}">
        <p14:creationId xmlns:p14="http://schemas.microsoft.com/office/powerpoint/2010/main" val="36245507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63E81C-52A1-4927-B0F6-AE8BF1C2109C}" type="datetimeFigureOut">
              <a:rPr lang="en-PH" smtClean="0"/>
              <a:t>9/23/2025</a:t>
            </a:fld>
            <a:endParaRPr lang="en-PH"/>
          </a:p>
        </p:txBody>
      </p:sp>
      <p:sp>
        <p:nvSpPr>
          <p:cNvPr id="3" name="Footer Placeholder 2"/>
          <p:cNvSpPr>
            <a:spLocks noGrp="1"/>
          </p:cNvSpPr>
          <p:nvPr>
            <p:ph type="ftr" sz="quarter" idx="11"/>
          </p:nvPr>
        </p:nvSpPr>
        <p:spPr/>
        <p:txBody>
          <a:bodyPr/>
          <a:lstStyle/>
          <a:p>
            <a:endParaRPr lang="en-PH"/>
          </a:p>
        </p:txBody>
      </p:sp>
      <p:sp>
        <p:nvSpPr>
          <p:cNvPr id="6" name="Rectangle 5"/>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a:xfrm>
            <a:off x="7766428" y="295730"/>
            <a:ext cx="628813" cy="767687"/>
          </a:xfrm>
          <a:prstGeom prst="rect">
            <a:avLst/>
          </a:prstGeom>
        </p:spPr>
        <p:txBody>
          <a:bodyPr/>
          <a:lstStyle/>
          <a:p>
            <a:fld id="{052817A9-83F6-4B6B-A696-2DBA247D9865}" type="slidenum">
              <a:rPr lang="en-PH" smtClean="0"/>
              <a:t>‹#›</a:t>
            </a:fld>
            <a:endParaRPr lang="en-PH"/>
          </a:p>
        </p:txBody>
      </p:sp>
    </p:spTree>
    <p:extLst>
      <p:ext uri="{BB962C8B-B14F-4D97-AF65-F5344CB8AC3E}">
        <p14:creationId xmlns:p14="http://schemas.microsoft.com/office/powerpoint/2010/main" val="18285350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1" name="Group 10"/>
          <p:cNvGrpSpPr/>
          <p:nvPr/>
        </p:nvGrpSpPr>
        <p:grpSpPr>
          <a:xfrm>
            <a:off x="0" y="0"/>
            <a:ext cx="9144000" cy="6860799"/>
            <a:chOff x="0" y="0"/>
            <a:chExt cx="9144000" cy="6860799"/>
          </a:xfrm>
        </p:grpSpPr>
        <p:sp>
          <p:nvSpPr>
            <p:cNvPr id="12" name="Rectangle 11"/>
            <p:cNvSpPr/>
            <p:nvPr/>
          </p:nvSpPr>
          <p:spPr>
            <a:xfrm>
              <a:off x="0" y="0"/>
              <a:ext cx="911883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9"/>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687606">
              <a:off x="2769747"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8"/>
            <p:cNvSpPr/>
            <p:nvPr/>
          </p:nvSpPr>
          <p:spPr bwMode="gray">
            <a:xfrm rot="16200000">
              <a:off x="2548536"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1447800"/>
            <a:ext cx="2712589" cy="1495588"/>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568927" y="1441182"/>
            <a:ext cx="3632850"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866440" y="3086845"/>
            <a:ext cx="2712589" cy="2938036"/>
          </a:xfrm>
        </p:spPr>
        <p:txBody>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563E81C-52A1-4927-B0F6-AE8BF1C2109C}" type="datetimeFigureOut">
              <a:rPr lang="en-PH" smtClean="0"/>
              <a:t>9/23/2025</a:t>
            </a:fld>
            <a:endParaRPr lang="en-PH"/>
          </a:p>
        </p:txBody>
      </p:sp>
      <p:sp>
        <p:nvSpPr>
          <p:cNvPr id="6" name="Footer Placeholder 5"/>
          <p:cNvSpPr>
            <a:spLocks noGrp="1"/>
          </p:cNvSpPr>
          <p:nvPr>
            <p:ph type="ftr" sz="quarter" idx="11"/>
          </p:nvPr>
        </p:nvSpPr>
        <p:spPr/>
        <p:txBody>
          <a:bodyPr/>
          <a:lstStyle/>
          <a:p>
            <a:endParaRPr lang="en-PH"/>
          </a:p>
        </p:txBody>
      </p:sp>
      <p:sp>
        <p:nvSpPr>
          <p:cNvPr id="14" name="Rectangle 13"/>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766428" y="295730"/>
            <a:ext cx="628813" cy="767687"/>
          </a:xfrm>
          <a:prstGeom prst="rect">
            <a:avLst/>
          </a:prstGeom>
        </p:spPr>
        <p:txBody>
          <a:bodyPr/>
          <a:lstStyle/>
          <a:p>
            <a:fld id="{052817A9-83F6-4B6B-A696-2DBA247D9865}" type="slidenum">
              <a:rPr lang="en-PH" smtClean="0"/>
              <a:t>‹#›</a:t>
            </a:fld>
            <a:endParaRPr lang="en-PH"/>
          </a:p>
        </p:txBody>
      </p:sp>
    </p:spTree>
    <p:extLst>
      <p:ext uri="{BB962C8B-B14F-4D97-AF65-F5344CB8AC3E}">
        <p14:creationId xmlns:p14="http://schemas.microsoft.com/office/powerpoint/2010/main" val="27314302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11" name="Group 10"/>
          <p:cNvGrpSpPr/>
          <p:nvPr/>
        </p:nvGrpSpPr>
        <p:grpSpPr>
          <a:xfrm>
            <a:off x="0" y="0"/>
            <a:ext cx="9144000" cy="6860799"/>
            <a:chOff x="0" y="0"/>
            <a:chExt cx="9144000" cy="6860799"/>
          </a:xfrm>
        </p:grpSpPr>
        <p:sp>
          <p:nvSpPr>
            <p:cNvPr id="12" name="Rectangle 11"/>
            <p:cNvSpPr/>
            <p:nvPr/>
          </p:nvSpPr>
          <p:spPr>
            <a:xfrm>
              <a:off x="0" y="0"/>
              <a:ext cx="911883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9"/>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687606">
              <a:off x="3074559"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8"/>
            <p:cNvSpPr/>
            <p:nvPr/>
          </p:nvSpPr>
          <p:spPr bwMode="gray">
            <a:xfrm rot="16200000">
              <a:off x="2852610"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51591" y="1340000"/>
            <a:ext cx="3001938" cy="161619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722909" y="1320800"/>
            <a:ext cx="2791102" cy="42164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851591" y="3086100"/>
            <a:ext cx="3001938" cy="2451100"/>
          </a:xfrm>
        </p:spPr>
        <p:txBody>
          <a:bodyPr>
            <a:normAutofit/>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563E81C-52A1-4927-B0F6-AE8BF1C2109C}" type="datetimeFigureOut">
              <a:rPr lang="en-PH" smtClean="0"/>
              <a:t>9/23/2025</a:t>
            </a:fld>
            <a:endParaRPr lang="en-PH"/>
          </a:p>
        </p:txBody>
      </p:sp>
      <p:sp>
        <p:nvSpPr>
          <p:cNvPr id="6" name="Footer Placeholder 5"/>
          <p:cNvSpPr>
            <a:spLocks noGrp="1"/>
          </p:cNvSpPr>
          <p:nvPr>
            <p:ph type="ftr" sz="quarter" idx="11"/>
          </p:nvPr>
        </p:nvSpPr>
        <p:spPr/>
        <p:txBody>
          <a:bodyPr/>
          <a:lstStyle/>
          <a:p>
            <a:endParaRPr lang="en-PH"/>
          </a:p>
        </p:txBody>
      </p:sp>
      <p:sp>
        <p:nvSpPr>
          <p:cNvPr id="14" name="Rectangle 13"/>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766428" y="295730"/>
            <a:ext cx="628813" cy="767687"/>
          </a:xfrm>
          <a:prstGeom prst="rect">
            <a:avLst/>
          </a:prstGeom>
        </p:spPr>
        <p:txBody>
          <a:bodyPr/>
          <a:lstStyle/>
          <a:p>
            <a:fld id="{052817A9-83F6-4B6B-A696-2DBA247D9865}" type="slidenum">
              <a:rPr lang="en-PH" smtClean="0"/>
              <a:t>‹#›</a:t>
            </a:fld>
            <a:endParaRPr lang="en-PH"/>
          </a:p>
        </p:txBody>
      </p:sp>
    </p:spTree>
    <p:extLst>
      <p:ext uri="{BB962C8B-B14F-4D97-AF65-F5344CB8AC3E}">
        <p14:creationId xmlns:p14="http://schemas.microsoft.com/office/powerpoint/2010/main" val="12802255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11" name="Group 10"/>
          <p:cNvGrpSpPr/>
          <p:nvPr/>
        </p:nvGrpSpPr>
        <p:grpSpPr>
          <a:xfrm>
            <a:off x="0" y="0"/>
            <a:ext cx="9144000" cy="6860799"/>
            <a:chOff x="0" y="0"/>
            <a:chExt cx="9144000" cy="6860799"/>
          </a:xfrm>
        </p:grpSpPr>
        <p:sp>
          <p:nvSpPr>
            <p:cNvPr id="12" name="Rectangle 11"/>
            <p:cNvSpPr/>
            <p:nvPr/>
          </p:nvSpPr>
          <p:spPr>
            <a:xfrm>
              <a:off x="0" y="0"/>
              <a:ext cx="911883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9"/>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Rectangle 8"/>
            <p:cNvSpPr/>
            <p:nvPr/>
          </p:nvSpPr>
          <p:spPr>
            <a:xfrm>
              <a:off x="421503" y="402165"/>
              <a:ext cx="8327939" cy="314113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204164">
              <a:off x="426788" y="456424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9"/>
            <p:cNvSpPr/>
            <p:nvPr/>
          </p:nvSpPr>
          <p:spPr bwMode="gray">
            <a:xfrm rot="10800000">
              <a:off x="485023" y="2670079"/>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5" y="4961453"/>
            <a:ext cx="6422002"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1" y="685800"/>
            <a:ext cx="6422004"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866443" y="5528191"/>
            <a:ext cx="6422003" cy="493712"/>
          </a:xfr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563E81C-52A1-4927-B0F6-AE8BF1C2109C}" type="datetimeFigureOut">
              <a:rPr lang="en-PH" smtClean="0"/>
              <a:t>9/23/2025</a:t>
            </a:fld>
            <a:endParaRPr lang="en-PH"/>
          </a:p>
        </p:txBody>
      </p:sp>
      <p:sp>
        <p:nvSpPr>
          <p:cNvPr id="6" name="Footer Placeholder 5"/>
          <p:cNvSpPr>
            <a:spLocks noGrp="1"/>
          </p:cNvSpPr>
          <p:nvPr>
            <p:ph type="ftr" sz="quarter" idx="11"/>
          </p:nvPr>
        </p:nvSpPr>
        <p:spPr/>
        <p:txBody>
          <a:bodyPr/>
          <a:lstStyle/>
          <a:p>
            <a:endParaRPr lang="en-PH"/>
          </a:p>
        </p:txBody>
      </p:sp>
      <p:sp>
        <p:nvSpPr>
          <p:cNvPr id="14" name="Rectangle 13"/>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766428" y="295730"/>
            <a:ext cx="628813" cy="767687"/>
          </a:xfrm>
          <a:prstGeom prst="rect">
            <a:avLst/>
          </a:prstGeom>
        </p:spPr>
        <p:txBody>
          <a:bodyPr/>
          <a:lstStyle/>
          <a:p>
            <a:fld id="{052817A9-83F6-4B6B-A696-2DBA247D9865}" type="slidenum">
              <a:rPr lang="en-PH" smtClean="0"/>
              <a:t>‹#›</a:t>
            </a:fld>
            <a:endParaRPr lang="en-PH"/>
          </a:p>
        </p:txBody>
      </p:sp>
    </p:spTree>
    <p:extLst>
      <p:ext uri="{BB962C8B-B14F-4D97-AF65-F5344CB8AC3E}">
        <p14:creationId xmlns:p14="http://schemas.microsoft.com/office/powerpoint/2010/main" val="312469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3" name="Group 2"/>
          <p:cNvGrpSpPr/>
          <p:nvPr/>
        </p:nvGrpSpPr>
        <p:grpSpPr>
          <a:xfrm>
            <a:off x="0" y="0"/>
            <a:ext cx="9144000" cy="6860799"/>
            <a:chOff x="0" y="0"/>
            <a:chExt cx="9144000" cy="6860799"/>
          </a:xfrm>
        </p:grpSpPr>
        <p:sp>
          <p:nvSpPr>
            <p:cNvPr id="11" name="Rectangle 10"/>
            <p:cNvSpPr/>
            <p:nvPr/>
          </p:nvSpPr>
          <p:spPr>
            <a:xfrm>
              <a:off x="0" y="0"/>
              <a:ext cx="911883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9"/>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6359946" y="2780895"/>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485023" y="4343399"/>
              <a:ext cx="8182128" cy="21124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8"/>
            <p:cNvSpPr/>
            <p:nvPr/>
          </p:nvSpPr>
          <p:spPr bwMode="gray">
            <a:xfrm>
              <a:off x="485023" y="2854646"/>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1" y="927101"/>
            <a:ext cx="6422004" cy="1692720"/>
          </a:xfrm>
        </p:spPr>
        <p:txBody>
          <a:bodyPr anchor="ctr"/>
          <a:lstStyle>
            <a:lvl1pPr>
              <a:defRPr sz="3600"/>
            </a:lvl1pPr>
          </a:lstStyle>
          <a:p>
            <a:r>
              <a:rPr lang="en-US"/>
              <a:t>Click to edit Master title style</a:t>
            </a:r>
            <a:endParaRPr lang="en-US" dirty="0"/>
          </a:p>
        </p:txBody>
      </p:sp>
      <p:sp>
        <p:nvSpPr>
          <p:cNvPr id="13" name="Text Placeholder 3"/>
          <p:cNvSpPr>
            <a:spLocks noGrp="1"/>
          </p:cNvSpPr>
          <p:nvPr>
            <p:ph type="body" sz="half" idx="2"/>
          </p:nvPr>
        </p:nvSpPr>
        <p:spPr>
          <a:xfrm>
            <a:off x="866440" y="3488023"/>
            <a:ext cx="6422005" cy="2536858"/>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563E81C-52A1-4927-B0F6-AE8BF1C2109C}" type="datetimeFigureOut">
              <a:rPr lang="en-PH" smtClean="0"/>
              <a:t>9/23/2025</a:t>
            </a:fld>
            <a:endParaRPr lang="en-PH"/>
          </a:p>
        </p:txBody>
      </p:sp>
      <p:sp>
        <p:nvSpPr>
          <p:cNvPr id="5" name="Footer Placeholder 4"/>
          <p:cNvSpPr>
            <a:spLocks noGrp="1"/>
          </p:cNvSpPr>
          <p:nvPr>
            <p:ph type="ftr" sz="quarter" idx="11"/>
          </p:nvPr>
        </p:nvSpPr>
        <p:spPr/>
        <p:txBody>
          <a:bodyPr/>
          <a:lstStyle/>
          <a:p>
            <a:endParaRPr lang="en-PH"/>
          </a:p>
        </p:txBody>
      </p:sp>
      <p:sp>
        <p:nvSpPr>
          <p:cNvPr id="12" name="Rectangle 11"/>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766428" y="295730"/>
            <a:ext cx="628813" cy="767687"/>
          </a:xfrm>
          <a:prstGeom prst="rect">
            <a:avLst/>
          </a:prstGeom>
        </p:spPr>
        <p:txBody>
          <a:bodyPr/>
          <a:lstStyle/>
          <a:p>
            <a:fld id="{052817A9-83F6-4B6B-A696-2DBA247D9865}" type="slidenum">
              <a:rPr lang="en-PH" smtClean="0"/>
              <a:t>‹#›</a:t>
            </a:fld>
            <a:endParaRPr lang="en-PH"/>
          </a:p>
        </p:txBody>
      </p:sp>
    </p:spTree>
    <p:extLst>
      <p:ext uri="{BB962C8B-B14F-4D97-AF65-F5344CB8AC3E}">
        <p14:creationId xmlns:p14="http://schemas.microsoft.com/office/powerpoint/2010/main" val="4154037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9144000" cy="6860799"/>
            <a:chOff x="0" y="0"/>
            <a:chExt cx="9144000" cy="6860799"/>
          </a:xfrm>
        </p:grpSpPr>
        <p:sp>
          <p:nvSpPr>
            <p:cNvPr id="14" name="Rectangle 13"/>
            <p:cNvSpPr/>
            <p:nvPr/>
          </p:nvSpPr>
          <p:spPr>
            <a:xfrm>
              <a:off x="0" y="0"/>
              <a:ext cx="911883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5689832" y="0"/>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6299432" y="5870199"/>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21010068">
              <a:off x="6359946" y="430920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Freeform 12"/>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3"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12" name="TextBox 11"/>
          <p:cNvSpPr txBox="1"/>
          <p:nvPr/>
        </p:nvSpPr>
        <p:spPr bwMode="gray">
          <a:xfrm>
            <a:off x="7033422" y="2898648"/>
            <a:ext cx="660550" cy="1323439"/>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8000" dirty="0"/>
              <a:t>”</a:t>
            </a:r>
          </a:p>
        </p:txBody>
      </p:sp>
      <p:sp>
        <p:nvSpPr>
          <p:cNvPr id="11" name="TextBox 10"/>
          <p:cNvSpPr txBox="1"/>
          <p:nvPr/>
        </p:nvSpPr>
        <p:spPr bwMode="gray">
          <a:xfrm>
            <a:off x="651683" y="589767"/>
            <a:ext cx="601591" cy="1323439"/>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8000" dirty="0"/>
              <a:t>“</a:t>
            </a:r>
          </a:p>
        </p:txBody>
      </p:sp>
      <p:sp>
        <p:nvSpPr>
          <p:cNvPr id="2" name="Title 1"/>
          <p:cNvSpPr>
            <a:spLocks noGrp="1"/>
          </p:cNvSpPr>
          <p:nvPr>
            <p:ph type="title"/>
          </p:nvPr>
        </p:nvSpPr>
        <p:spPr>
          <a:xfrm>
            <a:off x="1128058" y="903421"/>
            <a:ext cx="6160385" cy="2895658"/>
          </a:xfrm>
        </p:spPr>
        <p:txBody>
          <a:bodyPr/>
          <a:lstStyle>
            <a:lvl1pPr>
              <a:defRPr sz="3600"/>
            </a:lvl1pPr>
          </a:lstStyle>
          <a:p>
            <a:r>
              <a:rPr lang="en-US"/>
              <a:t>Click to edit Master title style</a:t>
            </a:r>
            <a:endParaRPr lang="en-US" dirty="0"/>
          </a:p>
        </p:txBody>
      </p:sp>
      <p:sp>
        <p:nvSpPr>
          <p:cNvPr id="17" name="Text Placeholder 3"/>
          <p:cNvSpPr>
            <a:spLocks noGrp="1"/>
          </p:cNvSpPr>
          <p:nvPr>
            <p:ph type="body" sz="half" idx="13"/>
          </p:nvPr>
        </p:nvSpPr>
        <p:spPr bwMode="gray">
          <a:xfrm>
            <a:off x="1387279" y="3809278"/>
            <a:ext cx="5646142" cy="333113"/>
          </a:xfrm>
        </p:spPr>
        <p:txBody>
          <a:bodyPr>
            <a:normAutofit/>
          </a:bodyPr>
          <a:lstStyle>
            <a:lvl1pPr marL="0" indent="0">
              <a:buNone/>
              <a:defRPr lang="en-US" sz="1400" b="0" i="0" kern="1200" cap="small" dirty="0">
                <a:solidFill>
                  <a:schemeClr val="accent1"/>
                </a:solidFill>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6" name="Text Placeholder 3"/>
          <p:cNvSpPr>
            <a:spLocks noGrp="1"/>
          </p:cNvSpPr>
          <p:nvPr>
            <p:ph type="body" sz="half" idx="2"/>
          </p:nvPr>
        </p:nvSpPr>
        <p:spPr>
          <a:xfrm>
            <a:off x="866440" y="5000815"/>
            <a:ext cx="6422005" cy="1024065"/>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563E81C-52A1-4927-B0F6-AE8BF1C2109C}" type="datetimeFigureOut">
              <a:rPr lang="en-PH" smtClean="0"/>
              <a:t>9/23/2025</a:t>
            </a:fld>
            <a:endParaRPr lang="en-PH"/>
          </a:p>
        </p:txBody>
      </p:sp>
      <p:sp>
        <p:nvSpPr>
          <p:cNvPr id="5" name="Footer Placeholder 4"/>
          <p:cNvSpPr>
            <a:spLocks noGrp="1"/>
          </p:cNvSpPr>
          <p:nvPr>
            <p:ph type="ftr" sz="quarter" idx="11"/>
          </p:nvPr>
        </p:nvSpPr>
        <p:spPr/>
        <p:txBody>
          <a:bodyPr/>
          <a:lstStyle/>
          <a:p>
            <a:endParaRPr lang="en-PH"/>
          </a:p>
        </p:txBody>
      </p:sp>
      <p:sp>
        <p:nvSpPr>
          <p:cNvPr id="22" name="Rectangle 21"/>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766428" y="295730"/>
            <a:ext cx="628813" cy="767687"/>
          </a:xfrm>
          <a:prstGeom prst="rect">
            <a:avLst/>
          </a:prstGeom>
        </p:spPr>
        <p:txBody>
          <a:bodyPr/>
          <a:lstStyle/>
          <a:p>
            <a:fld id="{052817A9-83F6-4B6B-A696-2DBA247D9865}" type="slidenum">
              <a:rPr lang="en-PH" smtClean="0"/>
              <a:t>‹#›</a:t>
            </a:fld>
            <a:endParaRPr lang="en-PH"/>
          </a:p>
        </p:txBody>
      </p:sp>
    </p:spTree>
    <p:extLst>
      <p:ext uri="{BB962C8B-B14F-4D97-AF65-F5344CB8AC3E}">
        <p14:creationId xmlns:p14="http://schemas.microsoft.com/office/powerpoint/2010/main" val="15613047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9144000" cy="6860799"/>
            <a:chOff x="0" y="0"/>
            <a:chExt cx="9144000" cy="6860799"/>
          </a:xfrm>
        </p:grpSpPr>
        <p:sp>
          <p:nvSpPr>
            <p:cNvPr id="10" name="Rectangle 9"/>
            <p:cNvSpPr/>
            <p:nvPr/>
          </p:nvSpPr>
          <p:spPr>
            <a:xfrm>
              <a:off x="0" y="0"/>
              <a:ext cx="911883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5689832" y="0"/>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5870199"/>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6359946" y="431124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7"/>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7"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1" y="2057400"/>
            <a:ext cx="6422004" cy="2095500"/>
          </a:xfrm>
        </p:spPr>
        <p:txBody>
          <a:bodyPr anchor="b"/>
          <a:lstStyle>
            <a:lvl1pPr algn="l">
              <a:defRPr sz="3600" b="0" cap="none"/>
            </a:lvl1pPr>
          </a:lstStyle>
          <a:p>
            <a:r>
              <a:rPr lang="en-US"/>
              <a:t>Click to edit Master title style</a:t>
            </a:r>
            <a:endParaRPr lang="en-US" dirty="0"/>
          </a:p>
        </p:txBody>
      </p:sp>
      <p:sp>
        <p:nvSpPr>
          <p:cNvPr id="3" name="Text Placeholder 2"/>
          <p:cNvSpPr>
            <a:spLocks noGrp="1"/>
          </p:cNvSpPr>
          <p:nvPr>
            <p:ph type="body" idx="1"/>
          </p:nvPr>
        </p:nvSpPr>
        <p:spPr>
          <a:xfrm>
            <a:off x="866441" y="5024908"/>
            <a:ext cx="6422004" cy="994891"/>
          </a:xfrm>
        </p:spPr>
        <p:txBody>
          <a:bodyPr anchor="t">
            <a:normAutofit/>
          </a:bodyPr>
          <a:lstStyle>
            <a:lvl1pPr marL="0" indent="0" algn="l">
              <a:buNone/>
              <a:defRPr sz="18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563E81C-52A1-4927-B0F6-AE8BF1C2109C}" type="datetimeFigureOut">
              <a:rPr lang="en-PH" smtClean="0"/>
              <a:t>9/23/2025</a:t>
            </a:fld>
            <a:endParaRPr lang="en-PH"/>
          </a:p>
        </p:txBody>
      </p:sp>
      <p:sp>
        <p:nvSpPr>
          <p:cNvPr id="5" name="Footer Placeholder 4"/>
          <p:cNvSpPr>
            <a:spLocks noGrp="1"/>
          </p:cNvSpPr>
          <p:nvPr>
            <p:ph type="ftr" sz="quarter" idx="11"/>
          </p:nvPr>
        </p:nvSpPr>
        <p:spPr/>
        <p:txBody>
          <a:bodyPr/>
          <a:lstStyle/>
          <a:p>
            <a:endParaRPr lang="en-PH"/>
          </a:p>
        </p:txBody>
      </p:sp>
      <p:sp>
        <p:nvSpPr>
          <p:cNvPr id="12" name="Rectangle 11"/>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766428" y="295730"/>
            <a:ext cx="628813" cy="767687"/>
          </a:xfrm>
          <a:prstGeom prst="rect">
            <a:avLst/>
          </a:prstGeom>
        </p:spPr>
        <p:txBody>
          <a:bodyPr/>
          <a:lstStyle/>
          <a:p>
            <a:fld id="{052817A9-83F6-4B6B-A696-2DBA247D9865}" type="slidenum">
              <a:rPr lang="en-PH" smtClean="0"/>
              <a:t>‹#›</a:t>
            </a:fld>
            <a:endParaRPr lang="en-PH"/>
          </a:p>
        </p:txBody>
      </p:sp>
    </p:spTree>
    <p:extLst>
      <p:ext uri="{BB962C8B-B14F-4D97-AF65-F5344CB8AC3E}">
        <p14:creationId xmlns:p14="http://schemas.microsoft.com/office/powerpoint/2010/main" val="13331017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1" y="922305"/>
            <a:ext cx="6423592" cy="714660"/>
          </a:xfrm>
        </p:spPr>
        <p:txBody>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66441" y="2489200"/>
            <a:ext cx="2313433"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Text Placeholder 3"/>
          <p:cNvSpPr>
            <a:spLocks noGrp="1"/>
          </p:cNvSpPr>
          <p:nvPr>
            <p:ph type="body" sz="half" idx="15"/>
          </p:nvPr>
        </p:nvSpPr>
        <p:spPr>
          <a:xfrm>
            <a:off x="866440" y="3147165"/>
            <a:ext cx="2313432" cy="2877714"/>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408472" y="2489200"/>
            <a:ext cx="2326750"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Text Placeholder 3"/>
          <p:cNvSpPr>
            <a:spLocks noGrp="1"/>
          </p:cNvSpPr>
          <p:nvPr>
            <p:ph type="body" sz="half" idx="16"/>
          </p:nvPr>
        </p:nvSpPr>
        <p:spPr>
          <a:xfrm>
            <a:off x="3408472" y="3147165"/>
            <a:ext cx="2326749" cy="2869878"/>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963820" y="2489201"/>
            <a:ext cx="2313740"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4" name="Text Placeholder 3"/>
          <p:cNvSpPr>
            <a:spLocks noGrp="1"/>
          </p:cNvSpPr>
          <p:nvPr>
            <p:ph type="body" sz="half" idx="17"/>
          </p:nvPr>
        </p:nvSpPr>
        <p:spPr>
          <a:xfrm>
            <a:off x="5963821" y="3147164"/>
            <a:ext cx="2313740"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294530"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A563E81C-52A1-4927-B0F6-AE8BF1C2109C}" type="datetimeFigureOut">
              <a:rPr lang="en-PH" smtClean="0"/>
              <a:t>9/23/2025</a:t>
            </a:fld>
            <a:endParaRPr lang="en-PH"/>
          </a:p>
        </p:txBody>
      </p:sp>
      <p:sp>
        <p:nvSpPr>
          <p:cNvPr id="8" name="Footer Placeholder 7"/>
          <p:cNvSpPr>
            <a:spLocks noGrp="1"/>
          </p:cNvSpPr>
          <p:nvPr>
            <p:ph type="ftr" sz="quarter" idx="11"/>
          </p:nvPr>
        </p:nvSpPr>
        <p:spPr/>
        <p:txBody>
          <a:bodyPr/>
          <a:lstStyle/>
          <a:p>
            <a:endParaRPr lang="en-PH"/>
          </a:p>
        </p:txBody>
      </p:sp>
      <p:sp>
        <p:nvSpPr>
          <p:cNvPr id="9" name="Slide Number Placeholder 8"/>
          <p:cNvSpPr>
            <a:spLocks noGrp="1"/>
          </p:cNvSpPr>
          <p:nvPr>
            <p:ph type="sldNum" sz="quarter" idx="12"/>
          </p:nvPr>
        </p:nvSpPr>
        <p:spPr>
          <a:xfrm>
            <a:off x="7766428" y="295730"/>
            <a:ext cx="628813" cy="767687"/>
          </a:xfrm>
          <a:prstGeom prst="rect">
            <a:avLst/>
          </a:prstGeom>
        </p:spPr>
        <p:txBody>
          <a:bodyPr/>
          <a:lstStyle/>
          <a:p>
            <a:fld id="{052817A9-83F6-4B6B-A696-2DBA247D9865}" type="slidenum">
              <a:rPr lang="en-PH" smtClean="0"/>
              <a:t>‹#›</a:t>
            </a:fld>
            <a:endParaRPr lang="en-PH"/>
          </a:p>
        </p:txBody>
      </p:sp>
    </p:spTree>
    <p:extLst>
      <p:ext uri="{BB962C8B-B14F-4D97-AF65-F5344CB8AC3E}">
        <p14:creationId xmlns:p14="http://schemas.microsoft.com/office/powerpoint/2010/main" val="30293017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1" y="927101"/>
            <a:ext cx="6423592" cy="709864"/>
          </a:xfrm>
        </p:spPr>
        <p:txBody>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81461" y="4180095"/>
            <a:ext cx="2299042"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1012743" y="2486221"/>
            <a:ext cx="2021456" cy="1450321"/>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0" name="Text Placeholder 3"/>
          <p:cNvSpPr>
            <a:spLocks noGrp="1"/>
          </p:cNvSpPr>
          <p:nvPr>
            <p:ph type="body" sz="half" idx="21"/>
          </p:nvPr>
        </p:nvSpPr>
        <p:spPr>
          <a:xfrm>
            <a:off x="881461" y="4837558"/>
            <a:ext cx="2298410"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404318" y="4179596"/>
            <a:ext cx="2317790"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16"/>
          </p:nvPr>
        </p:nvSpPr>
        <p:spPr>
          <a:xfrm>
            <a:off x="3550622" y="2509453"/>
            <a:ext cx="2025182" cy="1427089"/>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404318" y="4837558"/>
            <a:ext cx="2330903"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963821" y="4179595"/>
            <a:ext cx="2299492"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17"/>
          </p:nvPr>
        </p:nvSpPr>
        <p:spPr>
          <a:xfrm>
            <a:off x="6104946" y="2509453"/>
            <a:ext cx="2018839" cy="1427089"/>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63821" y="4837558"/>
            <a:ext cx="2299492"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21" name="Straight Connector 20"/>
          <p:cNvCxnSpPr/>
          <p:nvPr/>
        </p:nvCxnSpPr>
        <p:spPr>
          <a:xfrm>
            <a:off x="3290019"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A563E81C-52A1-4927-B0F6-AE8BF1C2109C}" type="datetimeFigureOut">
              <a:rPr lang="en-PH" smtClean="0"/>
              <a:t>9/23/2025</a:t>
            </a:fld>
            <a:endParaRPr lang="en-PH"/>
          </a:p>
        </p:txBody>
      </p:sp>
      <p:sp>
        <p:nvSpPr>
          <p:cNvPr id="8" name="Footer Placeholder 7"/>
          <p:cNvSpPr>
            <a:spLocks noGrp="1"/>
          </p:cNvSpPr>
          <p:nvPr>
            <p:ph type="ftr" sz="quarter" idx="11"/>
          </p:nvPr>
        </p:nvSpPr>
        <p:spPr/>
        <p:txBody>
          <a:bodyPr/>
          <a:lstStyle/>
          <a:p>
            <a:endParaRPr lang="en-PH"/>
          </a:p>
        </p:txBody>
      </p:sp>
      <p:sp>
        <p:nvSpPr>
          <p:cNvPr id="9" name="Slide Number Placeholder 8"/>
          <p:cNvSpPr>
            <a:spLocks noGrp="1"/>
          </p:cNvSpPr>
          <p:nvPr>
            <p:ph type="sldNum" sz="quarter" idx="12"/>
          </p:nvPr>
        </p:nvSpPr>
        <p:spPr>
          <a:xfrm>
            <a:off x="7766428" y="295730"/>
            <a:ext cx="628813" cy="767687"/>
          </a:xfrm>
          <a:prstGeom prst="rect">
            <a:avLst/>
          </a:prstGeom>
        </p:spPr>
        <p:txBody>
          <a:bodyPr/>
          <a:lstStyle/>
          <a:p>
            <a:fld id="{052817A9-83F6-4B6B-A696-2DBA247D9865}" type="slidenum">
              <a:rPr lang="en-PH" smtClean="0"/>
              <a:t>‹#›</a:t>
            </a:fld>
            <a:endParaRPr lang="en-PH"/>
          </a:p>
        </p:txBody>
      </p:sp>
    </p:spTree>
    <p:extLst>
      <p:ext uri="{BB962C8B-B14F-4D97-AF65-F5344CB8AC3E}">
        <p14:creationId xmlns:p14="http://schemas.microsoft.com/office/powerpoint/2010/main" val="39263189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63E81C-52A1-4927-B0F6-AE8BF1C2109C}" type="datetimeFigureOut">
              <a:rPr lang="en-PH" smtClean="0"/>
              <a:t>9/23/2025</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a:xfrm>
            <a:off x="7766428" y="295730"/>
            <a:ext cx="628813" cy="767687"/>
          </a:xfrm>
          <a:prstGeom prst="rect">
            <a:avLst/>
          </a:prstGeom>
        </p:spPr>
        <p:txBody>
          <a:bodyPr/>
          <a:lstStyle/>
          <a:p>
            <a:fld id="{052817A9-83F6-4B6B-A696-2DBA247D9865}" type="slidenum">
              <a:rPr lang="en-PH" smtClean="0"/>
              <a:t>‹#›</a:t>
            </a:fld>
            <a:endParaRPr lang="en-PH"/>
          </a:p>
        </p:txBody>
      </p:sp>
    </p:spTree>
    <p:extLst>
      <p:ext uri="{BB962C8B-B14F-4D97-AF65-F5344CB8AC3E}">
        <p14:creationId xmlns:p14="http://schemas.microsoft.com/office/powerpoint/2010/main" val="35301920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Group 6"/>
          <p:cNvGrpSpPr/>
          <p:nvPr/>
        </p:nvGrpSpPr>
        <p:grpSpPr>
          <a:xfrm>
            <a:off x="0" y="0"/>
            <a:ext cx="9144000" cy="6860799"/>
            <a:chOff x="0" y="0"/>
            <a:chExt cx="9144000" cy="6860799"/>
          </a:xfrm>
        </p:grpSpPr>
        <p:sp>
          <p:nvSpPr>
            <p:cNvPr id="11" name="Rectangle 10"/>
            <p:cNvSpPr/>
            <p:nvPr/>
          </p:nvSpPr>
          <p:spPr>
            <a:xfrm>
              <a:off x="0" y="0"/>
              <a:ext cx="911883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70199"/>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4966650">
              <a:off x="4673046" y="5107506"/>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8"/>
            <p:cNvSpPr/>
            <p:nvPr/>
          </p:nvSpPr>
          <p:spPr bwMode="gray">
            <a:xfrm rot="5400000">
              <a:off x="1299309"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8" name="Rectangle 7"/>
            <p:cNvSpPr/>
            <p:nvPr/>
          </p:nvSpPr>
          <p:spPr bwMode="gray">
            <a:xfrm>
              <a:off x="414867" y="402165"/>
              <a:ext cx="46105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Vertical Title 1"/>
          <p:cNvSpPr>
            <a:spLocks noGrp="1"/>
          </p:cNvSpPr>
          <p:nvPr>
            <p:ph type="title" orient="vert"/>
          </p:nvPr>
        </p:nvSpPr>
        <p:spPr>
          <a:xfrm>
            <a:off x="6168970" y="1447799"/>
            <a:ext cx="1077347" cy="4571999"/>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866440" y="1447799"/>
            <a:ext cx="4417234" cy="4572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63E81C-52A1-4927-B0F6-AE8BF1C2109C}" type="datetimeFigureOut">
              <a:rPr lang="en-PH" smtClean="0"/>
              <a:t>9/23/2025</a:t>
            </a:fld>
            <a:endParaRPr lang="en-PH"/>
          </a:p>
        </p:txBody>
      </p:sp>
      <p:sp>
        <p:nvSpPr>
          <p:cNvPr id="5" name="Footer Placeholder 4"/>
          <p:cNvSpPr>
            <a:spLocks noGrp="1"/>
          </p:cNvSpPr>
          <p:nvPr>
            <p:ph type="ftr" sz="quarter" idx="11"/>
          </p:nvPr>
        </p:nvSpPr>
        <p:spPr/>
        <p:txBody>
          <a:bodyPr/>
          <a:lstStyle/>
          <a:p>
            <a:endParaRPr lang="en-PH"/>
          </a:p>
        </p:txBody>
      </p:sp>
      <p:sp>
        <p:nvSpPr>
          <p:cNvPr id="14" name="Rectangle 13"/>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766428" y="295730"/>
            <a:ext cx="628813" cy="767687"/>
          </a:xfrm>
          <a:prstGeom prst="rect">
            <a:avLst/>
          </a:prstGeom>
        </p:spPr>
        <p:txBody>
          <a:bodyPr/>
          <a:lstStyle/>
          <a:p>
            <a:fld id="{052817A9-83F6-4B6B-A696-2DBA247D9865}" type="slidenum">
              <a:rPr lang="en-PH" smtClean="0"/>
              <a:t>‹#›</a:t>
            </a:fld>
            <a:endParaRPr lang="en-PH"/>
          </a:p>
        </p:txBody>
      </p:sp>
    </p:spTree>
    <p:extLst>
      <p:ext uri="{BB962C8B-B14F-4D97-AF65-F5344CB8AC3E}">
        <p14:creationId xmlns:p14="http://schemas.microsoft.com/office/powerpoint/2010/main" val="5715981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6" name="Group 5"/>
          <p:cNvGrpSpPr/>
          <p:nvPr/>
        </p:nvGrpSpPr>
        <p:grpSpPr>
          <a:xfrm>
            <a:off x="0" y="0"/>
            <a:ext cx="9144000" cy="6860799"/>
            <a:chOff x="0" y="0"/>
            <a:chExt cx="9144000" cy="6860799"/>
          </a:xfrm>
        </p:grpSpPr>
        <p:sp>
          <p:nvSpPr>
            <p:cNvPr id="25" name="Rectangle 24"/>
            <p:cNvSpPr/>
            <p:nvPr/>
          </p:nvSpPr>
          <p:spPr>
            <a:xfrm>
              <a:off x="0" y="0"/>
              <a:ext cx="9118832" cy="6858000"/>
            </a:xfrm>
            <a:prstGeom prst="rect">
              <a:avLst/>
            </a:prstGeom>
            <a:blipFill>
              <a:blip r:embed="rId19">
                <a:duotone>
                  <a:schemeClr val="dk2">
                    <a:shade val="62000"/>
                    <a:hueMod val="108000"/>
                    <a:satMod val="164000"/>
                    <a:lumMod val="69000"/>
                  </a:schemeClr>
                  <a:schemeClr val="dk2">
                    <a:tint val="96000"/>
                    <a:hueMod val="90000"/>
                    <a:satMod val="130000"/>
                    <a:lumMod val="134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H"/>
            </a:p>
          </p:txBody>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H"/>
            </a:p>
          </p:txBody>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H"/>
            </a:p>
          </p:txBody>
        </p:sp>
        <p:sp>
          <p:nvSpPr>
            <p:cNvPr id="23" name="Oval 22"/>
            <p:cNvSpPr/>
            <p:nvPr/>
          </p:nvSpPr>
          <p:spPr>
            <a:xfrm>
              <a:off x="5689832" y="0"/>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H"/>
            </a:p>
          </p:txBody>
        </p:sp>
        <p:sp>
          <p:nvSpPr>
            <p:cNvPr id="24" name="Oval 23"/>
            <p:cNvSpPr/>
            <p:nvPr/>
          </p:nvSpPr>
          <p:spPr>
            <a:xfrm>
              <a:off x="6299432" y="5870199"/>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H"/>
            </a:p>
          </p:txBody>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H"/>
            </a:p>
          </p:txBody>
        </p:sp>
        <p:sp>
          <p:nvSpPr>
            <p:cNvPr id="21" name="Freeform 5"/>
            <p:cNvSpPr/>
            <p:nvPr/>
          </p:nvSpPr>
          <p:spPr bwMode="gray">
            <a:xfrm rot="21010068">
              <a:off x="6359946" y="179029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PH"/>
            </a:p>
          </p:txBody>
        </p:sp>
        <p:sp>
          <p:nvSpPr>
            <p:cNvPr id="19" name="Freeform 18"/>
            <p:cNvSpPr/>
            <p:nvPr/>
          </p:nvSpPr>
          <p:spPr bwMode="gray">
            <a:xfrm>
              <a:off x="485023" y="1856450"/>
              <a:ext cx="8173954" cy="4535226"/>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txBody>
            <a:bodyPr/>
            <a:lstStyle/>
            <a:p>
              <a:endParaRPr lang="en-PH"/>
            </a:p>
          </p:txBody>
        </p:sp>
        <p:sp>
          <p:nvSpPr>
            <p:cNvPr id="2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PH"/>
            </a:p>
          </p:txBody>
        </p:sp>
      </p:grpSp>
      <p:sp>
        <p:nvSpPr>
          <p:cNvPr id="2" name="Title Placeholder 1"/>
          <p:cNvSpPr>
            <a:spLocks noGrp="1"/>
          </p:cNvSpPr>
          <p:nvPr>
            <p:ph type="title"/>
          </p:nvPr>
        </p:nvSpPr>
        <p:spPr bwMode="gray">
          <a:xfrm>
            <a:off x="866440" y="927099"/>
            <a:ext cx="6343202" cy="709865"/>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66441" y="2489200"/>
            <a:ext cx="6343201" cy="3530600"/>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39638" y="6365499"/>
            <a:ext cx="990599" cy="228659"/>
          </a:xfrm>
          <a:prstGeom prst="rect">
            <a:avLst/>
          </a:prstGeom>
        </p:spPr>
        <p:txBody>
          <a:bodyPr vert="horz" lIns="91440" tIns="45720" rIns="91440" bIns="45720" rtlCol="0" anchor="b"/>
          <a:lstStyle>
            <a:lvl1pPr algn="r">
              <a:defRPr sz="900" b="1" i="0">
                <a:solidFill>
                  <a:schemeClr val="accent1"/>
                </a:solidFill>
                <a:latin typeface="+mn-lt"/>
              </a:defRPr>
            </a:lvl1pPr>
          </a:lstStyle>
          <a:p>
            <a:fld id="{A563E81C-52A1-4927-B0F6-AE8BF1C2109C}" type="datetimeFigureOut">
              <a:rPr lang="en-PH" smtClean="0"/>
              <a:t>9/23/2025</a:t>
            </a:fld>
            <a:endParaRPr lang="en-PH"/>
          </a:p>
        </p:txBody>
      </p:sp>
      <p:sp>
        <p:nvSpPr>
          <p:cNvPr id="5" name="Footer Placeholder 4"/>
          <p:cNvSpPr>
            <a:spLocks noGrp="1"/>
          </p:cNvSpPr>
          <p:nvPr>
            <p:ph type="ftr" sz="quarter" idx="3"/>
          </p:nvPr>
        </p:nvSpPr>
        <p:spPr>
          <a:xfrm>
            <a:off x="590843" y="6365498"/>
            <a:ext cx="3859795" cy="228660"/>
          </a:xfrm>
          <a:prstGeom prst="rect">
            <a:avLst/>
          </a:prstGeom>
        </p:spPr>
        <p:txBody>
          <a:bodyPr vert="horz" lIns="91440" tIns="45720" rIns="91440" bIns="45720" rtlCol="0" anchor="b"/>
          <a:lstStyle>
            <a:lvl1pPr algn="l">
              <a:defRPr sz="900" b="1" i="0">
                <a:solidFill>
                  <a:schemeClr val="accent1"/>
                </a:solidFill>
              </a:defRPr>
            </a:lvl1pPr>
          </a:lstStyle>
          <a:p>
            <a:endParaRPr lang="en-PH"/>
          </a:p>
        </p:txBody>
      </p:sp>
      <p:sp>
        <p:nvSpPr>
          <p:cNvPr id="22" name="Rectangle 21"/>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PH"/>
          </a:p>
        </p:txBody>
      </p:sp>
      <p:sp>
        <p:nvSpPr>
          <p:cNvPr id="30" name="Slide Number Placeholder 5"/>
          <p:cNvSpPr>
            <a:spLocks noGrp="1"/>
          </p:cNvSpPr>
          <p:nvPr>
            <p:ph type="sldNum" sz="quarter" idx="4"/>
          </p:nvPr>
        </p:nvSpPr>
        <p:spPr bwMode="auto">
          <a:xfrm>
            <a:off x="7678616" y="295730"/>
            <a:ext cx="791308" cy="767687"/>
          </a:xfrm>
          <a:prstGeom prst="rect">
            <a:avLst/>
          </a:prstGeom>
        </p:spPr>
        <p:txBody>
          <a:bodyPr vert="horz" lIns="91440" tIns="45720" rIns="91440" bIns="45720" rtlCol="0" anchor="b"/>
          <a:lstStyle>
            <a:lvl1pPr algn="ctr">
              <a:defRPr sz="2800" b="0" i="0">
                <a:solidFill>
                  <a:schemeClr val="bg1"/>
                </a:solidFill>
              </a:defRPr>
            </a:lvl1pPr>
          </a:lstStyle>
          <a:p>
            <a:fld id="{052817A9-83F6-4B6B-A696-2DBA247D9865}" type="slidenum">
              <a:rPr lang="en-PH" smtClean="0"/>
              <a:t>‹#›</a:t>
            </a:fld>
            <a:endParaRPr lang="en-PH"/>
          </a:p>
        </p:txBody>
      </p:sp>
    </p:spTree>
    <p:extLst>
      <p:ext uri="{BB962C8B-B14F-4D97-AF65-F5344CB8AC3E}">
        <p14:creationId xmlns:p14="http://schemas.microsoft.com/office/powerpoint/2010/main" val="438802191"/>
      </p:ext>
    </p:extLst>
  </p:cSld>
  <p:clrMap bg1="lt1" tx1="dk1" bg2="lt2" tx2="dk2" accent1="accent1" accent2="accent2" accent3="accent3" accent4="accent4" accent5="accent5" accent6="accent6" hlink="hlink" folHlink="folHlink"/>
  <p:sldLayoutIdLst>
    <p:sldLayoutId id="2147483899" r:id="rId1"/>
    <p:sldLayoutId id="2147483900" r:id="rId2"/>
    <p:sldLayoutId id="2147483901" r:id="rId3"/>
    <p:sldLayoutId id="2147483902" r:id="rId4"/>
    <p:sldLayoutId id="2147483903" r:id="rId5"/>
    <p:sldLayoutId id="2147483904" r:id="rId6"/>
    <p:sldLayoutId id="2147483905" r:id="rId7"/>
    <p:sldLayoutId id="2147483906" r:id="rId8"/>
    <p:sldLayoutId id="2147483907" r:id="rId9"/>
    <p:sldLayoutId id="2147483908" r:id="rId10"/>
    <p:sldLayoutId id="2147483909" r:id="rId11"/>
    <p:sldLayoutId id="2147483910" r:id="rId12"/>
    <p:sldLayoutId id="2147483911" r:id="rId13"/>
    <p:sldLayoutId id="2147483912" r:id="rId14"/>
    <p:sldLayoutId id="2147483913" r:id="rId15"/>
    <p:sldLayoutId id="2147483914" r:id="rId16"/>
    <p:sldLayoutId id="2147483915" r:id="rId17"/>
  </p:sldLayoutIdLst>
  <p:txStyles>
    <p:titleStyle>
      <a:lvl1pPr algn="l" defTabSz="457200" rtl="0" eaLnBrk="1" latinLnBrk="0" hangingPunct="1">
        <a:spcBef>
          <a:spcPct val="0"/>
        </a:spcBef>
        <a:buNone/>
        <a:defRPr sz="32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685800" indent="-283464"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96012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23444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150876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18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0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225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24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7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2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8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4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8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90.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58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2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7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51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image" Target="../media/image72.png"/><Relationship Id="rId1" Type="http://schemas.openxmlformats.org/officeDocument/2006/relationships/slideLayout" Target="../slideLayouts/slideLayout2.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29.xml.rels><?xml version="1.0" encoding="UTF-8" standalone="yes"?>
<Relationships xmlns="http://schemas.openxmlformats.org/package/2006/relationships"><Relationship Id="rId2" Type="http://schemas.openxmlformats.org/officeDocument/2006/relationships/image" Target="../media/image7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3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75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6440" y="927099"/>
            <a:ext cx="6067760" cy="709865"/>
          </a:xfrm>
        </p:spPr>
        <p:txBody>
          <a:bodyPr/>
          <a:lstStyle/>
          <a:p>
            <a:pPr algn="ctr"/>
            <a:r>
              <a:rPr lang="en-PH" dirty="0"/>
              <a:t>Classification of Discrete-Time Systems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66441" y="2438400"/>
                <a:ext cx="7744159" cy="3530600"/>
              </a:xfrm>
            </p:spPr>
            <p:txBody>
              <a:bodyPr/>
              <a:lstStyle/>
              <a:p>
                <a:pPr marL="0" indent="0">
                  <a:buNone/>
                </a:pPr>
                <a:r>
                  <a:rPr lang="en-PH" b="1" dirty="0"/>
                  <a:t>Static versus Dynamic System</a:t>
                </a:r>
              </a:p>
              <a:p>
                <a:r>
                  <a:rPr lang="en-PH" b="1" dirty="0"/>
                  <a:t>Static system </a:t>
                </a:r>
              </a:p>
              <a:p>
                <a:pPr lvl="1" algn="just"/>
                <a:r>
                  <a:rPr lang="en-PH" dirty="0"/>
                  <a:t>A discrete-time system is called </a:t>
                </a:r>
                <a:r>
                  <a:rPr lang="en-PH" b="1" dirty="0"/>
                  <a:t>static</a:t>
                </a:r>
                <a:r>
                  <a:rPr lang="en-PH" dirty="0"/>
                  <a:t> or </a:t>
                </a:r>
                <a:r>
                  <a:rPr lang="en-PH" b="1" dirty="0" err="1"/>
                  <a:t>memoryless</a:t>
                </a:r>
                <a:r>
                  <a:rPr lang="en-PH" b="1" dirty="0"/>
                  <a:t> </a:t>
                </a:r>
                <a:r>
                  <a:rPr lang="en-PH" dirty="0"/>
                  <a:t>if its output at any instant n depends at most on the input sample at the same time, but not on past or future samples of the input.</a:t>
                </a:r>
              </a:p>
              <a:p>
                <a:pPr lvl="1" algn="just"/>
                <a:r>
                  <a:rPr lang="en-PH" dirty="0"/>
                  <a:t>There is no need to store any of the past inputs or outputs in order to compute the present output.</a:t>
                </a:r>
              </a:p>
              <a:p>
                <a:pPr lvl="1" algn="just"/>
                <a:r>
                  <a:rPr lang="en-PH" dirty="0"/>
                  <a:t>The system described by the following input-output equations</a:t>
                </a:r>
              </a:p>
              <a:p>
                <a:pPr marL="402336" lvl="1" indent="0" algn="just">
                  <a:buNone/>
                </a:pPr>
                <a14:m>
                  <m:oMathPara xmlns:m="http://schemas.openxmlformats.org/officeDocument/2006/math">
                    <m:oMathParaPr>
                      <m:jc m:val="centerGroup"/>
                    </m:oMathParaPr>
                    <m:oMath xmlns:m="http://schemas.openxmlformats.org/officeDocument/2006/math">
                      <m:r>
                        <a:rPr lang="en-PH" b="0" i="1" smtClean="0">
                          <a:latin typeface="Cambria Math" panose="02040503050406030204" pitchFamily="18" charset="0"/>
                        </a:rPr>
                        <m:t>𝑦</m:t>
                      </m:r>
                      <m:d>
                        <m:dPr>
                          <m:begChr m:val="["/>
                          <m:endChr m:val="]"/>
                          <m:ctrlPr>
                            <a:rPr lang="en-PH" b="0" i="1" smtClean="0">
                              <a:latin typeface="Cambria Math" panose="02040503050406030204" pitchFamily="18" charset="0"/>
                            </a:rPr>
                          </m:ctrlPr>
                        </m:dPr>
                        <m:e>
                          <m:r>
                            <a:rPr lang="en-PH" b="0" i="1" smtClean="0">
                              <a:latin typeface="Cambria Math" panose="02040503050406030204" pitchFamily="18" charset="0"/>
                            </a:rPr>
                            <m:t>𝑛</m:t>
                          </m:r>
                        </m:e>
                      </m:d>
                      <m:r>
                        <a:rPr lang="en-PH" b="0" i="1" smtClean="0">
                          <a:latin typeface="Cambria Math" panose="02040503050406030204" pitchFamily="18" charset="0"/>
                        </a:rPr>
                        <m:t>=</m:t>
                      </m:r>
                      <m:r>
                        <a:rPr lang="en-PH" b="0" i="1" smtClean="0">
                          <a:latin typeface="Cambria Math" panose="02040503050406030204" pitchFamily="18" charset="0"/>
                        </a:rPr>
                        <m:t>𝑎𝑥</m:t>
                      </m:r>
                      <m:d>
                        <m:dPr>
                          <m:begChr m:val="["/>
                          <m:endChr m:val="]"/>
                          <m:ctrlPr>
                            <a:rPr lang="en-PH" b="0" i="1" smtClean="0">
                              <a:latin typeface="Cambria Math" panose="02040503050406030204" pitchFamily="18" charset="0"/>
                            </a:rPr>
                          </m:ctrlPr>
                        </m:dPr>
                        <m:e>
                          <m:r>
                            <a:rPr lang="en-PH" b="0" i="1" smtClean="0">
                              <a:latin typeface="Cambria Math" panose="02040503050406030204" pitchFamily="18" charset="0"/>
                            </a:rPr>
                            <m:t>𝑛</m:t>
                          </m:r>
                        </m:e>
                      </m:d>
                    </m:oMath>
                  </m:oMathPara>
                </a14:m>
                <a:endParaRPr lang="en-PH" b="0" dirty="0"/>
              </a:p>
              <a:p>
                <a:pPr marL="402336" lvl="1" indent="0" algn="just">
                  <a:buNone/>
                </a:pPr>
                <a14:m>
                  <m:oMathPara xmlns:m="http://schemas.openxmlformats.org/officeDocument/2006/math">
                    <m:oMathParaPr>
                      <m:jc m:val="centerGroup"/>
                    </m:oMathParaPr>
                    <m:oMath xmlns:m="http://schemas.openxmlformats.org/officeDocument/2006/math">
                      <m:r>
                        <a:rPr lang="en-PH" b="0" i="1" smtClean="0">
                          <a:latin typeface="Cambria Math" panose="02040503050406030204" pitchFamily="18" charset="0"/>
                        </a:rPr>
                        <m:t>𝑦</m:t>
                      </m:r>
                      <m:d>
                        <m:dPr>
                          <m:begChr m:val="["/>
                          <m:endChr m:val="]"/>
                          <m:ctrlPr>
                            <a:rPr lang="en-PH" b="0" i="1" smtClean="0">
                              <a:latin typeface="Cambria Math" panose="02040503050406030204" pitchFamily="18" charset="0"/>
                            </a:rPr>
                          </m:ctrlPr>
                        </m:dPr>
                        <m:e>
                          <m:r>
                            <a:rPr lang="en-PH" b="0" i="1" smtClean="0">
                              <a:latin typeface="Cambria Math" panose="02040503050406030204" pitchFamily="18" charset="0"/>
                            </a:rPr>
                            <m:t>𝑛</m:t>
                          </m:r>
                        </m:e>
                      </m:d>
                      <m:r>
                        <a:rPr lang="en-PH" b="0" i="1" smtClean="0">
                          <a:latin typeface="Cambria Math" panose="02040503050406030204" pitchFamily="18" charset="0"/>
                        </a:rPr>
                        <m:t>=</m:t>
                      </m:r>
                      <m:r>
                        <a:rPr lang="en-PH" b="0" i="1" smtClean="0">
                          <a:latin typeface="Cambria Math" panose="02040503050406030204" pitchFamily="18" charset="0"/>
                        </a:rPr>
                        <m:t>𝑛𝑥</m:t>
                      </m:r>
                      <m:d>
                        <m:dPr>
                          <m:begChr m:val="["/>
                          <m:endChr m:val="]"/>
                          <m:ctrlPr>
                            <a:rPr lang="en-PH" b="0" i="1" smtClean="0">
                              <a:latin typeface="Cambria Math" panose="02040503050406030204" pitchFamily="18" charset="0"/>
                            </a:rPr>
                          </m:ctrlPr>
                        </m:dPr>
                        <m:e>
                          <m:r>
                            <a:rPr lang="en-PH" b="0" i="1" smtClean="0">
                              <a:latin typeface="Cambria Math" panose="02040503050406030204" pitchFamily="18" charset="0"/>
                            </a:rPr>
                            <m:t>𝑛</m:t>
                          </m:r>
                        </m:e>
                      </m:d>
                      <m:r>
                        <a:rPr lang="en-PH" b="0" i="1" smtClean="0">
                          <a:latin typeface="Cambria Math" panose="02040503050406030204" pitchFamily="18" charset="0"/>
                        </a:rPr>
                        <m:t>+</m:t>
                      </m:r>
                      <m:r>
                        <a:rPr lang="en-PH" b="0" i="1" smtClean="0">
                          <a:latin typeface="Cambria Math" panose="02040503050406030204" pitchFamily="18" charset="0"/>
                        </a:rPr>
                        <m:t>𝑏</m:t>
                      </m:r>
                      <m:sSup>
                        <m:sSupPr>
                          <m:ctrlPr>
                            <a:rPr lang="en-PH" b="0" i="1" smtClean="0">
                              <a:latin typeface="Cambria Math" panose="02040503050406030204" pitchFamily="18" charset="0"/>
                            </a:rPr>
                          </m:ctrlPr>
                        </m:sSupPr>
                        <m:e>
                          <m:r>
                            <a:rPr lang="en-PH" b="0" i="1" smtClean="0">
                              <a:latin typeface="Cambria Math" panose="02040503050406030204" pitchFamily="18" charset="0"/>
                            </a:rPr>
                            <m:t>𝑥</m:t>
                          </m:r>
                        </m:e>
                        <m:sup>
                          <m:r>
                            <a:rPr lang="en-PH" b="0" i="1" smtClean="0">
                              <a:latin typeface="Cambria Math" panose="02040503050406030204" pitchFamily="18" charset="0"/>
                            </a:rPr>
                            <m:t>3</m:t>
                          </m:r>
                        </m:sup>
                      </m:sSup>
                      <m:d>
                        <m:dPr>
                          <m:begChr m:val="["/>
                          <m:endChr m:val="]"/>
                          <m:ctrlPr>
                            <a:rPr lang="en-PH" b="0" i="1" smtClean="0">
                              <a:latin typeface="Cambria Math" panose="02040503050406030204" pitchFamily="18" charset="0"/>
                            </a:rPr>
                          </m:ctrlPr>
                        </m:dPr>
                        <m:e>
                          <m:r>
                            <a:rPr lang="en-PH" b="0" i="1" smtClean="0">
                              <a:latin typeface="Cambria Math" panose="02040503050406030204" pitchFamily="18" charset="0"/>
                            </a:rPr>
                            <m:t>𝑛</m:t>
                          </m:r>
                        </m:e>
                      </m:d>
                    </m:oMath>
                  </m:oMathPara>
                </a14:m>
                <a:endParaRPr lang="en-PH" b="0" dirty="0"/>
              </a:p>
              <a:p>
                <a:pPr marL="402336" lvl="1" indent="0" algn="just">
                  <a:buNone/>
                </a:pPr>
                <a:r>
                  <a:rPr lang="en-PH" dirty="0"/>
                  <a:t>		are both static or </a:t>
                </a:r>
                <a:r>
                  <a:rPr lang="en-PH" dirty="0" err="1"/>
                  <a:t>memoryless</a:t>
                </a:r>
                <a:r>
                  <a:rPr lang="en-PH" dirty="0"/>
                  <a:t>.</a:t>
                </a:r>
              </a:p>
              <a:p>
                <a:endParaRPr lang="en-PH" b="1" dirty="0"/>
              </a:p>
              <a:p>
                <a:endParaRPr lang="en-PH"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66441" y="2438400"/>
                <a:ext cx="7744159" cy="3530600"/>
              </a:xfrm>
              <a:blipFill rotWithShape="0">
                <a:blip r:embed="rId3"/>
                <a:stretch>
                  <a:fillRect l="-629" t="-864" r="-393" b="-518"/>
                </a:stretch>
              </a:blipFill>
            </p:spPr>
            <p:txBody>
              <a:bodyPr/>
              <a:lstStyle/>
              <a:p>
                <a:r>
                  <a:rPr lang="en-PH">
                    <a:noFill/>
                  </a:rPr>
                  <a:t> </a:t>
                </a:r>
              </a:p>
            </p:txBody>
          </p:sp>
        </mc:Fallback>
      </mc:AlternateContent>
    </p:spTree>
    <p:extLst>
      <p:ext uri="{BB962C8B-B14F-4D97-AF65-F5344CB8AC3E}">
        <p14:creationId xmlns:p14="http://schemas.microsoft.com/office/powerpoint/2010/main" val="19893202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6440" y="927099"/>
            <a:ext cx="6067760" cy="709865"/>
          </a:xfrm>
        </p:spPr>
        <p:txBody>
          <a:bodyPr/>
          <a:lstStyle/>
          <a:p>
            <a:pPr algn="ctr"/>
            <a:r>
              <a:rPr lang="en-PH" dirty="0"/>
              <a:t>Classification of Discrete-Time Systems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66441" y="2108200"/>
                <a:ext cx="7744159" cy="4521200"/>
              </a:xfrm>
            </p:spPr>
            <p:txBody>
              <a:bodyPr>
                <a:normAutofit lnSpcReduction="10000"/>
              </a:bodyPr>
              <a:lstStyle/>
              <a:p>
                <a:pPr marL="0" indent="0">
                  <a:buNone/>
                </a:pPr>
                <a:r>
                  <a:rPr lang="en-PH" b="1" dirty="0"/>
                  <a:t>Static versus Dynamic System</a:t>
                </a:r>
              </a:p>
              <a:p>
                <a:r>
                  <a:rPr lang="en-PH" b="1" dirty="0"/>
                  <a:t>Dynamic system </a:t>
                </a:r>
              </a:p>
              <a:p>
                <a:pPr lvl="1"/>
                <a:r>
                  <a:rPr lang="en-PH" dirty="0"/>
                  <a:t>System that have a memory.</a:t>
                </a:r>
              </a:p>
              <a:p>
                <a:pPr lvl="1"/>
                <a:r>
                  <a:rPr lang="en-PH" dirty="0"/>
                  <a:t>If the output of the system at time n is completely determined by the input samples in the interval from </a:t>
                </a:r>
                <a14:m>
                  <m:oMath xmlns:m="http://schemas.openxmlformats.org/officeDocument/2006/math">
                    <m:r>
                      <a:rPr lang="en-PH" b="0" i="1" smtClean="0">
                        <a:latin typeface="Cambria Math" panose="02040503050406030204" pitchFamily="18" charset="0"/>
                      </a:rPr>
                      <m:t>𝑛</m:t>
                    </m:r>
                    <m:r>
                      <a:rPr lang="en-PH" b="0" i="1" smtClean="0">
                        <a:latin typeface="Cambria Math" panose="02040503050406030204" pitchFamily="18" charset="0"/>
                      </a:rPr>
                      <m:t>−</m:t>
                    </m:r>
                    <m:r>
                      <a:rPr lang="en-PH" b="0" i="1" smtClean="0">
                        <a:latin typeface="Cambria Math" panose="02040503050406030204" pitchFamily="18" charset="0"/>
                      </a:rPr>
                      <m:t>𝑁</m:t>
                    </m:r>
                  </m:oMath>
                </a14:m>
                <a:r>
                  <a:rPr lang="en-PH" dirty="0"/>
                  <a:t> to </a:t>
                </a:r>
                <a14:m>
                  <m:oMath xmlns:m="http://schemas.openxmlformats.org/officeDocument/2006/math">
                    <m:r>
                      <a:rPr lang="en-PH" b="0" i="1" smtClean="0">
                        <a:latin typeface="Cambria Math" panose="02040503050406030204" pitchFamily="18" charset="0"/>
                      </a:rPr>
                      <m:t>𝑛</m:t>
                    </m:r>
                    <m:r>
                      <a:rPr lang="en-PH" b="0" i="1" smtClean="0">
                        <a:latin typeface="Cambria Math" panose="02040503050406030204" pitchFamily="18" charset="0"/>
                      </a:rPr>
                      <m:t>(</m:t>
                    </m:r>
                    <m:r>
                      <a:rPr lang="en-PH" b="0" i="1" smtClean="0">
                        <a:latin typeface="Cambria Math" panose="02040503050406030204" pitchFamily="18" charset="0"/>
                      </a:rPr>
                      <m:t>𝑁</m:t>
                    </m:r>
                    <m:r>
                      <a:rPr lang="en-PH" b="0" i="1" smtClean="0">
                        <a:latin typeface="Cambria Math" panose="02040503050406030204" pitchFamily="18" charset="0"/>
                      </a:rPr>
                      <m:t>≥0)</m:t>
                    </m:r>
                  </m:oMath>
                </a14:m>
                <a:r>
                  <a:rPr lang="en-PH" dirty="0"/>
                  <a:t>, the system is said to have memory of duration N.</a:t>
                </a:r>
              </a:p>
              <a:p>
                <a:pPr lvl="2"/>
                <a:r>
                  <a:rPr lang="en-PH" dirty="0"/>
                  <a:t>If </a:t>
                </a:r>
                <a14:m>
                  <m:oMath xmlns:m="http://schemas.openxmlformats.org/officeDocument/2006/math">
                    <m:r>
                      <a:rPr lang="en-PH" i="1" dirty="0" smtClean="0">
                        <a:latin typeface="Cambria Math" panose="02040503050406030204" pitchFamily="18" charset="0"/>
                      </a:rPr>
                      <m:t>0&lt;</m:t>
                    </m:r>
                    <m:r>
                      <a:rPr lang="en-PH" i="1" dirty="0" smtClean="0">
                        <a:latin typeface="Cambria Math" panose="02040503050406030204" pitchFamily="18" charset="0"/>
                      </a:rPr>
                      <m:t>𝑁</m:t>
                    </m:r>
                    <m:r>
                      <a:rPr lang="en-PH" i="1" dirty="0" smtClean="0">
                        <a:latin typeface="Cambria Math" panose="02040503050406030204" pitchFamily="18" charset="0"/>
                      </a:rPr>
                      <m:t>&lt;∞</m:t>
                    </m:r>
                  </m:oMath>
                </a14:m>
                <a:r>
                  <a:rPr lang="en-PH" dirty="0"/>
                  <a:t>, the system is said to have finite memory.</a:t>
                </a:r>
              </a:p>
              <a:p>
                <a:pPr lvl="2"/>
                <a:r>
                  <a:rPr lang="en-PH" dirty="0"/>
                  <a:t>If </a:t>
                </a:r>
                <a14:m>
                  <m:oMath xmlns:m="http://schemas.openxmlformats.org/officeDocument/2006/math">
                    <m:r>
                      <m:rPr>
                        <m:sty m:val="p"/>
                      </m:rPr>
                      <a:rPr lang="en-PH" b="0" i="0" smtClean="0">
                        <a:latin typeface="Cambria Math" panose="02040503050406030204" pitchFamily="18" charset="0"/>
                      </a:rPr>
                      <m:t>N</m:t>
                    </m:r>
                    <m:r>
                      <a:rPr lang="en-PH" b="0" i="0" smtClean="0">
                        <a:latin typeface="Cambria Math" panose="02040503050406030204" pitchFamily="18" charset="0"/>
                      </a:rPr>
                      <m:t>=</m:t>
                    </m:r>
                    <m:r>
                      <a:rPr lang="en-PH" b="0" i="1" smtClean="0">
                        <a:latin typeface="Cambria Math" panose="02040503050406030204" pitchFamily="18" charset="0"/>
                        <a:ea typeface="Cambria Math" panose="02040503050406030204" pitchFamily="18" charset="0"/>
                      </a:rPr>
                      <m:t>∞</m:t>
                    </m:r>
                  </m:oMath>
                </a14:m>
                <a:r>
                  <a:rPr lang="en-PH" dirty="0"/>
                  <a:t>, the system is said to have a infinite memory.</a:t>
                </a:r>
              </a:p>
              <a:p>
                <a:pPr lvl="1"/>
                <a:r>
                  <a:rPr lang="en-PH" dirty="0"/>
                  <a:t>The system described by the following input-output equations</a:t>
                </a:r>
              </a:p>
              <a:p>
                <a:pPr marL="402336" lvl="1" indent="0" algn="ctr">
                  <a:buNone/>
                </a:pPr>
                <a14:m>
                  <m:oMathPara xmlns:m="http://schemas.openxmlformats.org/officeDocument/2006/math">
                    <m:oMathParaPr>
                      <m:jc m:val="centerGroup"/>
                    </m:oMathParaPr>
                    <m:oMath xmlns:m="http://schemas.openxmlformats.org/officeDocument/2006/math">
                      <m:r>
                        <a:rPr lang="en-PH" b="0" i="1" smtClean="0">
                          <a:latin typeface="Cambria Math" panose="02040503050406030204" pitchFamily="18" charset="0"/>
                        </a:rPr>
                        <m:t>𝑦</m:t>
                      </m:r>
                      <m:d>
                        <m:dPr>
                          <m:begChr m:val="["/>
                          <m:endChr m:val="]"/>
                          <m:ctrlPr>
                            <a:rPr lang="en-PH" b="0" i="1" smtClean="0">
                              <a:latin typeface="Cambria Math" panose="02040503050406030204" pitchFamily="18" charset="0"/>
                            </a:rPr>
                          </m:ctrlPr>
                        </m:dPr>
                        <m:e>
                          <m:r>
                            <a:rPr lang="en-PH" b="0" i="1" smtClean="0">
                              <a:latin typeface="Cambria Math" panose="02040503050406030204" pitchFamily="18" charset="0"/>
                            </a:rPr>
                            <m:t>𝑛</m:t>
                          </m:r>
                        </m:e>
                      </m:d>
                      <m:r>
                        <a:rPr lang="en-PH" b="0" i="1" smtClean="0">
                          <a:latin typeface="Cambria Math" panose="02040503050406030204" pitchFamily="18" charset="0"/>
                        </a:rPr>
                        <m:t>=</m:t>
                      </m:r>
                      <m:r>
                        <a:rPr lang="en-PH" b="0" i="1" smtClean="0">
                          <a:latin typeface="Cambria Math" panose="02040503050406030204" pitchFamily="18" charset="0"/>
                        </a:rPr>
                        <m:t>𝑥</m:t>
                      </m:r>
                      <m:d>
                        <m:dPr>
                          <m:begChr m:val="["/>
                          <m:endChr m:val="]"/>
                          <m:ctrlPr>
                            <a:rPr lang="en-PH" b="0" i="1" smtClean="0">
                              <a:latin typeface="Cambria Math" panose="02040503050406030204" pitchFamily="18" charset="0"/>
                            </a:rPr>
                          </m:ctrlPr>
                        </m:dPr>
                        <m:e>
                          <m:r>
                            <a:rPr lang="en-PH" b="0" i="1" smtClean="0">
                              <a:latin typeface="Cambria Math" panose="02040503050406030204" pitchFamily="18" charset="0"/>
                            </a:rPr>
                            <m:t>𝑛</m:t>
                          </m:r>
                        </m:e>
                      </m:d>
                      <m:r>
                        <a:rPr lang="en-PH" b="0" i="1" smtClean="0">
                          <a:latin typeface="Cambria Math" panose="02040503050406030204" pitchFamily="18" charset="0"/>
                        </a:rPr>
                        <m:t>+3</m:t>
                      </m:r>
                      <m:r>
                        <a:rPr lang="en-PH" b="0" i="1" smtClean="0">
                          <a:latin typeface="Cambria Math" panose="02040503050406030204" pitchFamily="18" charset="0"/>
                        </a:rPr>
                        <m:t>𝑥</m:t>
                      </m:r>
                      <m:d>
                        <m:dPr>
                          <m:begChr m:val="["/>
                          <m:endChr m:val="]"/>
                          <m:ctrlPr>
                            <a:rPr lang="en-PH" b="0" i="1" smtClean="0">
                              <a:latin typeface="Cambria Math" panose="02040503050406030204" pitchFamily="18" charset="0"/>
                            </a:rPr>
                          </m:ctrlPr>
                        </m:dPr>
                        <m:e>
                          <m:r>
                            <a:rPr lang="en-PH" b="0" i="1" smtClean="0">
                              <a:latin typeface="Cambria Math" panose="02040503050406030204" pitchFamily="18" charset="0"/>
                            </a:rPr>
                            <m:t>𝑛</m:t>
                          </m:r>
                          <m:r>
                            <a:rPr lang="en-PH" b="0" i="1" smtClean="0">
                              <a:latin typeface="Cambria Math" panose="02040503050406030204" pitchFamily="18" charset="0"/>
                            </a:rPr>
                            <m:t>−1</m:t>
                          </m:r>
                        </m:e>
                      </m:d>
                      <m:r>
                        <a:rPr lang="en-PH" b="0" i="0" smtClean="0">
                          <a:latin typeface="Cambria Math" panose="02040503050406030204" pitchFamily="18" charset="0"/>
                        </a:rPr>
                        <m:t>             </m:t>
                      </m:r>
                      <m:r>
                        <a:rPr lang="en-PH" b="0" i="1" smtClean="0">
                          <a:latin typeface="Cambria Math" panose="02040503050406030204" pitchFamily="18" charset="0"/>
                        </a:rPr>
                        <m:t>𝑦</m:t>
                      </m:r>
                      <m:d>
                        <m:dPr>
                          <m:begChr m:val="["/>
                          <m:endChr m:val="]"/>
                          <m:ctrlPr>
                            <a:rPr lang="en-PH" b="0" i="1" smtClean="0">
                              <a:latin typeface="Cambria Math" panose="02040503050406030204" pitchFamily="18" charset="0"/>
                            </a:rPr>
                          </m:ctrlPr>
                        </m:dPr>
                        <m:e>
                          <m:r>
                            <a:rPr lang="en-PH" b="0" i="1" smtClean="0">
                              <a:latin typeface="Cambria Math" panose="02040503050406030204" pitchFamily="18" charset="0"/>
                            </a:rPr>
                            <m:t>𝑛</m:t>
                          </m:r>
                        </m:e>
                      </m:d>
                      <m:r>
                        <a:rPr lang="en-PH" b="0" i="1" smtClean="0">
                          <a:latin typeface="Cambria Math" panose="02040503050406030204" pitchFamily="18" charset="0"/>
                        </a:rPr>
                        <m:t>=</m:t>
                      </m:r>
                      <m:nary>
                        <m:naryPr>
                          <m:chr m:val="∑"/>
                          <m:ctrlPr>
                            <a:rPr lang="en-PH" b="0" i="1" smtClean="0">
                              <a:latin typeface="Cambria Math" panose="02040503050406030204" pitchFamily="18" charset="0"/>
                            </a:rPr>
                          </m:ctrlPr>
                        </m:naryPr>
                        <m:sub>
                          <m:r>
                            <m:rPr>
                              <m:brk m:alnAt="23"/>
                            </m:rPr>
                            <a:rPr lang="en-PH" b="0" i="1" smtClean="0">
                              <a:latin typeface="Cambria Math" panose="02040503050406030204" pitchFamily="18" charset="0"/>
                            </a:rPr>
                            <m:t>𝑘</m:t>
                          </m:r>
                          <m:r>
                            <a:rPr lang="en-PH" b="0" i="1" smtClean="0">
                              <a:latin typeface="Cambria Math" panose="02040503050406030204" pitchFamily="18" charset="0"/>
                            </a:rPr>
                            <m:t>=0</m:t>
                          </m:r>
                        </m:sub>
                        <m:sup>
                          <m:r>
                            <a:rPr lang="en-PH" b="0" i="1" smtClean="0">
                              <a:latin typeface="Cambria Math" panose="02040503050406030204" pitchFamily="18" charset="0"/>
                              <a:ea typeface="Cambria Math" panose="02040503050406030204" pitchFamily="18" charset="0"/>
                            </a:rPr>
                            <m:t>𝑛</m:t>
                          </m:r>
                        </m:sup>
                        <m:e>
                          <m:r>
                            <a:rPr lang="en-PH" b="0" i="1" smtClean="0">
                              <a:latin typeface="Cambria Math" panose="02040503050406030204" pitchFamily="18" charset="0"/>
                            </a:rPr>
                            <m:t>𝑥</m:t>
                          </m:r>
                          <m:d>
                            <m:dPr>
                              <m:begChr m:val="["/>
                              <m:endChr m:val="]"/>
                              <m:ctrlPr>
                                <a:rPr lang="en-PH" b="0" i="1" smtClean="0">
                                  <a:latin typeface="Cambria Math" panose="02040503050406030204" pitchFamily="18" charset="0"/>
                                </a:rPr>
                              </m:ctrlPr>
                            </m:dPr>
                            <m:e>
                              <m:r>
                                <a:rPr lang="en-PH" b="0" i="1" smtClean="0">
                                  <a:latin typeface="Cambria Math" panose="02040503050406030204" pitchFamily="18" charset="0"/>
                                </a:rPr>
                                <m:t>𝑛</m:t>
                              </m:r>
                              <m:r>
                                <a:rPr lang="en-PH" b="0" i="1" smtClean="0">
                                  <a:latin typeface="Cambria Math" panose="02040503050406030204" pitchFamily="18" charset="0"/>
                                </a:rPr>
                                <m:t>−</m:t>
                              </m:r>
                              <m:r>
                                <a:rPr lang="en-PH" b="0" i="1" smtClean="0">
                                  <a:latin typeface="Cambria Math" panose="02040503050406030204" pitchFamily="18" charset="0"/>
                                </a:rPr>
                                <m:t>𝑘</m:t>
                              </m:r>
                            </m:e>
                          </m:d>
                        </m:e>
                      </m:nary>
                    </m:oMath>
                  </m:oMathPara>
                </a14:m>
                <a:endParaRPr lang="en-PH" dirty="0"/>
              </a:p>
              <a:p>
                <a:pPr marL="402336" lvl="1" indent="0" algn="ctr">
                  <a:buNone/>
                </a:pPr>
                <a14:m>
                  <m:oMathPara xmlns:m="http://schemas.openxmlformats.org/officeDocument/2006/math">
                    <m:oMathParaPr>
                      <m:jc m:val="centerGroup"/>
                    </m:oMathParaPr>
                    <m:oMath xmlns:m="http://schemas.openxmlformats.org/officeDocument/2006/math">
                      <m:r>
                        <a:rPr lang="en-PH" i="1">
                          <a:latin typeface="Cambria Math" panose="02040503050406030204" pitchFamily="18" charset="0"/>
                        </a:rPr>
                        <m:t>𝑦</m:t>
                      </m:r>
                      <m:d>
                        <m:dPr>
                          <m:begChr m:val="["/>
                          <m:endChr m:val="]"/>
                          <m:ctrlPr>
                            <a:rPr lang="en-PH" i="1">
                              <a:latin typeface="Cambria Math" panose="02040503050406030204" pitchFamily="18" charset="0"/>
                            </a:rPr>
                          </m:ctrlPr>
                        </m:dPr>
                        <m:e>
                          <m:r>
                            <a:rPr lang="en-PH" i="1">
                              <a:latin typeface="Cambria Math" panose="02040503050406030204" pitchFamily="18" charset="0"/>
                            </a:rPr>
                            <m:t>𝑛</m:t>
                          </m:r>
                        </m:e>
                      </m:d>
                      <m:r>
                        <a:rPr lang="en-PH" i="1">
                          <a:latin typeface="Cambria Math" panose="02040503050406030204" pitchFamily="18" charset="0"/>
                        </a:rPr>
                        <m:t>=</m:t>
                      </m:r>
                      <m:nary>
                        <m:naryPr>
                          <m:chr m:val="∑"/>
                          <m:ctrlPr>
                            <a:rPr lang="en-PH" i="1">
                              <a:latin typeface="Cambria Math" panose="02040503050406030204" pitchFamily="18" charset="0"/>
                            </a:rPr>
                          </m:ctrlPr>
                        </m:naryPr>
                        <m:sub>
                          <m:r>
                            <m:rPr>
                              <m:brk m:alnAt="23"/>
                            </m:rPr>
                            <a:rPr lang="en-PH" i="1">
                              <a:latin typeface="Cambria Math" panose="02040503050406030204" pitchFamily="18" charset="0"/>
                            </a:rPr>
                            <m:t>𝑘</m:t>
                          </m:r>
                          <m:r>
                            <a:rPr lang="en-PH" i="1">
                              <a:latin typeface="Cambria Math" panose="02040503050406030204" pitchFamily="18" charset="0"/>
                            </a:rPr>
                            <m:t>=0</m:t>
                          </m:r>
                        </m:sub>
                        <m:sup>
                          <m:r>
                            <a:rPr lang="en-PH" i="1">
                              <a:latin typeface="Cambria Math" panose="02040503050406030204" pitchFamily="18" charset="0"/>
                              <a:ea typeface="Cambria Math" panose="02040503050406030204" pitchFamily="18" charset="0"/>
                            </a:rPr>
                            <m:t>∞</m:t>
                          </m:r>
                        </m:sup>
                        <m:e>
                          <m:r>
                            <a:rPr lang="en-PH" i="1">
                              <a:latin typeface="Cambria Math" panose="02040503050406030204" pitchFamily="18" charset="0"/>
                            </a:rPr>
                            <m:t>𝑥</m:t>
                          </m:r>
                          <m:d>
                            <m:dPr>
                              <m:begChr m:val="["/>
                              <m:endChr m:val="]"/>
                              <m:ctrlPr>
                                <a:rPr lang="en-PH" i="1">
                                  <a:latin typeface="Cambria Math" panose="02040503050406030204" pitchFamily="18" charset="0"/>
                                </a:rPr>
                              </m:ctrlPr>
                            </m:dPr>
                            <m:e>
                              <m:r>
                                <a:rPr lang="en-PH" i="1">
                                  <a:latin typeface="Cambria Math" panose="02040503050406030204" pitchFamily="18" charset="0"/>
                                </a:rPr>
                                <m:t>𝑛</m:t>
                              </m:r>
                              <m:r>
                                <a:rPr lang="en-PH" i="1">
                                  <a:latin typeface="Cambria Math" panose="02040503050406030204" pitchFamily="18" charset="0"/>
                                </a:rPr>
                                <m:t>−</m:t>
                              </m:r>
                              <m:r>
                                <a:rPr lang="en-PH" i="1">
                                  <a:latin typeface="Cambria Math" panose="02040503050406030204" pitchFamily="18" charset="0"/>
                                </a:rPr>
                                <m:t>𝑘</m:t>
                              </m:r>
                            </m:e>
                          </m:d>
                        </m:e>
                      </m:nary>
                    </m:oMath>
                  </m:oMathPara>
                </a14:m>
                <a:endParaRPr lang="en-PH" dirty="0"/>
              </a:p>
              <a:p>
                <a:pPr marL="402336" lvl="1" indent="0" algn="just">
                  <a:buNone/>
                </a:pPr>
                <a:r>
                  <a:rPr lang="en-PH" dirty="0"/>
                  <a:t>		are dynamic systems or system with memory.</a:t>
                </a:r>
              </a:p>
              <a:p>
                <a:pPr marL="402336" lvl="1" indent="0" algn="ctr">
                  <a:buNone/>
                </a:pPr>
                <a:endParaRPr lang="en-PH" dirty="0"/>
              </a:p>
              <a:p>
                <a:pPr marL="402336" lvl="1" indent="0" algn="ctr">
                  <a:buNone/>
                </a:pPr>
                <a:endParaRPr lang="en-PH" dirty="0"/>
              </a:p>
              <a:p>
                <a:pPr lvl="1"/>
                <a:endParaRPr lang="en-PH" dirty="0"/>
              </a:p>
              <a:p>
                <a:pPr marL="402336" lvl="1" indent="0">
                  <a:buNone/>
                </a:pPr>
                <a:endParaRPr lang="en-PH"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66441" y="2108200"/>
                <a:ext cx="7744159" cy="4521200"/>
              </a:xfrm>
              <a:blipFill rotWithShape="0">
                <a:blip r:embed="rId3"/>
                <a:stretch>
                  <a:fillRect l="-629" t="-1482" b="-1348"/>
                </a:stretch>
              </a:blipFill>
            </p:spPr>
            <p:txBody>
              <a:bodyPr/>
              <a:lstStyle/>
              <a:p>
                <a:r>
                  <a:rPr lang="en-PH">
                    <a:noFill/>
                  </a:rPr>
                  <a:t> </a:t>
                </a:r>
              </a:p>
            </p:txBody>
          </p:sp>
        </mc:Fallback>
      </mc:AlternateContent>
    </p:spTree>
    <p:extLst>
      <p:ext uri="{BB962C8B-B14F-4D97-AF65-F5344CB8AC3E}">
        <p14:creationId xmlns:p14="http://schemas.microsoft.com/office/powerpoint/2010/main" val="27247049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6440" y="927099"/>
            <a:ext cx="6067760" cy="709865"/>
          </a:xfrm>
        </p:spPr>
        <p:txBody>
          <a:bodyPr/>
          <a:lstStyle/>
          <a:p>
            <a:pPr algn="ctr"/>
            <a:r>
              <a:rPr lang="en-PH" dirty="0"/>
              <a:t>Classification of Discrete-Time Systems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66441" y="2108200"/>
                <a:ext cx="7744159" cy="4368800"/>
              </a:xfrm>
            </p:spPr>
            <p:txBody>
              <a:bodyPr>
                <a:normAutofit/>
              </a:bodyPr>
              <a:lstStyle/>
              <a:p>
                <a:pPr marL="0" indent="0">
                  <a:buNone/>
                </a:pPr>
                <a:r>
                  <a:rPr lang="en-PH" b="1" dirty="0"/>
                  <a:t>Time-Invariant versus Time Variant Systems</a:t>
                </a:r>
              </a:p>
              <a:p>
                <a:r>
                  <a:rPr lang="en-PH" b="1" dirty="0"/>
                  <a:t>Time Invariant System</a:t>
                </a:r>
              </a:p>
              <a:p>
                <a:pPr lvl="1"/>
                <a:r>
                  <a:rPr lang="en-PH" dirty="0"/>
                  <a:t>If its input-output characteristic do not change with time.</a:t>
                </a:r>
              </a:p>
              <a:p>
                <a:pPr lvl="1"/>
                <a:endParaRPr lang="en-PH" b="1" dirty="0"/>
              </a:p>
              <a:p>
                <a:pPr lvl="1"/>
                <a:r>
                  <a:rPr lang="en-PH" b="1" dirty="0"/>
                  <a:t>Definition. </a:t>
                </a:r>
                <a:r>
                  <a:rPr lang="en-PH" dirty="0"/>
                  <a:t>A relaxed system is time-invariant or shift invariant if and only if </a:t>
                </a:r>
              </a:p>
              <a:p>
                <a:pPr marL="402336" lvl="1" indent="0" algn="ctr">
                  <a:buNone/>
                </a:pPr>
                <a14:m>
                  <m:oMath xmlns:m="http://schemas.openxmlformats.org/officeDocument/2006/math">
                    <m:r>
                      <a:rPr lang="en-PH" i="1">
                        <a:latin typeface="Cambria Math" panose="02040503050406030204" pitchFamily="18" charset="0"/>
                      </a:rPr>
                      <m:t>𝑥</m:t>
                    </m:r>
                    <m:d>
                      <m:dPr>
                        <m:begChr m:val="["/>
                        <m:endChr m:val="]"/>
                        <m:ctrlPr>
                          <a:rPr lang="en-PH" i="1">
                            <a:latin typeface="Cambria Math" panose="02040503050406030204" pitchFamily="18" charset="0"/>
                          </a:rPr>
                        </m:ctrlPr>
                      </m:dPr>
                      <m:e>
                        <m:r>
                          <a:rPr lang="en-PH" i="1">
                            <a:latin typeface="Cambria Math" panose="02040503050406030204" pitchFamily="18" charset="0"/>
                          </a:rPr>
                          <m:t>𝑛</m:t>
                        </m:r>
                      </m:e>
                    </m:d>
                    <m:groupChr>
                      <m:groupChrPr>
                        <m:chr m:val="→"/>
                        <m:vertJc m:val="bot"/>
                        <m:ctrlPr>
                          <a:rPr lang="en-PH" i="1">
                            <a:latin typeface="Cambria Math" panose="02040503050406030204" pitchFamily="18" charset="0"/>
                          </a:rPr>
                        </m:ctrlPr>
                      </m:groupChrPr>
                      <m:e>
                        <m:r>
                          <m:rPr>
                            <m:brk m:alnAt="2"/>
                          </m:rPr>
                          <a:rPr lang="en-PH" i="1">
                            <a:latin typeface="Cambria Math" panose="02040503050406030204" pitchFamily="18" charset="0"/>
                            <a:ea typeface="Cambria Math" panose="02040503050406030204" pitchFamily="18" charset="0"/>
                          </a:rPr>
                          <m:t>𝒯</m:t>
                        </m:r>
                      </m:e>
                    </m:groupChr>
                    <m:r>
                      <a:rPr lang="en-PH" i="1">
                        <a:latin typeface="Cambria Math" panose="02040503050406030204" pitchFamily="18" charset="0"/>
                      </a:rPr>
                      <m:t>𝑦</m:t>
                    </m:r>
                    <m:r>
                      <a:rPr lang="en-PH" i="1">
                        <a:latin typeface="Cambria Math" panose="02040503050406030204" pitchFamily="18" charset="0"/>
                      </a:rPr>
                      <m:t>[</m:t>
                    </m:r>
                    <m:r>
                      <a:rPr lang="en-PH" i="1">
                        <a:latin typeface="Cambria Math" panose="02040503050406030204" pitchFamily="18" charset="0"/>
                      </a:rPr>
                      <m:t>𝑛</m:t>
                    </m:r>
                    <m:r>
                      <a:rPr lang="en-PH" i="1">
                        <a:latin typeface="Cambria Math" panose="02040503050406030204" pitchFamily="18" charset="0"/>
                      </a:rPr>
                      <m:t>]</m:t>
                    </m:r>
                  </m:oMath>
                </a14:m>
                <a:r>
                  <a:rPr lang="en-PH" dirty="0"/>
                  <a:t> </a:t>
                </a:r>
              </a:p>
              <a:p>
                <a:pPr marL="402336" lvl="1" indent="0">
                  <a:buNone/>
                </a:pPr>
                <a:r>
                  <a:rPr lang="en-PH" dirty="0"/>
                  <a:t>	     implies that </a:t>
                </a:r>
              </a:p>
              <a:p>
                <a:pPr marL="402336" lvl="1" indent="0" algn="ctr">
                  <a:buNone/>
                </a:pPr>
                <a14:m>
                  <m:oMath xmlns:m="http://schemas.openxmlformats.org/officeDocument/2006/math">
                    <m:r>
                      <a:rPr lang="en-PH" i="1">
                        <a:latin typeface="Cambria Math" panose="02040503050406030204" pitchFamily="18" charset="0"/>
                      </a:rPr>
                      <m:t>𝑥</m:t>
                    </m:r>
                    <m:d>
                      <m:dPr>
                        <m:begChr m:val="["/>
                        <m:endChr m:val="]"/>
                        <m:ctrlPr>
                          <a:rPr lang="en-PH" i="1">
                            <a:latin typeface="Cambria Math" panose="02040503050406030204" pitchFamily="18" charset="0"/>
                          </a:rPr>
                        </m:ctrlPr>
                      </m:dPr>
                      <m:e>
                        <m:r>
                          <a:rPr lang="en-PH" i="1">
                            <a:latin typeface="Cambria Math" panose="02040503050406030204" pitchFamily="18" charset="0"/>
                          </a:rPr>
                          <m:t>𝑛</m:t>
                        </m:r>
                        <m:r>
                          <a:rPr lang="en-PH" i="1">
                            <a:latin typeface="Cambria Math" panose="02040503050406030204" pitchFamily="18" charset="0"/>
                          </a:rPr>
                          <m:t>−</m:t>
                        </m:r>
                        <m:r>
                          <a:rPr lang="en-PH" i="1">
                            <a:latin typeface="Cambria Math" panose="02040503050406030204" pitchFamily="18" charset="0"/>
                          </a:rPr>
                          <m:t>𝑘</m:t>
                        </m:r>
                      </m:e>
                    </m:d>
                    <m:groupChr>
                      <m:groupChrPr>
                        <m:chr m:val="→"/>
                        <m:vertJc m:val="bot"/>
                        <m:ctrlPr>
                          <a:rPr lang="en-PH" i="1">
                            <a:latin typeface="Cambria Math" panose="02040503050406030204" pitchFamily="18" charset="0"/>
                          </a:rPr>
                        </m:ctrlPr>
                      </m:groupChrPr>
                      <m:e>
                        <m:r>
                          <m:rPr>
                            <m:brk m:alnAt="2"/>
                          </m:rPr>
                          <a:rPr lang="en-PH" i="1">
                            <a:latin typeface="Cambria Math" panose="02040503050406030204" pitchFamily="18" charset="0"/>
                            <a:ea typeface="Cambria Math" panose="02040503050406030204" pitchFamily="18" charset="0"/>
                          </a:rPr>
                          <m:t>𝒯</m:t>
                        </m:r>
                      </m:e>
                    </m:groupChr>
                    <m:r>
                      <a:rPr lang="en-PH" i="1">
                        <a:latin typeface="Cambria Math" panose="02040503050406030204" pitchFamily="18" charset="0"/>
                      </a:rPr>
                      <m:t>𝑦</m:t>
                    </m:r>
                    <m:r>
                      <a:rPr lang="en-PH" i="1">
                        <a:latin typeface="Cambria Math" panose="02040503050406030204" pitchFamily="18" charset="0"/>
                      </a:rPr>
                      <m:t>[</m:t>
                    </m:r>
                    <m:r>
                      <a:rPr lang="en-PH" i="1">
                        <a:latin typeface="Cambria Math" panose="02040503050406030204" pitchFamily="18" charset="0"/>
                      </a:rPr>
                      <m:t>𝑛</m:t>
                    </m:r>
                    <m:r>
                      <a:rPr lang="en-PH" i="1">
                        <a:latin typeface="Cambria Math" panose="02040503050406030204" pitchFamily="18" charset="0"/>
                      </a:rPr>
                      <m:t>−</m:t>
                    </m:r>
                    <m:r>
                      <a:rPr lang="en-PH" i="1">
                        <a:latin typeface="Cambria Math" panose="02040503050406030204" pitchFamily="18" charset="0"/>
                      </a:rPr>
                      <m:t>𝑘</m:t>
                    </m:r>
                    <m:r>
                      <a:rPr lang="en-PH" i="1">
                        <a:latin typeface="Cambria Math" panose="02040503050406030204" pitchFamily="18" charset="0"/>
                      </a:rPr>
                      <m:t>]</m:t>
                    </m:r>
                  </m:oMath>
                </a14:m>
                <a:r>
                  <a:rPr lang="en-PH" dirty="0"/>
                  <a:t> </a:t>
                </a:r>
              </a:p>
              <a:p>
                <a:pPr marL="402336" lvl="1" indent="0">
                  <a:buNone/>
                </a:pPr>
                <a:r>
                  <a:rPr lang="en-PH" dirty="0"/>
                  <a:t>      for every input signal x[n] and every time shift k.</a:t>
                </a:r>
              </a:p>
              <a:p>
                <a:pPr lvl="1" algn="just"/>
                <a:endParaRPr lang="en-PH" dirty="0"/>
              </a:p>
              <a:p>
                <a:pPr lvl="1" algn="just"/>
                <a:endParaRPr lang="en-PH" dirty="0"/>
              </a:p>
              <a:p>
                <a:pPr marL="402336" lvl="1" indent="0" algn="ctr">
                  <a:buNone/>
                </a:pPr>
                <a:endParaRPr lang="en-PH" dirty="0"/>
              </a:p>
              <a:p>
                <a:pPr lvl="1"/>
                <a:endParaRPr lang="en-PH" dirty="0"/>
              </a:p>
              <a:p>
                <a:pPr marL="402336" lvl="1" indent="0">
                  <a:buNone/>
                </a:pPr>
                <a:endParaRPr lang="en-PH"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66441" y="2108200"/>
                <a:ext cx="7744159" cy="4368800"/>
              </a:xfrm>
              <a:blipFill rotWithShape="0">
                <a:blip r:embed="rId3"/>
                <a:stretch>
                  <a:fillRect l="-629" t="-837"/>
                </a:stretch>
              </a:blipFill>
            </p:spPr>
            <p:txBody>
              <a:bodyPr/>
              <a:lstStyle/>
              <a:p>
                <a:r>
                  <a:rPr lang="en-PH">
                    <a:noFill/>
                  </a:rPr>
                  <a:t> </a:t>
                </a:r>
              </a:p>
            </p:txBody>
          </p:sp>
        </mc:Fallback>
      </mc:AlternateContent>
    </p:spTree>
    <p:extLst>
      <p:ext uri="{BB962C8B-B14F-4D97-AF65-F5344CB8AC3E}">
        <p14:creationId xmlns:p14="http://schemas.microsoft.com/office/powerpoint/2010/main" val="40630259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6440" y="927099"/>
            <a:ext cx="6067760" cy="709865"/>
          </a:xfrm>
        </p:spPr>
        <p:txBody>
          <a:bodyPr/>
          <a:lstStyle/>
          <a:p>
            <a:pPr algn="ctr"/>
            <a:r>
              <a:rPr lang="en-PH" dirty="0"/>
              <a:t>Classification of Discrete-Time Systems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66440" y="2286000"/>
                <a:ext cx="7744159" cy="4292600"/>
              </a:xfrm>
            </p:spPr>
            <p:txBody>
              <a:bodyPr>
                <a:normAutofit lnSpcReduction="10000"/>
              </a:bodyPr>
              <a:lstStyle/>
              <a:p>
                <a:pPr marL="0" indent="0">
                  <a:buNone/>
                </a:pPr>
                <a:r>
                  <a:rPr lang="en-PH" b="1" dirty="0"/>
                  <a:t>Time-Invariant versus Time Variant Systems</a:t>
                </a:r>
              </a:p>
              <a:p>
                <a:pPr marL="0">
                  <a:buNone/>
                </a:pPr>
                <a:r>
                  <a:rPr lang="en-PH" dirty="0"/>
                  <a:t>	How to determine if the system is time variant or time invariant ?	To determine if any given system is time invariant, we need to  	perform the test specified by the preceding definition.</a:t>
                </a:r>
              </a:p>
              <a:p>
                <a:pPr lvl="1">
                  <a:buFont typeface="+mj-lt"/>
                  <a:buAutoNum type="arabicPeriod"/>
                </a:pPr>
                <a:r>
                  <a:rPr lang="en-PH" dirty="0"/>
                  <a:t>We excite the system with an arbitrary input sequence x[n], which produces an output denoted as y[n].</a:t>
                </a:r>
              </a:p>
              <a:p>
                <a:pPr lvl="1">
                  <a:buFont typeface="+mj-lt"/>
                  <a:buAutoNum type="arabicPeriod"/>
                </a:pPr>
                <a:r>
                  <a:rPr lang="en-PH" dirty="0"/>
                  <a:t>We delay the input sequence by some amount k and recomputed the output. In general, we can write the output as</a:t>
                </a:r>
                <a:endParaRPr lang="en-PH" b="0" i="0" dirty="0">
                  <a:latin typeface="Cambria Math" panose="02040503050406030204" pitchFamily="18" charset="0"/>
                </a:endParaRPr>
              </a:p>
              <a:p>
                <a:pPr marL="402336" lvl="1" indent="0" algn="ctr">
                  <a:buNone/>
                </a:pPr>
                <a14:m>
                  <m:oMath xmlns:m="http://schemas.openxmlformats.org/officeDocument/2006/math">
                    <m:r>
                      <a:rPr lang="en-PH" b="0" i="0" smtClean="0">
                        <a:latin typeface="Cambria Math" panose="02040503050406030204" pitchFamily="18" charset="0"/>
                      </a:rPr>
                      <m:t> </m:t>
                    </m:r>
                    <m:r>
                      <m:rPr>
                        <m:sty m:val="p"/>
                      </m:rPr>
                      <a:rPr lang="en-PH" b="0" i="0" dirty="0" smtClean="0">
                        <a:latin typeface="Cambria Math" panose="02040503050406030204" pitchFamily="18" charset="0"/>
                      </a:rPr>
                      <m:t>y</m:t>
                    </m:r>
                    <m:r>
                      <a:rPr lang="en-PH" i="0" dirty="0" smtClean="0">
                        <a:latin typeface="Cambria Math" panose="02040503050406030204" pitchFamily="18" charset="0"/>
                      </a:rPr>
                      <m:t>[</m:t>
                    </m:r>
                    <m:r>
                      <m:rPr>
                        <m:sty m:val="p"/>
                      </m:rPr>
                      <a:rPr lang="en-PH" i="0" dirty="0" smtClean="0">
                        <a:latin typeface="Cambria Math" panose="02040503050406030204" pitchFamily="18" charset="0"/>
                      </a:rPr>
                      <m:t>n</m:t>
                    </m:r>
                    <m:r>
                      <a:rPr lang="en-PH" i="0" dirty="0" smtClean="0">
                        <a:latin typeface="Cambria Math" panose="02040503050406030204" pitchFamily="18" charset="0"/>
                      </a:rPr>
                      <m:t>,</m:t>
                    </m:r>
                    <m:r>
                      <m:rPr>
                        <m:sty m:val="p"/>
                      </m:rPr>
                      <a:rPr lang="en-PH" i="0" dirty="0" smtClean="0">
                        <a:latin typeface="Cambria Math" panose="02040503050406030204" pitchFamily="18" charset="0"/>
                      </a:rPr>
                      <m:t>k</m:t>
                    </m:r>
                    <m:r>
                      <a:rPr lang="en-PH" i="0" dirty="0" smtClean="0">
                        <a:latin typeface="Cambria Math" panose="02040503050406030204" pitchFamily="18" charset="0"/>
                      </a:rPr>
                      <m:t>]=</m:t>
                    </m:r>
                    <m:r>
                      <a:rPr lang="en-PH" i="1" dirty="0" smtClean="0">
                        <a:latin typeface="Cambria Math" panose="02040503050406030204" pitchFamily="18" charset="0"/>
                        <a:ea typeface="Cambria Math" panose="02040503050406030204" pitchFamily="18" charset="0"/>
                      </a:rPr>
                      <m:t>𝒯</m:t>
                    </m:r>
                    <m:r>
                      <a:rPr lang="en-PH" b="0" i="1" dirty="0" smtClean="0">
                        <a:latin typeface="Cambria Math" panose="02040503050406030204" pitchFamily="18" charset="0"/>
                        <a:ea typeface="Cambria Math" panose="02040503050406030204" pitchFamily="18" charset="0"/>
                      </a:rPr>
                      <m:t>[</m:t>
                    </m:r>
                    <m:r>
                      <a:rPr lang="en-PH" b="0" i="1" dirty="0" smtClean="0">
                        <a:latin typeface="Cambria Math" panose="02040503050406030204" pitchFamily="18" charset="0"/>
                        <a:ea typeface="Cambria Math" panose="02040503050406030204" pitchFamily="18" charset="0"/>
                      </a:rPr>
                      <m:t>𝑥</m:t>
                    </m:r>
                    <m:d>
                      <m:dPr>
                        <m:begChr m:val="["/>
                        <m:endChr m:val="]"/>
                        <m:ctrlPr>
                          <a:rPr lang="en-PH" b="0" i="1" dirty="0" smtClean="0">
                            <a:latin typeface="Cambria Math" panose="02040503050406030204" pitchFamily="18" charset="0"/>
                            <a:ea typeface="Cambria Math" panose="02040503050406030204" pitchFamily="18" charset="0"/>
                          </a:rPr>
                        </m:ctrlPr>
                      </m:dPr>
                      <m:e>
                        <m:r>
                          <a:rPr lang="en-PH" b="0" i="1" dirty="0" smtClean="0">
                            <a:latin typeface="Cambria Math" panose="02040503050406030204" pitchFamily="18" charset="0"/>
                            <a:ea typeface="Cambria Math" panose="02040503050406030204" pitchFamily="18" charset="0"/>
                          </a:rPr>
                          <m:t>𝑛</m:t>
                        </m:r>
                        <m:r>
                          <a:rPr lang="en-PH" b="0" i="1" dirty="0" smtClean="0">
                            <a:latin typeface="Cambria Math" panose="02040503050406030204" pitchFamily="18" charset="0"/>
                            <a:ea typeface="Cambria Math" panose="02040503050406030204" pitchFamily="18" charset="0"/>
                          </a:rPr>
                          <m:t>−</m:t>
                        </m:r>
                        <m:r>
                          <a:rPr lang="en-PH" b="0" i="1" dirty="0" smtClean="0">
                            <a:latin typeface="Cambria Math" panose="02040503050406030204" pitchFamily="18" charset="0"/>
                            <a:ea typeface="Cambria Math" panose="02040503050406030204" pitchFamily="18" charset="0"/>
                          </a:rPr>
                          <m:t>𝑘</m:t>
                        </m:r>
                      </m:e>
                    </m:d>
                    <m:r>
                      <a:rPr lang="en-PH" b="0" i="1" dirty="0" smtClean="0">
                        <a:latin typeface="Cambria Math" panose="02040503050406030204" pitchFamily="18" charset="0"/>
                        <a:ea typeface="Cambria Math" panose="02040503050406030204" pitchFamily="18" charset="0"/>
                      </a:rPr>
                      <m:t>]</m:t>
                    </m:r>
                  </m:oMath>
                </a14:m>
                <a:r>
                  <a:rPr lang="en-PH" dirty="0"/>
                  <a:t>.</a:t>
                </a:r>
              </a:p>
              <a:p>
                <a:pPr marL="745236" lvl="1" indent="-342900">
                  <a:buFont typeface="+mj-lt"/>
                  <a:buAutoNum type="arabicPeriod" startAt="3"/>
                </a:pPr>
                <a:r>
                  <a:rPr lang="en-PH" dirty="0"/>
                  <a:t>If the output </a:t>
                </a:r>
                <a14:m>
                  <m:oMath xmlns:m="http://schemas.openxmlformats.org/officeDocument/2006/math">
                    <m:r>
                      <m:rPr>
                        <m:sty m:val="p"/>
                      </m:rPr>
                      <a:rPr lang="en-PH" i="0" dirty="0" smtClean="0">
                        <a:latin typeface="Cambria Math" panose="02040503050406030204" pitchFamily="18" charset="0"/>
                      </a:rPr>
                      <m:t>y</m:t>
                    </m:r>
                    <m:r>
                      <a:rPr lang="en-PH" i="0" dirty="0" smtClean="0">
                        <a:latin typeface="Cambria Math" panose="02040503050406030204" pitchFamily="18" charset="0"/>
                      </a:rPr>
                      <m:t>[</m:t>
                    </m:r>
                    <m:r>
                      <m:rPr>
                        <m:sty m:val="p"/>
                      </m:rPr>
                      <a:rPr lang="en-PH" i="0" dirty="0" err="1" smtClean="0">
                        <a:latin typeface="Cambria Math" panose="02040503050406030204" pitchFamily="18" charset="0"/>
                      </a:rPr>
                      <m:t>n</m:t>
                    </m:r>
                    <m:r>
                      <a:rPr lang="en-PH" i="0" dirty="0" err="1" smtClean="0">
                        <a:latin typeface="Cambria Math" panose="02040503050406030204" pitchFamily="18" charset="0"/>
                      </a:rPr>
                      <m:t>,</m:t>
                    </m:r>
                    <m:r>
                      <m:rPr>
                        <m:sty m:val="p"/>
                      </m:rPr>
                      <a:rPr lang="en-PH" i="0" dirty="0" err="1" smtClean="0">
                        <a:latin typeface="Cambria Math" panose="02040503050406030204" pitchFamily="18" charset="0"/>
                      </a:rPr>
                      <m:t>k</m:t>
                    </m:r>
                    <m:r>
                      <a:rPr lang="en-PH" i="0" dirty="0" smtClean="0">
                        <a:latin typeface="Cambria Math" panose="02040503050406030204" pitchFamily="18" charset="0"/>
                      </a:rPr>
                      <m:t>]=</m:t>
                    </m:r>
                    <m:r>
                      <m:rPr>
                        <m:sty m:val="p"/>
                      </m:rPr>
                      <a:rPr lang="en-PH" i="0" dirty="0" smtClean="0">
                        <a:latin typeface="Cambria Math" panose="02040503050406030204" pitchFamily="18" charset="0"/>
                      </a:rPr>
                      <m:t>y</m:t>
                    </m:r>
                    <m:r>
                      <a:rPr lang="en-PH" i="0" dirty="0" smtClean="0">
                        <a:latin typeface="Cambria Math" panose="02040503050406030204" pitchFamily="18" charset="0"/>
                      </a:rPr>
                      <m:t>[</m:t>
                    </m:r>
                    <m:r>
                      <m:rPr>
                        <m:sty m:val="p"/>
                      </m:rPr>
                      <a:rPr lang="en-PH" i="0" dirty="0" smtClean="0">
                        <a:latin typeface="Cambria Math" panose="02040503050406030204" pitchFamily="18" charset="0"/>
                      </a:rPr>
                      <m:t>n</m:t>
                    </m:r>
                    <m:r>
                      <a:rPr lang="en-PH" i="0" dirty="0" smtClean="0">
                        <a:latin typeface="Cambria Math" panose="02040503050406030204" pitchFamily="18" charset="0"/>
                      </a:rPr>
                      <m:t>−</m:t>
                    </m:r>
                    <m:r>
                      <m:rPr>
                        <m:sty m:val="p"/>
                      </m:rPr>
                      <a:rPr lang="en-PH" i="0" dirty="0" smtClean="0">
                        <a:latin typeface="Cambria Math" panose="02040503050406030204" pitchFamily="18" charset="0"/>
                      </a:rPr>
                      <m:t>k</m:t>
                    </m:r>
                    <m:r>
                      <a:rPr lang="en-PH" i="0" dirty="0" smtClean="0">
                        <a:latin typeface="Cambria Math" panose="02040503050406030204" pitchFamily="18" charset="0"/>
                      </a:rPr>
                      <m:t>]</m:t>
                    </m:r>
                  </m:oMath>
                </a14:m>
                <a:r>
                  <a:rPr lang="en-PH" dirty="0"/>
                  <a:t>, for all possible values of k, the system is </a:t>
                </a:r>
                <a:r>
                  <a:rPr lang="en-PH" b="1" dirty="0"/>
                  <a:t>time- invariant.</a:t>
                </a:r>
              </a:p>
              <a:p>
                <a:pPr lvl="1">
                  <a:buFont typeface="+mj-lt"/>
                  <a:buAutoNum type="arabicPeriod" startAt="3"/>
                </a:pPr>
                <a:r>
                  <a:rPr lang="en-PH" dirty="0"/>
                  <a:t>If the output </a:t>
                </a:r>
                <a14:m>
                  <m:oMath xmlns:m="http://schemas.openxmlformats.org/officeDocument/2006/math">
                    <m:r>
                      <m:rPr>
                        <m:sty m:val="p"/>
                      </m:rPr>
                      <a:rPr lang="en-PH" dirty="0">
                        <a:latin typeface="Cambria Math" panose="02040503050406030204" pitchFamily="18" charset="0"/>
                      </a:rPr>
                      <m:t>y</m:t>
                    </m:r>
                    <m:d>
                      <m:dPr>
                        <m:begChr m:val="["/>
                        <m:endChr m:val="]"/>
                        <m:ctrlPr>
                          <a:rPr lang="en-PH" i="1" dirty="0" err="1">
                            <a:latin typeface="Cambria Math" panose="02040503050406030204" pitchFamily="18" charset="0"/>
                          </a:rPr>
                        </m:ctrlPr>
                      </m:dPr>
                      <m:e>
                        <m:r>
                          <m:rPr>
                            <m:sty m:val="p"/>
                          </m:rPr>
                          <a:rPr lang="en-PH" dirty="0" err="1">
                            <a:latin typeface="Cambria Math" panose="02040503050406030204" pitchFamily="18" charset="0"/>
                          </a:rPr>
                          <m:t>n</m:t>
                        </m:r>
                        <m:r>
                          <a:rPr lang="en-PH" dirty="0" err="1">
                            <a:latin typeface="Cambria Math" panose="02040503050406030204" pitchFamily="18" charset="0"/>
                          </a:rPr>
                          <m:t>,</m:t>
                        </m:r>
                        <m:r>
                          <m:rPr>
                            <m:sty m:val="p"/>
                          </m:rPr>
                          <a:rPr lang="en-PH" dirty="0" err="1">
                            <a:latin typeface="Cambria Math" panose="02040503050406030204" pitchFamily="18" charset="0"/>
                          </a:rPr>
                          <m:t>k</m:t>
                        </m:r>
                      </m:e>
                    </m:d>
                    <m:r>
                      <a:rPr lang="en-PH" i="1" dirty="0" smtClean="0">
                        <a:latin typeface="Cambria Math" panose="02040503050406030204" pitchFamily="18" charset="0"/>
                        <a:ea typeface="Cambria Math" panose="02040503050406030204" pitchFamily="18" charset="0"/>
                      </a:rPr>
                      <m:t>≠</m:t>
                    </m:r>
                    <m:r>
                      <m:rPr>
                        <m:sty m:val="p"/>
                      </m:rPr>
                      <a:rPr lang="en-PH" dirty="0">
                        <a:latin typeface="Cambria Math" panose="02040503050406030204" pitchFamily="18" charset="0"/>
                      </a:rPr>
                      <m:t>y</m:t>
                    </m:r>
                    <m:d>
                      <m:dPr>
                        <m:begChr m:val="["/>
                        <m:endChr m:val="]"/>
                        <m:ctrlPr>
                          <a:rPr lang="en-PH" i="1" dirty="0">
                            <a:latin typeface="Cambria Math" panose="02040503050406030204" pitchFamily="18" charset="0"/>
                          </a:rPr>
                        </m:ctrlPr>
                      </m:dPr>
                      <m:e>
                        <m:r>
                          <m:rPr>
                            <m:sty m:val="p"/>
                          </m:rPr>
                          <a:rPr lang="en-PH" dirty="0">
                            <a:latin typeface="Cambria Math" panose="02040503050406030204" pitchFamily="18" charset="0"/>
                          </a:rPr>
                          <m:t>n</m:t>
                        </m:r>
                        <m:r>
                          <a:rPr lang="en-PH" dirty="0">
                            <a:latin typeface="Cambria Math" panose="02040503050406030204" pitchFamily="18" charset="0"/>
                          </a:rPr>
                          <m:t>−</m:t>
                        </m:r>
                        <m:r>
                          <m:rPr>
                            <m:sty m:val="p"/>
                          </m:rPr>
                          <a:rPr lang="en-PH" dirty="0">
                            <a:latin typeface="Cambria Math" panose="02040503050406030204" pitchFamily="18" charset="0"/>
                          </a:rPr>
                          <m:t>k</m:t>
                        </m:r>
                      </m:e>
                    </m:d>
                    <m:r>
                      <a:rPr lang="en-PH" b="0" i="0" dirty="0" smtClean="0">
                        <a:latin typeface="Cambria Math" panose="02040503050406030204" pitchFamily="18" charset="0"/>
                      </a:rPr>
                      <m:t>, </m:t>
                    </m:r>
                  </m:oMath>
                </a14:m>
                <a:r>
                  <a:rPr lang="en-PH" dirty="0"/>
                  <a:t>even for one value of k, the system is </a:t>
                </a:r>
                <a:r>
                  <a:rPr lang="en-PH" b="1" dirty="0"/>
                  <a:t>time</a:t>
                </a:r>
                <a:r>
                  <a:rPr lang="en-PH" dirty="0"/>
                  <a:t> </a:t>
                </a:r>
                <a:r>
                  <a:rPr lang="en-PH" b="1" dirty="0"/>
                  <a:t>variant.</a:t>
                </a:r>
                <a:endParaRPr lang="en-PH" dirty="0"/>
              </a:p>
              <a:p>
                <a:pPr marL="402336" lvl="1" indent="0" algn="just">
                  <a:buNone/>
                </a:pPr>
                <a:r>
                  <a:rPr lang="en-PH" dirty="0"/>
                  <a:t> </a:t>
                </a:r>
              </a:p>
              <a:p>
                <a:pPr lvl="1" algn="just"/>
                <a:endParaRPr lang="en-PH" dirty="0"/>
              </a:p>
              <a:p>
                <a:pPr lvl="1" algn="just"/>
                <a:endParaRPr lang="en-PH" dirty="0"/>
              </a:p>
              <a:p>
                <a:pPr lvl="1" algn="just"/>
                <a:endParaRPr lang="en-PH" dirty="0"/>
              </a:p>
              <a:p>
                <a:pPr lvl="1" algn="just"/>
                <a:endParaRPr lang="en-PH" dirty="0"/>
              </a:p>
              <a:p>
                <a:pPr marL="402336" lvl="1" indent="0" algn="ctr">
                  <a:buNone/>
                </a:pPr>
                <a:endParaRPr lang="en-PH" dirty="0"/>
              </a:p>
              <a:p>
                <a:pPr lvl="1"/>
                <a:endParaRPr lang="en-PH" dirty="0"/>
              </a:p>
              <a:p>
                <a:pPr marL="402336" lvl="1" indent="0">
                  <a:buNone/>
                </a:pPr>
                <a:endParaRPr lang="en-PH"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66440" y="2286000"/>
                <a:ext cx="7744159" cy="4292600"/>
              </a:xfrm>
              <a:blipFill rotWithShape="0">
                <a:blip r:embed="rId3"/>
                <a:stretch>
                  <a:fillRect l="-630" t="-1420"/>
                </a:stretch>
              </a:blipFill>
            </p:spPr>
            <p:txBody>
              <a:bodyPr/>
              <a:lstStyle/>
              <a:p>
                <a:r>
                  <a:rPr lang="en-PH">
                    <a:noFill/>
                  </a:rPr>
                  <a:t> </a:t>
                </a:r>
              </a:p>
            </p:txBody>
          </p:sp>
        </mc:Fallback>
      </mc:AlternateContent>
    </p:spTree>
    <p:extLst>
      <p:ext uri="{BB962C8B-B14F-4D97-AF65-F5344CB8AC3E}">
        <p14:creationId xmlns:p14="http://schemas.microsoft.com/office/powerpoint/2010/main" val="42061517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6440" y="927099"/>
            <a:ext cx="6067760" cy="709865"/>
          </a:xfrm>
        </p:spPr>
        <p:txBody>
          <a:bodyPr/>
          <a:lstStyle/>
          <a:p>
            <a:pPr algn="ctr"/>
            <a:r>
              <a:rPr lang="en-PH" dirty="0"/>
              <a:t>Classification of Discrete-Time Systems</a:t>
            </a:r>
          </a:p>
        </p:txBody>
      </p:sp>
      <p:sp>
        <p:nvSpPr>
          <p:cNvPr id="3" name="Content Placeholder 2"/>
          <p:cNvSpPr>
            <a:spLocks noGrp="1"/>
          </p:cNvSpPr>
          <p:nvPr>
            <p:ph idx="1"/>
          </p:nvPr>
        </p:nvSpPr>
        <p:spPr>
          <a:xfrm>
            <a:off x="866441" y="2108200"/>
            <a:ext cx="7744159" cy="4902200"/>
          </a:xfrm>
        </p:spPr>
        <p:txBody>
          <a:bodyPr>
            <a:normAutofit/>
          </a:bodyPr>
          <a:lstStyle/>
          <a:p>
            <a:pPr marL="0" indent="0">
              <a:buNone/>
            </a:pPr>
            <a:r>
              <a:rPr lang="en-PH" b="1" dirty="0"/>
              <a:t>Time-Invariant versus Time Variant Systems</a:t>
            </a:r>
          </a:p>
          <a:p>
            <a:pPr marL="0" indent="0">
              <a:buNone/>
            </a:pPr>
            <a:r>
              <a:rPr lang="en-PH" b="1" dirty="0"/>
              <a:t>Example: </a:t>
            </a:r>
            <a:r>
              <a:rPr lang="en-PH" dirty="0"/>
              <a:t>Determine if the system shown below are time invariant or time variant. </a:t>
            </a:r>
          </a:p>
          <a:p>
            <a:pPr lvl="1" algn="just"/>
            <a:endParaRPr lang="en-PH" dirty="0"/>
          </a:p>
          <a:p>
            <a:pPr lvl="1" algn="just"/>
            <a:endParaRPr lang="en-PH" dirty="0"/>
          </a:p>
          <a:p>
            <a:pPr lvl="1" algn="just"/>
            <a:endParaRPr lang="en-PH" dirty="0"/>
          </a:p>
          <a:p>
            <a:pPr lvl="1" algn="just"/>
            <a:endParaRPr lang="en-PH" dirty="0"/>
          </a:p>
          <a:p>
            <a:pPr marL="402336" lvl="1" indent="0" algn="ctr">
              <a:buNone/>
            </a:pPr>
            <a:endParaRPr lang="en-PH" dirty="0"/>
          </a:p>
          <a:p>
            <a:pPr lvl="1"/>
            <a:endParaRPr lang="en-PH" dirty="0"/>
          </a:p>
          <a:p>
            <a:pPr marL="402336" lvl="1" indent="0">
              <a:buNone/>
            </a:pPr>
            <a:endParaRPr lang="en-PH" dirty="0"/>
          </a:p>
        </p:txBody>
      </p:sp>
      <p:pic>
        <p:nvPicPr>
          <p:cNvPr id="4" name="Picture 3"/>
          <p:cNvPicPr>
            <a:picLocks noChangeAspect="1"/>
          </p:cNvPicPr>
          <p:nvPr/>
        </p:nvPicPr>
        <p:blipFill>
          <a:blip r:embed="rId3"/>
          <a:stretch>
            <a:fillRect/>
          </a:stretch>
        </p:blipFill>
        <p:spPr>
          <a:xfrm>
            <a:off x="2743200" y="3048000"/>
            <a:ext cx="4724400" cy="1761549"/>
          </a:xfrm>
          <a:prstGeom prst="rect">
            <a:avLst/>
          </a:prstGeom>
        </p:spPr>
      </p:pic>
      <p:pic>
        <p:nvPicPr>
          <p:cNvPr id="5" name="Picture 4"/>
          <p:cNvPicPr>
            <a:picLocks noChangeAspect="1"/>
          </p:cNvPicPr>
          <p:nvPr/>
        </p:nvPicPr>
        <p:blipFill>
          <a:blip r:embed="rId4"/>
          <a:stretch>
            <a:fillRect/>
          </a:stretch>
        </p:blipFill>
        <p:spPr>
          <a:xfrm>
            <a:off x="2743200" y="4809549"/>
            <a:ext cx="4762304" cy="1719263"/>
          </a:xfrm>
          <a:prstGeom prst="rect">
            <a:avLst/>
          </a:prstGeom>
        </p:spPr>
      </p:pic>
      <p:pic>
        <p:nvPicPr>
          <p:cNvPr id="6" name="Picture 5"/>
          <p:cNvPicPr>
            <a:picLocks noChangeAspect="1"/>
          </p:cNvPicPr>
          <p:nvPr/>
        </p:nvPicPr>
        <p:blipFill>
          <a:blip r:embed="rId4"/>
          <a:stretch>
            <a:fillRect/>
          </a:stretch>
        </p:blipFill>
        <p:spPr>
          <a:xfrm>
            <a:off x="2895600" y="4961949"/>
            <a:ext cx="4762304" cy="1719263"/>
          </a:xfrm>
          <a:prstGeom prst="rect">
            <a:avLst/>
          </a:prstGeom>
        </p:spPr>
      </p:pic>
    </p:spTree>
    <p:extLst>
      <p:ext uri="{BB962C8B-B14F-4D97-AF65-F5344CB8AC3E}">
        <p14:creationId xmlns:p14="http://schemas.microsoft.com/office/powerpoint/2010/main" val="514504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6440" y="927099"/>
            <a:ext cx="6067760" cy="709865"/>
          </a:xfrm>
        </p:spPr>
        <p:txBody>
          <a:bodyPr/>
          <a:lstStyle/>
          <a:p>
            <a:pPr algn="ctr"/>
            <a:r>
              <a:rPr lang="en-PH" dirty="0"/>
              <a:t>Classification of Discrete-Time Systems</a:t>
            </a:r>
          </a:p>
        </p:txBody>
      </p:sp>
      <p:sp>
        <p:nvSpPr>
          <p:cNvPr id="3" name="Content Placeholder 2"/>
          <p:cNvSpPr>
            <a:spLocks noGrp="1"/>
          </p:cNvSpPr>
          <p:nvPr>
            <p:ph idx="1"/>
          </p:nvPr>
        </p:nvSpPr>
        <p:spPr>
          <a:xfrm>
            <a:off x="866441" y="2108200"/>
            <a:ext cx="7744159" cy="4902200"/>
          </a:xfrm>
        </p:spPr>
        <p:txBody>
          <a:bodyPr>
            <a:normAutofit/>
          </a:bodyPr>
          <a:lstStyle/>
          <a:p>
            <a:pPr marL="0" indent="0">
              <a:buNone/>
            </a:pPr>
            <a:r>
              <a:rPr lang="en-PH" b="1" dirty="0"/>
              <a:t>Time-Invariant versus Time Variant Systems</a:t>
            </a:r>
          </a:p>
          <a:p>
            <a:pPr marL="0" indent="0">
              <a:buNone/>
            </a:pPr>
            <a:r>
              <a:rPr lang="en-PH" b="1" dirty="0"/>
              <a:t>Example: </a:t>
            </a:r>
            <a:r>
              <a:rPr lang="en-PH" dirty="0"/>
              <a:t>Determine if the system shown below are time invariant or time variant. </a:t>
            </a:r>
          </a:p>
          <a:p>
            <a:pPr lvl="1" algn="just"/>
            <a:endParaRPr lang="en-PH" dirty="0"/>
          </a:p>
          <a:p>
            <a:pPr lvl="1" algn="just"/>
            <a:endParaRPr lang="en-PH" dirty="0"/>
          </a:p>
          <a:p>
            <a:pPr lvl="1" algn="just"/>
            <a:endParaRPr lang="en-PH" dirty="0"/>
          </a:p>
          <a:p>
            <a:pPr lvl="1" algn="just"/>
            <a:endParaRPr lang="en-PH" dirty="0"/>
          </a:p>
          <a:p>
            <a:pPr marL="402336" lvl="1" indent="0" algn="ctr">
              <a:buNone/>
            </a:pPr>
            <a:endParaRPr lang="en-PH" dirty="0"/>
          </a:p>
          <a:p>
            <a:pPr lvl="1"/>
            <a:endParaRPr lang="en-PH" dirty="0"/>
          </a:p>
          <a:p>
            <a:pPr marL="402336" lvl="1" indent="0">
              <a:buNone/>
            </a:pPr>
            <a:endParaRPr lang="en-PH" dirty="0"/>
          </a:p>
        </p:txBody>
      </p:sp>
      <p:pic>
        <p:nvPicPr>
          <p:cNvPr id="7" name="Picture 6"/>
          <p:cNvPicPr>
            <a:picLocks noChangeAspect="1"/>
          </p:cNvPicPr>
          <p:nvPr/>
        </p:nvPicPr>
        <p:blipFill>
          <a:blip r:embed="rId3"/>
          <a:stretch>
            <a:fillRect/>
          </a:stretch>
        </p:blipFill>
        <p:spPr>
          <a:xfrm>
            <a:off x="2057400" y="3266235"/>
            <a:ext cx="5105400" cy="3134565"/>
          </a:xfrm>
          <a:prstGeom prst="rect">
            <a:avLst/>
          </a:prstGeom>
        </p:spPr>
      </p:pic>
    </p:spTree>
    <p:extLst>
      <p:ext uri="{BB962C8B-B14F-4D97-AF65-F5344CB8AC3E}">
        <p14:creationId xmlns:p14="http://schemas.microsoft.com/office/powerpoint/2010/main" val="23591931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6440" y="927099"/>
            <a:ext cx="6067760" cy="709865"/>
          </a:xfrm>
        </p:spPr>
        <p:txBody>
          <a:bodyPr/>
          <a:lstStyle/>
          <a:p>
            <a:pPr algn="ctr"/>
            <a:r>
              <a:rPr lang="en-PH" dirty="0"/>
              <a:t>Classification of Discrete-Time Systems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66441" y="2362200"/>
                <a:ext cx="7744159" cy="4495800"/>
              </a:xfrm>
            </p:spPr>
            <p:txBody>
              <a:bodyPr>
                <a:normAutofit fontScale="92500" lnSpcReduction="20000"/>
              </a:bodyPr>
              <a:lstStyle/>
              <a:p>
                <a:pPr marL="59436" indent="0" algn="just">
                  <a:buNone/>
                </a:pPr>
                <a:r>
                  <a:rPr lang="en-PH" b="1" dirty="0"/>
                  <a:t>Linear versus Nonlinear System</a:t>
                </a:r>
              </a:p>
              <a:p>
                <a:pPr marL="59436" indent="0" algn="just">
                  <a:buNone/>
                </a:pPr>
                <a:r>
                  <a:rPr lang="en-PH" b="1" dirty="0"/>
                  <a:t>Linear System</a:t>
                </a:r>
              </a:p>
              <a:p>
                <a:pPr marL="688086" lvl="1" indent="-285750" algn="just"/>
                <a:r>
                  <a:rPr lang="en-PH" dirty="0"/>
                  <a:t>It is one that satisfies the </a:t>
                </a:r>
                <a:r>
                  <a:rPr lang="en-PH" i="1" dirty="0"/>
                  <a:t>superposition principle.</a:t>
                </a:r>
              </a:p>
              <a:p>
                <a:pPr marL="688086" lvl="1" indent="-285750" algn="just"/>
                <a:r>
                  <a:rPr lang="en-PH" dirty="0"/>
                  <a:t>A relaxed ,linear system with zero input produces a zero output</a:t>
                </a:r>
              </a:p>
              <a:p>
                <a:pPr marL="962406" lvl="2" indent="-285750" algn="just"/>
                <a:r>
                  <a:rPr lang="en-PH" b="1" dirty="0"/>
                  <a:t>Superposition Principle </a:t>
                </a:r>
                <a:r>
                  <a:rPr lang="en-PH" dirty="0"/>
                  <a:t>–requires that the response of the system to a weighted sum of signals be equal to the corresponding weighted sum of the responses (outputs) of the system to each of the individual input signals.</a:t>
                </a:r>
              </a:p>
              <a:p>
                <a:pPr lvl="1" algn="just"/>
                <a:r>
                  <a:rPr lang="en-PH" b="1" dirty="0"/>
                  <a:t>Definition. </a:t>
                </a:r>
                <a:r>
                  <a:rPr lang="en-PH" dirty="0"/>
                  <a:t>A relaxed </a:t>
                </a:r>
                <a14:m>
                  <m:oMath xmlns:m="http://schemas.openxmlformats.org/officeDocument/2006/math">
                    <m:r>
                      <a:rPr lang="en-PH" i="1" dirty="0">
                        <a:latin typeface="Cambria Math" panose="02040503050406030204" pitchFamily="18" charset="0"/>
                        <a:ea typeface="Cambria Math" panose="02040503050406030204" pitchFamily="18" charset="0"/>
                      </a:rPr>
                      <m:t>𝒯</m:t>
                    </m:r>
                  </m:oMath>
                </a14:m>
                <a:r>
                  <a:rPr lang="en-PH" b="1" dirty="0"/>
                  <a:t> </a:t>
                </a:r>
                <a:r>
                  <a:rPr lang="en-PH" dirty="0"/>
                  <a:t>system is linear if and only if </a:t>
                </a:r>
              </a:p>
              <a:p>
                <a:pPr marL="402336" lvl="1" indent="0" algn="just">
                  <a:buNone/>
                </a:pPr>
                <a14:m>
                  <m:oMathPara xmlns:m="http://schemas.openxmlformats.org/officeDocument/2006/math">
                    <m:oMathParaPr>
                      <m:jc m:val="centerGroup"/>
                    </m:oMathParaPr>
                    <m:oMath xmlns:m="http://schemas.openxmlformats.org/officeDocument/2006/math">
                      <m:r>
                        <a:rPr lang="en-PH" i="1" dirty="0">
                          <a:latin typeface="Cambria Math" panose="02040503050406030204" pitchFamily="18" charset="0"/>
                          <a:ea typeface="Cambria Math" panose="02040503050406030204" pitchFamily="18" charset="0"/>
                        </a:rPr>
                        <m:t>𝒯</m:t>
                      </m:r>
                      <m:d>
                        <m:dPr>
                          <m:begChr m:val="["/>
                          <m:endChr m:val="]"/>
                          <m:ctrlPr>
                            <a:rPr lang="en-PH" b="0" i="1" dirty="0" smtClean="0">
                              <a:latin typeface="Cambria Math" panose="02040503050406030204" pitchFamily="18" charset="0"/>
                              <a:ea typeface="Cambria Math" panose="02040503050406030204" pitchFamily="18" charset="0"/>
                            </a:rPr>
                          </m:ctrlPr>
                        </m:dPr>
                        <m:e>
                          <m:sSub>
                            <m:sSubPr>
                              <m:ctrlPr>
                                <a:rPr lang="en-PH" b="0" i="1" dirty="0" smtClean="0">
                                  <a:latin typeface="Cambria Math" panose="02040503050406030204" pitchFamily="18" charset="0"/>
                                  <a:ea typeface="Cambria Math" panose="02040503050406030204" pitchFamily="18" charset="0"/>
                                </a:rPr>
                              </m:ctrlPr>
                            </m:sSubPr>
                            <m:e>
                              <m:r>
                                <a:rPr lang="en-PH" b="0" i="1" dirty="0" smtClean="0">
                                  <a:latin typeface="Cambria Math" panose="02040503050406030204" pitchFamily="18" charset="0"/>
                                  <a:ea typeface="Cambria Math" panose="02040503050406030204" pitchFamily="18" charset="0"/>
                                </a:rPr>
                                <m:t>𝑎</m:t>
                              </m:r>
                            </m:e>
                            <m:sub>
                              <m:r>
                                <a:rPr lang="en-PH" b="0" i="1" dirty="0" smtClean="0">
                                  <a:latin typeface="Cambria Math" panose="02040503050406030204" pitchFamily="18" charset="0"/>
                                  <a:ea typeface="Cambria Math" panose="02040503050406030204" pitchFamily="18" charset="0"/>
                                </a:rPr>
                                <m:t>1</m:t>
                              </m:r>
                            </m:sub>
                          </m:sSub>
                          <m:sSub>
                            <m:sSubPr>
                              <m:ctrlPr>
                                <a:rPr lang="en-PH" i="1" dirty="0">
                                  <a:latin typeface="Cambria Math" panose="02040503050406030204" pitchFamily="18" charset="0"/>
                                  <a:ea typeface="Cambria Math" panose="02040503050406030204" pitchFamily="18" charset="0"/>
                                </a:rPr>
                              </m:ctrlPr>
                            </m:sSubPr>
                            <m:e>
                              <m:r>
                                <a:rPr lang="en-PH" b="0" i="1" dirty="0" smtClean="0">
                                  <a:latin typeface="Cambria Math" panose="02040503050406030204" pitchFamily="18" charset="0"/>
                                  <a:ea typeface="Cambria Math" panose="02040503050406030204" pitchFamily="18" charset="0"/>
                                </a:rPr>
                                <m:t>𝑥</m:t>
                              </m:r>
                            </m:e>
                            <m:sub>
                              <m:r>
                                <a:rPr lang="en-PH" b="0" i="1" dirty="0" smtClean="0">
                                  <a:latin typeface="Cambria Math" panose="02040503050406030204" pitchFamily="18" charset="0"/>
                                  <a:ea typeface="Cambria Math" panose="02040503050406030204" pitchFamily="18" charset="0"/>
                                </a:rPr>
                                <m:t>1</m:t>
                              </m:r>
                            </m:sub>
                          </m:sSub>
                          <m:d>
                            <m:dPr>
                              <m:begChr m:val="["/>
                              <m:endChr m:val="]"/>
                              <m:ctrlPr>
                                <a:rPr lang="en-PH" b="0" i="1" dirty="0" smtClean="0">
                                  <a:latin typeface="Cambria Math" panose="02040503050406030204" pitchFamily="18" charset="0"/>
                                  <a:ea typeface="Cambria Math" panose="02040503050406030204" pitchFamily="18" charset="0"/>
                                </a:rPr>
                              </m:ctrlPr>
                            </m:dPr>
                            <m:e>
                              <m:r>
                                <a:rPr lang="en-PH" b="0" i="1" dirty="0" smtClean="0">
                                  <a:latin typeface="Cambria Math" panose="02040503050406030204" pitchFamily="18" charset="0"/>
                                  <a:ea typeface="Cambria Math" panose="02040503050406030204" pitchFamily="18" charset="0"/>
                                </a:rPr>
                                <m:t>𝑛</m:t>
                              </m:r>
                            </m:e>
                          </m:d>
                          <m:r>
                            <a:rPr lang="en-PH" b="0" i="1" dirty="0" smtClean="0">
                              <a:latin typeface="Cambria Math" panose="02040503050406030204" pitchFamily="18" charset="0"/>
                              <a:ea typeface="Cambria Math" panose="02040503050406030204" pitchFamily="18" charset="0"/>
                            </a:rPr>
                            <m:t>+</m:t>
                          </m:r>
                          <m:sSub>
                            <m:sSubPr>
                              <m:ctrlPr>
                                <a:rPr lang="en-PH" i="1" dirty="0">
                                  <a:latin typeface="Cambria Math" panose="02040503050406030204" pitchFamily="18" charset="0"/>
                                  <a:ea typeface="Cambria Math" panose="02040503050406030204" pitchFamily="18" charset="0"/>
                                </a:rPr>
                              </m:ctrlPr>
                            </m:sSubPr>
                            <m:e>
                              <m:r>
                                <a:rPr lang="en-PH" b="0" i="1" dirty="0" smtClean="0">
                                  <a:latin typeface="Cambria Math" panose="02040503050406030204" pitchFamily="18" charset="0"/>
                                  <a:ea typeface="Cambria Math" panose="02040503050406030204" pitchFamily="18" charset="0"/>
                                </a:rPr>
                                <m:t>𝑎</m:t>
                              </m:r>
                            </m:e>
                            <m:sub>
                              <m:r>
                                <a:rPr lang="en-PH" b="0" i="1" dirty="0" smtClean="0">
                                  <a:latin typeface="Cambria Math" panose="02040503050406030204" pitchFamily="18" charset="0"/>
                                  <a:ea typeface="Cambria Math" panose="02040503050406030204" pitchFamily="18" charset="0"/>
                                </a:rPr>
                                <m:t>2</m:t>
                              </m:r>
                            </m:sub>
                          </m:sSub>
                          <m:sSub>
                            <m:sSubPr>
                              <m:ctrlPr>
                                <a:rPr lang="en-PH" i="1" dirty="0">
                                  <a:latin typeface="Cambria Math" panose="02040503050406030204" pitchFamily="18" charset="0"/>
                                  <a:ea typeface="Cambria Math" panose="02040503050406030204" pitchFamily="18" charset="0"/>
                                </a:rPr>
                              </m:ctrlPr>
                            </m:sSubPr>
                            <m:e>
                              <m:r>
                                <a:rPr lang="en-PH" b="0" i="1" dirty="0" smtClean="0">
                                  <a:latin typeface="Cambria Math" panose="02040503050406030204" pitchFamily="18" charset="0"/>
                                  <a:ea typeface="Cambria Math" panose="02040503050406030204" pitchFamily="18" charset="0"/>
                                </a:rPr>
                                <m:t>𝑥</m:t>
                              </m:r>
                            </m:e>
                            <m:sub>
                              <m:r>
                                <a:rPr lang="en-PH" b="0" i="1" dirty="0" smtClean="0">
                                  <a:latin typeface="Cambria Math" panose="02040503050406030204" pitchFamily="18" charset="0"/>
                                  <a:ea typeface="Cambria Math" panose="02040503050406030204" pitchFamily="18" charset="0"/>
                                </a:rPr>
                                <m:t>2</m:t>
                              </m:r>
                            </m:sub>
                          </m:sSub>
                          <m:d>
                            <m:dPr>
                              <m:begChr m:val="["/>
                              <m:endChr m:val="]"/>
                              <m:ctrlPr>
                                <a:rPr lang="en-PH" b="0" i="1" dirty="0" smtClean="0">
                                  <a:latin typeface="Cambria Math" panose="02040503050406030204" pitchFamily="18" charset="0"/>
                                  <a:ea typeface="Cambria Math" panose="02040503050406030204" pitchFamily="18" charset="0"/>
                                </a:rPr>
                              </m:ctrlPr>
                            </m:dPr>
                            <m:e>
                              <m:r>
                                <a:rPr lang="en-PH" b="0" i="1" dirty="0" smtClean="0">
                                  <a:latin typeface="Cambria Math" panose="02040503050406030204" pitchFamily="18" charset="0"/>
                                  <a:ea typeface="Cambria Math" panose="02040503050406030204" pitchFamily="18" charset="0"/>
                                </a:rPr>
                                <m:t>𝑛</m:t>
                              </m:r>
                            </m:e>
                          </m:d>
                        </m:e>
                      </m:d>
                      <m:r>
                        <a:rPr lang="en-PH" b="0" i="1" dirty="0" smtClean="0">
                          <a:latin typeface="Cambria Math" panose="02040503050406030204" pitchFamily="18" charset="0"/>
                          <a:ea typeface="Cambria Math" panose="02040503050406030204" pitchFamily="18" charset="0"/>
                        </a:rPr>
                        <m:t>=</m:t>
                      </m:r>
                      <m:sSub>
                        <m:sSubPr>
                          <m:ctrlPr>
                            <a:rPr lang="en-PH" i="1" dirty="0">
                              <a:latin typeface="Cambria Math" panose="02040503050406030204" pitchFamily="18" charset="0"/>
                              <a:ea typeface="Cambria Math" panose="02040503050406030204" pitchFamily="18" charset="0"/>
                            </a:rPr>
                          </m:ctrlPr>
                        </m:sSubPr>
                        <m:e>
                          <m:r>
                            <a:rPr lang="en-PH" b="0" i="1" dirty="0" smtClean="0">
                              <a:latin typeface="Cambria Math" panose="02040503050406030204" pitchFamily="18" charset="0"/>
                              <a:ea typeface="Cambria Math" panose="02040503050406030204" pitchFamily="18" charset="0"/>
                            </a:rPr>
                            <m:t>𝑎</m:t>
                          </m:r>
                        </m:e>
                        <m:sub>
                          <m:r>
                            <a:rPr lang="en-PH" b="0" i="1" dirty="0" smtClean="0">
                              <a:latin typeface="Cambria Math" panose="02040503050406030204" pitchFamily="18" charset="0"/>
                              <a:ea typeface="Cambria Math" panose="02040503050406030204" pitchFamily="18" charset="0"/>
                            </a:rPr>
                            <m:t>1</m:t>
                          </m:r>
                        </m:sub>
                      </m:sSub>
                      <m:r>
                        <a:rPr lang="en-PH" i="1" dirty="0">
                          <a:latin typeface="Cambria Math" panose="02040503050406030204" pitchFamily="18" charset="0"/>
                          <a:ea typeface="Cambria Math" panose="02040503050406030204" pitchFamily="18" charset="0"/>
                        </a:rPr>
                        <m:t>𝒯</m:t>
                      </m:r>
                      <m:d>
                        <m:dPr>
                          <m:begChr m:val="["/>
                          <m:endChr m:val="]"/>
                          <m:ctrlPr>
                            <a:rPr lang="en-PH" b="0" i="1" dirty="0" smtClean="0">
                              <a:latin typeface="Cambria Math" panose="02040503050406030204" pitchFamily="18" charset="0"/>
                              <a:ea typeface="Cambria Math" panose="02040503050406030204" pitchFamily="18" charset="0"/>
                            </a:rPr>
                          </m:ctrlPr>
                        </m:dPr>
                        <m:e>
                          <m:sSub>
                            <m:sSubPr>
                              <m:ctrlPr>
                                <a:rPr lang="en-PH" i="1" dirty="0">
                                  <a:latin typeface="Cambria Math" panose="02040503050406030204" pitchFamily="18" charset="0"/>
                                  <a:ea typeface="Cambria Math" panose="02040503050406030204" pitchFamily="18" charset="0"/>
                                </a:rPr>
                              </m:ctrlPr>
                            </m:sSubPr>
                            <m:e>
                              <m:r>
                                <a:rPr lang="en-PH" b="0" i="1" dirty="0" smtClean="0">
                                  <a:latin typeface="Cambria Math" panose="02040503050406030204" pitchFamily="18" charset="0"/>
                                  <a:ea typeface="Cambria Math" panose="02040503050406030204" pitchFamily="18" charset="0"/>
                                </a:rPr>
                                <m:t>𝑥</m:t>
                              </m:r>
                            </m:e>
                            <m:sub>
                              <m:r>
                                <a:rPr lang="en-PH" b="0" i="1" dirty="0" smtClean="0">
                                  <a:latin typeface="Cambria Math" panose="02040503050406030204" pitchFamily="18" charset="0"/>
                                  <a:ea typeface="Cambria Math" panose="02040503050406030204" pitchFamily="18" charset="0"/>
                                </a:rPr>
                                <m:t>1</m:t>
                              </m:r>
                            </m:sub>
                          </m:sSub>
                          <m:d>
                            <m:dPr>
                              <m:begChr m:val="["/>
                              <m:endChr m:val="]"/>
                              <m:ctrlPr>
                                <a:rPr lang="en-PH" b="0" i="1" dirty="0" smtClean="0">
                                  <a:latin typeface="Cambria Math" panose="02040503050406030204" pitchFamily="18" charset="0"/>
                                  <a:ea typeface="Cambria Math" panose="02040503050406030204" pitchFamily="18" charset="0"/>
                                </a:rPr>
                              </m:ctrlPr>
                            </m:dPr>
                            <m:e>
                              <m:r>
                                <a:rPr lang="en-PH" b="0" i="1" dirty="0" smtClean="0">
                                  <a:latin typeface="Cambria Math" panose="02040503050406030204" pitchFamily="18" charset="0"/>
                                  <a:ea typeface="Cambria Math" panose="02040503050406030204" pitchFamily="18" charset="0"/>
                                </a:rPr>
                                <m:t>𝑛</m:t>
                              </m:r>
                            </m:e>
                          </m:d>
                        </m:e>
                      </m:d>
                      <m:r>
                        <a:rPr lang="en-PH" b="0" i="1" dirty="0" smtClean="0">
                          <a:latin typeface="Cambria Math" panose="02040503050406030204" pitchFamily="18" charset="0"/>
                          <a:ea typeface="Cambria Math" panose="02040503050406030204" pitchFamily="18" charset="0"/>
                        </a:rPr>
                        <m:t>+</m:t>
                      </m:r>
                      <m:sSub>
                        <m:sSubPr>
                          <m:ctrlPr>
                            <a:rPr lang="en-PH" i="1" dirty="0">
                              <a:latin typeface="Cambria Math" panose="02040503050406030204" pitchFamily="18" charset="0"/>
                              <a:ea typeface="Cambria Math" panose="02040503050406030204" pitchFamily="18" charset="0"/>
                            </a:rPr>
                          </m:ctrlPr>
                        </m:sSubPr>
                        <m:e>
                          <m:r>
                            <a:rPr lang="en-PH" b="0" i="1" dirty="0" smtClean="0">
                              <a:latin typeface="Cambria Math" panose="02040503050406030204" pitchFamily="18" charset="0"/>
                              <a:ea typeface="Cambria Math" panose="02040503050406030204" pitchFamily="18" charset="0"/>
                            </a:rPr>
                            <m:t>𝑎</m:t>
                          </m:r>
                        </m:e>
                        <m:sub>
                          <m:r>
                            <a:rPr lang="en-PH" b="0" i="1" dirty="0" smtClean="0">
                              <a:latin typeface="Cambria Math" panose="02040503050406030204" pitchFamily="18" charset="0"/>
                              <a:ea typeface="Cambria Math" panose="02040503050406030204" pitchFamily="18" charset="0"/>
                            </a:rPr>
                            <m:t>2</m:t>
                          </m:r>
                        </m:sub>
                      </m:sSub>
                      <m:r>
                        <a:rPr lang="en-PH" i="1" dirty="0">
                          <a:latin typeface="Cambria Math" panose="02040503050406030204" pitchFamily="18" charset="0"/>
                          <a:ea typeface="Cambria Math" panose="02040503050406030204" pitchFamily="18" charset="0"/>
                        </a:rPr>
                        <m:t>𝒯</m:t>
                      </m:r>
                      <m:d>
                        <m:dPr>
                          <m:begChr m:val="["/>
                          <m:endChr m:val="]"/>
                          <m:ctrlPr>
                            <a:rPr lang="en-PH" i="1" dirty="0">
                              <a:latin typeface="Cambria Math" panose="02040503050406030204" pitchFamily="18" charset="0"/>
                              <a:ea typeface="Cambria Math" panose="02040503050406030204" pitchFamily="18" charset="0"/>
                            </a:rPr>
                          </m:ctrlPr>
                        </m:dPr>
                        <m:e>
                          <m:sSub>
                            <m:sSubPr>
                              <m:ctrlPr>
                                <a:rPr lang="en-PH" i="1" dirty="0">
                                  <a:latin typeface="Cambria Math" panose="02040503050406030204" pitchFamily="18" charset="0"/>
                                  <a:ea typeface="Cambria Math" panose="02040503050406030204" pitchFamily="18" charset="0"/>
                                </a:rPr>
                              </m:ctrlPr>
                            </m:sSubPr>
                            <m:e>
                              <m:r>
                                <a:rPr lang="en-PH" b="0" i="1" dirty="0" smtClean="0">
                                  <a:latin typeface="Cambria Math" panose="02040503050406030204" pitchFamily="18" charset="0"/>
                                  <a:ea typeface="Cambria Math" panose="02040503050406030204" pitchFamily="18" charset="0"/>
                                </a:rPr>
                                <m:t>𝑥</m:t>
                              </m:r>
                            </m:e>
                            <m:sub>
                              <m:r>
                                <a:rPr lang="en-PH" b="0" i="1" dirty="0" smtClean="0">
                                  <a:latin typeface="Cambria Math" panose="02040503050406030204" pitchFamily="18" charset="0"/>
                                  <a:ea typeface="Cambria Math" panose="02040503050406030204" pitchFamily="18" charset="0"/>
                                </a:rPr>
                                <m:t>2</m:t>
                              </m:r>
                            </m:sub>
                          </m:sSub>
                          <m:d>
                            <m:dPr>
                              <m:begChr m:val="["/>
                              <m:endChr m:val="]"/>
                              <m:ctrlPr>
                                <a:rPr lang="en-PH" i="1" dirty="0">
                                  <a:latin typeface="Cambria Math" panose="02040503050406030204" pitchFamily="18" charset="0"/>
                                  <a:ea typeface="Cambria Math" panose="02040503050406030204" pitchFamily="18" charset="0"/>
                                </a:rPr>
                              </m:ctrlPr>
                            </m:dPr>
                            <m:e>
                              <m:r>
                                <a:rPr lang="en-PH" b="0" i="1" dirty="0" smtClean="0">
                                  <a:latin typeface="Cambria Math" panose="02040503050406030204" pitchFamily="18" charset="0"/>
                                  <a:ea typeface="Cambria Math" panose="02040503050406030204" pitchFamily="18" charset="0"/>
                                </a:rPr>
                                <m:t>𝑛</m:t>
                              </m:r>
                            </m:e>
                          </m:d>
                        </m:e>
                      </m:d>
                    </m:oMath>
                  </m:oMathPara>
                </a14:m>
                <a:endParaRPr lang="en-PH" dirty="0"/>
              </a:p>
              <a:p>
                <a:pPr marL="402336" lvl="1" indent="0" algn="just">
                  <a:buNone/>
                </a:pPr>
                <a:r>
                  <a:rPr lang="en-PH" dirty="0"/>
                  <a:t>      	for any arbitrary input sequence </a:t>
                </a:r>
                <a14:m>
                  <m:oMath xmlns:m="http://schemas.openxmlformats.org/officeDocument/2006/math">
                    <m:sSub>
                      <m:sSubPr>
                        <m:ctrlPr>
                          <a:rPr lang="en-PH" i="1" smtClean="0">
                            <a:latin typeface="Cambria Math" panose="02040503050406030204" pitchFamily="18" charset="0"/>
                          </a:rPr>
                        </m:ctrlPr>
                      </m:sSubPr>
                      <m:e>
                        <m:r>
                          <a:rPr lang="en-PH" b="0" i="1" smtClean="0">
                            <a:latin typeface="Cambria Math" panose="02040503050406030204" pitchFamily="18" charset="0"/>
                          </a:rPr>
                          <m:t>𝑥</m:t>
                        </m:r>
                      </m:e>
                      <m:sub>
                        <m:r>
                          <a:rPr lang="en-PH" b="0" i="1" smtClean="0">
                            <a:latin typeface="Cambria Math" panose="02040503050406030204" pitchFamily="18" charset="0"/>
                          </a:rPr>
                          <m:t>1</m:t>
                        </m:r>
                      </m:sub>
                    </m:sSub>
                    <m:d>
                      <m:dPr>
                        <m:begChr m:val="["/>
                        <m:endChr m:val="]"/>
                        <m:ctrlPr>
                          <a:rPr lang="en-PH" i="1" smtClean="0">
                            <a:latin typeface="Cambria Math" panose="02040503050406030204" pitchFamily="18" charset="0"/>
                          </a:rPr>
                        </m:ctrlPr>
                      </m:dPr>
                      <m:e>
                        <m:r>
                          <a:rPr lang="en-PH" b="0" i="1" smtClean="0">
                            <a:latin typeface="Cambria Math" panose="02040503050406030204" pitchFamily="18" charset="0"/>
                          </a:rPr>
                          <m:t>𝑛</m:t>
                        </m:r>
                      </m:e>
                    </m:d>
                  </m:oMath>
                </a14:m>
                <a:r>
                  <a:rPr lang="en-PH" dirty="0"/>
                  <a:t> and </a:t>
                </a:r>
                <a14:m>
                  <m:oMath xmlns:m="http://schemas.openxmlformats.org/officeDocument/2006/math">
                    <m:sSub>
                      <m:sSubPr>
                        <m:ctrlPr>
                          <a:rPr lang="en-PH" i="1">
                            <a:latin typeface="Cambria Math" panose="02040503050406030204" pitchFamily="18" charset="0"/>
                          </a:rPr>
                        </m:ctrlPr>
                      </m:sSubPr>
                      <m:e>
                        <m:r>
                          <a:rPr lang="en-PH" b="0" i="1">
                            <a:latin typeface="Cambria Math" panose="02040503050406030204" pitchFamily="18" charset="0"/>
                          </a:rPr>
                          <m:t>𝑥</m:t>
                        </m:r>
                      </m:e>
                      <m:sub>
                        <m:r>
                          <a:rPr lang="en-PH" b="0" i="1" smtClean="0">
                            <a:latin typeface="Cambria Math" panose="02040503050406030204" pitchFamily="18" charset="0"/>
                          </a:rPr>
                          <m:t>2</m:t>
                        </m:r>
                      </m:sub>
                    </m:sSub>
                    <m:d>
                      <m:dPr>
                        <m:begChr m:val="["/>
                        <m:endChr m:val="]"/>
                        <m:ctrlPr>
                          <a:rPr lang="en-PH" i="1">
                            <a:latin typeface="Cambria Math" panose="02040503050406030204" pitchFamily="18" charset="0"/>
                          </a:rPr>
                        </m:ctrlPr>
                      </m:dPr>
                      <m:e>
                        <m:r>
                          <a:rPr lang="en-PH" b="0" i="1">
                            <a:latin typeface="Cambria Math" panose="02040503050406030204" pitchFamily="18" charset="0"/>
                          </a:rPr>
                          <m:t>𝑛</m:t>
                        </m:r>
                      </m:e>
                    </m:d>
                  </m:oMath>
                </a14:m>
                <a:r>
                  <a:rPr lang="en-PH" dirty="0"/>
                  <a:t>, and any arbitrary 		constant </a:t>
                </a:r>
                <a14:m>
                  <m:oMath xmlns:m="http://schemas.openxmlformats.org/officeDocument/2006/math">
                    <m:sSub>
                      <m:sSubPr>
                        <m:ctrlPr>
                          <a:rPr lang="en-PH" i="1" smtClean="0">
                            <a:latin typeface="Cambria Math" panose="02040503050406030204" pitchFamily="18" charset="0"/>
                          </a:rPr>
                        </m:ctrlPr>
                      </m:sSubPr>
                      <m:e>
                        <m:r>
                          <a:rPr lang="en-PH" b="0" i="1" smtClean="0">
                            <a:latin typeface="Cambria Math" panose="02040503050406030204" pitchFamily="18" charset="0"/>
                          </a:rPr>
                          <m:t>𝑎</m:t>
                        </m:r>
                      </m:e>
                      <m:sub>
                        <m:r>
                          <a:rPr lang="en-PH" b="0" i="1" smtClean="0">
                            <a:latin typeface="Cambria Math" panose="02040503050406030204" pitchFamily="18" charset="0"/>
                          </a:rPr>
                          <m:t>1</m:t>
                        </m:r>
                      </m:sub>
                    </m:sSub>
                  </m:oMath>
                </a14:m>
                <a:r>
                  <a:rPr lang="en-PH" dirty="0"/>
                  <a:t> and </a:t>
                </a:r>
                <a14:m>
                  <m:oMath xmlns:m="http://schemas.openxmlformats.org/officeDocument/2006/math">
                    <m:sSub>
                      <m:sSubPr>
                        <m:ctrlPr>
                          <a:rPr lang="en-PH" i="1" smtClean="0">
                            <a:latin typeface="Cambria Math" panose="02040503050406030204" pitchFamily="18" charset="0"/>
                          </a:rPr>
                        </m:ctrlPr>
                      </m:sSubPr>
                      <m:e>
                        <m:r>
                          <a:rPr lang="en-PH" b="0" i="1" smtClean="0">
                            <a:latin typeface="Cambria Math" panose="02040503050406030204" pitchFamily="18" charset="0"/>
                          </a:rPr>
                          <m:t>𝑎</m:t>
                        </m:r>
                      </m:e>
                      <m:sub>
                        <m:r>
                          <a:rPr lang="en-PH" b="0" i="1" smtClean="0">
                            <a:latin typeface="Cambria Math" panose="02040503050406030204" pitchFamily="18" charset="0"/>
                          </a:rPr>
                          <m:t>2</m:t>
                        </m:r>
                      </m:sub>
                    </m:sSub>
                  </m:oMath>
                </a14:m>
                <a:r>
                  <a:rPr lang="en-PH" dirty="0"/>
                  <a:t>.</a:t>
                </a:r>
              </a:p>
              <a:p>
                <a:pPr marL="59436" indent="0" algn="just">
                  <a:buNone/>
                </a:pPr>
                <a:r>
                  <a:rPr lang="en-PH" b="1" dirty="0"/>
                  <a:t>Nonlinear System</a:t>
                </a:r>
              </a:p>
              <a:p>
                <a:pPr lvl="1" algn="just"/>
                <a:r>
                  <a:rPr lang="en-PH" dirty="0"/>
                  <a:t>If a relaxed system does not satisfy the superposition principle as  given by the definition above.</a:t>
                </a:r>
              </a:p>
              <a:p>
                <a:pPr lvl="1" algn="just"/>
                <a:r>
                  <a:rPr lang="en-PH" dirty="0"/>
                  <a:t>If a system produces a nonzero output with a zero input, the system may be either </a:t>
                </a:r>
                <a:r>
                  <a:rPr lang="en-PH" dirty="0" err="1"/>
                  <a:t>nonrelaxed</a:t>
                </a:r>
                <a:r>
                  <a:rPr lang="en-PH" dirty="0"/>
                  <a:t> or nonlinear</a:t>
                </a:r>
              </a:p>
              <a:p>
                <a:pPr marL="402336" lvl="1" indent="0" algn="just">
                  <a:buNone/>
                </a:pPr>
                <a:endParaRPr lang="en-PH" dirty="0"/>
              </a:p>
              <a:p>
                <a:pPr lvl="1" algn="just"/>
                <a:endParaRPr lang="en-PH" b="1" dirty="0"/>
              </a:p>
              <a:p>
                <a:pPr lvl="1" algn="just"/>
                <a:endParaRPr lang="en-PH" dirty="0"/>
              </a:p>
              <a:p>
                <a:pPr lvl="1" algn="just"/>
                <a:endParaRPr lang="en-PH" dirty="0"/>
              </a:p>
              <a:p>
                <a:pPr marL="402336" lvl="1" indent="0" algn="ctr">
                  <a:buNone/>
                </a:pPr>
                <a:endParaRPr lang="en-PH" dirty="0"/>
              </a:p>
              <a:p>
                <a:pPr lvl="1"/>
                <a:endParaRPr lang="en-PH" dirty="0"/>
              </a:p>
              <a:p>
                <a:pPr marL="402336" lvl="1" indent="0">
                  <a:buNone/>
                </a:pPr>
                <a:endParaRPr lang="en-PH"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66441" y="2362200"/>
                <a:ext cx="7744159" cy="4495800"/>
              </a:xfrm>
              <a:blipFill rotWithShape="0">
                <a:blip r:embed="rId3"/>
                <a:stretch>
                  <a:fillRect t="-1628" r="-236"/>
                </a:stretch>
              </a:blipFill>
            </p:spPr>
            <p:txBody>
              <a:bodyPr/>
              <a:lstStyle/>
              <a:p>
                <a:r>
                  <a:rPr lang="en-PH">
                    <a:noFill/>
                  </a:rPr>
                  <a:t> </a:t>
                </a:r>
              </a:p>
            </p:txBody>
          </p:sp>
        </mc:Fallback>
      </mc:AlternateContent>
    </p:spTree>
    <p:extLst>
      <p:ext uri="{BB962C8B-B14F-4D97-AF65-F5344CB8AC3E}">
        <p14:creationId xmlns:p14="http://schemas.microsoft.com/office/powerpoint/2010/main" val="38060105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6440" y="927099"/>
            <a:ext cx="6067760" cy="709865"/>
          </a:xfrm>
        </p:spPr>
        <p:txBody>
          <a:bodyPr/>
          <a:lstStyle/>
          <a:p>
            <a:pPr algn="ctr"/>
            <a:r>
              <a:rPr lang="en-PH" dirty="0"/>
              <a:t>Classification of Discrete-Time Systems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66441" y="2108200"/>
                <a:ext cx="7744159" cy="4902200"/>
              </a:xfrm>
            </p:spPr>
            <p:txBody>
              <a:bodyPr>
                <a:normAutofit/>
              </a:bodyPr>
              <a:lstStyle/>
              <a:p>
                <a:pPr marL="0" indent="0" algn="just">
                  <a:buNone/>
                </a:pPr>
                <a:r>
                  <a:rPr lang="en-PH" b="1" dirty="0"/>
                  <a:t>Linear versus Nonlinear System</a:t>
                </a:r>
              </a:p>
              <a:p>
                <a:pPr algn="just"/>
                <a14:m>
                  <m:oMath xmlns:m="http://schemas.openxmlformats.org/officeDocument/2006/math">
                    <m:r>
                      <a:rPr lang="en-PH" i="1">
                        <a:latin typeface="Cambria Math" panose="02040503050406030204" pitchFamily="18" charset="0"/>
                        <a:ea typeface="Cambria Math" panose="02040503050406030204" pitchFamily="18" charset="0"/>
                      </a:rPr>
                      <m:t>𝒯</m:t>
                    </m:r>
                    <m:r>
                      <a:rPr lang="en-PH" i="1">
                        <a:latin typeface="Cambria Math" panose="02040503050406030204" pitchFamily="18" charset="0"/>
                        <a:ea typeface="Cambria Math" panose="02040503050406030204" pitchFamily="18" charset="0"/>
                      </a:rPr>
                      <m:t> </m:t>
                    </m:r>
                  </m:oMath>
                </a14:m>
                <a:r>
                  <a:rPr lang="en-PH" dirty="0"/>
                  <a:t>is linear if and only if </a:t>
                </a:r>
                <a14:m>
                  <m:oMath xmlns:m="http://schemas.openxmlformats.org/officeDocument/2006/math">
                    <m:r>
                      <a:rPr lang="en-PH" i="1">
                        <a:latin typeface="Cambria Math" panose="02040503050406030204" pitchFamily="18" charset="0"/>
                      </a:rPr>
                      <m:t>𝑦</m:t>
                    </m:r>
                    <m:d>
                      <m:dPr>
                        <m:begChr m:val="["/>
                        <m:endChr m:val="]"/>
                        <m:ctrlPr>
                          <a:rPr lang="en-PH" i="1">
                            <a:latin typeface="Cambria Math" panose="02040503050406030204" pitchFamily="18" charset="0"/>
                          </a:rPr>
                        </m:ctrlPr>
                      </m:dPr>
                      <m:e>
                        <m:r>
                          <a:rPr lang="en-PH" i="1">
                            <a:latin typeface="Cambria Math" panose="02040503050406030204" pitchFamily="18" charset="0"/>
                          </a:rPr>
                          <m:t>𝑛</m:t>
                        </m:r>
                      </m:e>
                    </m:d>
                    <m:r>
                      <a:rPr lang="en-PH" i="1">
                        <a:latin typeface="Cambria Math" panose="02040503050406030204" pitchFamily="18" charset="0"/>
                      </a:rPr>
                      <m:t>=</m:t>
                    </m:r>
                    <m:sSup>
                      <m:sSupPr>
                        <m:ctrlPr>
                          <a:rPr lang="en-PH" i="1">
                            <a:latin typeface="Cambria Math" panose="02040503050406030204" pitchFamily="18" charset="0"/>
                          </a:rPr>
                        </m:ctrlPr>
                      </m:sSupPr>
                      <m:e>
                        <m:r>
                          <a:rPr lang="en-PH" i="1">
                            <a:latin typeface="Cambria Math" panose="02040503050406030204" pitchFamily="18" charset="0"/>
                          </a:rPr>
                          <m:t>𝑦</m:t>
                        </m:r>
                      </m:e>
                      <m:sup>
                        <m:r>
                          <a:rPr lang="en-PH" i="1">
                            <a:latin typeface="Cambria Math" panose="02040503050406030204" pitchFamily="18" charset="0"/>
                          </a:rPr>
                          <m:t>′</m:t>
                        </m:r>
                      </m:sup>
                    </m:sSup>
                    <m:d>
                      <m:dPr>
                        <m:begChr m:val="["/>
                        <m:endChr m:val="]"/>
                        <m:ctrlPr>
                          <a:rPr lang="en-PH" i="1">
                            <a:latin typeface="Cambria Math" panose="02040503050406030204" pitchFamily="18" charset="0"/>
                          </a:rPr>
                        </m:ctrlPr>
                      </m:dPr>
                      <m:e>
                        <m:r>
                          <a:rPr lang="en-PH" i="1">
                            <a:latin typeface="Cambria Math" panose="02040503050406030204" pitchFamily="18" charset="0"/>
                          </a:rPr>
                          <m:t>𝑛</m:t>
                        </m:r>
                      </m:e>
                    </m:d>
                  </m:oMath>
                </a14:m>
                <a:endParaRPr lang="en-PH" b="1" dirty="0"/>
              </a:p>
              <a:p>
                <a:pPr lvl="1" algn="just"/>
                <a:endParaRPr lang="en-PH" dirty="0"/>
              </a:p>
              <a:p>
                <a:pPr lvl="1" algn="just"/>
                <a:endParaRPr lang="en-PH" dirty="0"/>
              </a:p>
              <a:p>
                <a:pPr lvl="1" algn="just"/>
                <a:endParaRPr lang="en-PH" dirty="0"/>
              </a:p>
              <a:p>
                <a:pPr marL="402336" lvl="1" indent="0" algn="ctr">
                  <a:buNone/>
                </a:pPr>
                <a:endParaRPr lang="en-PH" dirty="0"/>
              </a:p>
              <a:p>
                <a:pPr lvl="1"/>
                <a:endParaRPr lang="en-PH" dirty="0"/>
              </a:p>
              <a:p>
                <a:pPr marL="402336" lvl="1" indent="0">
                  <a:buNone/>
                </a:pPr>
                <a:endParaRPr lang="en-PH" dirty="0"/>
              </a:p>
              <a:p>
                <a:pPr marL="402336" lvl="1" indent="0">
                  <a:buNone/>
                </a:pPr>
                <a:endParaRPr lang="en-PH" dirty="0"/>
              </a:p>
              <a:p>
                <a:pPr marL="402336" lvl="1" indent="0">
                  <a:buNone/>
                </a:pPr>
                <a:endParaRPr lang="en-PH" dirty="0"/>
              </a:p>
              <a:p>
                <a:pPr marL="402336" lvl="1" indent="0" algn="ctr">
                  <a:buNone/>
                </a:pPr>
                <a:endParaRPr lang="en-PH" sz="1200"/>
              </a:p>
              <a:p>
                <a:pPr marL="402336" lvl="1" indent="0" algn="ctr">
                  <a:buNone/>
                </a:pPr>
                <a:r>
                  <a:rPr lang="en-PH" sz="1200"/>
                  <a:t>Graphical </a:t>
                </a:r>
                <a:r>
                  <a:rPr lang="en-PH" sz="1200" dirty="0"/>
                  <a:t>representation of the superposition principle.</a:t>
                </a:r>
              </a:p>
              <a:p>
                <a:pPr marL="402336" lvl="1" indent="0" algn="ctr">
                  <a:buNone/>
                </a:pPr>
                <a:endParaRPr lang="en-PH" sz="1200" dirty="0"/>
              </a:p>
              <a:p>
                <a:pPr lvl="1"/>
                <a:endParaRPr lang="en-PH" dirty="0"/>
              </a:p>
              <a:p>
                <a:pPr marL="402336" lvl="1" indent="0">
                  <a:buNone/>
                </a:pPr>
                <a:endParaRPr lang="en-PH" dirty="0"/>
              </a:p>
              <a:p>
                <a:pPr marL="402336" lvl="1" indent="0">
                  <a:buNone/>
                </a:pPr>
                <a:endParaRPr lang="en-PH"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66441" y="2108200"/>
                <a:ext cx="7744159" cy="4902200"/>
              </a:xfrm>
              <a:blipFill rotWithShape="0">
                <a:blip r:embed="rId3"/>
                <a:stretch>
                  <a:fillRect l="-629" t="-746"/>
                </a:stretch>
              </a:blipFill>
            </p:spPr>
            <p:txBody>
              <a:bodyPr/>
              <a:lstStyle/>
              <a:p>
                <a:r>
                  <a:rPr lang="en-PH">
                    <a:noFill/>
                  </a:rPr>
                  <a:t> </a:t>
                </a:r>
              </a:p>
            </p:txBody>
          </p:sp>
        </mc:Fallback>
      </mc:AlternateContent>
      <p:pic>
        <p:nvPicPr>
          <p:cNvPr id="4" name="Picture 3"/>
          <p:cNvPicPr>
            <a:picLocks noChangeAspect="1"/>
          </p:cNvPicPr>
          <p:nvPr/>
        </p:nvPicPr>
        <p:blipFill>
          <a:blip r:embed="rId4"/>
          <a:stretch>
            <a:fillRect/>
          </a:stretch>
        </p:blipFill>
        <p:spPr>
          <a:xfrm>
            <a:off x="2209800" y="2973387"/>
            <a:ext cx="4467225" cy="3171825"/>
          </a:xfrm>
          <a:prstGeom prst="rect">
            <a:avLst/>
          </a:prstGeom>
        </p:spPr>
      </p:pic>
    </p:spTree>
    <p:extLst>
      <p:ext uri="{BB962C8B-B14F-4D97-AF65-F5344CB8AC3E}">
        <p14:creationId xmlns:p14="http://schemas.microsoft.com/office/powerpoint/2010/main" val="1591796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6440" y="927099"/>
            <a:ext cx="6067760" cy="709865"/>
          </a:xfrm>
        </p:spPr>
        <p:txBody>
          <a:bodyPr/>
          <a:lstStyle/>
          <a:p>
            <a:pPr algn="ctr"/>
            <a:r>
              <a:rPr lang="en-PH" dirty="0"/>
              <a:t>Classification of Discrete-Time Systems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66441" y="2108200"/>
                <a:ext cx="7744159" cy="4064000"/>
              </a:xfrm>
            </p:spPr>
            <p:txBody>
              <a:bodyPr>
                <a:normAutofit/>
              </a:bodyPr>
              <a:lstStyle/>
              <a:p>
                <a:pPr marL="59436" indent="0" algn="just">
                  <a:buNone/>
                </a:pPr>
                <a:r>
                  <a:rPr lang="en-PH" b="1" dirty="0"/>
                  <a:t>Linear versus Nonlinear System</a:t>
                </a:r>
              </a:p>
              <a:p>
                <a:pPr marL="59436" indent="0" algn="just">
                  <a:buNone/>
                </a:pPr>
                <a:r>
                  <a:rPr lang="en-PH" b="1" dirty="0"/>
                  <a:t>Example: </a:t>
                </a:r>
                <a:r>
                  <a:rPr lang="en-PH" dirty="0"/>
                  <a:t>Determine if the systems described are linear or nonlinear.</a:t>
                </a:r>
              </a:p>
              <a:p>
                <a:pPr marL="402336" algn="just">
                  <a:buFont typeface="+mj-lt"/>
                  <a:buAutoNum type="alphaLcPeriod"/>
                </a:pPr>
                <a14:m>
                  <m:oMath xmlns:m="http://schemas.openxmlformats.org/officeDocument/2006/math">
                    <m:r>
                      <a:rPr lang="en-PH" b="0" i="1" smtClean="0">
                        <a:latin typeface="Cambria Math" panose="02040503050406030204" pitchFamily="18" charset="0"/>
                      </a:rPr>
                      <m:t>𝑦</m:t>
                    </m:r>
                    <m:d>
                      <m:dPr>
                        <m:begChr m:val="["/>
                        <m:endChr m:val="]"/>
                        <m:ctrlPr>
                          <a:rPr lang="en-PH" i="1" smtClean="0">
                            <a:latin typeface="Cambria Math" panose="02040503050406030204" pitchFamily="18" charset="0"/>
                          </a:rPr>
                        </m:ctrlPr>
                      </m:dPr>
                      <m:e>
                        <m:r>
                          <a:rPr lang="en-PH" b="0" i="1" smtClean="0">
                            <a:latin typeface="Cambria Math" panose="02040503050406030204" pitchFamily="18" charset="0"/>
                          </a:rPr>
                          <m:t>𝑛</m:t>
                        </m:r>
                      </m:e>
                    </m:d>
                    <m:r>
                      <a:rPr lang="en-PH" b="0" i="1" smtClean="0">
                        <a:latin typeface="Cambria Math" panose="02040503050406030204" pitchFamily="18" charset="0"/>
                      </a:rPr>
                      <m:t>=</m:t>
                    </m:r>
                    <m:r>
                      <a:rPr lang="en-PH" b="0" i="1" smtClean="0">
                        <a:latin typeface="Cambria Math" panose="02040503050406030204" pitchFamily="18" charset="0"/>
                      </a:rPr>
                      <m:t>𝑛𝑥</m:t>
                    </m:r>
                    <m:d>
                      <m:dPr>
                        <m:begChr m:val="["/>
                        <m:endChr m:val="]"/>
                        <m:ctrlPr>
                          <a:rPr lang="en-PH" i="1" smtClean="0">
                            <a:latin typeface="Cambria Math" panose="02040503050406030204" pitchFamily="18" charset="0"/>
                          </a:rPr>
                        </m:ctrlPr>
                      </m:dPr>
                      <m:e>
                        <m:r>
                          <a:rPr lang="en-PH" b="0" i="1" smtClean="0">
                            <a:latin typeface="Cambria Math" panose="02040503050406030204" pitchFamily="18" charset="0"/>
                          </a:rPr>
                          <m:t>𝑛</m:t>
                        </m:r>
                      </m:e>
                    </m:d>
                  </m:oMath>
                </a14:m>
                <a:endParaRPr lang="en-PH" dirty="0"/>
              </a:p>
              <a:p>
                <a:pPr marL="402336" algn="just">
                  <a:buFont typeface="+mj-lt"/>
                  <a:buAutoNum type="alphaLcPeriod"/>
                </a:pPr>
                <a14:m>
                  <m:oMath xmlns:m="http://schemas.openxmlformats.org/officeDocument/2006/math">
                    <m:r>
                      <a:rPr lang="en-PH" b="0" i="1" smtClean="0">
                        <a:latin typeface="Cambria Math" panose="02040503050406030204" pitchFamily="18" charset="0"/>
                      </a:rPr>
                      <m:t>𝑦</m:t>
                    </m:r>
                    <m:d>
                      <m:dPr>
                        <m:begChr m:val="["/>
                        <m:endChr m:val="]"/>
                        <m:ctrlPr>
                          <a:rPr lang="en-PH" b="0" i="1" smtClean="0">
                            <a:latin typeface="Cambria Math" panose="02040503050406030204" pitchFamily="18" charset="0"/>
                          </a:rPr>
                        </m:ctrlPr>
                      </m:dPr>
                      <m:e>
                        <m:r>
                          <a:rPr lang="en-PH" b="0" i="1" smtClean="0">
                            <a:latin typeface="Cambria Math" panose="02040503050406030204" pitchFamily="18" charset="0"/>
                          </a:rPr>
                          <m:t>𝑛</m:t>
                        </m:r>
                      </m:e>
                    </m:d>
                    <m:r>
                      <a:rPr lang="en-PH" b="0" i="1" smtClean="0">
                        <a:latin typeface="Cambria Math" panose="02040503050406030204" pitchFamily="18" charset="0"/>
                      </a:rPr>
                      <m:t>=</m:t>
                    </m:r>
                    <m:r>
                      <a:rPr lang="en-PH" b="0" i="1" smtClean="0">
                        <a:latin typeface="Cambria Math" panose="02040503050406030204" pitchFamily="18" charset="0"/>
                      </a:rPr>
                      <m:t>𝑥</m:t>
                    </m:r>
                    <m:d>
                      <m:dPr>
                        <m:begChr m:val="["/>
                        <m:endChr m:val="]"/>
                        <m:ctrlPr>
                          <a:rPr lang="en-PH" b="0" i="1" smtClean="0">
                            <a:latin typeface="Cambria Math" panose="02040503050406030204" pitchFamily="18" charset="0"/>
                          </a:rPr>
                        </m:ctrlPr>
                      </m:dPr>
                      <m:e>
                        <m:sSup>
                          <m:sSupPr>
                            <m:ctrlPr>
                              <a:rPr lang="en-PH" b="0" i="1" smtClean="0">
                                <a:latin typeface="Cambria Math" panose="02040503050406030204" pitchFamily="18" charset="0"/>
                              </a:rPr>
                            </m:ctrlPr>
                          </m:sSupPr>
                          <m:e>
                            <m:r>
                              <a:rPr lang="en-PH" b="0" i="1" smtClean="0">
                                <a:latin typeface="Cambria Math" panose="02040503050406030204" pitchFamily="18" charset="0"/>
                              </a:rPr>
                              <m:t>𝑛</m:t>
                            </m:r>
                          </m:e>
                          <m:sup>
                            <m:r>
                              <a:rPr lang="en-PH" b="0" i="1" smtClean="0">
                                <a:latin typeface="Cambria Math" panose="02040503050406030204" pitchFamily="18" charset="0"/>
                              </a:rPr>
                              <m:t>2</m:t>
                            </m:r>
                          </m:sup>
                        </m:sSup>
                      </m:e>
                    </m:d>
                  </m:oMath>
                </a14:m>
                <a:endParaRPr lang="en-PH" dirty="0"/>
              </a:p>
              <a:p>
                <a:pPr marL="402336" algn="just">
                  <a:buFont typeface="+mj-lt"/>
                  <a:buAutoNum type="alphaLcPeriod"/>
                </a:pPr>
                <a14:m>
                  <m:oMath xmlns:m="http://schemas.openxmlformats.org/officeDocument/2006/math">
                    <m:r>
                      <a:rPr lang="en-PH" b="0" i="1" smtClean="0">
                        <a:latin typeface="Cambria Math" panose="02040503050406030204" pitchFamily="18" charset="0"/>
                      </a:rPr>
                      <m:t>𝑦</m:t>
                    </m:r>
                    <m:d>
                      <m:dPr>
                        <m:begChr m:val="["/>
                        <m:endChr m:val="]"/>
                        <m:ctrlPr>
                          <a:rPr lang="en-PH" b="0" i="1" smtClean="0">
                            <a:latin typeface="Cambria Math" panose="02040503050406030204" pitchFamily="18" charset="0"/>
                          </a:rPr>
                        </m:ctrlPr>
                      </m:dPr>
                      <m:e>
                        <m:r>
                          <a:rPr lang="en-PH" b="0" i="1" smtClean="0">
                            <a:latin typeface="Cambria Math" panose="02040503050406030204" pitchFamily="18" charset="0"/>
                          </a:rPr>
                          <m:t>𝑛</m:t>
                        </m:r>
                      </m:e>
                    </m:d>
                    <m:r>
                      <a:rPr lang="en-PH" b="0" i="1" smtClean="0">
                        <a:latin typeface="Cambria Math" panose="02040503050406030204" pitchFamily="18" charset="0"/>
                      </a:rPr>
                      <m:t>=</m:t>
                    </m:r>
                    <m:sSup>
                      <m:sSupPr>
                        <m:ctrlPr>
                          <a:rPr lang="en-PH" b="0" i="1" smtClean="0">
                            <a:latin typeface="Cambria Math" panose="02040503050406030204" pitchFamily="18" charset="0"/>
                          </a:rPr>
                        </m:ctrlPr>
                      </m:sSupPr>
                      <m:e>
                        <m:r>
                          <a:rPr lang="en-PH" b="0" i="1" smtClean="0">
                            <a:latin typeface="Cambria Math" panose="02040503050406030204" pitchFamily="18" charset="0"/>
                          </a:rPr>
                          <m:t>𝑥</m:t>
                        </m:r>
                      </m:e>
                      <m:sup>
                        <m:r>
                          <a:rPr lang="en-PH" b="0" i="1" smtClean="0">
                            <a:latin typeface="Cambria Math" panose="02040503050406030204" pitchFamily="18" charset="0"/>
                          </a:rPr>
                          <m:t>2</m:t>
                        </m:r>
                      </m:sup>
                    </m:sSup>
                    <m:d>
                      <m:dPr>
                        <m:begChr m:val="["/>
                        <m:endChr m:val="]"/>
                        <m:ctrlPr>
                          <a:rPr lang="en-PH" b="0" i="1" smtClean="0">
                            <a:latin typeface="Cambria Math" panose="02040503050406030204" pitchFamily="18" charset="0"/>
                          </a:rPr>
                        </m:ctrlPr>
                      </m:dPr>
                      <m:e>
                        <m:r>
                          <a:rPr lang="en-PH" b="0" i="1" smtClean="0">
                            <a:latin typeface="Cambria Math" panose="02040503050406030204" pitchFamily="18" charset="0"/>
                          </a:rPr>
                          <m:t>𝑛</m:t>
                        </m:r>
                      </m:e>
                    </m:d>
                  </m:oMath>
                </a14:m>
                <a:endParaRPr lang="en-PH" dirty="0"/>
              </a:p>
              <a:p>
                <a:pPr marL="402336" algn="just">
                  <a:buFont typeface="+mj-lt"/>
                  <a:buAutoNum type="alphaLcPeriod"/>
                </a:pPr>
                <a14:m>
                  <m:oMath xmlns:m="http://schemas.openxmlformats.org/officeDocument/2006/math">
                    <m:r>
                      <a:rPr lang="en-PH" b="0" i="1" smtClean="0">
                        <a:latin typeface="Cambria Math" panose="02040503050406030204" pitchFamily="18" charset="0"/>
                      </a:rPr>
                      <m:t>𝑦</m:t>
                    </m:r>
                    <m:d>
                      <m:dPr>
                        <m:begChr m:val="["/>
                        <m:endChr m:val="]"/>
                        <m:ctrlPr>
                          <a:rPr lang="en-PH" b="0" i="1" smtClean="0">
                            <a:latin typeface="Cambria Math" panose="02040503050406030204" pitchFamily="18" charset="0"/>
                          </a:rPr>
                        </m:ctrlPr>
                      </m:dPr>
                      <m:e>
                        <m:r>
                          <a:rPr lang="en-PH" b="0" i="1" smtClean="0">
                            <a:latin typeface="Cambria Math" panose="02040503050406030204" pitchFamily="18" charset="0"/>
                          </a:rPr>
                          <m:t>𝑛</m:t>
                        </m:r>
                      </m:e>
                    </m:d>
                    <m:r>
                      <a:rPr lang="en-PH" b="0" i="1" smtClean="0">
                        <a:latin typeface="Cambria Math" panose="02040503050406030204" pitchFamily="18" charset="0"/>
                      </a:rPr>
                      <m:t>=</m:t>
                    </m:r>
                    <m:r>
                      <a:rPr lang="en-PH" b="0" i="1" smtClean="0">
                        <a:latin typeface="Cambria Math" panose="02040503050406030204" pitchFamily="18" charset="0"/>
                      </a:rPr>
                      <m:t>𝐴𝑥</m:t>
                    </m:r>
                    <m:d>
                      <m:dPr>
                        <m:begChr m:val="["/>
                        <m:endChr m:val="]"/>
                        <m:ctrlPr>
                          <a:rPr lang="en-PH" b="0" i="1" smtClean="0">
                            <a:latin typeface="Cambria Math" panose="02040503050406030204" pitchFamily="18" charset="0"/>
                          </a:rPr>
                        </m:ctrlPr>
                      </m:dPr>
                      <m:e>
                        <m:r>
                          <a:rPr lang="en-PH" b="0" i="1" smtClean="0">
                            <a:latin typeface="Cambria Math" panose="02040503050406030204" pitchFamily="18" charset="0"/>
                          </a:rPr>
                          <m:t>𝑛</m:t>
                        </m:r>
                      </m:e>
                    </m:d>
                    <m:r>
                      <a:rPr lang="en-PH" b="0" i="1" smtClean="0">
                        <a:latin typeface="Cambria Math" panose="02040503050406030204" pitchFamily="18" charset="0"/>
                      </a:rPr>
                      <m:t>+</m:t>
                    </m:r>
                    <m:r>
                      <a:rPr lang="en-PH" b="0" i="1" smtClean="0">
                        <a:latin typeface="Cambria Math" panose="02040503050406030204" pitchFamily="18" charset="0"/>
                      </a:rPr>
                      <m:t>𝐵</m:t>
                    </m:r>
                  </m:oMath>
                </a14:m>
                <a:endParaRPr lang="en-PH" dirty="0"/>
              </a:p>
              <a:p>
                <a:pPr marL="402336" algn="just">
                  <a:buFont typeface="+mj-lt"/>
                  <a:buAutoNum type="alphaLcPeriod"/>
                </a:pPr>
                <a14:m>
                  <m:oMath xmlns:m="http://schemas.openxmlformats.org/officeDocument/2006/math">
                    <m:r>
                      <a:rPr lang="en-PH" b="0" i="1" smtClean="0">
                        <a:latin typeface="Cambria Math" panose="02040503050406030204" pitchFamily="18" charset="0"/>
                      </a:rPr>
                      <m:t>𝑦</m:t>
                    </m:r>
                    <m:d>
                      <m:dPr>
                        <m:begChr m:val="["/>
                        <m:endChr m:val="]"/>
                        <m:ctrlPr>
                          <a:rPr lang="en-PH" b="0" i="1" smtClean="0">
                            <a:latin typeface="Cambria Math" panose="02040503050406030204" pitchFamily="18" charset="0"/>
                          </a:rPr>
                        </m:ctrlPr>
                      </m:dPr>
                      <m:e>
                        <m:r>
                          <a:rPr lang="en-PH" b="0" i="1" smtClean="0">
                            <a:latin typeface="Cambria Math" panose="02040503050406030204" pitchFamily="18" charset="0"/>
                          </a:rPr>
                          <m:t>𝑛</m:t>
                        </m:r>
                      </m:e>
                    </m:d>
                    <m:r>
                      <a:rPr lang="en-PH" b="0" i="1" smtClean="0">
                        <a:latin typeface="Cambria Math" panose="02040503050406030204" pitchFamily="18" charset="0"/>
                      </a:rPr>
                      <m:t>=</m:t>
                    </m:r>
                    <m:sSup>
                      <m:sSupPr>
                        <m:ctrlPr>
                          <a:rPr lang="en-PH" b="0" i="1" smtClean="0">
                            <a:latin typeface="Cambria Math" panose="02040503050406030204" pitchFamily="18" charset="0"/>
                          </a:rPr>
                        </m:ctrlPr>
                      </m:sSupPr>
                      <m:e>
                        <m:r>
                          <a:rPr lang="en-PH" b="0" i="1" smtClean="0">
                            <a:latin typeface="Cambria Math" panose="02040503050406030204" pitchFamily="18" charset="0"/>
                          </a:rPr>
                          <m:t>𝑒</m:t>
                        </m:r>
                      </m:e>
                      <m:sup>
                        <m:r>
                          <a:rPr lang="en-PH" b="0" i="1" smtClean="0">
                            <a:latin typeface="Cambria Math" panose="02040503050406030204" pitchFamily="18" charset="0"/>
                          </a:rPr>
                          <m:t>𝑥</m:t>
                        </m:r>
                        <m:d>
                          <m:dPr>
                            <m:begChr m:val="["/>
                            <m:endChr m:val="]"/>
                            <m:ctrlPr>
                              <a:rPr lang="en-PH" b="0" i="1" smtClean="0">
                                <a:latin typeface="Cambria Math" panose="02040503050406030204" pitchFamily="18" charset="0"/>
                              </a:rPr>
                            </m:ctrlPr>
                          </m:dPr>
                          <m:e>
                            <m:r>
                              <a:rPr lang="en-PH" b="0" i="1" smtClean="0">
                                <a:latin typeface="Cambria Math" panose="02040503050406030204" pitchFamily="18" charset="0"/>
                              </a:rPr>
                              <m:t>𝑛</m:t>
                            </m:r>
                          </m:e>
                        </m:d>
                      </m:sup>
                    </m:sSup>
                  </m:oMath>
                </a14:m>
                <a:endParaRPr lang="en-PH" b="0" dirty="0"/>
              </a:p>
              <a:p>
                <a:pPr marL="402336" algn="just">
                  <a:buFont typeface="+mj-lt"/>
                  <a:buAutoNum type="alphaLcPeriod"/>
                </a:pPr>
                <a:endParaRPr lang="en-PH" dirty="0"/>
              </a:p>
              <a:p>
                <a:pPr marL="59436" indent="0" algn="just">
                  <a:buNone/>
                </a:pPr>
                <a:endParaRPr lang="en-PH" dirty="0"/>
              </a:p>
              <a:p>
                <a:pPr lvl="1" algn="just"/>
                <a:endParaRPr lang="en-PH" dirty="0"/>
              </a:p>
              <a:p>
                <a:pPr marL="402336" lvl="1" indent="0" algn="ctr">
                  <a:buNone/>
                </a:pPr>
                <a:endParaRPr lang="en-PH" dirty="0"/>
              </a:p>
              <a:p>
                <a:pPr lvl="1"/>
                <a:endParaRPr lang="en-PH" dirty="0"/>
              </a:p>
              <a:p>
                <a:pPr marL="402336" lvl="1" indent="0">
                  <a:buNone/>
                </a:pPr>
                <a:endParaRPr lang="en-PH"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66441" y="2108200"/>
                <a:ext cx="7744159" cy="4064000"/>
              </a:xfrm>
              <a:blipFill>
                <a:blip r:embed="rId3"/>
                <a:stretch>
                  <a:fillRect t="-900" r="-629"/>
                </a:stretch>
              </a:blipFill>
            </p:spPr>
            <p:txBody>
              <a:bodyPr/>
              <a:lstStyle/>
              <a:p>
                <a:r>
                  <a:rPr lang="en-US">
                    <a:noFill/>
                  </a:rPr>
                  <a:t> </a:t>
                </a:r>
              </a:p>
            </p:txBody>
          </p:sp>
        </mc:Fallback>
      </mc:AlternateContent>
    </p:spTree>
    <p:extLst>
      <p:ext uri="{BB962C8B-B14F-4D97-AF65-F5344CB8AC3E}">
        <p14:creationId xmlns:p14="http://schemas.microsoft.com/office/powerpoint/2010/main" val="38065816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6440" y="927099"/>
            <a:ext cx="6067760" cy="709865"/>
          </a:xfrm>
        </p:spPr>
        <p:txBody>
          <a:bodyPr/>
          <a:lstStyle/>
          <a:p>
            <a:pPr algn="ctr"/>
            <a:r>
              <a:rPr lang="en-PH" dirty="0"/>
              <a:t>Classification of Discrete-Time Systems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66441" y="2108200"/>
                <a:ext cx="7744159" cy="4521200"/>
              </a:xfrm>
            </p:spPr>
            <p:txBody>
              <a:bodyPr>
                <a:normAutofit fontScale="92500" lnSpcReduction="10000"/>
              </a:bodyPr>
              <a:lstStyle/>
              <a:p>
                <a:pPr marL="0" indent="0" algn="just">
                  <a:buNone/>
                </a:pPr>
                <a:r>
                  <a:rPr lang="en-PH" b="1" dirty="0"/>
                  <a:t>Causal versus </a:t>
                </a:r>
                <a:r>
                  <a:rPr lang="en-PH" b="1" dirty="0" err="1"/>
                  <a:t>Noncausal</a:t>
                </a:r>
                <a:r>
                  <a:rPr lang="en-PH" b="1" dirty="0"/>
                  <a:t> System</a:t>
                </a:r>
              </a:p>
              <a:p>
                <a:pPr algn="just"/>
                <a:r>
                  <a:rPr lang="en-PH" b="1" dirty="0"/>
                  <a:t>Definition. </a:t>
                </a:r>
                <a:r>
                  <a:rPr lang="en-PH" dirty="0"/>
                  <a:t>A system is said to be causal if the output of the system at any time n depends only on present and past inputs, but does not depend on future inputs.</a:t>
                </a:r>
              </a:p>
              <a:p>
                <a:pPr algn="just"/>
                <a:r>
                  <a:rPr lang="en-PH" dirty="0"/>
                  <a:t>	If a system does not satisfy this definition, is  called </a:t>
                </a:r>
                <a:r>
                  <a:rPr lang="en-PH" b="1" dirty="0" err="1"/>
                  <a:t>noncausal</a:t>
                </a:r>
                <a:r>
                  <a:rPr lang="en-PH" b="1" dirty="0"/>
                  <a:t>.</a:t>
                </a:r>
              </a:p>
              <a:p>
                <a:pPr marL="0" indent="0" algn="just">
                  <a:buNone/>
                </a:pPr>
                <a:r>
                  <a:rPr lang="en-PH" b="1" dirty="0"/>
                  <a:t>Example: </a:t>
                </a:r>
                <a:r>
                  <a:rPr lang="en-PH" dirty="0"/>
                  <a:t>Determine if the system described are causal or non causal.</a:t>
                </a:r>
              </a:p>
              <a:p>
                <a:pPr algn="just">
                  <a:buFont typeface="+mj-lt"/>
                  <a:buAutoNum type="alphaLcPeriod"/>
                </a:pPr>
                <a14:m>
                  <m:oMath xmlns:m="http://schemas.openxmlformats.org/officeDocument/2006/math">
                    <m:r>
                      <a:rPr lang="en-PH" b="0" i="1" smtClean="0">
                        <a:latin typeface="Cambria Math" panose="02040503050406030204" pitchFamily="18" charset="0"/>
                      </a:rPr>
                      <m:t>𝑦</m:t>
                    </m:r>
                    <m:d>
                      <m:dPr>
                        <m:begChr m:val="["/>
                        <m:endChr m:val="]"/>
                        <m:ctrlPr>
                          <a:rPr lang="en-PH" b="0" i="1" smtClean="0">
                            <a:latin typeface="Cambria Math" panose="02040503050406030204" pitchFamily="18" charset="0"/>
                          </a:rPr>
                        </m:ctrlPr>
                      </m:dPr>
                      <m:e>
                        <m:r>
                          <a:rPr lang="en-PH" b="0" i="1" smtClean="0">
                            <a:latin typeface="Cambria Math" panose="02040503050406030204" pitchFamily="18" charset="0"/>
                          </a:rPr>
                          <m:t>𝑛</m:t>
                        </m:r>
                      </m:e>
                    </m:d>
                    <m:r>
                      <a:rPr lang="en-PH" b="0" i="1" smtClean="0">
                        <a:latin typeface="Cambria Math" panose="02040503050406030204" pitchFamily="18" charset="0"/>
                      </a:rPr>
                      <m:t>=</m:t>
                    </m:r>
                    <m:r>
                      <a:rPr lang="en-PH" b="0" i="1" smtClean="0">
                        <a:latin typeface="Cambria Math" panose="02040503050406030204" pitchFamily="18" charset="0"/>
                      </a:rPr>
                      <m:t>𝑥</m:t>
                    </m:r>
                    <m:d>
                      <m:dPr>
                        <m:begChr m:val="["/>
                        <m:endChr m:val="]"/>
                        <m:ctrlPr>
                          <a:rPr lang="en-PH" b="0" i="1" smtClean="0">
                            <a:latin typeface="Cambria Math" panose="02040503050406030204" pitchFamily="18" charset="0"/>
                          </a:rPr>
                        </m:ctrlPr>
                      </m:dPr>
                      <m:e>
                        <m:r>
                          <a:rPr lang="en-PH" b="0" i="1" smtClean="0">
                            <a:latin typeface="Cambria Math" panose="02040503050406030204" pitchFamily="18" charset="0"/>
                          </a:rPr>
                          <m:t>𝑛</m:t>
                        </m:r>
                      </m:e>
                    </m:d>
                    <m:r>
                      <a:rPr lang="en-PH" b="0" i="1" smtClean="0">
                        <a:latin typeface="Cambria Math" panose="02040503050406030204" pitchFamily="18" charset="0"/>
                      </a:rPr>
                      <m:t>−</m:t>
                    </m:r>
                    <m:r>
                      <a:rPr lang="en-PH" b="0" i="1" smtClean="0">
                        <a:latin typeface="Cambria Math" panose="02040503050406030204" pitchFamily="18" charset="0"/>
                      </a:rPr>
                      <m:t>𝑥</m:t>
                    </m:r>
                    <m:d>
                      <m:dPr>
                        <m:begChr m:val="["/>
                        <m:endChr m:val="]"/>
                        <m:ctrlPr>
                          <a:rPr lang="en-PH" i="1" smtClean="0">
                            <a:latin typeface="Cambria Math" panose="02040503050406030204" pitchFamily="18" charset="0"/>
                          </a:rPr>
                        </m:ctrlPr>
                      </m:dPr>
                      <m:e>
                        <m:r>
                          <a:rPr lang="en-PH" b="0" i="1" smtClean="0">
                            <a:latin typeface="Cambria Math" panose="02040503050406030204" pitchFamily="18" charset="0"/>
                          </a:rPr>
                          <m:t>𝑛</m:t>
                        </m:r>
                        <m:r>
                          <a:rPr lang="en-PH" b="0" i="1" smtClean="0">
                            <a:latin typeface="Cambria Math" panose="02040503050406030204" pitchFamily="18" charset="0"/>
                          </a:rPr>
                          <m:t>−1</m:t>
                        </m:r>
                      </m:e>
                    </m:d>
                  </m:oMath>
                </a14:m>
                <a:endParaRPr lang="en-PH" dirty="0"/>
              </a:p>
              <a:p>
                <a:pPr algn="just">
                  <a:buFont typeface="+mj-lt"/>
                  <a:buAutoNum type="alphaLcPeriod"/>
                </a:pPr>
                <a14:m>
                  <m:oMath xmlns:m="http://schemas.openxmlformats.org/officeDocument/2006/math">
                    <m:r>
                      <a:rPr lang="en-PH" b="0" i="1" smtClean="0">
                        <a:latin typeface="Cambria Math" panose="02040503050406030204" pitchFamily="18" charset="0"/>
                      </a:rPr>
                      <m:t>𝑦</m:t>
                    </m:r>
                    <m:d>
                      <m:dPr>
                        <m:begChr m:val="["/>
                        <m:endChr m:val="]"/>
                        <m:ctrlPr>
                          <a:rPr lang="en-PH" i="1" smtClean="0">
                            <a:latin typeface="Cambria Math" panose="02040503050406030204" pitchFamily="18" charset="0"/>
                          </a:rPr>
                        </m:ctrlPr>
                      </m:dPr>
                      <m:e>
                        <m:r>
                          <a:rPr lang="en-PH" b="0" i="1" smtClean="0">
                            <a:latin typeface="Cambria Math" panose="02040503050406030204" pitchFamily="18" charset="0"/>
                          </a:rPr>
                          <m:t>𝑛</m:t>
                        </m:r>
                      </m:e>
                    </m:d>
                    <m:r>
                      <a:rPr lang="en-PH" b="0" i="1" smtClean="0">
                        <a:latin typeface="Cambria Math" panose="02040503050406030204" pitchFamily="18" charset="0"/>
                      </a:rPr>
                      <m:t>=</m:t>
                    </m:r>
                    <m:nary>
                      <m:naryPr>
                        <m:chr m:val="∑"/>
                        <m:ctrlPr>
                          <a:rPr lang="en-PH" i="1">
                            <a:latin typeface="Cambria Math" panose="02040503050406030204" pitchFamily="18" charset="0"/>
                          </a:rPr>
                        </m:ctrlPr>
                      </m:naryPr>
                      <m:sub>
                        <m:r>
                          <m:rPr>
                            <m:brk m:alnAt="23"/>
                          </m:rPr>
                          <a:rPr lang="en-PH" b="0" i="1" smtClean="0">
                            <a:latin typeface="Cambria Math" panose="02040503050406030204" pitchFamily="18" charset="0"/>
                          </a:rPr>
                          <m:t>𝑘</m:t>
                        </m:r>
                        <m:r>
                          <a:rPr lang="en-PH" b="0" i="1" smtClean="0">
                            <a:latin typeface="Cambria Math" panose="02040503050406030204" pitchFamily="18" charset="0"/>
                          </a:rPr>
                          <m:t>=−∞</m:t>
                        </m:r>
                      </m:sub>
                      <m:sup>
                        <m:r>
                          <a:rPr lang="en-PH" b="0" i="1" smtClean="0">
                            <a:latin typeface="Cambria Math" panose="02040503050406030204" pitchFamily="18" charset="0"/>
                          </a:rPr>
                          <m:t>𝑛</m:t>
                        </m:r>
                      </m:sup>
                      <m:e>
                        <m:r>
                          <a:rPr lang="en-PH" b="0" i="1" smtClean="0">
                            <a:latin typeface="Cambria Math" panose="02040503050406030204" pitchFamily="18" charset="0"/>
                          </a:rPr>
                          <m:t>𝑥</m:t>
                        </m:r>
                        <m:d>
                          <m:dPr>
                            <m:begChr m:val="["/>
                            <m:endChr m:val="]"/>
                            <m:ctrlPr>
                              <a:rPr lang="en-PH" i="1" smtClean="0">
                                <a:latin typeface="Cambria Math" panose="02040503050406030204" pitchFamily="18" charset="0"/>
                              </a:rPr>
                            </m:ctrlPr>
                          </m:dPr>
                          <m:e>
                            <m:r>
                              <a:rPr lang="en-PH" b="0" i="1" smtClean="0">
                                <a:latin typeface="Cambria Math" panose="02040503050406030204" pitchFamily="18" charset="0"/>
                              </a:rPr>
                              <m:t>𝑘</m:t>
                            </m:r>
                          </m:e>
                        </m:d>
                      </m:e>
                    </m:nary>
                  </m:oMath>
                </a14:m>
                <a:endParaRPr lang="en-PH" dirty="0"/>
              </a:p>
              <a:p>
                <a:pPr algn="just">
                  <a:buFont typeface="+mj-lt"/>
                  <a:buAutoNum type="alphaLcPeriod"/>
                </a:pPr>
                <a14:m>
                  <m:oMath xmlns:m="http://schemas.openxmlformats.org/officeDocument/2006/math">
                    <m:r>
                      <a:rPr lang="en-PH" b="0" i="1" smtClean="0">
                        <a:latin typeface="Cambria Math" panose="02040503050406030204" pitchFamily="18" charset="0"/>
                      </a:rPr>
                      <m:t>𝑦</m:t>
                    </m:r>
                    <m:d>
                      <m:dPr>
                        <m:begChr m:val="["/>
                        <m:endChr m:val="]"/>
                        <m:ctrlPr>
                          <a:rPr lang="en-PH" b="0" i="1" smtClean="0">
                            <a:latin typeface="Cambria Math" panose="02040503050406030204" pitchFamily="18" charset="0"/>
                          </a:rPr>
                        </m:ctrlPr>
                      </m:dPr>
                      <m:e>
                        <m:r>
                          <a:rPr lang="en-PH" b="0" i="1" smtClean="0">
                            <a:latin typeface="Cambria Math" panose="02040503050406030204" pitchFamily="18" charset="0"/>
                          </a:rPr>
                          <m:t>𝑛</m:t>
                        </m:r>
                      </m:e>
                    </m:d>
                    <m:r>
                      <a:rPr lang="en-PH" b="0" i="1" smtClean="0">
                        <a:latin typeface="Cambria Math" panose="02040503050406030204" pitchFamily="18" charset="0"/>
                      </a:rPr>
                      <m:t>=</m:t>
                    </m:r>
                    <m:r>
                      <a:rPr lang="en-PH" b="0" i="1" smtClean="0">
                        <a:latin typeface="Cambria Math" panose="02040503050406030204" pitchFamily="18" charset="0"/>
                      </a:rPr>
                      <m:t>𝑎𝑥</m:t>
                    </m:r>
                    <m:d>
                      <m:dPr>
                        <m:begChr m:val="["/>
                        <m:endChr m:val="]"/>
                        <m:ctrlPr>
                          <a:rPr lang="en-PH" b="0" i="1" smtClean="0">
                            <a:latin typeface="Cambria Math" panose="02040503050406030204" pitchFamily="18" charset="0"/>
                          </a:rPr>
                        </m:ctrlPr>
                      </m:dPr>
                      <m:e>
                        <m:r>
                          <a:rPr lang="en-PH" b="0" i="1" smtClean="0">
                            <a:latin typeface="Cambria Math" panose="02040503050406030204" pitchFamily="18" charset="0"/>
                          </a:rPr>
                          <m:t>𝑛</m:t>
                        </m:r>
                      </m:e>
                    </m:d>
                  </m:oMath>
                </a14:m>
                <a:endParaRPr lang="en-PH" dirty="0"/>
              </a:p>
              <a:p>
                <a:pPr algn="just">
                  <a:buFont typeface="+mj-lt"/>
                  <a:buAutoNum type="alphaLcPeriod"/>
                </a:pPr>
                <a14:m>
                  <m:oMath xmlns:m="http://schemas.openxmlformats.org/officeDocument/2006/math">
                    <m:r>
                      <a:rPr lang="en-PH" b="0" i="1" smtClean="0">
                        <a:latin typeface="Cambria Math" panose="02040503050406030204" pitchFamily="18" charset="0"/>
                      </a:rPr>
                      <m:t>𝑦</m:t>
                    </m:r>
                    <m:d>
                      <m:dPr>
                        <m:begChr m:val="["/>
                        <m:endChr m:val="]"/>
                        <m:ctrlPr>
                          <a:rPr lang="en-PH" b="0" i="1" smtClean="0">
                            <a:latin typeface="Cambria Math" panose="02040503050406030204" pitchFamily="18" charset="0"/>
                          </a:rPr>
                        </m:ctrlPr>
                      </m:dPr>
                      <m:e>
                        <m:r>
                          <a:rPr lang="en-PH" b="0" i="1" smtClean="0">
                            <a:latin typeface="Cambria Math" panose="02040503050406030204" pitchFamily="18" charset="0"/>
                          </a:rPr>
                          <m:t>𝑛</m:t>
                        </m:r>
                      </m:e>
                    </m:d>
                    <m:r>
                      <a:rPr lang="en-PH" b="0" i="1" smtClean="0">
                        <a:latin typeface="Cambria Math" panose="02040503050406030204" pitchFamily="18" charset="0"/>
                      </a:rPr>
                      <m:t>=</m:t>
                    </m:r>
                    <m:r>
                      <a:rPr lang="en-PH" b="0" i="1" smtClean="0">
                        <a:latin typeface="Cambria Math" panose="02040503050406030204" pitchFamily="18" charset="0"/>
                      </a:rPr>
                      <m:t>𝑥</m:t>
                    </m:r>
                    <m:d>
                      <m:dPr>
                        <m:begChr m:val="["/>
                        <m:endChr m:val="]"/>
                        <m:ctrlPr>
                          <a:rPr lang="en-PH" b="0" i="1" smtClean="0">
                            <a:latin typeface="Cambria Math" panose="02040503050406030204" pitchFamily="18" charset="0"/>
                          </a:rPr>
                        </m:ctrlPr>
                      </m:dPr>
                      <m:e>
                        <m:r>
                          <a:rPr lang="en-PH" b="0" i="1" smtClean="0">
                            <a:latin typeface="Cambria Math" panose="02040503050406030204" pitchFamily="18" charset="0"/>
                          </a:rPr>
                          <m:t>𝑛</m:t>
                        </m:r>
                      </m:e>
                    </m:d>
                    <m:r>
                      <a:rPr lang="en-PH" b="0" i="1" smtClean="0">
                        <a:latin typeface="Cambria Math" panose="02040503050406030204" pitchFamily="18" charset="0"/>
                      </a:rPr>
                      <m:t>+3</m:t>
                    </m:r>
                    <m:r>
                      <a:rPr lang="en-PH" b="0" i="1" smtClean="0">
                        <a:latin typeface="Cambria Math" panose="02040503050406030204" pitchFamily="18" charset="0"/>
                      </a:rPr>
                      <m:t>𝑥</m:t>
                    </m:r>
                    <m:d>
                      <m:dPr>
                        <m:begChr m:val="["/>
                        <m:endChr m:val="]"/>
                        <m:ctrlPr>
                          <a:rPr lang="en-PH" b="0" i="1" smtClean="0">
                            <a:latin typeface="Cambria Math" panose="02040503050406030204" pitchFamily="18" charset="0"/>
                          </a:rPr>
                        </m:ctrlPr>
                      </m:dPr>
                      <m:e>
                        <m:r>
                          <a:rPr lang="en-PH" b="0" i="1" smtClean="0">
                            <a:latin typeface="Cambria Math" panose="02040503050406030204" pitchFamily="18" charset="0"/>
                          </a:rPr>
                          <m:t>𝑛</m:t>
                        </m:r>
                        <m:r>
                          <a:rPr lang="en-PH" b="0" i="1" smtClean="0">
                            <a:latin typeface="Cambria Math" panose="02040503050406030204" pitchFamily="18" charset="0"/>
                          </a:rPr>
                          <m:t>+4</m:t>
                        </m:r>
                      </m:e>
                    </m:d>
                  </m:oMath>
                </a14:m>
                <a:endParaRPr lang="en-PH" dirty="0"/>
              </a:p>
              <a:p>
                <a:pPr algn="just">
                  <a:buFont typeface="+mj-lt"/>
                  <a:buAutoNum type="alphaLcPeriod"/>
                </a:pPr>
                <a14:m>
                  <m:oMath xmlns:m="http://schemas.openxmlformats.org/officeDocument/2006/math">
                    <m:r>
                      <a:rPr lang="en-PH" b="0" i="1" smtClean="0">
                        <a:latin typeface="Cambria Math" panose="02040503050406030204" pitchFamily="18" charset="0"/>
                      </a:rPr>
                      <m:t>𝑦</m:t>
                    </m:r>
                    <m:d>
                      <m:dPr>
                        <m:begChr m:val="["/>
                        <m:endChr m:val="]"/>
                        <m:ctrlPr>
                          <a:rPr lang="en-PH" b="0" i="1" smtClean="0">
                            <a:latin typeface="Cambria Math" panose="02040503050406030204" pitchFamily="18" charset="0"/>
                          </a:rPr>
                        </m:ctrlPr>
                      </m:dPr>
                      <m:e>
                        <m:r>
                          <a:rPr lang="en-PH" b="0" i="1" smtClean="0">
                            <a:latin typeface="Cambria Math" panose="02040503050406030204" pitchFamily="18" charset="0"/>
                          </a:rPr>
                          <m:t>𝑛</m:t>
                        </m:r>
                      </m:e>
                    </m:d>
                    <m:r>
                      <a:rPr lang="en-PH" b="0" i="1" smtClean="0">
                        <a:latin typeface="Cambria Math" panose="02040503050406030204" pitchFamily="18" charset="0"/>
                      </a:rPr>
                      <m:t>=</m:t>
                    </m:r>
                    <m:r>
                      <a:rPr lang="en-PH" b="0" i="1" smtClean="0">
                        <a:latin typeface="Cambria Math" panose="02040503050406030204" pitchFamily="18" charset="0"/>
                      </a:rPr>
                      <m:t>𝑥</m:t>
                    </m:r>
                    <m:d>
                      <m:dPr>
                        <m:begChr m:val="["/>
                        <m:endChr m:val="]"/>
                        <m:ctrlPr>
                          <a:rPr lang="en-PH" b="0" i="1" smtClean="0">
                            <a:latin typeface="Cambria Math" panose="02040503050406030204" pitchFamily="18" charset="0"/>
                          </a:rPr>
                        </m:ctrlPr>
                      </m:dPr>
                      <m:e>
                        <m:sSup>
                          <m:sSupPr>
                            <m:ctrlPr>
                              <a:rPr lang="en-PH" b="0" i="1" smtClean="0">
                                <a:latin typeface="Cambria Math" panose="02040503050406030204" pitchFamily="18" charset="0"/>
                              </a:rPr>
                            </m:ctrlPr>
                          </m:sSupPr>
                          <m:e>
                            <m:r>
                              <a:rPr lang="en-PH" b="0" i="1" smtClean="0">
                                <a:latin typeface="Cambria Math" panose="02040503050406030204" pitchFamily="18" charset="0"/>
                              </a:rPr>
                              <m:t>𝑛</m:t>
                            </m:r>
                          </m:e>
                          <m:sup>
                            <m:r>
                              <a:rPr lang="en-PH" b="0" i="1" smtClean="0">
                                <a:latin typeface="Cambria Math" panose="02040503050406030204" pitchFamily="18" charset="0"/>
                              </a:rPr>
                              <m:t>2</m:t>
                            </m:r>
                          </m:sup>
                        </m:sSup>
                      </m:e>
                    </m:d>
                  </m:oMath>
                </a14:m>
                <a:endParaRPr lang="en-PH" b="0" dirty="0"/>
              </a:p>
              <a:p>
                <a:pPr algn="just">
                  <a:buFont typeface="+mj-lt"/>
                  <a:buAutoNum type="alphaLcPeriod"/>
                </a:pPr>
                <a14:m>
                  <m:oMath xmlns:m="http://schemas.openxmlformats.org/officeDocument/2006/math">
                    <m:r>
                      <a:rPr lang="en-PH" b="0" i="1" smtClean="0">
                        <a:latin typeface="Cambria Math" panose="02040503050406030204" pitchFamily="18" charset="0"/>
                      </a:rPr>
                      <m:t>𝑦</m:t>
                    </m:r>
                    <m:d>
                      <m:dPr>
                        <m:begChr m:val="["/>
                        <m:endChr m:val="]"/>
                        <m:ctrlPr>
                          <a:rPr lang="en-PH" b="0" i="1" smtClean="0">
                            <a:latin typeface="Cambria Math" panose="02040503050406030204" pitchFamily="18" charset="0"/>
                          </a:rPr>
                        </m:ctrlPr>
                      </m:dPr>
                      <m:e>
                        <m:r>
                          <a:rPr lang="en-PH" b="0" i="1" smtClean="0">
                            <a:latin typeface="Cambria Math" panose="02040503050406030204" pitchFamily="18" charset="0"/>
                          </a:rPr>
                          <m:t>𝑛</m:t>
                        </m:r>
                      </m:e>
                    </m:d>
                    <m:r>
                      <a:rPr lang="en-PH" b="0" i="1" smtClean="0">
                        <a:latin typeface="Cambria Math" panose="02040503050406030204" pitchFamily="18" charset="0"/>
                      </a:rPr>
                      <m:t>=</m:t>
                    </m:r>
                    <m:r>
                      <a:rPr lang="en-PH" b="0" i="1" smtClean="0">
                        <a:latin typeface="Cambria Math" panose="02040503050406030204" pitchFamily="18" charset="0"/>
                      </a:rPr>
                      <m:t>𝑥</m:t>
                    </m:r>
                    <m:d>
                      <m:dPr>
                        <m:begChr m:val="["/>
                        <m:endChr m:val="]"/>
                        <m:ctrlPr>
                          <a:rPr lang="en-PH" b="0" i="1" smtClean="0">
                            <a:latin typeface="Cambria Math" panose="02040503050406030204" pitchFamily="18" charset="0"/>
                          </a:rPr>
                        </m:ctrlPr>
                      </m:dPr>
                      <m:e>
                        <m:r>
                          <a:rPr lang="en-PH" b="0" i="1" smtClean="0">
                            <a:latin typeface="Cambria Math" panose="02040503050406030204" pitchFamily="18" charset="0"/>
                          </a:rPr>
                          <m:t>2</m:t>
                        </m:r>
                        <m:r>
                          <a:rPr lang="en-PH" b="0" i="1" smtClean="0">
                            <a:latin typeface="Cambria Math" panose="02040503050406030204" pitchFamily="18" charset="0"/>
                          </a:rPr>
                          <m:t>𝑛</m:t>
                        </m:r>
                      </m:e>
                    </m:d>
                  </m:oMath>
                </a14:m>
                <a:endParaRPr lang="en-PH" b="0" dirty="0"/>
              </a:p>
              <a:p>
                <a:pPr algn="just">
                  <a:buFont typeface="+mj-lt"/>
                  <a:buAutoNum type="alphaLcPeriod"/>
                </a:pPr>
                <a14:m>
                  <m:oMath xmlns:m="http://schemas.openxmlformats.org/officeDocument/2006/math">
                    <m:r>
                      <a:rPr lang="en-PH" b="0" i="1" smtClean="0">
                        <a:latin typeface="Cambria Math" panose="02040503050406030204" pitchFamily="18" charset="0"/>
                      </a:rPr>
                      <m:t>𝑦</m:t>
                    </m:r>
                    <m:d>
                      <m:dPr>
                        <m:begChr m:val="["/>
                        <m:endChr m:val="]"/>
                        <m:ctrlPr>
                          <a:rPr lang="en-PH" b="0" i="1" smtClean="0">
                            <a:latin typeface="Cambria Math" panose="02040503050406030204" pitchFamily="18" charset="0"/>
                          </a:rPr>
                        </m:ctrlPr>
                      </m:dPr>
                      <m:e>
                        <m:r>
                          <a:rPr lang="en-PH" b="0" i="1" smtClean="0">
                            <a:latin typeface="Cambria Math" panose="02040503050406030204" pitchFamily="18" charset="0"/>
                          </a:rPr>
                          <m:t>𝑛</m:t>
                        </m:r>
                      </m:e>
                    </m:d>
                    <m:r>
                      <a:rPr lang="en-PH" b="0" i="1" smtClean="0">
                        <a:latin typeface="Cambria Math" panose="02040503050406030204" pitchFamily="18" charset="0"/>
                      </a:rPr>
                      <m:t>=</m:t>
                    </m:r>
                    <m:r>
                      <a:rPr lang="en-PH" b="0" i="1" smtClean="0">
                        <a:latin typeface="Cambria Math" panose="02040503050406030204" pitchFamily="18" charset="0"/>
                      </a:rPr>
                      <m:t>𝑥</m:t>
                    </m:r>
                    <m:d>
                      <m:dPr>
                        <m:begChr m:val="["/>
                        <m:endChr m:val="]"/>
                        <m:ctrlPr>
                          <a:rPr lang="en-PH" b="0" i="1" smtClean="0">
                            <a:latin typeface="Cambria Math" panose="02040503050406030204" pitchFamily="18" charset="0"/>
                          </a:rPr>
                        </m:ctrlPr>
                      </m:dPr>
                      <m:e>
                        <m:r>
                          <a:rPr lang="en-PH" b="0" i="1" smtClean="0">
                            <a:latin typeface="Cambria Math" panose="02040503050406030204" pitchFamily="18" charset="0"/>
                          </a:rPr>
                          <m:t>−</m:t>
                        </m:r>
                        <m:r>
                          <a:rPr lang="en-PH" b="0" i="1" smtClean="0">
                            <a:latin typeface="Cambria Math" panose="02040503050406030204" pitchFamily="18" charset="0"/>
                          </a:rPr>
                          <m:t>𝑛</m:t>
                        </m:r>
                      </m:e>
                    </m:d>
                  </m:oMath>
                </a14:m>
                <a:endParaRPr lang="en-PH" b="0" dirty="0"/>
              </a:p>
              <a:p>
                <a:pPr algn="just">
                  <a:buFont typeface="+mj-lt"/>
                  <a:buAutoNum type="alphaLcPeriod"/>
                </a:pPr>
                <a:endParaRPr lang="en-PH" dirty="0"/>
              </a:p>
              <a:p>
                <a:pPr marL="0" indent="0" algn="just">
                  <a:buNone/>
                </a:pPr>
                <a:endParaRPr lang="en-PH" b="1" dirty="0"/>
              </a:p>
              <a:p>
                <a:pPr marL="0" indent="0" algn="just">
                  <a:buNone/>
                </a:pPr>
                <a:endParaRPr lang="en-PH" dirty="0"/>
              </a:p>
              <a:p>
                <a:pPr marL="0" indent="0" algn="just">
                  <a:buNone/>
                </a:pPr>
                <a:endParaRPr lang="en-PH" dirty="0"/>
              </a:p>
              <a:p>
                <a:pPr algn="just"/>
                <a:endParaRPr lang="en-PH" b="1" dirty="0"/>
              </a:p>
              <a:p>
                <a:pPr marL="0" indent="0" algn="just">
                  <a:buNone/>
                </a:pPr>
                <a:endParaRPr lang="en-PH" b="1" dirty="0"/>
              </a:p>
              <a:p>
                <a:pPr lvl="1" algn="just"/>
                <a:endParaRPr lang="en-PH" dirty="0"/>
              </a:p>
              <a:p>
                <a:pPr lvl="1" algn="just"/>
                <a:endParaRPr lang="en-PH" dirty="0"/>
              </a:p>
              <a:p>
                <a:pPr lvl="1" algn="just"/>
                <a:endParaRPr lang="en-PH" dirty="0"/>
              </a:p>
              <a:p>
                <a:pPr marL="402336" lvl="1" indent="0" algn="ctr">
                  <a:buNone/>
                </a:pPr>
                <a:endParaRPr lang="en-PH" dirty="0"/>
              </a:p>
              <a:p>
                <a:pPr lvl="1"/>
                <a:endParaRPr lang="en-PH" dirty="0"/>
              </a:p>
              <a:p>
                <a:pPr marL="402336" lvl="1" indent="0">
                  <a:buNone/>
                </a:pPr>
                <a:endParaRPr lang="en-PH"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66441" y="2108200"/>
                <a:ext cx="7744159" cy="4521200"/>
              </a:xfrm>
              <a:blipFill rotWithShape="0">
                <a:blip r:embed="rId3"/>
                <a:stretch>
                  <a:fillRect l="-472" t="-943" r="-472"/>
                </a:stretch>
              </a:blipFill>
            </p:spPr>
            <p:txBody>
              <a:bodyPr/>
              <a:lstStyle/>
              <a:p>
                <a:r>
                  <a:rPr lang="en-PH">
                    <a:noFill/>
                  </a:rPr>
                  <a:t> </a:t>
                </a:r>
              </a:p>
            </p:txBody>
          </p:sp>
        </mc:Fallback>
      </mc:AlternateContent>
    </p:spTree>
    <p:extLst>
      <p:ext uri="{BB962C8B-B14F-4D97-AF65-F5344CB8AC3E}">
        <p14:creationId xmlns:p14="http://schemas.microsoft.com/office/powerpoint/2010/main" val="13739459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6440" y="927099"/>
            <a:ext cx="6067760" cy="709865"/>
          </a:xfrm>
        </p:spPr>
        <p:txBody>
          <a:bodyPr/>
          <a:lstStyle/>
          <a:p>
            <a:pPr algn="ctr"/>
            <a:r>
              <a:rPr lang="en-PH" dirty="0"/>
              <a:t>Classification of Discrete-Time Systems</a:t>
            </a:r>
          </a:p>
        </p:txBody>
      </p:sp>
      <p:sp>
        <p:nvSpPr>
          <p:cNvPr id="3" name="Content Placeholder 2"/>
          <p:cNvSpPr>
            <a:spLocks noGrp="1"/>
          </p:cNvSpPr>
          <p:nvPr>
            <p:ph idx="1"/>
          </p:nvPr>
        </p:nvSpPr>
        <p:spPr>
          <a:xfrm>
            <a:off x="457201" y="2108200"/>
            <a:ext cx="8458200" cy="4292600"/>
          </a:xfrm>
        </p:spPr>
        <p:txBody>
          <a:bodyPr>
            <a:normAutofit/>
          </a:bodyPr>
          <a:lstStyle/>
          <a:p>
            <a:pPr lvl="1" algn="just"/>
            <a:endParaRPr lang="en-PH" dirty="0"/>
          </a:p>
          <a:p>
            <a:pPr marL="402336" lvl="1" indent="0" algn="just">
              <a:buNone/>
            </a:pPr>
            <a:r>
              <a:rPr lang="en-PH" b="1" dirty="0"/>
              <a:t>Stable versus unstable systems</a:t>
            </a:r>
          </a:p>
          <a:p>
            <a:pPr marL="402336" lvl="1" indent="0" algn="just">
              <a:buNone/>
            </a:pPr>
            <a:r>
              <a:rPr lang="en-US" b="1" dirty="0"/>
              <a:t> </a:t>
            </a:r>
            <a:r>
              <a:rPr lang="en-US" dirty="0"/>
              <a:t>Stability is an important property that must be considered in any practical application of a system . Unstable systems usually exhibit erratic and extreme behavior and cause overflow in any practical implementation. </a:t>
            </a:r>
          </a:p>
          <a:p>
            <a:pPr marL="402336" lvl="1" indent="0" algn="just">
              <a:buNone/>
            </a:pPr>
            <a:r>
              <a:rPr lang="en-US" dirty="0"/>
              <a:t>Definition. An arbitrary relaxed system is said to be bounded input-bounded output </a:t>
            </a:r>
            <a:r>
              <a:rPr lang="en-US" b="1" dirty="0"/>
              <a:t>(BIBO) </a:t>
            </a:r>
            <a:r>
              <a:rPr lang="en-US" dirty="0"/>
              <a:t>stable if and only if every bounded input produces a bounded output.</a:t>
            </a:r>
          </a:p>
          <a:p>
            <a:pPr marL="402336" lvl="1" indent="0" algn="just">
              <a:buNone/>
            </a:pPr>
            <a:endParaRPr lang="en-PH" b="1" dirty="0"/>
          </a:p>
          <a:p>
            <a:pPr lvl="1" algn="just"/>
            <a:endParaRPr lang="en-PH" dirty="0"/>
          </a:p>
          <a:p>
            <a:pPr marL="402336" lvl="1" indent="0" algn="ctr">
              <a:buNone/>
            </a:pPr>
            <a:endParaRPr lang="en-PH" dirty="0"/>
          </a:p>
          <a:p>
            <a:pPr lvl="1"/>
            <a:endParaRPr lang="en-PH" dirty="0"/>
          </a:p>
          <a:p>
            <a:pPr marL="402336" lvl="1" indent="0">
              <a:buNone/>
            </a:pPr>
            <a:endParaRPr lang="en-PH" dirty="0"/>
          </a:p>
        </p:txBody>
      </p:sp>
    </p:spTree>
    <p:extLst>
      <p:ext uri="{BB962C8B-B14F-4D97-AF65-F5344CB8AC3E}">
        <p14:creationId xmlns:p14="http://schemas.microsoft.com/office/powerpoint/2010/main" val="26649057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6440" y="927099"/>
            <a:ext cx="6067760" cy="709865"/>
          </a:xfrm>
        </p:spPr>
        <p:txBody>
          <a:bodyPr/>
          <a:lstStyle/>
          <a:p>
            <a:pPr algn="ctr"/>
            <a:r>
              <a:rPr lang="en-PH" dirty="0"/>
              <a:t>Classification of Discrete-Time Systems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66441" y="2108200"/>
                <a:ext cx="7744159" cy="3911600"/>
              </a:xfrm>
            </p:spPr>
            <p:txBody>
              <a:bodyPr>
                <a:normAutofit/>
              </a:bodyPr>
              <a:lstStyle/>
              <a:p>
                <a:pPr marL="0" indent="0" algn="just">
                  <a:buNone/>
                </a:pPr>
                <a:r>
                  <a:rPr lang="en-PH" b="1" dirty="0"/>
                  <a:t>Example: </a:t>
                </a:r>
                <a:r>
                  <a:rPr lang="en-PH" dirty="0"/>
                  <a:t>Determine if the system described are stable or unstable.</a:t>
                </a:r>
              </a:p>
              <a:p>
                <a:pPr algn="just">
                  <a:buFont typeface="+mj-lt"/>
                  <a:buAutoNum type="alphaLcPeriod"/>
                </a:pPr>
                <a14:m>
                  <m:oMath xmlns:m="http://schemas.openxmlformats.org/officeDocument/2006/math">
                    <m:r>
                      <a:rPr lang="en-PH" b="0" i="1" smtClean="0">
                        <a:latin typeface="Cambria Math" panose="02040503050406030204" pitchFamily="18" charset="0"/>
                      </a:rPr>
                      <m:t>𝑦</m:t>
                    </m:r>
                    <m:d>
                      <m:dPr>
                        <m:begChr m:val="["/>
                        <m:endChr m:val="]"/>
                        <m:ctrlPr>
                          <a:rPr lang="en-PH" b="0" i="1" smtClean="0">
                            <a:latin typeface="Cambria Math" panose="02040503050406030204" pitchFamily="18" charset="0"/>
                          </a:rPr>
                        </m:ctrlPr>
                      </m:dPr>
                      <m:e>
                        <m:r>
                          <a:rPr lang="en-PH" b="0" i="1" smtClean="0">
                            <a:latin typeface="Cambria Math" panose="02040503050406030204" pitchFamily="18" charset="0"/>
                          </a:rPr>
                          <m:t>𝑛</m:t>
                        </m:r>
                      </m:e>
                    </m:d>
                    <m:r>
                      <a:rPr lang="en-PH" b="0" i="1" smtClean="0">
                        <a:latin typeface="Cambria Math" panose="02040503050406030204" pitchFamily="18" charset="0"/>
                      </a:rPr>
                      <m:t>=</m:t>
                    </m:r>
                    <m:sSup>
                      <m:sSupPr>
                        <m:ctrlPr>
                          <a:rPr lang="en-PH" b="0" i="1" smtClean="0">
                            <a:latin typeface="Cambria Math" panose="02040503050406030204" pitchFamily="18" charset="0"/>
                          </a:rPr>
                        </m:ctrlPr>
                      </m:sSupPr>
                      <m:e>
                        <m:r>
                          <a:rPr lang="en-US" b="0" i="1" smtClean="0">
                            <a:latin typeface="Cambria Math" panose="02040503050406030204" pitchFamily="18" charset="0"/>
                          </a:rPr>
                          <m:t>𝑥</m:t>
                        </m:r>
                      </m:e>
                      <m:sup>
                        <m:r>
                          <a:rPr lang="en-PH" b="0" i="1" smtClean="0">
                            <a:latin typeface="Cambria Math" panose="02040503050406030204" pitchFamily="18" charset="0"/>
                          </a:rPr>
                          <m:t>2</m:t>
                        </m:r>
                      </m:sup>
                    </m:sSup>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PH" dirty="0"/>
              </a:p>
              <a:p>
                <a:pPr algn="just">
                  <a:buFont typeface="+mj-lt"/>
                  <a:buAutoNum type="alphaLcPeriod"/>
                </a:pPr>
                <a14:m>
                  <m:oMath xmlns:m="http://schemas.openxmlformats.org/officeDocument/2006/math">
                    <m:r>
                      <a:rPr lang="en-PH" b="0" i="1" smtClean="0">
                        <a:latin typeface="Cambria Math" panose="02040503050406030204" pitchFamily="18" charset="0"/>
                      </a:rPr>
                      <m:t>𝑦</m:t>
                    </m:r>
                    <m:d>
                      <m:dPr>
                        <m:begChr m:val="["/>
                        <m:endChr m:val="]"/>
                        <m:ctrlPr>
                          <a:rPr lang="en-PH" b="0" i="1" smtClean="0">
                            <a:latin typeface="Cambria Math" panose="02040503050406030204" pitchFamily="18" charset="0"/>
                          </a:rPr>
                        </m:ctrlPr>
                      </m:dPr>
                      <m:e>
                        <m:r>
                          <a:rPr lang="en-PH" b="0" i="1" smtClean="0">
                            <a:latin typeface="Cambria Math" panose="02040503050406030204" pitchFamily="18" charset="0"/>
                          </a:rPr>
                          <m:t>𝑛</m:t>
                        </m:r>
                      </m:e>
                    </m:d>
                    <m:r>
                      <a:rPr lang="en-PH" b="0" i="1" smtClean="0">
                        <a:latin typeface="Cambria Math" panose="02040503050406030204" pitchFamily="18" charset="0"/>
                      </a:rPr>
                      <m:t>=</m:t>
                    </m:r>
                    <m:r>
                      <a:rPr lang="en-US" b="0" i="1" smtClean="0">
                        <a:latin typeface="Cambria Math" panose="02040503050406030204" pitchFamily="18" charset="0"/>
                      </a:rPr>
                      <m:t>𝑛</m:t>
                    </m:r>
                    <m:r>
                      <a:rPr lang="en-PH" b="0" i="1" smtClean="0">
                        <a:latin typeface="Cambria Math" panose="02040503050406030204" pitchFamily="18" charset="0"/>
                      </a:rPr>
                      <m:t>𝑥</m:t>
                    </m:r>
                    <m:d>
                      <m:dPr>
                        <m:begChr m:val="["/>
                        <m:endChr m:val="]"/>
                        <m:ctrlPr>
                          <a:rPr lang="en-PH" b="0" i="1" smtClean="0">
                            <a:latin typeface="Cambria Math" panose="02040503050406030204" pitchFamily="18" charset="0"/>
                          </a:rPr>
                        </m:ctrlPr>
                      </m:dPr>
                      <m:e>
                        <m:r>
                          <a:rPr lang="en-PH" b="0" i="1" smtClean="0">
                            <a:latin typeface="Cambria Math" panose="02040503050406030204" pitchFamily="18" charset="0"/>
                          </a:rPr>
                          <m:t>𝑛</m:t>
                        </m:r>
                      </m:e>
                    </m:d>
                  </m:oMath>
                </a14:m>
                <a:endParaRPr lang="en-PH" dirty="0"/>
              </a:p>
              <a:p>
                <a:pPr algn="just">
                  <a:buFont typeface="+mj-lt"/>
                  <a:buAutoNum type="alphaLcPeriod"/>
                </a:pPr>
                <a14:m>
                  <m:oMath xmlns:m="http://schemas.openxmlformats.org/officeDocument/2006/math">
                    <m:r>
                      <a:rPr lang="en-PH" b="0" i="1" smtClean="0">
                        <a:latin typeface="Cambria Math" panose="02040503050406030204" pitchFamily="18" charset="0"/>
                      </a:rPr>
                      <m:t>𝑦</m:t>
                    </m:r>
                    <m:d>
                      <m:dPr>
                        <m:begChr m:val="["/>
                        <m:endChr m:val="]"/>
                        <m:ctrlPr>
                          <a:rPr lang="en-PH" b="0" i="1" smtClean="0">
                            <a:latin typeface="Cambria Math" panose="02040503050406030204" pitchFamily="18" charset="0"/>
                          </a:rPr>
                        </m:ctrlPr>
                      </m:dPr>
                      <m:e>
                        <m:r>
                          <a:rPr lang="en-PH" b="0" i="1" smtClean="0">
                            <a:latin typeface="Cambria Math" panose="02040503050406030204" pitchFamily="18" charset="0"/>
                          </a:rPr>
                          <m:t>𝑛</m:t>
                        </m:r>
                      </m:e>
                    </m:d>
                    <m:r>
                      <a:rPr lang="en-PH" b="0" i="1" smtClean="0">
                        <a:latin typeface="Cambria Math" panose="02040503050406030204" pitchFamily="18" charset="0"/>
                      </a:rPr>
                      <m:t>=</m:t>
                    </m:r>
                    <m:r>
                      <a:rPr lang="en-US" b="0" i="1" smtClean="0">
                        <a:latin typeface="Cambria Math" panose="02040503050406030204" pitchFamily="18" charset="0"/>
                      </a:rPr>
                      <m:t>𝑐𝑜𝑠𝑛</m:t>
                    </m:r>
                    <m:r>
                      <a:rPr lang="en-US" b="0" i="1" smtClean="0">
                        <a:latin typeface="Cambria Math" panose="02040503050406030204" pitchFamily="18" charset="0"/>
                      </a:rPr>
                      <m:t>.</m:t>
                    </m:r>
                    <m:r>
                      <a:rPr lang="en-PH" b="0" i="1" smtClean="0">
                        <a:latin typeface="Cambria Math" panose="02040503050406030204" pitchFamily="18" charset="0"/>
                      </a:rPr>
                      <m:t>𝑥</m:t>
                    </m:r>
                    <m:d>
                      <m:dPr>
                        <m:begChr m:val="["/>
                        <m:endChr m:val="]"/>
                        <m:ctrlPr>
                          <a:rPr lang="en-PH" b="0" i="1" smtClean="0">
                            <a:latin typeface="Cambria Math" panose="02040503050406030204" pitchFamily="18" charset="0"/>
                          </a:rPr>
                        </m:ctrlPr>
                      </m:dPr>
                      <m:e>
                        <m:r>
                          <a:rPr lang="en-PH" b="0" i="1" smtClean="0">
                            <a:latin typeface="Cambria Math" panose="02040503050406030204" pitchFamily="18" charset="0"/>
                          </a:rPr>
                          <m:t>𝑛</m:t>
                        </m:r>
                      </m:e>
                    </m:d>
                  </m:oMath>
                </a14:m>
                <a:endParaRPr lang="en-PH" dirty="0"/>
              </a:p>
              <a:p>
                <a:pPr algn="just">
                  <a:buFont typeface="+mj-lt"/>
                  <a:buAutoNum type="alphaLcPeriod"/>
                </a:pPr>
                <a14:m>
                  <m:oMath xmlns:m="http://schemas.openxmlformats.org/officeDocument/2006/math">
                    <m:r>
                      <a:rPr lang="en-PH" b="0" i="1" smtClean="0">
                        <a:latin typeface="Cambria Math" panose="02040503050406030204" pitchFamily="18" charset="0"/>
                      </a:rPr>
                      <m:t>𝑦</m:t>
                    </m:r>
                    <m:d>
                      <m:dPr>
                        <m:begChr m:val="["/>
                        <m:endChr m:val="]"/>
                        <m:ctrlPr>
                          <a:rPr lang="en-PH" i="1" smtClean="0">
                            <a:latin typeface="Cambria Math" panose="02040503050406030204" pitchFamily="18" charset="0"/>
                          </a:rPr>
                        </m:ctrlPr>
                      </m:dPr>
                      <m:e>
                        <m:r>
                          <a:rPr lang="en-PH" b="0" i="1" smtClean="0">
                            <a:latin typeface="Cambria Math" panose="02040503050406030204" pitchFamily="18" charset="0"/>
                          </a:rPr>
                          <m:t>𝑛</m:t>
                        </m:r>
                      </m:e>
                    </m:d>
                    <m:r>
                      <a:rPr lang="en-PH" b="0" i="1" smtClean="0">
                        <a:latin typeface="Cambria Math" panose="02040503050406030204" pitchFamily="18" charset="0"/>
                      </a:rPr>
                      <m:t>=</m:t>
                    </m:r>
                    <m:f>
                      <m:fPr>
                        <m:ctrlPr>
                          <a:rPr lang="en-PH" b="0" i="1" smtClean="0">
                            <a:latin typeface="Cambria Math" panose="02040503050406030204" pitchFamily="18" charset="0"/>
                          </a:rPr>
                        </m:ctrlPr>
                      </m:fPr>
                      <m:num>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num>
                      <m:den>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r>
                              <a:rPr lang="en-US" b="0" i="1" smtClean="0">
                                <a:latin typeface="Cambria Math" panose="02040503050406030204" pitchFamily="18" charset="0"/>
                              </a:rPr>
                              <m:t>𝑛</m:t>
                            </m:r>
                          </m:e>
                        </m:func>
                      </m:den>
                    </m:f>
                  </m:oMath>
                </a14:m>
                <a:endParaRPr lang="en-PH" dirty="0"/>
              </a:p>
              <a:p>
                <a:pPr lvl="1" algn="just"/>
                <a:endParaRPr lang="en-PH" dirty="0"/>
              </a:p>
              <a:p>
                <a:pPr lvl="1" algn="just"/>
                <a:endParaRPr lang="en-PH" dirty="0"/>
              </a:p>
              <a:p>
                <a:pPr marL="402336" lvl="1" indent="0" algn="ctr">
                  <a:buNone/>
                </a:pPr>
                <a:endParaRPr lang="en-PH" dirty="0"/>
              </a:p>
              <a:p>
                <a:pPr lvl="1"/>
                <a:endParaRPr lang="en-PH" dirty="0"/>
              </a:p>
              <a:p>
                <a:pPr marL="402336" lvl="1" indent="0">
                  <a:buNone/>
                </a:pPr>
                <a:endParaRPr lang="en-PH"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66441" y="2108200"/>
                <a:ext cx="7744159" cy="3911600"/>
              </a:xfrm>
              <a:blipFill>
                <a:blip r:embed="rId3"/>
                <a:stretch>
                  <a:fillRect l="-629" t="-935"/>
                </a:stretch>
              </a:blipFill>
            </p:spPr>
            <p:txBody>
              <a:bodyPr/>
              <a:lstStyle/>
              <a:p>
                <a:r>
                  <a:rPr lang="en-US">
                    <a:noFill/>
                  </a:rPr>
                  <a:t> </a:t>
                </a:r>
              </a:p>
            </p:txBody>
          </p:sp>
        </mc:Fallback>
      </mc:AlternateContent>
    </p:spTree>
    <p:extLst>
      <p:ext uri="{BB962C8B-B14F-4D97-AF65-F5344CB8AC3E}">
        <p14:creationId xmlns:p14="http://schemas.microsoft.com/office/powerpoint/2010/main" val="32613027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Discrete Fourier Transform </a:t>
            </a:r>
            <a:endParaRPr lang="en-PH" b="1" dirty="0"/>
          </a:p>
        </p:txBody>
      </p:sp>
      <p:sp>
        <p:nvSpPr>
          <p:cNvPr id="3" name="Content Placeholder 2"/>
          <p:cNvSpPr>
            <a:spLocks noGrp="1"/>
          </p:cNvSpPr>
          <p:nvPr>
            <p:ph idx="1"/>
          </p:nvPr>
        </p:nvSpPr>
        <p:spPr>
          <a:xfrm>
            <a:off x="866441" y="2489200"/>
            <a:ext cx="7667959" cy="3530600"/>
          </a:xfrm>
        </p:spPr>
        <p:txBody>
          <a:bodyPr/>
          <a:lstStyle/>
          <a:p>
            <a:r>
              <a:rPr lang="en-US" dirty="0"/>
              <a:t>-mathematical algorithm that can be computed efficiently on digital computers and other DSP Boards.</a:t>
            </a:r>
            <a:endParaRPr lang="en-PH" dirty="0"/>
          </a:p>
          <a:p>
            <a:pPr marL="0" indent="0">
              <a:buNone/>
            </a:pPr>
            <a:r>
              <a:rPr lang="en-US" dirty="0"/>
              <a:t> </a:t>
            </a:r>
            <a:endParaRPr lang="en-PH" dirty="0"/>
          </a:p>
          <a:p>
            <a:r>
              <a:rPr lang="en-US" dirty="0"/>
              <a:t>- an extension of CTFT for the time limited sequences with an  additional restriction that the frequency is discretized at a finite set of values.</a:t>
            </a:r>
            <a:endParaRPr lang="en-PH" dirty="0"/>
          </a:p>
          <a:p>
            <a:endParaRPr lang="en-PH" dirty="0"/>
          </a:p>
        </p:txBody>
      </p:sp>
    </p:spTree>
    <p:extLst>
      <p:ext uri="{BB962C8B-B14F-4D97-AF65-F5344CB8AC3E}">
        <p14:creationId xmlns:p14="http://schemas.microsoft.com/office/powerpoint/2010/main" val="23445540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Discrete Fourier Transform </a:t>
            </a:r>
            <a:endParaRPr lang="en-PH"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66441" y="2489200"/>
                <a:ext cx="7744159" cy="3530600"/>
              </a:xfrm>
            </p:spPr>
            <p:txBody>
              <a:bodyPr/>
              <a:lstStyle/>
              <a:p>
                <a:r>
                  <a:rPr lang="en-US" b="1" dirty="0"/>
                  <a:t>DFT Analysis Equation:</a:t>
                </a:r>
                <a:endParaRPr lang="en-PH" dirty="0"/>
              </a:p>
              <a:p>
                <a:pPr marL="0" indent="0">
                  <a:buNone/>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𝒙</m:t>
                      </m:r>
                      <m:d>
                        <m:dPr>
                          <m:begChr m:val="["/>
                          <m:endChr m:val="]"/>
                          <m:ctrlPr>
                            <a:rPr lang="en-PH" b="1" i="1">
                              <a:latin typeface="Cambria Math" panose="02040503050406030204" pitchFamily="18" charset="0"/>
                            </a:rPr>
                          </m:ctrlPr>
                        </m:dPr>
                        <m:e>
                          <m:r>
                            <a:rPr lang="en-US" b="1" i="1" smtClean="0">
                              <a:latin typeface="Cambria Math" panose="02040503050406030204" pitchFamily="18" charset="0"/>
                            </a:rPr>
                            <m:t>𝒌</m:t>
                          </m:r>
                        </m:e>
                      </m:d>
                      <m:r>
                        <a:rPr lang="en-US" b="1" i="1">
                          <a:latin typeface="Cambria Math" panose="02040503050406030204" pitchFamily="18" charset="0"/>
                        </a:rPr>
                        <m:t>=</m:t>
                      </m:r>
                      <m:nary>
                        <m:naryPr>
                          <m:chr m:val="∑"/>
                          <m:limLoc m:val="undOvr"/>
                          <m:ctrlPr>
                            <a:rPr lang="en-PH" b="1" i="1">
                              <a:latin typeface="Cambria Math" panose="02040503050406030204" pitchFamily="18" charset="0"/>
                            </a:rPr>
                          </m:ctrlPr>
                        </m:naryPr>
                        <m:sub>
                          <m:r>
                            <m:rPr>
                              <m:brk/>
                            </m:rPr>
                            <a:rPr lang="en-US" b="1" i="1" smtClean="0">
                              <a:latin typeface="Cambria Math" panose="02040503050406030204" pitchFamily="18" charset="0"/>
                            </a:rPr>
                            <m:t>𝒏</m:t>
                          </m:r>
                          <m:r>
                            <a:rPr lang="en-US" b="1" i="1">
                              <a:latin typeface="Cambria Math" panose="02040503050406030204" pitchFamily="18" charset="0"/>
                            </a:rPr>
                            <m:t>=</m:t>
                          </m:r>
                          <m:r>
                            <a:rPr lang="en-US" b="1" i="1">
                              <a:latin typeface="Cambria Math" panose="02040503050406030204" pitchFamily="18" charset="0"/>
                            </a:rPr>
                            <m:t>𝟎</m:t>
                          </m:r>
                        </m:sub>
                        <m:sup>
                          <m:r>
                            <a:rPr lang="en-US" b="1" i="1">
                              <a:latin typeface="Cambria Math" panose="02040503050406030204" pitchFamily="18" charset="0"/>
                            </a:rPr>
                            <m:t>𝑵</m:t>
                          </m:r>
                          <m:r>
                            <a:rPr lang="en-US" b="1" i="1">
                              <a:latin typeface="Cambria Math" panose="02040503050406030204" pitchFamily="18" charset="0"/>
                            </a:rPr>
                            <m:t>−</m:t>
                          </m:r>
                          <m:r>
                            <a:rPr lang="en-US" b="1" i="1">
                              <a:latin typeface="Cambria Math" panose="02040503050406030204" pitchFamily="18" charset="0"/>
                            </a:rPr>
                            <m:t>𝟏</m:t>
                          </m:r>
                        </m:sup>
                        <m:e>
                          <m:r>
                            <a:rPr lang="en-US" b="1" i="1">
                              <a:latin typeface="Cambria Math" panose="02040503050406030204" pitchFamily="18" charset="0"/>
                            </a:rPr>
                            <m:t>𝒙</m:t>
                          </m:r>
                          <m:d>
                            <m:dPr>
                              <m:begChr m:val="["/>
                              <m:endChr m:val="]"/>
                              <m:ctrlPr>
                                <a:rPr lang="en-PH" b="1" i="1">
                                  <a:latin typeface="Cambria Math" panose="02040503050406030204" pitchFamily="18" charset="0"/>
                                </a:rPr>
                              </m:ctrlPr>
                            </m:dPr>
                            <m:e>
                              <m:r>
                                <a:rPr lang="en-US" b="1" i="1" smtClean="0">
                                  <a:latin typeface="Cambria Math" panose="02040503050406030204" pitchFamily="18" charset="0"/>
                                </a:rPr>
                                <m:t>𝒏</m:t>
                              </m:r>
                            </m:e>
                          </m:d>
                          <m:sSup>
                            <m:sSupPr>
                              <m:ctrlPr>
                                <a:rPr lang="en-PH" b="1" i="1">
                                  <a:latin typeface="Cambria Math" panose="02040503050406030204" pitchFamily="18" charset="0"/>
                                </a:rPr>
                              </m:ctrlPr>
                            </m:sSupPr>
                            <m:e>
                              <m:r>
                                <a:rPr lang="en-US" b="1" i="1">
                                  <a:latin typeface="Cambria Math" panose="02040503050406030204" pitchFamily="18" charset="0"/>
                                </a:rPr>
                                <m:t>𝒆</m:t>
                              </m:r>
                            </m:e>
                            <m:sup>
                              <m:r>
                                <a:rPr lang="en-US" b="1" i="1">
                                  <a:latin typeface="Cambria Math" panose="02040503050406030204" pitchFamily="18" charset="0"/>
                                </a:rPr>
                                <m:t>−</m:t>
                              </m:r>
                              <m:r>
                                <a:rPr lang="en-US" b="1" i="1">
                                  <a:latin typeface="Cambria Math" panose="02040503050406030204" pitchFamily="18" charset="0"/>
                                </a:rPr>
                                <m:t>𝒋</m:t>
                              </m:r>
                              <m:r>
                                <a:rPr lang="en-US" b="1" i="1">
                                  <a:latin typeface="Cambria Math" panose="02040503050406030204" pitchFamily="18" charset="0"/>
                                </a:rPr>
                                <m:t>𝟐</m:t>
                              </m:r>
                              <m:r>
                                <a:rPr lang="en-US" b="1" i="1">
                                  <a:latin typeface="Cambria Math" panose="02040503050406030204" pitchFamily="18" charset="0"/>
                                </a:rPr>
                                <m:t>𝝅</m:t>
                              </m:r>
                              <m:r>
                                <a:rPr lang="en-US" b="1" i="1">
                                  <a:latin typeface="Cambria Math" panose="02040503050406030204" pitchFamily="18" charset="0"/>
                                </a:rPr>
                                <m:t> </m:t>
                              </m:r>
                              <m:f>
                                <m:fPr>
                                  <m:ctrlPr>
                                    <a:rPr lang="en-PH" b="1" i="1">
                                      <a:latin typeface="Cambria Math" panose="02040503050406030204" pitchFamily="18" charset="0"/>
                                    </a:rPr>
                                  </m:ctrlPr>
                                </m:fPr>
                                <m:num>
                                  <m:r>
                                    <a:rPr lang="en-US" b="1" i="1">
                                      <a:latin typeface="Cambria Math" panose="02040503050406030204" pitchFamily="18" charset="0"/>
                                    </a:rPr>
                                    <m:t>𝒌</m:t>
                                  </m:r>
                                  <m:r>
                                    <a:rPr lang="en-US" b="1" i="1" smtClean="0">
                                      <a:latin typeface="Cambria Math" panose="02040503050406030204" pitchFamily="18" charset="0"/>
                                    </a:rPr>
                                    <m:t>𝒏</m:t>
                                  </m:r>
                                </m:num>
                                <m:den>
                                  <m:r>
                                    <a:rPr lang="en-US" b="1" i="1" smtClean="0">
                                      <a:latin typeface="Cambria Math" panose="02040503050406030204" pitchFamily="18" charset="0"/>
                                    </a:rPr>
                                    <m:t>𝑵</m:t>
                                  </m:r>
                                </m:den>
                              </m:f>
                            </m:sup>
                          </m:sSup>
                        </m:e>
                      </m:nary>
                    </m:oMath>
                  </m:oMathPara>
                </a14:m>
                <a:endParaRPr lang="en-PH" dirty="0"/>
              </a:p>
              <a:p>
                <a:pPr marL="0" indent="0">
                  <a:buNone/>
                </a:pPr>
                <a:r>
                  <a:rPr lang="en-US" b="1" dirty="0"/>
                  <a:t> </a:t>
                </a:r>
                <a:endParaRPr lang="en-PH" dirty="0"/>
              </a:p>
              <a:p>
                <a:r>
                  <a:rPr lang="en-US" b="1" dirty="0"/>
                  <a:t>DFT Synthesis Equation: </a:t>
                </a:r>
                <a:r>
                  <a:rPr lang="en-US" dirty="0"/>
                  <a:t>(inverse DFT)</a:t>
                </a:r>
                <a:endParaRPr lang="en-PH" dirty="0"/>
              </a:p>
              <a:p>
                <a:pPr marL="0" indent="0">
                  <a:buNone/>
                </a:pPr>
                <a14:m>
                  <m:oMathPara xmlns:m="http://schemas.openxmlformats.org/officeDocument/2006/math">
                    <m:oMathParaPr>
                      <m:jc m:val="centerGroup"/>
                    </m:oMathParaPr>
                    <m:oMath xmlns:m="http://schemas.openxmlformats.org/officeDocument/2006/math">
                      <m:r>
                        <a:rPr lang="en-US" b="1" i="1">
                          <a:latin typeface="Cambria Math" panose="02040503050406030204" pitchFamily="18" charset="0"/>
                        </a:rPr>
                        <m:t>𝒙</m:t>
                      </m:r>
                      <m:d>
                        <m:dPr>
                          <m:begChr m:val="["/>
                          <m:endChr m:val="]"/>
                          <m:ctrlPr>
                            <a:rPr lang="en-PH" b="1" i="1">
                              <a:latin typeface="Cambria Math" panose="02040503050406030204" pitchFamily="18" charset="0"/>
                            </a:rPr>
                          </m:ctrlPr>
                        </m:dPr>
                        <m:e>
                          <m:r>
                            <a:rPr lang="en-US" b="1" i="1">
                              <a:latin typeface="Cambria Math" panose="02040503050406030204" pitchFamily="18" charset="0"/>
                            </a:rPr>
                            <m:t>𝒏</m:t>
                          </m:r>
                        </m:e>
                      </m:d>
                      <m:r>
                        <a:rPr lang="en-US" b="1" i="1">
                          <a:latin typeface="Cambria Math" panose="02040503050406030204" pitchFamily="18" charset="0"/>
                        </a:rPr>
                        <m:t>=</m:t>
                      </m:r>
                      <m:f>
                        <m:fPr>
                          <m:ctrlPr>
                            <a:rPr lang="en-US" b="1" i="1" smtClean="0">
                              <a:latin typeface="Cambria Math" panose="02040503050406030204" pitchFamily="18" charset="0"/>
                            </a:rPr>
                          </m:ctrlPr>
                        </m:fPr>
                        <m:num>
                          <m:r>
                            <a:rPr lang="en-US" b="1" i="1" smtClean="0">
                              <a:latin typeface="Cambria Math" panose="02040503050406030204" pitchFamily="18" charset="0"/>
                            </a:rPr>
                            <m:t>𝟏</m:t>
                          </m:r>
                        </m:num>
                        <m:den>
                          <m:r>
                            <a:rPr lang="en-US" b="1" i="1" smtClean="0">
                              <a:latin typeface="Cambria Math" panose="02040503050406030204" pitchFamily="18" charset="0"/>
                            </a:rPr>
                            <m:t>𝑵</m:t>
                          </m:r>
                        </m:den>
                      </m:f>
                      <m:nary>
                        <m:naryPr>
                          <m:chr m:val="∑"/>
                          <m:limLoc m:val="undOvr"/>
                          <m:ctrlPr>
                            <a:rPr lang="en-PH" b="1" i="1">
                              <a:latin typeface="Cambria Math" panose="02040503050406030204" pitchFamily="18" charset="0"/>
                            </a:rPr>
                          </m:ctrlPr>
                        </m:naryPr>
                        <m:sub>
                          <m:r>
                            <a:rPr lang="en-US" b="1" i="1">
                              <a:latin typeface="Cambria Math" panose="02040503050406030204" pitchFamily="18" charset="0"/>
                            </a:rPr>
                            <m:t>𝒌</m:t>
                          </m:r>
                          <m:r>
                            <a:rPr lang="en-US" b="1" i="1">
                              <a:latin typeface="Cambria Math" panose="02040503050406030204" pitchFamily="18" charset="0"/>
                            </a:rPr>
                            <m:t>=</m:t>
                          </m:r>
                          <m:r>
                            <a:rPr lang="en-US" b="1" i="1">
                              <a:latin typeface="Cambria Math" panose="02040503050406030204" pitchFamily="18" charset="0"/>
                            </a:rPr>
                            <m:t>𝟎</m:t>
                          </m:r>
                        </m:sub>
                        <m:sup>
                          <m:r>
                            <a:rPr lang="en-US" b="1" i="1">
                              <a:latin typeface="Cambria Math" panose="02040503050406030204" pitchFamily="18" charset="0"/>
                            </a:rPr>
                            <m:t>𝑵</m:t>
                          </m:r>
                          <m:r>
                            <a:rPr lang="en-US" b="1" i="1">
                              <a:latin typeface="Cambria Math" panose="02040503050406030204" pitchFamily="18" charset="0"/>
                            </a:rPr>
                            <m:t>−</m:t>
                          </m:r>
                          <m:r>
                            <a:rPr lang="en-US" b="1" i="1">
                              <a:latin typeface="Cambria Math" panose="02040503050406030204" pitchFamily="18" charset="0"/>
                            </a:rPr>
                            <m:t>𝟏</m:t>
                          </m:r>
                        </m:sup>
                        <m:e>
                          <m:r>
                            <a:rPr lang="en-US" b="1" i="1">
                              <a:latin typeface="Cambria Math" panose="02040503050406030204" pitchFamily="18" charset="0"/>
                            </a:rPr>
                            <m:t>𝒙</m:t>
                          </m:r>
                          <m:d>
                            <m:dPr>
                              <m:begChr m:val="["/>
                              <m:endChr m:val="]"/>
                              <m:ctrlPr>
                                <a:rPr lang="en-PH" b="1" i="1">
                                  <a:latin typeface="Cambria Math" panose="02040503050406030204" pitchFamily="18" charset="0"/>
                                </a:rPr>
                              </m:ctrlPr>
                            </m:dPr>
                            <m:e>
                              <m:r>
                                <a:rPr lang="en-US" b="1" i="1" smtClean="0">
                                  <a:latin typeface="Cambria Math" panose="02040503050406030204" pitchFamily="18" charset="0"/>
                                </a:rPr>
                                <m:t>𝒌</m:t>
                              </m:r>
                            </m:e>
                          </m:d>
                          <m:sSup>
                            <m:sSupPr>
                              <m:ctrlPr>
                                <a:rPr lang="en-PH" b="1" i="1">
                                  <a:latin typeface="Cambria Math" panose="02040503050406030204" pitchFamily="18" charset="0"/>
                                </a:rPr>
                              </m:ctrlPr>
                            </m:sSupPr>
                            <m:e>
                              <m:r>
                                <a:rPr lang="en-US" b="1" i="1">
                                  <a:latin typeface="Cambria Math" panose="02040503050406030204" pitchFamily="18" charset="0"/>
                                </a:rPr>
                                <m:t>𝒆</m:t>
                              </m:r>
                            </m:e>
                            <m:sup>
                              <m:r>
                                <a:rPr lang="en-US" b="1" i="1">
                                  <a:latin typeface="Cambria Math" panose="02040503050406030204" pitchFamily="18" charset="0"/>
                                </a:rPr>
                                <m:t>𝒋</m:t>
                              </m:r>
                              <m:r>
                                <a:rPr lang="en-US" b="1" i="1">
                                  <a:latin typeface="Cambria Math" panose="02040503050406030204" pitchFamily="18" charset="0"/>
                                </a:rPr>
                                <m:t>𝟐</m:t>
                              </m:r>
                              <m:r>
                                <a:rPr lang="en-US" b="1" i="1">
                                  <a:latin typeface="Cambria Math" panose="02040503050406030204" pitchFamily="18" charset="0"/>
                                </a:rPr>
                                <m:t>𝝅</m:t>
                              </m:r>
                              <m:r>
                                <a:rPr lang="en-US" b="1" i="1">
                                  <a:latin typeface="Cambria Math" panose="02040503050406030204" pitchFamily="18" charset="0"/>
                                </a:rPr>
                                <m:t> </m:t>
                              </m:r>
                              <m:f>
                                <m:fPr>
                                  <m:ctrlPr>
                                    <a:rPr lang="en-PH" b="1" i="1">
                                      <a:latin typeface="Cambria Math" panose="02040503050406030204" pitchFamily="18" charset="0"/>
                                    </a:rPr>
                                  </m:ctrlPr>
                                </m:fPr>
                                <m:num>
                                  <m:r>
                                    <a:rPr lang="en-US" b="1" i="1">
                                      <a:latin typeface="Cambria Math" panose="02040503050406030204" pitchFamily="18" charset="0"/>
                                    </a:rPr>
                                    <m:t>𝒌𝒏</m:t>
                                  </m:r>
                                </m:num>
                                <m:den>
                                  <m:r>
                                    <a:rPr lang="en-US" b="1" i="1">
                                      <a:latin typeface="Cambria Math" panose="02040503050406030204" pitchFamily="18" charset="0"/>
                                    </a:rPr>
                                    <m:t>𝑵</m:t>
                                  </m:r>
                                </m:den>
                              </m:f>
                            </m:sup>
                          </m:sSup>
                        </m:e>
                      </m:nary>
                    </m:oMath>
                  </m:oMathPara>
                </a14:m>
                <a:endParaRPr lang="en-PH"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66441" y="2489200"/>
                <a:ext cx="7744159" cy="3530600"/>
              </a:xfrm>
              <a:blipFill>
                <a:blip r:embed="rId3"/>
                <a:stretch>
                  <a:fillRect l="-157" t="-862"/>
                </a:stretch>
              </a:blipFill>
            </p:spPr>
            <p:txBody>
              <a:bodyPr/>
              <a:lstStyle/>
              <a:p>
                <a:r>
                  <a:rPr lang="en-PH">
                    <a:noFill/>
                  </a:rPr>
                  <a:t> </a:t>
                </a:r>
              </a:p>
            </p:txBody>
          </p:sp>
        </mc:Fallback>
      </mc:AlternateContent>
    </p:spTree>
    <p:extLst>
      <p:ext uri="{BB962C8B-B14F-4D97-AF65-F5344CB8AC3E}">
        <p14:creationId xmlns:p14="http://schemas.microsoft.com/office/powerpoint/2010/main" val="5884927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PH" b="1" dirty="0"/>
              <a:t>Example</a:t>
            </a:r>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a:xfrm>
                <a:off x="866441" y="2489200"/>
                <a:ext cx="7820359" cy="4368800"/>
              </a:xfrm>
            </p:spPr>
            <p:txBody>
              <a:bodyPr/>
              <a:lstStyle/>
              <a:p>
                <a:r>
                  <a:rPr lang="en-US" b="1" dirty="0"/>
                  <a:t>1. </a:t>
                </a:r>
                <a:r>
                  <a:rPr lang="en-US" dirty="0"/>
                  <a:t>Calculate the four-point DFT of aperiodic sequence </a:t>
                </a:r>
                <a14:m>
                  <m:oMath xmlns:m="http://schemas.openxmlformats.org/officeDocument/2006/math">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𝑘</m:t>
                    </m:r>
                    <m:r>
                      <a:rPr lang="en-US" i="1">
                        <a:latin typeface="Cambria Math" panose="02040503050406030204" pitchFamily="18" charset="0"/>
                      </a:rPr>
                      <m:t>]</m:t>
                    </m:r>
                  </m:oMath>
                </a14:m>
                <a:r>
                  <a:rPr lang="en-US" dirty="0"/>
                  <a:t> of length N = 4 which is defined by:</a:t>
                </a:r>
                <a:endParaRPr lang="en-PH" dirty="0"/>
              </a:p>
              <a:p>
                <a:endParaRPr lang="en-PH" dirty="0"/>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xfrm>
                <a:off x="866441" y="2489200"/>
                <a:ext cx="7820359" cy="4368800"/>
              </a:xfrm>
              <a:blipFill>
                <a:blip r:embed="rId3"/>
                <a:stretch>
                  <a:fillRect l="-156" t="-697"/>
                </a:stretch>
              </a:blipFill>
            </p:spPr>
            <p:txBody>
              <a:bodyPr/>
              <a:lstStyle/>
              <a:p>
                <a:r>
                  <a:rPr lang="en-US">
                    <a:noFill/>
                  </a:rPr>
                  <a:t> </a:t>
                </a:r>
              </a:p>
            </p:txBody>
          </p:sp>
        </mc:Fallback>
      </mc:AlternateContent>
      <p:pic>
        <p:nvPicPr>
          <p:cNvPr id="6" name="Picture 5"/>
          <p:cNvPicPr>
            <a:picLocks noChangeAspect="1"/>
          </p:cNvPicPr>
          <p:nvPr/>
        </p:nvPicPr>
        <p:blipFill>
          <a:blip r:embed="rId4"/>
          <a:stretch>
            <a:fillRect/>
          </a:stretch>
        </p:blipFill>
        <p:spPr>
          <a:xfrm>
            <a:off x="1614040" y="3200400"/>
            <a:ext cx="6325159" cy="3321126"/>
          </a:xfrm>
          <a:prstGeom prst="rect">
            <a:avLst/>
          </a:prstGeom>
        </p:spPr>
      </p:pic>
    </p:spTree>
    <p:extLst>
      <p:ext uri="{BB962C8B-B14F-4D97-AF65-F5344CB8AC3E}">
        <p14:creationId xmlns:p14="http://schemas.microsoft.com/office/powerpoint/2010/main" val="22399295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PH" b="1" dirty="0"/>
              <a:t>Discrete Fourier transform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81001" y="2489200"/>
                <a:ext cx="8305800" cy="3530600"/>
              </a:xfrm>
            </p:spPr>
            <p:txBody>
              <a:bodyPr>
                <a:normAutofit/>
              </a:bodyPr>
              <a:lstStyle/>
              <a:p>
                <a:r>
                  <a:rPr lang="en-PH" dirty="0"/>
                  <a:t>Method 2: DFT as Matrix Multiplication</a:t>
                </a:r>
              </a:p>
              <a:p>
                <a:pPr marL="0" indent="0">
                  <a:buNone/>
                </a:pPr>
                <a14:m>
                  <m:oMathPara xmlns:m="http://schemas.openxmlformats.org/officeDocument/2006/math">
                    <m:oMathParaPr>
                      <m:jc m:val="centerGroup"/>
                    </m:oMathParaPr>
                    <m:oMath xmlns:m="http://schemas.openxmlformats.org/officeDocument/2006/math">
                      <m:d>
                        <m:dPr>
                          <m:begChr m:val="["/>
                          <m:endChr m:val="]"/>
                          <m:ctrlPr>
                            <a:rPr lang="en-PH" i="1" smtClean="0">
                              <a:latin typeface="Cambria Math" panose="02040503050406030204" pitchFamily="18" charset="0"/>
                            </a:rPr>
                          </m:ctrlPr>
                        </m:dPr>
                        <m:e>
                          <m:m>
                            <m:mPr>
                              <m:mcs>
                                <m:mc>
                                  <m:mcPr>
                                    <m:count m:val="1"/>
                                    <m:mcJc m:val="center"/>
                                  </m:mcPr>
                                </m:mc>
                              </m:mcs>
                              <m:ctrlPr>
                                <a:rPr lang="en-PH" i="1" smtClean="0">
                                  <a:latin typeface="Cambria Math" panose="02040503050406030204" pitchFamily="18" charset="0"/>
                                </a:rPr>
                              </m:ctrlPr>
                            </m:mPr>
                            <m:mr>
                              <m:e>
                                <m:r>
                                  <m:rPr>
                                    <m:brk m:alnAt="7"/>
                                  </m:rPr>
                                  <a:rPr lang="en-PH" b="0" i="1" smtClean="0">
                                    <a:latin typeface="Cambria Math" panose="02040503050406030204" pitchFamily="18" charset="0"/>
                                  </a:rPr>
                                  <m:t>𝑋</m:t>
                                </m:r>
                                <m:r>
                                  <a:rPr lang="en-PH" b="0" i="1" smtClean="0">
                                    <a:latin typeface="Cambria Math" panose="02040503050406030204" pitchFamily="18" charset="0"/>
                                  </a:rPr>
                                  <m:t>[0]</m:t>
                                </m:r>
                              </m:e>
                            </m:mr>
                            <m:mr>
                              <m:e>
                                <m:r>
                                  <a:rPr lang="en-PH" b="0" i="1" smtClean="0">
                                    <a:latin typeface="Cambria Math" panose="02040503050406030204" pitchFamily="18" charset="0"/>
                                  </a:rPr>
                                  <m:t>𝑋</m:t>
                                </m:r>
                                <m:r>
                                  <a:rPr lang="en-PH" b="0" i="1" smtClean="0">
                                    <a:latin typeface="Cambria Math" panose="02040503050406030204" pitchFamily="18" charset="0"/>
                                  </a:rPr>
                                  <m:t>[1]</m:t>
                                </m:r>
                              </m:e>
                            </m:mr>
                            <m:mr>
                              <m:e>
                                <m:m>
                                  <m:mPr>
                                    <m:mcs>
                                      <m:mc>
                                        <m:mcPr>
                                          <m:count m:val="1"/>
                                          <m:mcJc m:val="center"/>
                                        </m:mcPr>
                                      </m:mc>
                                    </m:mcs>
                                    <m:ctrlPr>
                                      <a:rPr lang="en-PH" i="1" smtClean="0">
                                        <a:latin typeface="Cambria Math" panose="02040503050406030204" pitchFamily="18" charset="0"/>
                                      </a:rPr>
                                    </m:ctrlPr>
                                  </m:mPr>
                                  <m:mr>
                                    <m:e>
                                      <m:r>
                                        <m:rPr>
                                          <m:brk m:alnAt="7"/>
                                        </m:rPr>
                                        <a:rPr lang="en-PH" b="0" i="1" smtClean="0">
                                          <a:latin typeface="Cambria Math" panose="02040503050406030204" pitchFamily="18" charset="0"/>
                                        </a:rPr>
                                        <m:t>𝑋</m:t>
                                      </m:r>
                                      <m:r>
                                        <a:rPr lang="en-PH" b="0" i="1" smtClean="0">
                                          <a:latin typeface="Cambria Math" panose="02040503050406030204" pitchFamily="18" charset="0"/>
                                        </a:rPr>
                                        <m:t>[2]</m:t>
                                      </m:r>
                                    </m:e>
                                  </m:mr>
                                  <m:mr>
                                    <m:e>
                                      <m:r>
                                        <a:rPr lang="en-PH" b="0" i="1" smtClean="0">
                                          <a:latin typeface="Cambria Math" panose="02040503050406030204" pitchFamily="18" charset="0"/>
                                        </a:rPr>
                                        <m:t>⋮</m:t>
                                      </m:r>
                                    </m:e>
                                  </m:mr>
                                  <m:mr>
                                    <m:e>
                                      <m:r>
                                        <a:rPr lang="en-PH" b="0" i="1" smtClean="0">
                                          <a:latin typeface="Cambria Math" panose="02040503050406030204" pitchFamily="18" charset="0"/>
                                        </a:rPr>
                                        <m:t>𝑋</m:t>
                                      </m:r>
                                      <m:r>
                                        <a:rPr lang="en-PH" b="0" i="1" smtClean="0">
                                          <a:latin typeface="Cambria Math" panose="02040503050406030204" pitchFamily="18" charset="0"/>
                                        </a:rPr>
                                        <m:t>[</m:t>
                                      </m:r>
                                      <m:r>
                                        <a:rPr lang="en-PH" b="0" i="1" smtClean="0">
                                          <a:latin typeface="Cambria Math" panose="02040503050406030204" pitchFamily="18" charset="0"/>
                                        </a:rPr>
                                        <m:t>𝑛</m:t>
                                      </m:r>
                                      <m:r>
                                        <a:rPr lang="en-PH" b="0" i="1" smtClean="0">
                                          <a:latin typeface="Cambria Math" panose="02040503050406030204" pitchFamily="18" charset="0"/>
                                        </a:rPr>
                                        <m:t>−1]</m:t>
                                      </m:r>
                                    </m:e>
                                  </m:mr>
                                </m:m>
                              </m:e>
                            </m:mr>
                          </m:m>
                        </m:e>
                      </m:d>
                      <m:r>
                        <a:rPr lang="en-PH" b="0" i="1" smtClean="0">
                          <a:latin typeface="Cambria Math" panose="02040503050406030204" pitchFamily="18" charset="0"/>
                        </a:rPr>
                        <m:t>=</m:t>
                      </m:r>
                      <m:d>
                        <m:dPr>
                          <m:begChr m:val="["/>
                          <m:endChr m:val="]"/>
                          <m:ctrlPr>
                            <a:rPr lang="en-PH" i="1" smtClean="0">
                              <a:latin typeface="Cambria Math" panose="02040503050406030204" pitchFamily="18" charset="0"/>
                            </a:rPr>
                          </m:ctrlPr>
                        </m:dPr>
                        <m:e>
                          <m:m>
                            <m:mPr>
                              <m:mcs>
                                <m:mc>
                                  <m:mcPr>
                                    <m:count m:val="3"/>
                                    <m:mcJc m:val="center"/>
                                  </m:mcPr>
                                </m:mc>
                              </m:mcs>
                              <m:ctrlPr>
                                <a:rPr lang="en-PH" i="1" smtClean="0">
                                  <a:latin typeface="Cambria Math" panose="02040503050406030204" pitchFamily="18" charset="0"/>
                                </a:rPr>
                              </m:ctrlPr>
                            </m:mPr>
                            <m:mr>
                              <m:e>
                                <m:m>
                                  <m:mPr>
                                    <m:mcs>
                                      <m:mc>
                                        <m:mcPr>
                                          <m:count m:val="1"/>
                                          <m:mcJc m:val="center"/>
                                        </m:mcPr>
                                      </m:mc>
                                    </m:mcs>
                                    <m:ctrlPr>
                                      <a:rPr lang="en-PH" i="1">
                                        <a:latin typeface="Cambria Math" panose="02040503050406030204" pitchFamily="18" charset="0"/>
                                      </a:rPr>
                                    </m:ctrlPr>
                                  </m:mPr>
                                  <m:mr>
                                    <m:e>
                                      <m:r>
                                        <m:rPr>
                                          <m:brk m:alnAt="7"/>
                                        </m:rPr>
                                        <a:rPr lang="en-PH" b="0" i="1" smtClean="0">
                                          <a:latin typeface="Cambria Math" panose="02040503050406030204" pitchFamily="18" charset="0"/>
                                        </a:rPr>
                                        <m:t>1</m:t>
                                      </m:r>
                                    </m:e>
                                  </m:mr>
                                  <m:mr>
                                    <m:e>
                                      <m:r>
                                        <a:rPr lang="en-PH" b="0" i="1" smtClean="0">
                                          <a:latin typeface="Cambria Math" panose="02040503050406030204" pitchFamily="18" charset="0"/>
                                        </a:rPr>
                                        <m:t>1</m:t>
                                      </m:r>
                                    </m:e>
                                  </m:mr>
                                  <m:mr>
                                    <m:e>
                                      <m:m>
                                        <m:mPr>
                                          <m:mcs>
                                            <m:mc>
                                              <m:mcPr>
                                                <m:count m:val="1"/>
                                                <m:mcJc m:val="center"/>
                                              </m:mcPr>
                                            </m:mc>
                                          </m:mcs>
                                          <m:ctrlPr>
                                            <a:rPr lang="en-PH" i="1">
                                              <a:latin typeface="Cambria Math" panose="02040503050406030204" pitchFamily="18" charset="0"/>
                                            </a:rPr>
                                          </m:ctrlPr>
                                        </m:mPr>
                                        <m:mr>
                                          <m:e>
                                            <m:r>
                                              <m:rPr>
                                                <m:brk m:alnAt="7"/>
                                              </m:rPr>
                                              <a:rPr lang="en-PH" b="0" i="1" smtClean="0">
                                                <a:latin typeface="Cambria Math" panose="02040503050406030204" pitchFamily="18" charset="0"/>
                                              </a:rPr>
                                              <m:t>1</m:t>
                                            </m:r>
                                          </m:e>
                                        </m:mr>
                                        <m:mr>
                                          <m:e>
                                            <m:r>
                                              <a:rPr lang="en-PH" b="0" i="1" smtClean="0">
                                                <a:latin typeface="Cambria Math" panose="02040503050406030204" pitchFamily="18" charset="0"/>
                                              </a:rPr>
                                              <m:t>1</m:t>
                                            </m:r>
                                          </m:e>
                                        </m:mr>
                                        <m:mr>
                                          <m:e>
                                            <m:r>
                                              <a:rPr lang="en-PH" b="0" i="1" smtClean="0">
                                                <a:latin typeface="Cambria Math" panose="02040503050406030204" pitchFamily="18" charset="0"/>
                                              </a:rPr>
                                              <m:t>1</m:t>
                                            </m:r>
                                          </m:e>
                                        </m:mr>
                                      </m:m>
                                    </m:e>
                                  </m:mr>
                                </m:m>
                              </m:e>
                              <m:e>
                                <m:m>
                                  <m:mPr>
                                    <m:mcs>
                                      <m:mc>
                                        <m:mcPr>
                                          <m:count m:val="1"/>
                                          <m:mcJc m:val="center"/>
                                        </m:mcPr>
                                      </m:mc>
                                    </m:mcs>
                                    <m:ctrlPr>
                                      <a:rPr lang="en-PH" i="1">
                                        <a:latin typeface="Cambria Math" panose="02040503050406030204" pitchFamily="18" charset="0"/>
                                      </a:rPr>
                                    </m:ctrlPr>
                                  </m:mPr>
                                  <m:mr>
                                    <m:e>
                                      <m:r>
                                        <m:rPr>
                                          <m:brk m:alnAt="7"/>
                                        </m:rPr>
                                        <a:rPr lang="en-PH" b="0" i="1" smtClean="0">
                                          <a:latin typeface="Cambria Math" panose="02040503050406030204" pitchFamily="18" charset="0"/>
                                        </a:rPr>
                                        <m:t>1</m:t>
                                      </m:r>
                                    </m:e>
                                  </m:mr>
                                  <m:mr>
                                    <m:e>
                                      <m:sSup>
                                        <m:sSupPr>
                                          <m:ctrlPr>
                                            <a:rPr lang="en-PH" i="1">
                                              <a:latin typeface="Cambria Math" panose="02040503050406030204" pitchFamily="18" charset="0"/>
                                            </a:rPr>
                                          </m:ctrlPr>
                                        </m:sSupPr>
                                        <m:e>
                                          <m:r>
                                            <a:rPr lang="en-PH" b="0" i="1">
                                              <a:latin typeface="Cambria Math" panose="02040503050406030204" pitchFamily="18" charset="0"/>
                                            </a:rPr>
                                            <m:t>𝑒</m:t>
                                          </m:r>
                                        </m:e>
                                        <m:sup>
                                          <m:r>
                                            <a:rPr lang="en-PH" b="0" i="1">
                                              <a:latin typeface="Cambria Math" panose="02040503050406030204" pitchFamily="18" charset="0"/>
                                            </a:rPr>
                                            <m:t>− </m:t>
                                          </m:r>
                                          <m:r>
                                            <a:rPr lang="en-PH" b="0" i="1" smtClean="0">
                                              <a:latin typeface="Cambria Math" panose="02040503050406030204" pitchFamily="18" charset="0"/>
                                            </a:rPr>
                                            <m:t>𝑗</m:t>
                                          </m:r>
                                          <m:d>
                                            <m:dPr>
                                              <m:ctrlPr>
                                                <a:rPr lang="en-PH" i="1" smtClean="0">
                                                  <a:latin typeface="Cambria Math" panose="02040503050406030204" pitchFamily="18" charset="0"/>
                                                </a:rPr>
                                              </m:ctrlPr>
                                            </m:dPr>
                                            <m:e>
                                              <m:f>
                                                <m:fPr>
                                                  <m:ctrlPr>
                                                    <a:rPr lang="en-PH" i="1">
                                                      <a:latin typeface="Cambria Math" panose="02040503050406030204" pitchFamily="18" charset="0"/>
                                                      <a:ea typeface="Cambria Math" panose="02040503050406030204" pitchFamily="18" charset="0"/>
                                                    </a:rPr>
                                                  </m:ctrlPr>
                                                </m:fPr>
                                                <m:num>
                                                  <m:r>
                                                    <a:rPr lang="en-PH" b="0" i="1">
                                                      <a:latin typeface="Cambria Math" panose="02040503050406030204" pitchFamily="18" charset="0"/>
                                                    </a:rPr>
                                                    <m:t>2</m:t>
                                                  </m:r>
                                                  <m:r>
                                                    <a:rPr lang="en-PH" b="0" i="1">
                                                      <a:latin typeface="Cambria Math" panose="02040503050406030204" pitchFamily="18" charset="0"/>
                                                      <a:ea typeface="Cambria Math" panose="02040503050406030204" pitchFamily="18" charset="0"/>
                                                    </a:rPr>
                                                    <m:t>𝜋</m:t>
                                                  </m:r>
                                                </m:num>
                                                <m:den>
                                                  <m:r>
                                                    <a:rPr lang="en-PH" b="0" i="1">
                                                      <a:latin typeface="Cambria Math" panose="02040503050406030204" pitchFamily="18" charset="0"/>
                                                      <a:ea typeface="Cambria Math" panose="02040503050406030204" pitchFamily="18" charset="0"/>
                                                    </a:rPr>
                                                    <m:t>𝑁</m:t>
                                                  </m:r>
                                                </m:den>
                                              </m:f>
                                            </m:e>
                                          </m:d>
                                        </m:sup>
                                      </m:sSup>
                                      <m:r>
                                        <m:rPr>
                                          <m:nor/>
                                        </m:rPr>
                                        <a:rPr lang="en-PH" dirty="0"/>
                                        <m:t>  </m:t>
                                      </m:r>
                                    </m:e>
                                  </m:mr>
                                  <m:mr>
                                    <m:e>
                                      <m:m>
                                        <m:mPr>
                                          <m:mcs>
                                            <m:mc>
                                              <m:mcPr>
                                                <m:count m:val="1"/>
                                                <m:mcJc m:val="center"/>
                                              </m:mcPr>
                                            </m:mc>
                                          </m:mcs>
                                          <m:ctrlPr>
                                            <a:rPr lang="en-PH" i="1">
                                              <a:latin typeface="Cambria Math" panose="02040503050406030204" pitchFamily="18" charset="0"/>
                                            </a:rPr>
                                          </m:ctrlPr>
                                        </m:mPr>
                                        <m:mr>
                                          <m:e>
                                            <m:sSup>
                                              <m:sSupPr>
                                                <m:ctrlPr>
                                                  <a:rPr lang="en-PH" i="1">
                                                    <a:latin typeface="Cambria Math" panose="02040503050406030204" pitchFamily="18" charset="0"/>
                                                  </a:rPr>
                                                </m:ctrlPr>
                                              </m:sSupPr>
                                              <m:e>
                                                <m:r>
                                                  <a:rPr lang="en-PH" b="0" i="1">
                                                    <a:latin typeface="Cambria Math" panose="02040503050406030204" pitchFamily="18" charset="0"/>
                                                  </a:rPr>
                                                  <m:t>𝑒</m:t>
                                                </m:r>
                                              </m:e>
                                              <m:sup>
                                                <m:r>
                                                  <a:rPr lang="en-PH" b="0" i="1">
                                                    <a:latin typeface="Cambria Math" panose="02040503050406030204" pitchFamily="18" charset="0"/>
                                                  </a:rPr>
                                                  <m:t>− </m:t>
                                                </m:r>
                                                <m:r>
                                                  <a:rPr lang="en-PH" b="0" i="1">
                                                    <a:latin typeface="Cambria Math" panose="02040503050406030204" pitchFamily="18" charset="0"/>
                                                  </a:rPr>
                                                  <m:t>𝑗</m:t>
                                                </m:r>
                                                <m:d>
                                                  <m:dPr>
                                                    <m:ctrlPr>
                                                      <a:rPr lang="en-PH" i="1">
                                                        <a:latin typeface="Cambria Math" panose="02040503050406030204" pitchFamily="18" charset="0"/>
                                                      </a:rPr>
                                                    </m:ctrlPr>
                                                  </m:dPr>
                                                  <m:e>
                                                    <m:f>
                                                      <m:fPr>
                                                        <m:ctrlPr>
                                                          <a:rPr lang="en-PH" i="1">
                                                            <a:latin typeface="Cambria Math" panose="02040503050406030204" pitchFamily="18" charset="0"/>
                                                            <a:ea typeface="Cambria Math" panose="02040503050406030204" pitchFamily="18" charset="0"/>
                                                          </a:rPr>
                                                        </m:ctrlPr>
                                                      </m:fPr>
                                                      <m:num>
                                                        <m:r>
                                                          <a:rPr lang="en-PH" b="0" i="1" smtClean="0">
                                                            <a:latin typeface="Cambria Math" panose="02040503050406030204" pitchFamily="18" charset="0"/>
                                                            <a:ea typeface="Cambria Math" panose="02040503050406030204" pitchFamily="18" charset="0"/>
                                                          </a:rPr>
                                                          <m:t>4</m:t>
                                                        </m:r>
                                                        <m:r>
                                                          <a:rPr lang="en-PH" b="0" i="1">
                                                            <a:latin typeface="Cambria Math" panose="02040503050406030204" pitchFamily="18" charset="0"/>
                                                            <a:ea typeface="Cambria Math" panose="02040503050406030204" pitchFamily="18" charset="0"/>
                                                          </a:rPr>
                                                          <m:t>𝜋</m:t>
                                                        </m:r>
                                                      </m:num>
                                                      <m:den>
                                                        <m:r>
                                                          <a:rPr lang="en-PH" b="0" i="1">
                                                            <a:latin typeface="Cambria Math" panose="02040503050406030204" pitchFamily="18" charset="0"/>
                                                            <a:ea typeface="Cambria Math" panose="02040503050406030204" pitchFamily="18" charset="0"/>
                                                          </a:rPr>
                                                          <m:t>𝑁</m:t>
                                                        </m:r>
                                                      </m:den>
                                                    </m:f>
                                                  </m:e>
                                                </m:d>
                                              </m:sup>
                                            </m:sSup>
                                          </m:e>
                                        </m:mr>
                                        <m:mr>
                                          <m:e>
                                            <m:r>
                                              <a:rPr lang="en-PH" b="0" i="1">
                                                <a:latin typeface="Cambria Math" panose="02040503050406030204" pitchFamily="18" charset="0"/>
                                              </a:rPr>
                                              <m:t>⋮</m:t>
                                            </m:r>
                                          </m:e>
                                        </m:mr>
                                        <m:mr>
                                          <m:e>
                                            <m:sSup>
                                              <m:sSupPr>
                                                <m:ctrlPr>
                                                  <a:rPr lang="en-PH" i="1">
                                                    <a:latin typeface="Cambria Math" panose="02040503050406030204" pitchFamily="18" charset="0"/>
                                                  </a:rPr>
                                                </m:ctrlPr>
                                              </m:sSupPr>
                                              <m:e>
                                                <m:r>
                                                  <a:rPr lang="en-PH" b="0" i="1">
                                                    <a:latin typeface="Cambria Math" panose="02040503050406030204" pitchFamily="18" charset="0"/>
                                                  </a:rPr>
                                                  <m:t>𝑒</m:t>
                                                </m:r>
                                              </m:e>
                                              <m:sup>
                                                <m:r>
                                                  <a:rPr lang="en-PH" b="0" i="1">
                                                    <a:latin typeface="Cambria Math" panose="02040503050406030204" pitchFamily="18" charset="0"/>
                                                  </a:rPr>
                                                  <m:t>− </m:t>
                                                </m:r>
                                                <m:r>
                                                  <a:rPr lang="en-PH" b="0" i="1">
                                                    <a:latin typeface="Cambria Math" panose="02040503050406030204" pitchFamily="18" charset="0"/>
                                                  </a:rPr>
                                                  <m:t>𝑗</m:t>
                                                </m:r>
                                                <m:d>
                                                  <m:dPr>
                                                    <m:ctrlPr>
                                                      <a:rPr lang="en-PH" i="1">
                                                        <a:latin typeface="Cambria Math" panose="02040503050406030204" pitchFamily="18" charset="0"/>
                                                      </a:rPr>
                                                    </m:ctrlPr>
                                                  </m:dPr>
                                                  <m:e>
                                                    <m:f>
                                                      <m:fPr>
                                                        <m:ctrlPr>
                                                          <a:rPr lang="en-PH" i="1">
                                                            <a:latin typeface="Cambria Math" panose="02040503050406030204" pitchFamily="18" charset="0"/>
                                                            <a:ea typeface="Cambria Math" panose="02040503050406030204" pitchFamily="18" charset="0"/>
                                                          </a:rPr>
                                                        </m:ctrlPr>
                                                      </m:fPr>
                                                      <m:num>
                                                        <m:r>
                                                          <a:rPr lang="en-PH" b="0" i="1">
                                                            <a:latin typeface="Cambria Math" panose="02040503050406030204" pitchFamily="18" charset="0"/>
                                                          </a:rPr>
                                                          <m:t>2</m:t>
                                                        </m:r>
                                                        <m:r>
                                                          <a:rPr lang="en-PH" b="0" i="1" smtClean="0">
                                                            <a:latin typeface="Cambria Math" panose="02040503050406030204" pitchFamily="18" charset="0"/>
                                                          </a:rPr>
                                                          <m:t>(</m:t>
                                                        </m:r>
                                                        <m:r>
                                                          <a:rPr lang="en-PH" b="0" i="1" smtClean="0">
                                                            <a:latin typeface="Cambria Math" panose="02040503050406030204" pitchFamily="18" charset="0"/>
                                                          </a:rPr>
                                                          <m:t>𝑁</m:t>
                                                        </m:r>
                                                        <m:r>
                                                          <a:rPr lang="en-PH" b="0" i="1" smtClean="0">
                                                            <a:latin typeface="Cambria Math" panose="02040503050406030204" pitchFamily="18" charset="0"/>
                                                          </a:rPr>
                                                          <m:t>−1)</m:t>
                                                        </m:r>
                                                        <m:r>
                                                          <a:rPr lang="en-PH" b="0" i="1">
                                                            <a:latin typeface="Cambria Math" panose="02040503050406030204" pitchFamily="18" charset="0"/>
                                                            <a:ea typeface="Cambria Math" panose="02040503050406030204" pitchFamily="18" charset="0"/>
                                                          </a:rPr>
                                                          <m:t>𝜋</m:t>
                                                        </m:r>
                                                      </m:num>
                                                      <m:den>
                                                        <m:r>
                                                          <a:rPr lang="en-PH" b="0" i="1">
                                                            <a:latin typeface="Cambria Math" panose="02040503050406030204" pitchFamily="18" charset="0"/>
                                                            <a:ea typeface="Cambria Math" panose="02040503050406030204" pitchFamily="18" charset="0"/>
                                                          </a:rPr>
                                                          <m:t>𝑁</m:t>
                                                        </m:r>
                                                      </m:den>
                                                    </m:f>
                                                  </m:e>
                                                </m:d>
                                              </m:sup>
                                            </m:sSup>
                                          </m:e>
                                        </m:mr>
                                      </m:m>
                                    </m:e>
                                  </m:mr>
                                </m:m>
                              </m:e>
                              <m:e>
                                <m:m>
                                  <m:mPr>
                                    <m:mcs>
                                      <m:mc>
                                        <m:mcPr>
                                          <m:count m:val="3"/>
                                          <m:mcJc m:val="center"/>
                                        </m:mcPr>
                                      </m:mc>
                                    </m:mcs>
                                    <m:ctrlPr>
                                      <a:rPr lang="en-PH" i="1" smtClean="0">
                                        <a:latin typeface="Cambria Math" panose="02040503050406030204" pitchFamily="18" charset="0"/>
                                      </a:rPr>
                                    </m:ctrlPr>
                                  </m:mPr>
                                  <m:mr>
                                    <m:e>
                                      <m:m>
                                        <m:mPr>
                                          <m:mcs>
                                            <m:mc>
                                              <m:mcPr>
                                                <m:count m:val="1"/>
                                                <m:mcJc m:val="center"/>
                                              </m:mcPr>
                                            </m:mc>
                                          </m:mcs>
                                          <m:ctrlPr>
                                            <a:rPr lang="en-PH" i="1">
                                              <a:latin typeface="Cambria Math" panose="02040503050406030204" pitchFamily="18" charset="0"/>
                                            </a:rPr>
                                          </m:ctrlPr>
                                        </m:mPr>
                                        <m:mr>
                                          <m:e>
                                            <m:r>
                                              <m:rPr>
                                                <m:brk m:alnAt="7"/>
                                              </m:rPr>
                                              <a:rPr lang="en-PH" b="0" i="1" smtClean="0">
                                                <a:latin typeface="Cambria Math" panose="02040503050406030204" pitchFamily="18" charset="0"/>
                                              </a:rPr>
                                              <m:t>1</m:t>
                                            </m:r>
                                          </m:e>
                                        </m:mr>
                                        <m:mr>
                                          <m:e>
                                            <m:sSup>
                                              <m:sSupPr>
                                                <m:ctrlPr>
                                                  <a:rPr lang="en-PH" i="1">
                                                    <a:latin typeface="Cambria Math" panose="02040503050406030204" pitchFamily="18" charset="0"/>
                                                  </a:rPr>
                                                </m:ctrlPr>
                                              </m:sSupPr>
                                              <m:e>
                                                <m:r>
                                                  <a:rPr lang="en-PH" b="0" i="1">
                                                    <a:latin typeface="Cambria Math" panose="02040503050406030204" pitchFamily="18" charset="0"/>
                                                  </a:rPr>
                                                  <m:t>𝑒</m:t>
                                                </m:r>
                                              </m:e>
                                              <m:sup>
                                                <m:r>
                                                  <a:rPr lang="en-PH" b="0" i="1">
                                                    <a:latin typeface="Cambria Math" panose="02040503050406030204" pitchFamily="18" charset="0"/>
                                                  </a:rPr>
                                                  <m:t>− </m:t>
                                                </m:r>
                                                <m:r>
                                                  <a:rPr lang="en-PH" b="0" i="1">
                                                    <a:latin typeface="Cambria Math" panose="02040503050406030204" pitchFamily="18" charset="0"/>
                                                  </a:rPr>
                                                  <m:t>𝑗</m:t>
                                                </m:r>
                                                <m:d>
                                                  <m:dPr>
                                                    <m:ctrlPr>
                                                      <a:rPr lang="en-PH" i="1">
                                                        <a:latin typeface="Cambria Math" panose="02040503050406030204" pitchFamily="18" charset="0"/>
                                                      </a:rPr>
                                                    </m:ctrlPr>
                                                  </m:dPr>
                                                  <m:e>
                                                    <m:f>
                                                      <m:fPr>
                                                        <m:ctrlPr>
                                                          <a:rPr lang="en-PH" i="1">
                                                            <a:latin typeface="Cambria Math" panose="02040503050406030204" pitchFamily="18" charset="0"/>
                                                            <a:ea typeface="Cambria Math" panose="02040503050406030204" pitchFamily="18" charset="0"/>
                                                          </a:rPr>
                                                        </m:ctrlPr>
                                                      </m:fPr>
                                                      <m:num>
                                                        <m:r>
                                                          <a:rPr lang="en-PH" b="0" i="1" smtClean="0">
                                                            <a:latin typeface="Cambria Math" panose="02040503050406030204" pitchFamily="18" charset="0"/>
                                                            <a:ea typeface="Cambria Math" panose="02040503050406030204" pitchFamily="18" charset="0"/>
                                                          </a:rPr>
                                                          <m:t>4</m:t>
                                                        </m:r>
                                                        <m:r>
                                                          <a:rPr lang="en-PH" b="0" i="1">
                                                            <a:latin typeface="Cambria Math" panose="02040503050406030204" pitchFamily="18" charset="0"/>
                                                            <a:ea typeface="Cambria Math" panose="02040503050406030204" pitchFamily="18" charset="0"/>
                                                          </a:rPr>
                                                          <m:t>𝜋</m:t>
                                                        </m:r>
                                                      </m:num>
                                                      <m:den>
                                                        <m:r>
                                                          <a:rPr lang="en-PH" b="0" i="1">
                                                            <a:latin typeface="Cambria Math" panose="02040503050406030204" pitchFamily="18" charset="0"/>
                                                            <a:ea typeface="Cambria Math" panose="02040503050406030204" pitchFamily="18" charset="0"/>
                                                          </a:rPr>
                                                          <m:t>𝑁</m:t>
                                                        </m:r>
                                                      </m:den>
                                                    </m:f>
                                                  </m:e>
                                                </m:d>
                                              </m:sup>
                                            </m:sSup>
                                          </m:e>
                                        </m:mr>
                                        <m:mr>
                                          <m:e>
                                            <m:m>
                                              <m:mPr>
                                                <m:mcs>
                                                  <m:mc>
                                                    <m:mcPr>
                                                      <m:count m:val="1"/>
                                                      <m:mcJc m:val="center"/>
                                                    </m:mcPr>
                                                  </m:mc>
                                                </m:mcs>
                                                <m:ctrlPr>
                                                  <a:rPr lang="en-PH" i="1">
                                                    <a:latin typeface="Cambria Math" panose="02040503050406030204" pitchFamily="18" charset="0"/>
                                                  </a:rPr>
                                                </m:ctrlPr>
                                              </m:mPr>
                                              <m:mr>
                                                <m:e>
                                                  <m:sSup>
                                                    <m:sSupPr>
                                                      <m:ctrlPr>
                                                        <a:rPr lang="en-PH" i="1">
                                                          <a:latin typeface="Cambria Math" panose="02040503050406030204" pitchFamily="18" charset="0"/>
                                                        </a:rPr>
                                                      </m:ctrlPr>
                                                    </m:sSupPr>
                                                    <m:e>
                                                      <m:r>
                                                        <a:rPr lang="en-PH" b="0" i="1">
                                                          <a:latin typeface="Cambria Math" panose="02040503050406030204" pitchFamily="18" charset="0"/>
                                                        </a:rPr>
                                                        <m:t>𝑒</m:t>
                                                      </m:r>
                                                    </m:e>
                                                    <m:sup>
                                                      <m:r>
                                                        <a:rPr lang="en-PH" b="0" i="1">
                                                          <a:latin typeface="Cambria Math" panose="02040503050406030204" pitchFamily="18" charset="0"/>
                                                        </a:rPr>
                                                        <m:t>− </m:t>
                                                      </m:r>
                                                      <m:r>
                                                        <a:rPr lang="en-PH" b="0" i="1">
                                                          <a:latin typeface="Cambria Math" panose="02040503050406030204" pitchFamily="18" charset="0"/>
                                                        </a:rPr>
                                                        <m:t>𝑗</m:t>
                                                      </m:r>
                                                      <m:d>
                                                        <m:dPr>
                                                          <m:ctrlPr>
                                                            <a:rPr lang="en-PH" i="1">
                                                              <a:latin typeface="Cambria Math" panose="02040503050406030204" pitchFamily="18" charset="0"/>
                                                            </a:rPr>
                                                          </m:ctrlPr>
                                                        </m:dPr>
                                                        <m:e>
                                                          <m:f>
                                                            <m:fPr>
                                                              <m:ctrlPr>
                                                                <a:rPr lang="en-PH" i="1">
                                                                  <a:latin typeface="Cambria Math" panose="02040503050406030204" pitchFamily="18" charset="0"/>
                                                                  <a:ea typeface="Cambria Math" panose="02040503050406030204" pitchFamily="18" charset="0"/>
                                                                </a:rPr>
                                                              </m:ctrlPr>
                                                            </m:fPr>
                                                            <m:num>
                                                              <m:r>
                                                                <a:rPr lang="en-PH" b="0" i="1" smtClean="0">
                                                                  <a:latin typeface="Cambria Math" panose="02040503050406030204" pitchFamily="18" charset="0"/>
                                                                  <a:ea typeface="Cambria Math" panose="02040503050406030204" pitchFamily="18" charset="0"/>
                                                                </a:rPr>
                                                                <m:t>8</m:t>
                                                              </m:r>
                                                              <m:r>
                                                                <a:rPr lang="en-PH" b="0" i="1">
                                                                  <a:latin typeface="Cambria Math" panose="02040503050406030204" pitchFamily="18" charset="0"/>
                                                                  <a:ea typeface="Cambria Math" panose="02040503050406030204" pitchFamily="18" charset="0"/>
                                                                </a:rPr>
                                                                <m:t>𝜋</m:t>
                                                              </m:r>
                                                            </m:num>
                                                            <m:den>
                                                              <m:r>
                                                                <a:rPr lang="en-PH" b="0" i="1">
                                                                  <a:latin typeface="Cambria Math" panose="02040503050406030204" pitchFamily="18" charset="0"/>
                                                                  <a:ea typeface="Cambria Math" panose="02040503050406030204" pitchFamily="18" charset="0"/>
                                                                </a:rPr>
                                                                <m:t>𝑁</m:t>
                                                              </m:r>
                                                            </m:den>
                                                          </m:f>
                                                        </m:e>
                                                      </m:d>
                                                    </m:sup>
                                                  </m:sSup>
                                                </m:e>
                                              </m:mr>
                                              <m:mr>
                                                <m:e>
                                                  <m:r>
                                                    <a:rPr lang="en-PH" b="0" i="1">
                                                      <a:latin typeface="Cambria Math" panose="02040503050406030204" pitchFamily="18" charset="0"/>
                                                    </a:rPr>
                                                    <m:t>⋮</m:t>
                                                  </m:r>
                                                </m:e>
                                              </m:mr>
                                              <m:mr>
                                                <m:e>
                                                  <m:sSup>
                                                    <m:sSupPr>
                                                      <m:ctrlPr>
                                                        <a:rPr lang="en-PH" i="1">
                                                          <a:latin typeface="Cambria Math" panose="02040503050406030204" pitchFamily="18" charset="0"/>
                                                        </a:rPr>
                                                      </m:ctrlPr>
                                                    </m:sSupPr>
                                                    <m:e>
                                                      <m:r>
                                                        <a:rPr lang="en-PH" b="0" i="1">
                                                          <a:latin typeface="Cambria Math" panose="02040503050406030204" pitchFamily="18" charset="0"/>
                                                        </a:rPr>
                                                        <m:t>𝑒</m:t>
                                                      </m:r>
                                                    </m:e>
                                                    <m:sup>
                                                      <m:r>
                                                        <a:rPr lang="en-PH" b="0" i="1">
                                                          <a:latin typeface="Cambria Math" panose="02040503050406030204" pitchFamily="18" charset="0"/>
                                                        </a:rPr>
                                                        <m:t>− </m:t>
                                                      </m:r>
                                                      <m:r>
                                                        <a:rPr lang="en-PH" b="0" i="1">
                                                          <a:latin typeface="Cambria Math" panose="02040503050406030204" pitchFamily="18" charset="0"/>
                                                        </a:rPr>
                                                        <m:t>𝑗</m:t>
                                                      </m:r>
                                                      <m:d>
                                                        <m:dPr>
                                                          <m:ctrlPr>
                                                            <a:rPr lang="en-PH" i="1">
                                                              <a:latin typeface="Cambria Math" panose="02040503050406030204" pitchFamily="18" charset="0"/>
                                                            </a:rPr>
                                                          </m:ctrlPr>
                                                        </m:dPr>
                                                        <m:e>
                                                          <m:f>
                                                            <m:fPr>
                                                              <m:ctrlPr>
                                                                <a:rPr lang="en-PH" i="1">
                                                                  <a:latin typeface="Cambria Math" panose="02040503050406030204" pitchFamily="18" charset="0"/>
                                                                  <a:ea typeface="Cambria Math" panose="02040503050406030204" pitchFamily="18" charset="0"/>
                                                                </a:rPr>
                                                              </m:ctrlPr>
                                                            </m:fPr>
                                                            <m:num>
                                                              <m:r>
                                                                <a:rPr lang="en-PH" b="0" i="1" smtClean="0">
                                                                  <a:latin typeface="Cambria Math" panose="02040503050406030204" pitchFamily="18" charset="0"/>
                                                                  <a:ea typeface="Cambria Math" panose="02040503050406030204" pitchFamily="18" charset="0"/>
                                                                </a:rPr>
                                                                <m:t>4(</m:t>
                                                              </m:r>
                                                              <m:r>
                                                                <a:rPr lang="en-PH" b="0" i="1" smtClean="0">
                                                                  <a:latin typeface="Cambria Math" panose="02040503050406030204" pitchFamily="18" charset="0"/>
                                                                  <a:ea typeface="Cambria Math" panose="02040503050406030204" pitchFamily="18" charset="0"/>
                                                                </a:rPr>
                                                                <m:t>𝑁</m:t>
                                                              </m:r>
                                                              <m:r>
                                                                <a:rPr lang="en-PH" b="0" i="1" smtClean="0">
                                                                  <a:latin typeface="Cambria Math" panose="02040503050406030204" pitchFamily="18" charset="0"/>
                                                                  <a:ea typeface="Cambria Math" panose="02040503050406030204" pitchFamily="18" charset="0"/>
                                                                </a:rPr>
                                                                <m:t>−1)</m:t>
                                                              </m:r>
                                                              <m:r>
                                                                <a:rPr lang="en-PH" b="0" i="1">
                                                                  <a:latin typeface="Cambria Math" panose="02040503050406030204" pitchFamily="18" charset="0"/>
                                                                  <a:ea typeface="Cambria Math" panose="02040503050406030204" pitchFamily="18" charset="0"/>
                                                                </a:rPr>
                                                                <m:t>𝜋</m:t>
                                                              </m:r>
                                                            </m:num>
                                                            <m:den>
                                                              <m:r>
                                                                <a:rPr lang="en-PH" b="0" i="1">
                                                                  <a:latin typeface="Cambria Math" panose="02040503050406030204" pitchFamily="18" charset="0"/>
                                                                  <a:ea typeface="Cambria Math" panose="02040503050406030204" pitchFamily="18" charset="0"/>
                                                                </a:rPr>
                                                                <m:t>𝑁</m:t>
                                                              </m:r>
                                                            </m:den>
                                                          </m:f>
                                                        </m:e>
                                                      </m:d>
                                                    </m:sup>
                                                  </m:sSup>
                                                </m:e>
                                              </m:mr>
                                            </m:m>
                                          </m:e>
                                        </m:mr>
                                      </m:m>
                                    </m:e>
                                    <m:e>
                                      <m:m>
                                        <m:mPr>
                                          <m:mcs>
                                            <m:mc>
                                              <m:mcPr>
                                                <m:count m:val="1"/>
                                                <m:mcJc m:val="center"/>
                                              </m:mcPr>
                                            </m:mc>
                                          </m:mcs>
                                          <m:ctrlPr>
                                            <a:rPr lang="en-PH" i="1">
                                              <a:latin typeface="Cambria Math" panose="02040503050406030204" pitchFamily="18" charset="0"/>
                                            </a:rPr>
                                          </m:ctrlPr>
                                        </m:mPr>
                                        <m:mr>
                                          <m:e>
                                            <m:r>
                                              <a:rPr lang="en-PH" b="0" i="1" smtClean="0">
                                                <a:latin typeface="Cambria Math" panose="02040503050406030204" pitchFamily="18" charset="0"/>
                                              </a:rPr>
                                              <m:t>⋯</m:t>
                                            </m:r>
                                          </m:e>
                                        </m:mr>
                                        <m:mr>
                                          <m:e>
                                            <m:r>
                                              <a:rPr lang="en-PH" b="0" i="1">
                                                <a:latin typeface="Cambria Math" panose="02040503050406030204" pitchFamily="18" charset="0"/>
                                              </a:rPr>
                                              <m:t>⋯</m:t>
                                            </m:r>
                                          </m:e>
                                        </m:mr>
                                        <m:mr>
                                          <m:e>
                                            <m:m>
                                              <m:mPr>
                                                <m:mcs>
                                                  <m:mc>
                                                    <m:mcPr>
                                                      <m:count m:val="1"/>
                                                      <m:mcJc m:val="center"/>
                                                    </m:mcPr>
                                                  </m:mc>
                                                </m:mcs>
                                                <m:ctrlPr>
                                                  <a:rPr lang="en-PH" i="1">
                                                    <a:latin typeface="Cambria Math" panose="02040503050406030204" pitchFamily="18" charset="0"/>
                                                  </a:rPr>
                                                </m:ctrlPr>
                                              </m:mPr>
                                              <m:mr>
                                                <m:e>
                                                  <m:r>
                                                    <a:rPr lang="en-PH" b="0" i="1">
                                                      <a:latin typeface="Cambria Math" panose="02040503050406030204" pitchFamily="18" charset="0"/>
                                                    </a:rPr>
                                                    <m:t>⋯</m:t>
                                                  </m:r>
                                                </m:e>
                                              </m:mr>
                                              <m:mr>
                                                <m:e>
                                                  <m:r>
                                                    <a:rPr lang="en-PH" b="0" i="1">
                                                      <a:latin typeface="Cambria Math" panose="02040503050406030204" pitchFamily="18" charset="0"/>
                                                    </a:rPr>
                                                    <m:t>⋯</m:t>
                                                  </m:r>
                                                </m:e>
                                              </m:mr>
                                              <m:mr>
                                                <m:e>
                                                  <m:r>
                                                    <a:rPr lang="en-PH" b="0" i="1">
                                                      <a:latin typeface="Cambria Math" panose="02040503050406030204" pitchFamily="18" charset="0"/>
                                                    </a:rPr>
                                                    <m:t>⋯</m:t>
                                                  </m:r>
                                                </m:e>
                                              </m:mr>
                                            </m:m>
                                          </m:e>
                                        </m:mr>
                                      </m:m>
                                    </m:e>
                                    <m:e>
                                      <m:m>
                                        <m:mPr>
                                          <m:mcs>
                                            <m:mc>
                                              <m:mcPr>
                                                <m:count m:val="1"/>
                                                <m:mcJc m:val="center"/>
                                              </m:mcPr>
                                            </m:mc>
                                          </m:mcs>
                                          <m:ctrlPr>
                                            <a:rPr lang="en-PH" i="1">
                                              <a:latin typeface="Cambria Math" panose="02040503050406030204" pitchFamily="18" charset="0"/>
                                            </a:rPr>
                                          </m:ctrlPr>
                                        </m:mPr>
                                        <m:mr>
                                          <m:e>
                                            <m:r>
                                              <m:rPr>
                                                <m:brk m:alnAt="7"/>
                                              </m:rPr>
                                              <a:rPr lang="en-PH" b="0" i="1" smtClean="0">
                                                <a:latin typeface="Cambria Math" panose="02040503050406030204" pitchFamily="18" charset="0"/>
                                              </a:rPr>
                                              <m:t>1</m:t>
                                            </m:r>
                                          </m:e>
                                        </m:mr>
                                        <m:mr>
                                          <m:e>
                                            <m:sSup>
                                              <m:sSupPr>
                                                <m:ctrlPr>
                                                  <a:rPr lang="en-PH" i="1">
                                                    <a:latin typeface="Cambria Math" panose="02040503050406030204" pitchFamily="18" charset="0"/>
                                                  </a:rPr>
                                                </m:ctrlPr>
                                              </m:sSupPr>
                                              <m:e>
                                                <m:r>
                                                  <a:rPr lang="en-PH" b="0" i="1">
                                                    <a:latin typeface="Cambria Math" panose="02040503050406030204" pitchFamily="18" charset="0"/>
                                                  </a:rPr>
                                                  <m:t>𝑒</m:t>
                                                </m:r>
                                              </m:e>
                                              <m:sup>
                                                <m:r>
                                                  <a:rPr lang="en-PH" b="0" i="1">
                                                    <a:latin typeface="Cambria Math" panose="02040503050406030204" pitchFamily="18" charset="0"/>
                                                  </a:rPr>
                                                  <m:t>− </m:t>
                                                </m:r>
                                                <m:r>
                                                  <a:rPr lang="en-PH" b="0" i="1">
                                                    <a:latin typeface="Cambria Math" panose="02040503050406030204" pitchFamily="18" charset="0"/>
                                                  </a:rPr>
                                                  <m:t>𝑗</m:t>
                                                </m:r>
                                                <m:d>
                                                  <m:dPr>
                                                    <m:ctrlPr>
                                                      <a:rPr lang="en-PH" i="1">
                                                        <a:latin typeface="Cambria Math" panose="02040503050406030204" pitchFamily="18" charset="0"/>
                                                      </a:rPr>
                                                    </m:ctrlPr>
                                                  </m:dPr>
                                                  <m:e>
                                                    <m:f>
                                                      <m:fPr>
                                                        <m:ctrlPr>
                                                          <a:rPr lang="en-PH" i="1">
                                                            <a:latin typeface="Cambria Math" panose="02040503050406030204" pitchFamily="18" charset="0"/>
                                                            <a:ea typeface="Cambria Math" panose="02040503050406030204" pitchFamily="18" charset="0"/>
                                                          </a:rPr>
                                                        </m:ctrlPr>
                                                      </m:fPr>
                                                      <m:num>
                                                        <m:r>
                                                          <a:rPr lang="en-PH" b="0" i="1">
                                                            <a:latin typeface="Cambria Math" panose="02040503050406030204" pitchFamily="18" charset="0"/>
                                                          </a:rPr>
                                                          <m:t>2</m:t>
                                                        </m:r>
                                                        <m:r>
                                                          <a:rPr lang="en-PH" b="0" i="1" smtClean="0">
                                                            <a:latin typeface="Cambria Math" panose="02040503050406030204" pitchFamily="18" charset="0"/>
                                                          </a:rPr>
                                                          <m:t>(</m:t>
                                                        </m:r>
                                                        <m:r>
                                                          <a:rPr lang="en-PH" b="0" i="1" smtClean="0">
                                                            <a:latin typeface="Cambria Math" panose="02040503050406030204" pitchFamily="18" charset="0"/>
                                                          </a:rPr>
                                                          <m:t>𝑁</m:t>
                                                        </m:r>
                                                        <m:r>
                                                          <a:rPr lang="en-PH" b="0" i="1" smtClean="0">
                                                            <a:latin typeface="Cambria Math" panose="02040503050406030204" pitchFamily="18" charset="0"/>
                                                          </a:rPr>
                                                          <m:t>−1)</m:t>
                                                        </m:r>
                                                        <m:r>
                                                          <a:rPr lang="en-PH" b="0" i="1">
                                                            <a:latin typeface="Cambria Math" panose="02040503050406030204" pitchFamily="18" charset="0"/>
                                                            <a:ea typeface="Cambria Math" panose="02040503050406030204" pitchFamily="18" charset="0"/>
                                                          </a:rPr>
                                                          <m:t>𝜋</m:t>
                                                        </m:r>
                                                      </m:num>
                                                      <m:den>
                                                        <m:r>
                                                          <a:rPr lang="en-PH" b="0" i="1">
                                                            <a:latin typeface="Cambria Math" panose="02040503050406030204" pitchFamily="18" charset="0"/>
                                                            <a:ea typeface="Cambria Math" panose="02040503050406030204" pitchFamily="18" charset="0"/>
                                                          </a:rPr>
                                                          <m:t>𝑁</m:t>
                                                        </m:r>
                                                      </m:den>
                                                    </m:f>
                                                  </m:e>
                                                </m:d>
                                              </m:sup>
                                            </m:sSup>
                                          </m:e>
                                        </m:mr>
                                        <m:mr>
                                          <m:e>
                                            <m:m>
                                              <m:mPr>
                                                <m:mcs>
                                                  <m:mc>
                                                    <m:mcPr>
                                                      <m:count m:val="1"/>
                                                      <m:mcJc m:val="center"/>
                                                    </m:mcPr>
                                                  </m:mc>
                                                </m:mcs>
                                                <m:ctrlPr>
                                                  <a:rPr lang="en-PH" i="1" smtClean="0">
                                                    <a:latin typeface="Cambria Math" panose="02040503050406030204" pitchFamily="18" charset="0"/>
                                                  </a:rPr>
                                                </m:ctrlPr>
                                              </m:mPr>
                                              <m:mr>
                                                <m:e>
                                                  <m:sSup>
                                                    <m:sSupPr>
                                                      <m:ctrlPr>
                                                        <a:rPr lang="en-PH" i="1">
                                                          <a:latin typeface="Cambria Math" panose="02040503050406030204" pitchFamily="18" charset="0"/>
                                                        </a:rPr>
                                                      </m:ctrlPr>
                                                    </m:sSupPr>
                                                    <m:e>
                                                      <m:r>
                                                        <a:rPr lang="en-PH" b="0" i="1">
                                                          <a:latin typeface="Cambria Math" panose="02040503050406030204" pitchFamily="18" charset="0"/>
                                                        </a:rPr>
                                                        <m:t>𝑒</m:t>
                                                      </m:r>
                                                    </m:e>
                                                    <m:sup>
                                                      <m:r>
                                                        <a:rPr lang="en-PH" b="0" i="1">
                                                          <a:latin typeface="Cambria Math" panose="02040503050406030204" pitchFamily="18" charset="0"/>
                                                        </a:rPr>
                                                        <m:t>− </m:t>
                                                      </m:r>
                                                      <m:r>
                                                        <a:rPr lang="en-PH" b="0" i="1">
                                                          <a:latin typeface="Cambria Math" panose="02040503050406030204" pitchFamily="18" charset="0"/>
                                                        </a:rPr>
                                                        <m:t>𝑗</m:t>
                                                      </m:r>
                                                      <m:d>
                                                        <m:dPr>
                                                          <m:ctrlPr>
                                                            <a:rPr lang="en-PH" i="1">
                                                              <a:latin typeface="Cambria Math" panose="02040503050406030204" pitchFamily="18" charset="0"/>
                                                            </a:rPr>
                                                          </m:ctrlPr>
                                                        </m:dPr>
                                                        <m:e>
                                                          <m:f>
                                                            <m:fPr>
                                                              <m:ctrlPr>
                                                                <a:rPr lang="en-PH" i="1">
                                                                  <a:latin typeface="Cambria Math" panose="02040503050406030204" pitchFamily="18" charset="0"/>
                                                                  <a:ea typeface="Cambria Math" panose="02040503050406030204" pitchFamily="18" charset="0"/>
                                                                </a:rPr>
                                                              </m:ctrlPr>
                                                            </m:fPr>
                                                            <m:num>
                                                              <m:r>
                                                                <a:rPr lang="en-PH" b="0" i="1" smtClean="0">
                                                                  <a:latin typeface="Cambria Math" panose="02040503050406030204" pitchFamily="18" charset="0"/>
                                                                  <a:ea typeface="Cambria Math" panose="02040503050406030204" pitchFamily="18" charset="0"/>
                                                                </a:rPr>
                                                                <m:t>4(</m:t>
                                                              </m:r>
                                                              <m:r>
                                                                <a:rPr lang="en-PH" b="0" i="1" smtClean="0">
                                                                  <a:latin typeface="Cambria Math" panose="02040503050406030204" pitchFamily="18" charset="0"/>
                                                                  <a:ea typeface="Cambria Math" panose="02040503050406030204" pitchFamily="18" charset="0"/>
                                                                </a:rPr>
                                                                <m:t>𝑁</m:t>
                                                              </m:r>
                                                              <m:r>
                                                                <a:rPr lang="en-PH" b="0" i="1" smtClean="0">
                                                                  <a:latin typeface="Cambria Math" panose="02040503050406030204" pitchFamily="18" charset="0"/>
                                                                  <a:ea typeface="Cambria Math" panose="02040503050406030204" pitchFamily="18" charset="0"/>
                                                                </a:rPr>
                                                                <m:t>−1)</m:t>
                                                              </m:r>
                                                              <m:r>
                                                                <a:rPr lang="en-PH" b="0" i="1">
                                                                  <a:latin typeface="Cambria Math" panose="02040503050406030204" pitchFamily="18" charset="0"/>
                                                                  <a:ea typeface="Cambria Math" panose="02040503050406030204" pitchFamily="18" charset="0"/>
                                                                </a:rPr>
                                                                <m:t>𝜋</m:t>
                                                              </m:r>
                                                            </m:num>
                                                            <m:den>
                                                              <m:r>
                                                                <a:rPr lang="en-PH" b="0" i="1">
                                                                  <a:latin typeface="Cambria Math" panose="02040503050406030204" pitchFamily="18" charset="0"/>
                                                                  <a:ea typeface="Cambria Math" panose="02040503050406030204" pitchFamily="18" charset="0"/>
                                                                </a:rPr>
                                                                <m:t>𝑁</m:t>
                                                              </m:r>
                                                            </m:den>
                                                          </m:f>
                                                        </m:e>
                                                      </m:d>
                                                    </m:sup>
                                                  </m:sSup>
                                                </m:e>
                                              </m:mr>
                                              <m:mr>
                                                <m:e>
                                                  <m:r>
                                                    <a:rPr lang="en-PH" b="0" i="1">
                                                      <a:latin typeface="Cambria Math" panose="02040503050406030204" pitchFamily="18" charset="0"/>
                                                    </a:rPr>
                                                    <m:t>⋮</m:t>
                                                  </m:r>
                                                </m:e>
                                              </m:mr>
                                              <m:mr>
                                                <m:e>
                                                  <m:sSup>
                                                    <m:sSupPr>
                                                      <m:ctrlPr>
                                                        <a:rPr lang="en-PH" i="1">
                                                          <a:latin typeface="Cambria Math" panose="02040503050406030204" pitchFamily="18" charset="0"/>
                                                        </a:rPr>
                                                      </m:ctrlPr>
                                                    </m:sSupPr>
                                                    <m:e>
                                                      <m:r>
                                                        <a:rPr lang="en-PH" b="0" i="1">
                                                          <a:latin typeface="Cambria Math" panose="02040503050406030204" pitchFamily="18" charset="0"/>
                                                        </a:rPr>
                                                        <m:t>𝑒</m:t>
                                                      </m:r>
                                                    </m:e>
                                                    <m:sup>
                                                      <m:r>
                                                        <a:rPr lang="en-PH" b="0" i="1">
                                                          <a:latin typeface="Cambria Math" panose="02040503050406030204" pitchFamily="18" charset="0"/>
                                                        </a:rPr>
                                                        <m:t>− </m:t>
                                                      </m:r>
                                                      <m:r>
                                                        <a:rPr lang="en-PH" b="0" i="1">
                                                          <a:latin typeface="Cambria Math" panose="02040503050406030204" pitchFamily="18" charset="0"/>
                                                        </a:rPr>
                                                        <m:t>𝑗</m:t>
                                                      </m:r>
                                                      <m:d>
                                                        <m:dPr>
                                                          <m:ctrlPr>
                                                            <a:rPr lang="en-PH" i="1">
                                                              <a:latin typeface="Cambria Math" panose="02040503050406030204" pitchFamily="18" charset="0"/>
                                                            </a:rPr>
                                                          </m:ctrlPr>
                                                        </m:dPr>
                                                        <m:e>
                                                          <m:f>
                                                            <m:fPr>
                                                              <m:ctrlPr>
                                                                <a:rPr lang="en-PH" i="1">
                                                                  <a:latin typeface="Cambria Math" panose="02040503050406030204" pitchFamily="18" charset="0"/>
                                                                  <a:ea typeface="Cambria Math" panose="02040503050406030204" pitchFamily="18" charset="0"/>
                                                                </a:rPr>
                                                              </m:ctrlPr>
                                                            </m:fPr>
                                                            <m:num>
                                                              <m:r>
                                                                <a:rPr lang="en-PH" b="0" i="1">
                                                                  <a:latin typeface="Cambria Math" panose="02040503050406030204" pitchFamily="18" charset="0"/>
                                                                </a:rPr>
                                                                <m:t>2</m:t>
                                                              </m:r>
                                                              <m:r>
                                                                <a:rPr lang="en-PH" b="0" i="1" smtClean="0">
                                                                  <a:latin typeface="Cambria Math" panose="02040503050406030204" pitchFamily="18" charset="0"/>
                                                                </a:rPr>
                                                                <m:t>(</m:t>
                                                              </m:r>
                                                              <m:r>
                                                                <a:rPr lang="en-PH" b="0" i="1" smtClean="0">
                                                                  <a:latin typeface="Cambria Math" panose="02040503050406030204" pitchFamily="18" charset="0"/>
                                                                </a:rPr>
                                                                <m:t>𝑁</m:t>
                                                              </m:r>
                                                              <m:r>
                                                                <a:rPr lang="en-PH" b="0" i="1" smtClean="0">
                                                                  <a:latin typeface="Cambria Math" panose="02040503050406030204" pitchFamily="18" charset="0"/>
                                                                </a:rPr>
                                                                <m:t>−1)(</m:t>
                                                              </m:r>
                                                              <m:r>
                                                                <a:rPr lang="en-PH" b="0" i="1" smtClean="0">
                                                                  <a:latin typeface="Cambria Math" panose="02040503050406030204" pitchFamily="18" charset="0"/>
                                                                </a:rPr>
                                                                <m:t>𝑁</m:t>
                                                              </m:r>
                                                              <m:r>
                                                                <a:rPr lang="en-PH" b="0" i="1" smtClean="0">
                                                                  <a:latin typeface="Cambria Math" panose="02040503050406030204" pitchFamily="18" charset="0"/>
                                                                </a:rPr>
                                                                <m:t>−1)</m:t>
                                                              </m:r>
                                                              <m:r>
                                                                <a:rPr lang="en-PH" b="0" i="1">
                                                                  <a:latin typeface="Cambria Math" panose="02040503050406030204" pitchFamily="18" charset="0"/>
                                                                  <a:ea typeface="Cambria Math" panose="02040503050406030204" pitchFamily="18" charset="0"/>
                                                                </a:rPr>
                                                                <m:t>𝜋</m:t>
                                                              </m:r>
                                                            </m:num>
                                                            <m:den>
                                                              <m:r>
                                                                <a:rPr lang="en-PH" b="0" i="1">
                                                                  <a:latin typeface="Cambria Math" panose="02040503050406030204" pitchFamily="18" charset="0"/>
                                                                  <a:ea typeface="Cambria Math" panose="02040503050406030204" pitchFamily="18" charset="0"/>
                                                                </a:rPr>
                                                                <m:t>𝑁</m:t>
                                                              </m:r>
                                                            </m:den>
                                                          </m:f>
                                                        </m:e>
                                                      </m:d>
                                                    </m:sup>
                                                  </m:sSup>
                                                </m:e>
                                              </m:mr>
                                            </m:m>
                                          </m:e>
                                        </m:mr>
                                      </m:m>
                                    </m:e>
                                  </m:mr>
                                </m:m>
                              </m:e>
                            </m:mr>
                          </m:m>
                        </m:e>
                      </m:d>
                      <m:d>
                        <m:dPr>
                          <m:begChr m:val="["/>
                          <m:endChr m:val="]"/>
                          <m:ctrlPr>
                            <a:rPr lang="en-PH" i="1">
                              <a:latin typeface="Cambria Math" panose="02040503050406030204" pitchFamily="18" charset="0"/>
                            </a:rPr>
                          </m:ctrlPr>
                        </m:dPr>
                        <m:e>
                          <m:m>
                            <m:mPr>
                              <m:mcs>
                                <m:mc>
                                  <m:mcPr>
                                    <m:count m:val="1"/>
                                    <m:mcJc m:val="center"/>
                                  </m:mcPr>
                                </m:mc>
                              </m:mcs>
                              <m:ctrlPr>
                                <a:rPr lang="en-PH" i="1">
                                  <a:latin typeface="Cambria Math" panose="02040503050406030204" pitchFamily="18" charset="0"/>
                                </a:rPr>
                              </m:ctrlPr>
                            </m:mPr>
                            <m:mr>
                              <m:e>
                                <m:r>
                                  <m:rPr>
                                    <m:brk m:alnAt="7"/>
                                  </m:rPr>
                                  <a:rPr lang="en-PH" b="0" i="1" smtClean="0">
                                    <a:latin typeface="Cambria Math" panose="02040503050406030204" pitchFamily="18" charset="0"/>
                                  </a:rPr>
                                  <m:t>𝑥</m:t>
                                </m:r>
                                <m:r>
                                  <a:rPr lang="en-PH" b="0" i="1" smtClean="0">
                                    <a:latin typeface="Cambria Math" panose="02040503050406030204" pitchFamily="18" charset="0"/>
                                  </a:rPr>
                                  <m:t>[0]</m:t>
                                </m:r>
                              </m:e>
                            </m:mr>
                            <m:mr>
                              <m:e>
                                <m:r>
                                  <a:rPr lang="en-PH" b="0" i="1" smtClean="0">
                                    <a:latin typeface="Cambria Math" panose="02040503050406030204" pitchFamily="18" charset="0"/>
                                  </a:rPr>
                                  <m:t>𝑥</m:t>
                                </m:r>
                                <m:r>
                                  <a:rPr lang="en-PH" b="0" i="1" smtClean="0">
                                    <a:latin typeface="Cambria Math" panose="02040503050406030204" pitchFamily="18" charset="0"/>
                                  </a:rPr>
                                  <m:t>[1]</m:t>
                                </m:r>
                              </m:e>
                            </m:mr>
                            <m:mr>
                              <m:e>
                                <m:m>
                                  <m:mPr>
                                    <m:mcs>
                                      <m:mc>
                                        <m:mcPr>
                                          <m:count m:val="1"/>
                                          <m:mcJc m:val="center"/>
                                        </m:mcPr>
                                      </m:mc>
                                    </m:mcs>
                                    <m:ctrlPr>
                                      <a:rPr lang="en-PH" i="1">
                                        <a:latin typeface="Cambria Math" panose="02040503050406030204" pitchFamily="18" charset="0"/>
                                      </a:rPr>
                                    </m:ctrlPr>
                                  </m:mPr>
                                  <m:mr>
                                    <m:e>
                                      <m:r>
                                        <m:rPr>
                                          <m:brk m:alnAt="7"/>
                                        </m:rPr>
                                        <a:rPr lang="en-PH" b="0" i="1" smtClean="0">
                                          <a:latin typeface="Cambria Math" panose="02040503050406030204" pitchFamily="18" charset="0"/>
                                        </a:rPr>
                                        <m:t>𝑥</m:t>
                                      </m:r>
                                      <m:r>
                                        <a:rPr lang="en-PH" b="0" i="1" smtClean="0">
                                          <a:latin typeface="Cambria Math" panose="02040503050406030204" pitchFamily="18" charset="0"/>
                                        </a:rPr>
                                        <m:t>[2]</m:t>
                                      </m:r>
                                    </m:e>
                                  </m:mr>
                                  <m:mr>
                                    <m:e>
                                      <m:r>
                                        <a:rPr lang="en-PH" b="0" i="1">
                                          <a:latin typeface="Cambria Math" panose="02040503050406030204" pitchFamily="18" charset="0"/>
                                        </a:rPr>
                                        <m:t>⋮</m:t>
                                      </m:r>
                                    </m:e>
                                  </m:mr>
                                  <m:mr>
                                    <m:e>
                                      <m:r>
                                        <a:rPr lang="en-PH" b="0" i="1" smtClean="0">
                                          <a:latin typeface="Cambria Math" panose="02040503050406030204" pitchFamily="18" charset="0"/>
                                        </a:rPr>
                                        <m:t>𝑥</m:t>
                                      </m:r>
                                      <m:r>
                                        <a:rPr lang="en-PH" b="0" i="1" smtClean="0">
                                          <a:latin typeface="Cambria Math" panose="02040503050406030204" pitchFamily="18" charset="0"/>
                                        </a:rPr>
                                        <m:t>[</m:t>
                                      </m:r>
                                      <m:r>
                                        <a:rPr lang="en-PH" b="0" i="1" smtClean="0">
                                          <a:latin typeface="Cambria Math" panose="02040503050406030204" pitchFamily="18" charset="0"/>
                                        </a:rPr>
                                        <m:t>𝑁</m:t>
                                      </m:r>
                                      <m:r>
                                        <a:rPr lang="en-PH" b="0" i="1" smtClean="0">
                                          <a:latin typeface="Cambria Math" panose="02040503050406030204" pitchFamily="18" charset="0"/>
                                        </a:rPr>
                                        <m:t>−1]</m:t>
                                      </m:r>
                                    </m:e>
                                  </m:mr>
                                </m:m>
                              </m:e>
                            </m:mr>
                          </m:m>
                        </m:e>
                      </m:d>
                    </m:oMath>
                  </m:oMathPara>
                </a14:m>
                <a:endParaRPr lang="en-PH" dirty="0"/>
              </a:p>
              <a:p>
                <a:pPr marL="0" indent="0">
                  <a:buNone/>
                </a:pPr>
                <a:endParaRPr lang="en-PH"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81001" y="2489200"/>
                <a:ext cx="8305800" cy="3530600"/>
              </a:xfrm>
              <a:blipFill rotWithShape="0">
                <a:blip r:embed="rId3"/>
                <a:stretch>
                  <a:fillRect l="-220" t="-862"/>
                </a:stretch>
              </a:blipFill>
            </p:spPr>
            <p:txBody>
              <a:bodyPr/>
              <a:lstStyle/>
              <a:p>
                <a:r>
                  <a:rPr lang="en-PH">
                    <a:noFill/>
                  </a:rPr>
                  <a:t> </a:t>
                </a:r>
              </a:p>
            </p:txBody>
          </p:sp>
        </mc:Fallback>
      </mc:AlternateContent>
    </p:spTree>
    <p:extLst>
      <p:ext uri="{BB962C8B-B14F-4D97-AF65-F5344CB8AC3E}">
        <p14:creationId xmlns:p14="http://schemas.microsoft.com/office/powerpoint/2010/main" val="2551134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a:t>MATRIX MANIPULATION</a:t>
            </a:r>
          </a:p>
        </p:txBody>
      </p:sp>
      <p:pic>
        <p:nvPicPr>
          <p:cNvPr id="4" name="Content Placeholder 3"/>
          <p:cNvPicPr>
            <a:picLocks noGrp="1" noChangeAspect="1"/>
          </p:cNvPicPr>
          <p:nvPr>
            <p:ph idx="1"/>
          </p:nvPr>
        </p:nvPicPr>
        <p:blipFill>
          <a:blip r:embed="rId2"/>
          <a:stretch>
            <a:fillRect/>
          </a:stretch>
        </p:blipFill>
        <p:spPr>
          <a:xfrm>
            <a:off x="457200" y="3276600"/>
            <a:ext cx="8025768" cy="1910896"/>
          </a:xfrm>
          <a:prstGeom prst="rect">
            <a:avLst/>
          </a:prstGeom>
        </p:spPr>
      </p:pic>
    </p:spTree>
    <p:extLst>
      <p:ext uri="{BB962C8B-B14F-4D97-AF65-F5344CB8AC3E}">
        <p14:creationId xmlns:p14="http://schemas.microsoft.com/office/powerpoint/2010/main" val="18145029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PH" b="1" dirty="0"/>
              <a:t>Discrete Fourier transform </a:t>
            </a:r>
            <a:endParaRPr lang="en-PH" dirty="0"/>
          </a:p>
        </p:txBody>
      </p:sp>
      <p:sp>
        <p:nvSpPr>
          <p:cNvPr id="3" name="Content Placeholder 2"/>
          <p:cNvSpPr>
            <a:spLocks noGrp="1"/>
          </p:cNvSpPr>
          <p:nvPr>
            <p:ph idx="1"/>
          </p:nvPr>
        </p:nvSpPr>
        <p:spPr/>
        <p:txBody>
          <a:bodyPr/>
          <a:lstStyle/>
          <a:p>
            <a:pPr algn="just"/>
            <a:r>
              <a:rPr lang="en-PH" dirty="0"/>
              <a:t>Solve the previous problem using Matrix multiplication:</a:t>
            </a:r>
          </a:p>
          <a:p>
            <a:pPr algn="just"/>
            <a:endParaRPr lang="en-PH" dirty="0"/>
          </a:p>
          <a:p>
            <a:pPr marL="0" indent="0" algn="just">
              <a:buNone/>
            </a:pPr>
            <a:endParaRPr lang="en-PH" dirty="0"/>
          </a:p>
        </p:txBody>
      </p:sp>
    </p:spTree>
    <p:extLst>
      <p:ext uri="{BB962C8B-B14F-4D97-AF65-F5344CB8AC3E}">
        <p14:creationId xmlns:p14="http://schemas.microsoft.com/office/powerpoint/2010/main" val="16301609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PH" dirty="0"/>
              <a:t>Inverse Discrete Fourier Transform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90600" y="2514600"/>
                <a:ext cx="7058359" cy="3530600"/>
              </a:xfrm>
            </p:spPr>
            <p:txBody>
              <a:bodyPr/>
              <a:lstStyle/>
              <a:p>
                <a:r>
                  <a:rPr lang="en-PH" dirty="0"/>
                  <a:t>Calculate the inverse DFT of</a:t>
                </a:r>
              </a:p>
              <a:p>
                <a:pPr marL="0" indent="0" algn="ctr">
                  <a:buNone/>
                </a:pPr>
                <a14:m>
                  <m:oMath xmlns:m="http://schemas.openxmlformats.org/officeDocument/2006/math">
                    <m:r>
                      <m:rPr>
                        <m:sty m:val="p"/>
                      </m:rPr>
                      <a:rPr lang="en-US" b="0" i="0" smtClean="0">
                        <a:latin typeface="Cambria Math" panose="02040503050406030204" pitchFamily="18" charset="0"/>
                      </a:rPr>
                      <m:t>x</m:t>
                    </m:r>
                    <m:d>
                      <m:dPr>
                        <m:begChr m:val="["/>
                        <m:endChr m:val="]"/>
                        <m:ctrlPr>
                          <a:rPr lang="en-PH" b="0" i="1" smtClean="0">
                            <a:latin typeface="Cambria Math" panose="02040503050406030204" pitchFamily="18" charset="0"/>
                          </a:rPr>
                        </m:ctrlPr>
                      </m:dPr>
                      <m:e>
                        <m:r>
                          <a:rPr lang="en-US" b="0" i="1" smtClean="0">
                            <a:latin typeface="Cambria Math" panose="02040503050406030204" pitchFamily="18" charset="0"/>
                          </a:rPr>
                          <m:t>𝑘</m:t>
                        </m:r>
                      </m:e>
                    </m:d>
                    <m:r>
                      <a:rPr lang="en-PH" b="0" i="1" smtClean="0">
                        <a:latin typeface="Cambria Math" panose="02040503050406030204" pitchFamily="18" charset="0"/>
                      </a:rPr>
                      <m:t>=</m:t>
                    </m:r>
                    <m:d>
                      <m:dPr>
                        <m:begChr m:val="{"/>
                        <m:endChr m:val=""/>
                        <m:ctrlPr>
                          <a:rPr lang="en-PH" b="0" i="1" smtClean="0">
                            <a:latin typeface="Cambria Math" panose="02040503050406030204" pitchFamily="18" charset="0"/>
                          </a:rPr>
                        </m:ctrlPr>
                      </m:dPr>
                      <m:e>
                        <m:eqArr>
                          <m:eqArrPr>
                            <m:ctrlPr>
                              <a:rPr lang="en-PH" b="0" i="1" smtClean="0">
                                <a:latin typeface="Cambria Math" panose="02040503050406030204" pitchFamily="18" charset="0"/>
                              </a:rPr>
                            </m:ctrlPr>
                          </m:eqArrPr>
                          <m:e>
                            <m:r>
                              <a:rPr lang="en-US" b="0" i="1" smtClean="0">
                                <a:latin typeface="Cambria Math" panose="02040503050406030204" pitchFamily="18" charset="0"/>
                              </a:rPr>
                              <m:t>6</m:t>
                            </m:r>
                          </m:e>
                          <m:e>
                            <m:r>
                              <a:rPr lang="en-US" b="0" i="1" smtClean="0">
                                <a:latin typeface="Cambria Math" panose="02040503050406030204" pitchFamily="18" charset="0"/>
                              </a:rPr>
                              <m:t>−2+</m:t>
                            </m:r>
                            <m:r>
                              <a:rPr lang="en-PH" b="0" i="1" smtClean="0">
                                <a:latin typeface="Cambria Math" panose="02040503050406030204" pitchFamily="18" charset="0"/>
                              </a:rPr>
                              <m:t>𝑗</m:t>
                            </m:r>
                            <m:r>
                              <a:rPr lang="en-PH" b="0" i="1" smtClean="0">
                                <a:latin typeface="Cambria Math" panose="02040503050406030204" pitchFamily="18" charset="0"/>
                              </a:rPr>
                              <m:t>2</m:t>
                            </m:r>
                          </m:e>
                          <m:e>
                            <m:r>
                              <a:rPr lang="en-PH" b="0" i="1" smtClean="0">
                                <a:latin typeface="Cambria Math" panose="02040503050406030204" pitchFamily="18" charset="0"/>
                              </a:rPr>
                              <m:t>−</m:t>
                            </m:r>
                            <m:r>
                              <a:rPr lang="en-US" b="0" i="1" smtClean="0">
                                <a:latin typeface="Cambria Math" panose="02040503050406030204" pitchFamily="18" charset="0"/>
                              </a:rPr>
                              <m:t>2</m:t>
                            </m:r>
                            <m:r>
                              <a:rPr lang="en-PH" b="0" i="1" smtClean="0">
                                <a:latin typeface="Cambria Math" panose="02040503050406030204" pitchFamily="18" charset="0"/>
                              </a:rPr>
                              <m:t>    </m:t>
                            </m:r>
                          </m:e>
                          <m:e>
                            <m:r>
                              <a:rPr lang="en-PH" b="0" i="1" smtClean="0">
                                <a:latin typeface="Cambria Math" panose="02040503050406030204" pitchFamily="18" charset="0"/>
                              </a:rPr>
                              <m:t>#</m:t>
                            </m:r>
                            <m:r>
                              <a:rPr lang="en-US" b="0" i="1" smtClean="0">
                                <a:latin typeface="Cambria Math" panose="02040503050406030204" pitchFamily="18" charset="0"/>
                              </a:rPr>
                              <m:t>−2−</m:t>
                            </m:r>
                            <m:r>
                              <a:rPr lang="en-PH" b="0" i="1" smtClean="0">
                                <a:latin typeface="Cambria Math" panose="02040503050406030204" pitchFamily="18" charset="0"/>
                              </a:rPr>
                              <m:t>𝑗</m:t>
                            </m:r>
                            <m:r>
                              <a:rPr lang="en-PH" b="0" i="1" smtClean="0">
                                <a:latin typeface="Cambria Math" panose="02040503050406030204" pitchFamily="18" charset="0"/>
                              </a:rPr>
                              <m:t>2    #</m:t>
                            </m:r>
                          </m:e>
                        </m:eqArr>
                        <m:m>
                          <m:mPr>
                            <m:mcs>
                              <m:mc>
                                <m:mcPr>
                                  <m:count m:val="1"/>
                                  <m:mcJc m:val="center"/>
                                </m:mcPr>
                              </m:mc>
                            </m:mcs>
                            <m:ctrlPr>
                              <a:rPr lang="en-PH" i="1" smtClean="0">
                                <a:latin typeface="Cambria Math" panose="02040503050406030204" pitchFamily="18" charset="0"/>
                              </a:rPr>
                            </m:ctrlPr>
                          </m:mPr>
                          <m:mr>
                            <m:e>
                              <m:r>
                                <m:rPr>
                                  <m:brk m:alnAt="7"/>
                                </m:rPr>
                                <a:rPr lang="en-US" b="0" i="1" smtClean="0">
                                  <a:latin typeface="Cambria Math" panose="02040503050406030204" pitchFamily="18" charset="0"/>
                                </a:rPr>
                                <m:t>𝑛</m:t>
                              </m:r>
                              <m:r>
                                <a:rPr lang="en-PH" b="0" i="1" smtClean="0">
                                  <a:latin typeface="Cambria Math" panose="02040503050406030204" pitchFamily="18" charset="0"/>
                                </a:rPr>
                                <m:t>=0</m:t>
                              </m:r>
                            </m:e>
                          </m:mr>
                          <m:mr>
                            <m:e>
                              <m:r>
                                <a:rPr lang="en-US" b="0" i="1" smtClean="0">
                                  <a:latin typeface="Cambria Math" panose="02040503050406030204" pitchFamily="18" charset="0"/>
                                </a:rPr>
                                <m:t>𝑛</m:t>
                              </m:r>
                              <m:r>
                                <a:rPr lang="en-PH" b="0" i="1" smtClean="0">
                                  <a:latin typeface="Cambria Math" panose="02040503050406030204" pitchFamily="18" charset="0"/>
                                </a:rPr>
                                <m:t>=1</m:t>
                              </m:r>
                            </m:e>
                          </m:mr>
                          <m:mr>
                            <m:e>
                              <m:eqArr>
                                <m:eqArrPr>
                                  <m:ctrlPr>
                                    <a:rPr lang="en-PH" i="1" smtClean="0">
                                      <a:latin typeface="Cambria Math" panose="02040503050406030204" pitchFamily="18" charset="0"/>
                                    </a:rPr>
                                  </m:ctrlPr>
                                </m:eqArrPr>
                                <m:e>
                                  <m:r>
                                    <a:rPr lang="en-US" b="0" i="1" smtClean="0">
                                      <a:latin typeface="Cambria Math" panose="02040503050406030204" pitchFamily="18" charset="0"/>
                                    </a:rPr>
                                    <m:t>𝑛</m:t>
                                  </m:r>
                                  <m:r>
                                    <a:rPr lang="en-PH" b="0" i="1" smtClean="0">
                                      <a:latin typeface="Cambria Math" panose="02040503050406030204" pitchFamily="18" charset="0"/>
                                    </a:rPr>
                                    <m:t>=2</m:t>
                                  </m:r>
                                </m:e>
                                <m:e>
                                  <m:r>
                                    <a:rPr lang="en-US" b="0" i="1" smtClean="0">
                                      <a:latin typeface="Cambria Math" panose="02040503050406030204" pitchFamily="18" charset="0"/>
                                    </a:rPr>
                                    <m:t>𝑛</m:t>
                                  </m:r>
                                  <m:r>
                                    <a:rPr lang="en-PH" b="0" i="1" smtClean="0">
                                      <a:latin typeface="Cambria Math" panose="02040503050406030204" pitchFamily="18" charset="0"/>
                                    </a:rPr>
                                    <m:t>=3</m:t>
                                  </m:r>
                                </m:e>
                              </m:eqArr>
                            </m:e>
                          </m:mr>
                        </m:m>
                      </m:e>
                    </m:d>
                  </m:oMath>
                </a14:m>
                <a:r>
                  <a:rPr lang="en-PH" dirty="0"/>
                  <a:t> </a:t>
                </a:r>
              </a:p>
              <a:p>
                <a:endParaRPr lang="en-PH"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90600" y="2514600"/>
                <a:ext cx="7058359" cy="3530600"/>
              </a:xfrm>
              <a:blipFill>
                <a:blip r:embed="rId2"/>
                <a:stretch>
                  <a:fillRect l="-259" t="-1036"/>
                </a:stretch>
              </a:blipFill>
            </p:spPr>
            <p:txBody>
              <a:bodyPr/>
              <a:lstStyle/>
              <a:p>
                <a:r>
                  <a:rPr lang="en-US">
                    <a:noFill/>
                  </a:rPr>
                  <a:t> </a:t>
                </a:r>
              </a:p>
            </p:txBody>
          </p:sp>
        </mc:Fallback>
      </mc:AlternateContent>
    </p:spTree>
    <p:extLst>
      <p:ext uri="{BB962C8B-B14F-4D97-AF65-F5344CB8AC3E}">
        <p14:creationId xmlns:p14="http://schemas.microsoft.com/office/powerpoint/2010/main" val="26172565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79C0E-20EC-1DF7-6228-C56470367132}"/>
              </a:ext>
            </a:extLst>
          </p:cNvPr>
          <p:cNvSpPr>
            <a:spLocks noGrp="1"/>
          </p:cNvSpPr>
          <p:nvPr>
            <p:ph type="title"/>
          </p:nvPr>
        </p:nvSpPr>
        <p:spPr/>
        <p:txBody>
          <a:bodyPr/>
          <a:lstStyle/>
          <a:p>
            <a:pPr algn="ctr"/>
            <a:r>
              <a:rPr lang="en-US" dirty="0"/>
              <a:t>FOURIER SERIES</a:t>
            </a:r>
          </a:p>
        </p:txBody>
      </p:sp>
      <p:sp>
        <p:nvSpPr>
          <p:cNvPr id="3" name="Content Placeholder 2">
            <a:extLst>
              <a:ext uri="{FF2B5EF4-FFF2-40B4-BE49-F238E27FC236}">
                <a16:creationId xmlns:a16="http://schemas.microsoft.com/office/drawing/2014/main" id="{DAF19DE9-93C7-0961-42EB-B017E5B445D2}"/>
              </a:ext>
            </a:extLst>
          </p:cNvPr>
          <p:cNvSpPr>
            <a:spLocks noGrp="1"/>
          </p:cNvSpPr>
          <p:nvPr>
            <p:ph idx="1"/>
          </p:nvPr>
        </p:nvSpPr>
        <p:spPr>
          <a:xfrm>
            <a:off x="866440" y="2489201"/>
            <a:ext cx="7439359" cy="3530600"/>
          </a:xfrm>
        </p:spPr>
        <p:txBody>
          <a:bodyPr>
            <a:normAutofit/>
          </a:bodyPr>
          <a:lstStyle/>
          <a:p>
            <a:r>
              <a:rPr lang="en-US" dirty="0"/>
              <a:t>A Fourier series is an expansion of a periodic function f(x) in terms of an infinite sum of sines and cosines.</a:t>
            </a:r>
          </a:p>
          <a:p>
            <a:r>
              <a:rPr lang="en-US" dirty="0"/>
              <a:t> Fourier series make use of the orthogonality relationships of the sine and cosine functions.</a:t>
            </a:r>
          </a:p>
          <a:p>
            <a:r>
              <a:rPr lang="en-US" dirty="0"/>
              <a:t> The computation and study of Fourier series is known as harmonic analysis and is extremely useful to break up an arbitrary periodic function into a set of simple terms that can be plugged in, solved individually, and then recombined to obtain the solution to the original problem or an approximation to it to whatever accuracy is desired or practical.</a:t>
            </a:r>
          </a:p>
        </p:txBody>
      </p:sp>
      <p:sp>
        <p:nvSpPr>
          <p:cNvPr id="5" name="AutoShape 2" descr="f(x)">
            <a:extLst>
              <a:ext uri="{FF2B5EF4-FFF2-40B4-BE49-F238E27FC236}">
                <a16:creationId xmlns:a16="http://schemas.microsoft.com/office/drawing/2014/main" id="{6D0EF8CB-5C07-5CEB-DADC-E11CC37D1F93}"/>
              </a:ext>
            </a:extLst>
          </p:cNvPr>
          <p:cNvSpPr>
            <a:spLocks noChangeAspect="1" noChangeArrowheads="1"/>
          </p:cNvSpPr>
          <p:nvPr/>
        </p:nvSpPr>
        <p:spPr bwMode="auto">
          <a:xfrm>
            <a:off x="3698875" y="-98425"/>
            <a:ext cx="333375" cy="2095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2641059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D5179-1ABB-E9F4-4F7D-CCDB94D4A8B3}"/>
              </a:ext>
            </a:extLst>
          </p:cNvPr>
          <p:cNvSpPr>
            <a:spLocks noGrp="1"/>
          </p:cNvSpPr>
          <p:nvPr>
            <p:ph type="title"/>
          </p:nvPr>
        </p:nvSpPr>
        <p:spPr/>
        <p:txBody>
          <a:bodyPr/>
          <a:lstStyle/>
          <a:p>
            <a:pPr algn="ctr"/>
            <a:r>
              <a:rPr lang="en-US" dirty="0"/>
              <a:t>FOURIER SERIES</a:t>
            </a:r>
          </a:p>
        </p:txBody>
      </p:sp>
      <p:sp>
        <p:nvSpPr>
          <p:cNvPr id="5" name="TextBox 4">
            <a:extLst>
              <a:ext uri="{FF2B5EF4-FFF2-40B4-BE49-F238E27FC236}">
                <a16:creationId xmlns:a16="http://schemas.microsoft.com/office/drawing/2014/main" id="{91DA6BA2-803E-04EB-E927-B7E4FBE43362}"/>
              </a:ext>
            </a:extLst>
          </p:cNvPr>
          <p:cNvSpPr txBox="1"/>
          <p:nvPr/>
        </p:nvSpPr>
        <p:spPr>
          <a:xfrm>
            <a:off x="4343400" y="2743200"/>
            <a:ext cx="3733800" cy="1477328"/>
          </a:xfrm>
          <a:prstGeom prst="rect">
            <a:avLst/>
          </a:prstGeom>
          <a:noFill/>
        </p:spPr>
        <p:txBody>
          <a:bodyPr wrap="square">
            <a:spAutoFit/>
          </a:bodyPr>
          <a:lstStyle/>
          <a:p>
            <a:r>
              <a:rPr lang="en-US" dirty="0"/>
              <a:t>Joseph Fourier, in full Jean-Baptiste-Joseph, Baron Fourier, (born March 21, 1768, Auxerre, France—died May 16, 1830, Paris)</a:t>
            </a:r>
          </a:p>
        </p:txBody>
      </p:sp>
      <p:pic>
        <p:nvPicPr>
          <p:cNvPr id="7" name="Picture 6">
            <a:extLst>
              <a:ext uri="{FF2B5EF4-FFF2-40B4-BE49-F238E27FC236}">
                <a16:creationId xmlns:a16="http://schemas.microsoft.com/office/drawing/2014/main" id="{DE38C165-D463-DD23-1114-B9665F5F5D47}"/>
              </a:ext>
            </a:extLst>
          </p:cNvPr>
          <p:cNvPicPr>
            <a:picLocks noChangeAspect="1"/>
          </p:cNvPicPr>
          <p:nvPr/>
        </p:nvPicPr>
        <p:blipFill>
          <a:blip r:embed="rId2"/>
          <a:stretch>
            <a:fillRect/>
          </a:stretch>
        </p:blipFill>
        <p:spPr>
          <a:xfrm>
            <a:off x="609600" y="2253615"/>
            <a:ext cx="3629025" cy="3933825"/>
          </a:xfrm>
          <a:prstGeom prst="rect">
            <a:avLst/>
          </a:prstGeom>
        </p:spPr>
      </p:pic>
    </p:spTree>
    <p:extLst>
      <p:ext uri="{BB962C8B-B14F-4D97-AF65-F5344CB8AC3E}">
        <p14:creationId xmlns:p14="http://schemas.microsoft.com/office/powerpoint/2010/main" val="36196570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E973039C-EA8C-42FD-199C-CEBB057506B9}"/>
                  </a:ext>
                </a:extLst>
              </p:cNvPr>
              <p:cNvSpPr>
                <a:spLocks noGrp="1"/>
              </p:cNvSpPr>
              <p:nvPr>
                <p:ph type="title"/>
              </p:nvPr>
            </p:nvSpPr>
            <p:spPr/>
            <p:txBody>
              <a:bodyPr/>
              <a:lstStyle/>
              <a:p>
                <a:r>
                  <a:rPr lang="en-US" dirty="0"/>
                  <a:t>Fourier series with period 2</a:t>
                </a:r>
                <a14:m>
                  <m:oMath xmlns:m="http://schemas.openxmlformats.org/officeDocument/2006/math">
                    <m:r>
                      <a:rPr lang="el-GR" i="1" smtClean="0">
                        <a:latin typeface="Cambria Math" panose="02040503050406030204" pitchFamily="18" charset="0"/>
                      </a:rPr>
                      <m:t>𝜋</m:t>
                    </m:r>
                  </m:oMath>
                </a14:m>
                <a:endParaRPr lang="en-US" dirty="0"/>
              </a:p>
            </p:txBody>
          </p:sp>
        </mc:Choice>
        <mc:Fallback xmlns="">
          <p:sp>
            <p:nvSpPr>
              <p:cNvPr id="2" name="Title 1">
                <a:extLst>
                  <a:ext uri="{FF2B5EF4-FFF2-40B4-BE49-F238E27FC236}">
                    <a16:creationId xmlns:a16="http://schemas.microsoft.com/office/drawing/2014/main" id="{E973039C-EA8C-42FD-199C-CEBB057506B9}"/>
                  </a:ext>
                </a:extLst>
              </p:cNvPr>
              <p:cNvSpPr>
                <a:spLocks noGrp="1" noRot="1" noChangeAspect="1" noMove="1" noResize="1" noEditPoints="1" noAdjustHandles="1" noChangeArrowheads="1" noChangeShapeType="1" noTextEdit="1"/>
              </p:cNvSpPr>
              <p:nvPr>
                <p:ph type="title"/>
              </p:nvPr>
            </p:nvSpPr>
            <p:spPr>
              <a:blipFill>
                <a:blip r:embed="rId2"/>
                <a:stretch>
                  <a:fillRect l="-2402" t="-1709" b="-18803"/>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6C443602-AD2B-5365-4B96-F432A0A168CE}"/>
              </a:ext>
            </a:extLst>
          </p:cNvPr>
          <p:cNvPicPr>
            <a:picLocks noChangeAspect="1"/>
          </p:cNvPicPr>
          <p:nvPr/>
        </p:nvPicPr>
        <p:blipFill>
          <a:blip r:embed="rId3"/>
          <a:stretch>
            <a:fillRect/>
          </a:stretch>
        </p:blipFill>
        <p:spPr>
          <a:xfrm>
            <a:off x="1143000" y="2057400"/>
            <a:ext cx="6343202" cy="4399138"/>
          </a:xfrm>
          <a:prstGeom prst="rect">
            <a:avLst/>
          </a:prstGeom>
        </p:spPr>
      </p:pic>
    </p:spTree>
    <p:extLst>
      <p:ext uri="{BB962C8B-B14F-4D97-AF65-F5344CB8AC3E}">
        <p14:creationId xmlns:p14="http://schemas.microsoft.com/office/powerpoint/2010/main" val="42200480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a:t>Fourier Series</a:t>
            </a:r>
          </a:p>
        </p:txBody>
      </p:sp>
      <p:pic>
        <p:nvPicPr>
          <p:cNvPr id="5" name="Picture 4">
            <a:extLst>
              <a:ext uri="{FF2B5EF4-FFF2-40B4-BE49-F238E27FC236}">
                <a16:creationId xmlns:a16="http://schemas.microsoft.com/office/drawing/2014/main" id="{6A1A75BB-064D-427F-85ED-2D1C3DE9EE38}"/>
              </a:ext>
            </a:extLst>
          </p:cNvPr>
          <p:cNvPicPr>
            <a:picLocks noChangeAspect="1"/>
          </p:cNvPicPr>
          <p:nvPr/>
        </p:nvPicPr>
        <p:blipFill>
          <a:blip r:embed="rId2"/>
          <a:stretch>
            <a:fillRect/>
          </a:stretch>
        </p:blipFill>
        <p:spPr>
          <a:xfrm>
            <a:off x="893334" y="2430463"/>
            <a:ext cx="7342382" cy="3500438"/>
          </a:xfrm>
          <a:prstGeom prst="rect">
            <a:avLst/>
          </a:prstGeom>
        </p:spPr>
      </p:pic>
    </p:spTree>
    <p:extLst>
      <p:ext uri="{BB962C8B-B14F-4D97-AF65-F5344CB8AC3E}">
        <p14:creationId xmlns:p14="http://schemas.microsoft.com/office/powerpoint/2010/main" val="38705484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a:t>Fourier Series</a:t>
            </a:r>
          </a:p>
        </p:txBody>
      </p:sp>
      <p:pic>
        <p:nvPicPr>
          <p:cNvPr id="5" name="Picture 4">
            <a:extLst>
              <a:ext uri="{FF2B5EF4-FFF2-40B4-BE49-F238E27FC236}">
                <a16:creationId xmlns:a16="http://schemas.microsoft.com/office/drawing/2014/main" id="{6573821D-F906-F51A-D239-72C3A66B05CA}"/>
              </a:ext>
            </a:extLst>
          </p:cNvPr>
          <p:cNvPicPr>
            <a:picLocks noChangeAspect="1"/>
          </p:cNvPicPr>
          <p:nvPr/>
        </p:nvPicPr>
        <p:blipFill>
          <a:blip r:embed="rId2"/>
          <a:stretch>
            <a:fillRect/>
          </a:stretch>
        </p:blipFill>
        <p:spPr>
          <a:xfrm>
            <a:off x="533400" y="2514600"/>
            <a:ext cx="8243515" cy="3357458"/>
          </a:xfrm>
          <a:prstGeom prst="rect">
            <a:avLst/>
          </a:prstGeom>
        </p:spPr>
      </p:pic>
    </p:spTree>
    <p:extLst>
      <p:ext uri="{BB962C8B-B14F-4D97-AF65-F5344CB8AC3E}">
        <p14:creationId xmlns:p14="http://schemas.microsoft.com/office/powerpoint/2010/main" val="22598786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82851-F59A-5533-394E-ABA245576E76}"/>
              </a:ext>
            </a:extLst>
          </p:cNvPr>
          <p:cNvSpPr>
            <a:spLocks noGrp="1"/>
          </p:cNvSpPr>
          <p:nvPr>
            <p:ph type="title"/>
          </p:nvPr>
        </p:nvSpPr>
        <p:spPr/>
        <p:txBody>
          <a:bodyPr/>
          <a:lstStyle/>
          <a:p>
            <a:r>
              <a:rPr lang="en-US" dirty="0"/>
              <a:t>EXAMPLE NO. 1</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4C29DB6-A957-34F0-1240-C864B4B3702E}"/>
                  </a:ext>
                </a:extLst>
              </p:cNvPr>
              <p:cNvSpPr>
                <a:spLocks noGrp="1"/>
              </p:cNvSpPr>
              <p:nvPr>
                <p:ph idx="1"/>
              </p:nvPr>
            </p:nvSpPr>
            <p:spPr/>
            <p:txBody>
              <a:bodyPr/>
              <a:lstStyle/>
              <a:p>
                <a:r>
                  <a:rPr lang="en-US" dirty="0"/>
                  <a:t>Let f(x) be a function of period 2 such that </a:t>
                </a:r>
              </a:p>
              <a:p>
                <a:pPr marL="0" indent="0">
                  <a:buNone/>
                </a:pPr>
                <a:r>
                  <a:rPr lang="en-US" dirty="0"/>
                  <a:t> f(x)</a:t>
                </a:r>
                <a14:m>
                  <m:oMath xmlns:m="http://schemas.openxmlformats.org/officeDocument/2006/math">
                    <m:r>
                      <a:rPr lang="en-US" i="1" smtClean="0">
                        <a:latin typeface="Cambria Math" panose="02040503050406030204" pitchFamily="18" charset="0"/>
                      </a:rPr>
                      <m:t>=</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𝑥</m:t>
                        </m:r>
                      </m:num>
                      <m:den>
                        <m:r>
                          <a:rPr lang="en-US" b="0" i="1" smtClean="0">
                            <a:latin typeface="Cambria Math" panose="02040503050406030204" pitchFamily="18" charset="0"/>
                          </a:rPr>
                          <m:t>2</m:t>
                        </m:r>
                      </m:den>
                    </m:f>
                    <m:r>
                      <a:rPr lang="en-US" b="0" i="1" smtClean="0">
                        <a:latin typeface="Cambria Math" panose="02040503050406030204" pitchFamily="18" charset="0"/>
                      </a:rPr>
                      <m:t> </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0, 2</m:t>
                        </m:r>
                        <m:r>
                          <a:rPr lang="en-US" b="0" i="1" smtClean="0">
                            <a:latin typeface="Cambria Math" panose="02040503050406030204" pitchFamily="18" charset="0"/>
                            <a:ea typeface="Cambria Math" panose="02040503050406030204" pitchFamily="18" charset="0"/>
                          </a:rPr>
                          <m:t>𝜋</m:t>
                        </m:r>
                      </m:e>
                    </m:d>
                    <m:r>
                      <a:rPr lang="en-US" b="0" i="1" smtClean="0">
                        <a:latin typeface="Cambria Math" panose="02040503050406030204" pitchFamily="18" charset="0"/>
                        <a:ea typeface="Cambria Math" panose="02040503050406030204" pitchFamily="18" charset="0"/>
                      </a:rPr>
                      <m:t>.</m:t>
                    </m:r>
                  </m:oMath>
                </a14:m>
                <a:endParaRPr lang="en-US" b="0" dirty="0">
                  <a:ea typeface="Cambria Math" panose="02040503050406030204" pitchFamily="18" charset="0"/>
                </a:endParaRPr>
              </a:p>
              <a:p>
                <a:r>
                  <a:rPr lang="en-US" dirty="0"/>
                  <a:t>Find the Fourier series of f(x) over [0, 2]</a:t>
                </a:r>
              </a:p>
            </p:txBody>
          </p:sp>
        </mc:Choice>
        <mc:Fallback xmlns="">
          <p:sp>
            <p:nvSpPr>
              <p:cNvPr id="3" name="Content Placeholder 2">
                <a:extLst>
                  <a:ext uri="{FF2B5EF4-FFF2-40B4-BE49-F238E27FC236}">
                    <a16:creationId xmlns:a16="http://schemas.microsoft.com/office/drawing/2014/main" id="{44C29DB6-A957-34F0-1240-C864B4B3702E}"/>
                  </a:ext>
                </a:extLst>
              </p:cNvPr>
              <p:cNvSpPr>
                <a:spLocks noGrp="1" noRot="1" noChangeAspect="1" noMove="1" noResize="1" noEditPoints="1" noAdjustHandles="1" noChangeArrowheads="1" noChangeShapeType="1" noTextEdit="1"/>
              </p:cNvSpPr>
              <p:nvPr>
                <p:ph idx="1"/>
              </p:nvPr>
            </p:nvSpPr>
            <p:spPr>
              <a:blipFill>
                <a:blip r:embed="rId2"/>
                <a:stretch>
                  <a:fillRect l="-192" t="-862"/>
                </a:stretch>
              </a:blipFill>
            </p:spPr>
            <p:txBody>
              <a:bodyPr/>
              <a:lstStyle/>
              <a:p>
                <a:r>
                  <a:rPr lang="en-US">
                    <a:noFill/>
                  </a:rPr>
                  <a:t> </a:t>
                </a:r>
              </a:p>
            </p:txBody>
          </p:sp>
        </mc:Fallback>
      </mc:AlternateContent>
    </p:spTree>
    <p:extLst>
      <p:ext uri="{BB962C8B-B14F-4D97-AF65-F5344CB8AC3E}">
        <p14:creationId xmlns:p14="http://schemas.microsoft.com/office/powerpoint/2010/main" val="29076408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82851-F59A-5533-394E-ABA245576E76}"/>
              </a:ext>
            </a:extLst>
          </p:cNvPr>
          <p:cNvSpPr>
            <a:spLocks noGrp="1"/>
          </p:cNvSpPr>
          <p:nvPr>
            <p:ph type="title"/>
          </p:nvPr>
        </p:nvSpPr>
        <p:spPr/>
        <p:txBody>
          <a:bodyPr/>
          <a:lstStyle/>
          <a:p>
            <a:r>
              <a:rPr lang="en-US" dirty="0"/>
              <a:t>EXAMPLE NO. 2</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4C29DB6-A957-34F0-1240-C864B4B3702E}"/>
                  </a:ext>
                </a:extLst>
              </p:cNvPr>
              <p:cNvSpPr>
                <a:spLocks noGrp="1"/>
              </p:cNvSpPr>
              <p:nvPr>
                <p:ph idx="1"/>
              </p:nvPr>
            </p:nvSpPr>
            <p:spPr/>
            <p:txBody>
              <a:bodyPr/>
              <a:lstStyle/>
              <a:p>
                <a:r>
                  <a:rPr lang="en-US" dirty="0"/>
                  <a:t>Find the Fourier series of </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r>
                                <a:rPr lang="en-US" b="0" i="1" smtClean="0">
                                  <a:latin typeface="Cambria Math" panose="02040503050406030204" pitchFamily="18" charset="0"/>
                                </a:rPr>
                                <m:t>1, −</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𝜋</m:t>
                                  </m:r>
                                </m:num>
                                <m:den>
                                  <m:r>
                                    <a:rPr lang="en-US" b="0" i="1" smtClean="0">
                                      <a:latin typeface="Cambria Math" panose="02040503050406030204" pitchFamily="18" charset="0"/>
                                      <a:ea typeface="Cambria Math" panose="02040503050406030204" pitchFamily="18" charset="0"/>
                                    </a:rPr>
                                    <m:t>2</m:t>
                                  </m:r>
                                </m:den>
                              </m:f>
                              <m:r>
                                <a:rPr lang="en-US" b="0" i="1" smtClean="0">
                                  <a:latin typeface="Cambria Math" panose="02040503050406030204" pitchFamily="18" charset="0"/>
                                  <a:ea typeface="Cambria Math" panose="02040503050406030204" pitchFamily="18" charset="0"/>
                                </a:rPr>
                                <m:t>&lt;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&lt;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𝜋</m:t>
                                  </m:r>
                                </m:num>
                                <m:den>
                                  <m:r>
                                    <a:rPr lang="en-US" b="0" i="1" smtClean="0">
                                      <a:latin typeface="Cambria Math" panose="02040503050406030204" pitchFamily="18" charset="0"/>
                                      <a:ea typeface="Cambria Math" panose="02040503050406030204" pitchFamily="18" charset="0"/>
                                    </a:rPr>
                                    <m:t>2</m:t>
                                  </m:r>
                                </m:den>
                              </m:f>
                            </m:e>
                            <m:e>
                              <m:r>
                                <a:rPr lang="en-US" b="0" i="1" smtClean="0">
                                  <a:latin typeface="Cambria Math" panose="02040503050406030204" pitchFamily="18" charset="0"/>
                                </a:rPr>
                                <m:t>−1 ,</m:t>
                              </m:r>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𝜋</m:t>
                                  </m:r>
                                </m:num>
                                <m:den>
                                  <m:r>
                                    <a:rPr lang="en-US" b="0" i="1" smtClean="0">
                                      <a:latin typeface="Cambria Math" panose="02040503050406030204" pitchFamily="18" charset="0"/>
                                    </a:rPr>
                                    <m:t>2</m:t>
                                  </m:r>
                                </m:den>
                              </m:f>
                              <m:r>
                                <a:rPr lang="en-US" b="0" i="1" smtClean="0">
                                  <a:latin typeface="Cambria Math" panose="02040503050406030204" pitchFamily="18" charset="0"/>
                                </a:rPr>
                                <m:t>&lt;</m:t>
                              </m:r>
                              <m:r>
                                <a:rPr lang="en-US" b="0" i="1" smtClean="0">
                                  <a:latin typeface="Cambria Math" panose="02040503050406030204" pitchFamily="18" charset="0"/>
                                </a:rPr>
                                <m:t>𝑥</m:t>
                              </m:r>
                              <m:r>
                                <a:rPr lang="en-US" b="0" i="1" smtClean="0">
                                  <a:latin typeface="Cambria Math" panose="02040503050406030204" pitchFamily="18" charset="0"/>
                                </a:rPr>
                                <m:t>&lt;</m:t>
                              </m:r>
                              <m:f>
                                <m:fPr>
                                  <m:ctrlPr>
                                    <a:rPr lang="en-US" b="0" i="1" smtClean="0">
                                      <a:latin typeface="Cambria Math" panose="02040503050406030204" pitchFamily="18" charset="0"/>
                                    </a:rPr>
                                  </m:ctrlPr>
                                </m:fPr>
                                <m:num>
                                  <m:r>
                                    <a:rPr lang="en-US" b="0" i="1" smtClean="0">
                                      <a:latin typeface="Cambria Math" panose="02040503050406030204" pitchFamily="18" charset="0"/>
                                    </a:rPr>
                                    <m:t>3</m:t>
                                  </m:r>
                                  <m:r>
                                    <a:rPr lang="en-US" b="0" i="1" smtClean="0">
                                      <a:latin typeface="Cambria Math" panose="02040503050406030204" pitchFamily="18" charset="0"/>
                                      <a:ea typeface="Cambria Math" panose="02040503050406030204" pitchFamily="18" charset="0"/>
                                    </a:rPr>
                                    <m:t>𝜋</m:t>
                                  </m:r>
                                </m:num>
                                <m:den>
                                  <m:r>
                                    <a:rPr lang="en-US" b="0" i="1" smtClean="0">
                                      <a:latin typeface="Cambria Math" panose="02040503050406030204" pitchFamily="18" charset="0"/>
                                    </a:rPr>
                                    <m:t>2</m:t>
                                  </m:r>
                                </m:den>
                              </m:f>
                            </m:e>
                          </m:eqArr>
                        </m:e>
                      </m:d>
                    </m:oMath>
                  </m:oMathPara>
                </a14:m>
                <a:endParaRPr lang="en-US" dirty="0"/>
              </a:p>
            </p:txBody>
          </p:sp>
        </mc:Choice>
        <mc:Fallback xmlns="">
          <p:sp>
            <p:nvSpPr>
              <p:cNvPr id="3" name="Content Placeholder 2">
                <a:extLst>
                  <a:ext uri="{FF2B5EF4-FFF2-40B4-BE49-F238E27FC236}">
                    <a16:creationId xmlns:a16="http://schemas.microsoft.com/office/drawing/2014/main" id="{44C29DB6-A957-34F0-1240-C864B4B3702E}"/>
                  </a:ext>
                </a:extLst>
              </p:cNvPr>
              <p:cNvSpPr>
                <a:spLocks noGrp="1" noRot="1" noChangeAspect="1" noMove="1" noResize="1" noEditPoints="1" noAdjustHandles="1" noChangeArrowheads="1" noChangeShapeType="1" noTextEdit="1"/>
              </p:cNvSpPr>
              <p:nvPr>
                <p:ph idx="1"/>
              </p:nvPr>
            </p:nvSpPr>
            <p:spPr>
              <a:blipFill>
                <a:blip r:embed="rId2"/>
                <a:stretch>
                  <a:fillRect l="-192" t="-862"/>
                </a:stretch>
              </a:blipFill>
            </p:spPr>
            <p:txBody>
              <a:bodyPr/>
              <a:lstStyle/>
              <a:p>
                <a:r>
                  <a:rPr lang="en-PH">
                    <a:noFill/>
                  </a:rPr>
                  <a:t> </a:t>
                </a:r>
              </a:p>
            </p:txBody>
          </p:sp>
        </mc:Fallback>
      </mc:AlternateContent>
    </p:spTree>
    <p:extLst>
      <p:ext uri="{BB962C8B-B14F-4D97-AF65-F5344CB8AC3E}">
        <p14:creationId xmlns:p14="http://schemas.microsoft.com/office/powerpoint/2010/main" val="5152586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a:t>Trigonometric Identity</a:t>
            </a:r>
          </a:p>
        </p:txBody>
      </p:sp>
      <p:pic>
        <p:nvPicPr>
          <p:cNvPr id="5" name="Picture 4">
            <a:extLst>
              <a:ext uri="{FF2B5EF4-FFF2-40B4-BE49-F238E27FC236}">
                <a16:creationId xmlns:a16="http://schemas.microsoft.com/office/drawing/2014/main" id="{C95551F8-B0D6-627D-4615-0DBDEC621D9C}"/>
              </a:ext>
            </a:extLst>
          </p:cNvPr>
          <p:cNvPicPr>
            <a:picLocks noChangeAspect="1"/>
          </p:cNvPicPr>
          <p:nvPr/>
        </p:nvPicPr>
        <p:blipFill>
          <a:blip r:embed="rId2"/>
          <a:stretch>
            <a:fillRect/>
          </a:stretch>
        </p:blipFill>
        <p:spPr>
          <a:xfrm>
            <a:off x="1695450" y="2457450"/>
            <a:ext cx="5753100" cy="1943100"/>
          </a:xfrm>
          <a:prstGeom prst="rect">
            <a:avLst/>
          </a:prstGeom>
        </p:spPr>
      </p:pic>
    </p:spTree>
    <p:extLst>
      <p:ext uri="{BB962C8B-B14F-4D97-AF65-F5344CB8AC3E}">
        <p14:creationId xmlns:p14="http://schemas.microsoft.com/office/powerpoint/2010/main" val="39804535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45223-E6A2-7E8D-BA9A-E7D37229E660}"/>
              </a:ext>
            </a:extLst>
          </p:cNvPr>
          <p:cNvSpPr>
            <a:spLocks noGrp="1"/>
          </p:cNvSpPr>
          <p:nvPr>
            <p:ph type="title"/>
          </p:nvPr>
        </p:nvSpPr>
        <p:spPr/>
        <p:txBody>
          <a:bodyPr/>
          <a:lstStyle/>
          <a:p>
            <a:r>
              <a:rPr lang="en-US" dirty="0">
                <a:latin typeface="Cabria Math"/>
              </a:rPr>
              <a:t>PRODUCT OF SINES AND COSINES</a:t>
            </a:r>
            <a:br>
              <a:rPr lang="en-US" dirty="0">
                <a:latin typeface="Cabria Math"/>
              </a:rPr>
            </a:br>
            <a:endParaRPr lang="en-US" dirty="0"/>
          </a:p>
        </p:txBody>
      </p:sp>
      <p:sp>
        <p:nvSpPr>
          <p:cNvPr id="4" name="Title 1">
            <a:extLst>
              <a:ext uri="{FF2B5EF4-FFF2-40B4-BE49-F238E27FC236}">
                <a16:creationId xmlns:a16="http://schemas.microsoft.com/office/drawing/2014/main" id="{F5549E6B-CA7F-C33A-63D6-234B0B3D7202}"/>
              </a:ext>
            </a:extLst>
          </p:cNvPr>
          <p:cNvSpPr txBox="1">
            <a:spLocks/>
          </p:cNvSpPr>
          <p:nvPr/>
        </p:nvSpPr>
        <p:spPr bwMode="gray">
          <a:xfrm>
            <a:off x="942559" y="1664755"/>
            <a:ext cx="9404723" cy="1400530"/>
          </a:xfrm>
          <a:prstGeom prst="rect">
            <a:avLst/>
          </a:prstGeom>
        </p:spPr>
        <p:txBody>
          <a:bodyPr vert="horz" lIns="91440" tIns="45720" rIns="91440" bIns="45720" rtlCol="0" anchor="ctr">
            <a:noAutofit/>
          </a:bodyPr>
          <a:lstStyle>
            <a:lvl1pPr algn="l" defTabSz="457200" rtl="0" eaLnBrk="1" latinLnBrk="0" hangingPunct="1">
              <a:spcBef>
                <a:spcPct val="0"/>
              </a:spcBef>
              <a:buNone/>
              <a:defRPr sz="32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US" dirty="0">
              <a:latin typeface="Cabria Math"/>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D8C90F9-626D-E061-3DF8-F6F555C5E699}"/>
                  </a:ext>
                </a:extLst>
              </p:cNvPr>
              <p:cNvSpPr txBox="1"/>
              <p:nvPr/>
            </p:nvSpPr>
            <p:spPr>
              <a:xfrm>
                <a:off x="-1487862" y="2249182"/>
                <a:ext cx="6094428" cy="72173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nary>
                        <m:naryPr>
                          <m:subHide m:val="on"/>
                          <m:supHide m:val="on"/>
                          <m:ctrlPr>
                            <a:rPr lang="en-US" sz="2000" b="1" i="1" smtClean="0">
                              <a:latin typeface="Cambria Math" panose="02040503050406030204" pitchFamily="18" charset="0"/>
                            </a:rPr>
                          </m:ctrlPr>
                        </m:naryPr>
                        <m:sub/>
                        <m:sup/>
                        <m:e>
                          <m:r>
                            <a:rPr lang="en-US" sz="2000" b="1" i="1">
                              <a:latin typeface="Cambria Math" panose="02040503050406030204" pitchFamily="18" charset="0"/>
                            </a:rPr>
                            <m:t>𝒔𝒊𝒏𝒖</m:t>
                          </m:r>
                          <m:r>
                            <a:rPr lang="en-US" sz="2000" b="1" i="0">
                              <a:latin typeface="Cambria Math" panose="02040503050406030204" pitchFamily="18" charset="0"/>
                            </a:rPr>
                            <m:t> </m:t>
                          </m:r>
                          <m:r>
                            <a:rPr lang="en-US" sz="2000" b="1" i="1">
                              <a:latin typeface="Cambria Math" panose="02040503050406030204" pitchFamily="18" charset="0"/>
                            </a:rPr>
                            <m:t>𝒄𝒐𝒔𝒗</m:t>
                          </m:r>
                          <m:r>
                            <a:rPr lang="en-US" sz="2000" b="1" i="0">
                              <a:latin typeface="Cambria Math" panose="02040503050406030204" pitchFamily="18" charset="0"/>
                            </a:rPr>
                            <m:t> </m:t>
                          </m:r>
                          <m:r>
                            <a:rPr lang="en-US" sz="2000" b="1" i="1">
                              <a:latin typeface="Cambria Math" panose="02040503050406030204" pitchFamily="18" charset="0"/>
                            </a:rPr>
                            <m:t>𝒅𝒗</m:t>
                          </m:r>
                        </m:e>
                      </m:nary>
                    </m:oMath>
                  </m:oMathPara>
                </a14:m>
                <a:endParaRPr lang="en-US" sz="2000" b="1" dirty="0">
                  <a:latin typeface="Cabria Math"/>
                </a:endParaRPr>
              </a:p>
            </p:txBody>
          </p:sp>
        </mc:Choice>
        <mc:Fallback xmlns="">
          <p:sp>
            <p:nvSpPr>
              <p:cNvPr id="5" name="TextBox 4">
                <a:extLst>
                  <a:ext uri="{FF2B5EF4-FFF2-40B4-BE49-F238E27FC236}">
                    <a16:creationId xmlns:a16="http://schemas.microsoft.com/office/drawing/2014/main" id="{5D8C90F9-626D-E061-3DF8-F6F555C5E699}"/>
                  </a:ext>
                </a:extLst>
              </p:cNvPr>
              <p:cNvSpPr txBox="1">
                <a:spLocks noRot="1" noChangeAspect="1" noMove="1" noResize="1" noEditPoints="1" noAdjustHandles="1" noChangeArrowheads="1" noChangeShapeType="1" noTextEdit="1"/>
              </p:cNvSpPr>
              <p:nvPr/>
            </p:nvSpPr>
            <p:spPr>
              <a:xfrm>
                <a:off x="-1487862" y="2249182"/>
                <a:ext cx="6094428" cy="721736"/>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C6F1105-171A-E789-3A0E-44DCC38D9481}"/>
                  </a:ext>
                </a:extLst>
              </p:cNvPr>
              <p:cNvSpPr txBox="1"/>
              <p:nvPr/>
            </p:nvSpPr>
            <p:spPr>
              <a:xfrm>
                <a:off x="1535785" y="1684537"/>
                <a:ext cx="6141562" cy="1836144"/>
              </a:xfrm>
              <a:prstGeom prst="rect">
                <a:avLst/>
              </a:prstGeom>
              <a:noFill/>
            </p:spPr>
            <p:txBody>
              <a:bodyPr wrap="square">
                <a:spAutoFit/>
              </a:bodyPr>
              <a:lstStyle/>
              <a:p>
                <a:pPr marL="0" marR="0">
                  <a:lnSpc>
                    <a:spcPct val="115000"/>
                  </a:lnSpc>
                  <a:spcBef>
                    <a:spcPts val="0"/>
                  </a:spcBef>
                  <a:spcAft>
                    <a:spcPts val="1000"/>
                  </a:spcAft>
                </a:pPr>
                <a:br>
                  <a:rPr lang="en-US" sz="2000" b="1" i="1" dirty="0">
                    <a:effectLst/>
                    <a:latin typeface="Cabria Math"/>
                    <a:ea typeface="Calibri" panose="020F0502020204030204" pitchFamily="34" charset="0"/>
                    <a:cs typeface="Times New Roman" panose="02020603050405020304" pitchFamily="18" charset="0"/>
                  </a:rPr>
                </a:br>
                <a14:m>
                  <m:oMathPara xmlns:m="http://schemas.openxmlformats.org/officeDocument/2006/math">
                    <m:oMathParaPr>
                      <m:jc m:val="centerGroup"/>
                    </m:oMathParaPr>
                    <m:oMath xmlns:m="http://schemas.openxmlformats.org/officeDocument/2006/math">
                      <m:nary>
                        <m:naryPr>
                          <m:limLoc m:val="undOvr"/>
                          <m:subHide m:val="on"/>
                          <m:supHide m:val="on"/>
                          <m:ctrlPr>
                            <a:rPr lang="en-US" sz="2000" b="1" i="1">
                              <a:effectLst/>
                              <a:latin typeface="Cambria Math" panose="02040503050406030204" pitchFamily="18" charset="0"/>
                              <a:ea typeface="Calibri" panose="020F0502020204030204" pitchFamily="34" charset="0"/>
                              <a:cs typeface="Times New Roman" panose="02020603050405020304" pitchFamily="18" charset="0"/>
                            </a:rPr>
                          </m:ctrlPr>
                        </m:naryPr>
                        <m:sub/>
                        <m:sup/>
                        <m:e>
                          <m:r>
                            <a:rPr lang="en-US" sz="2000" b="1" i="1">
                              <a:effectLst/>
                              <a:latin typeface="Cambria Math" panose="02040503050406030204" pitchFamily="18" charset="0"/>
                              <a:ea typeface="Calibri" panose="020F0502020204030204" pitchFamily="34" charset="0"/>
                              <a:cs typeface="Times New Roman" panose="02020603050405020304" pitchFamily="18" charset="0"/>
                            </a:rPr>
                            <m:t>𝒔𝒊𝒏𝒖</m:t>
                          </m:r>
                          <m:r>
                            <a:rPr lang="en-US" sz="2000" b="1" i="1">
                              <a:effectLst/>
                              <a:latin typeface="Cambria Math" panose="02040503050406030204" pitchFamily="18" charset="0"/>
                              <a:ea typeface="Calibri" panose="020F0502020204030204" pitchFamily="34" charset="0"/>
                              <a:cs typeface="Times New Roman" panose="02020603050405020304" pitchFamily="18" charset="0"/>
                            </a:rPr>
                            <m:t> </m:t>
                          </m:r>
                          <m:r>
                            <a:rPr lang="en-US" sz="2000" b="1" i="1">
                              <a:effectLst/>
                              <a:latin typeface="Cambria Math" panose="02040503050406030204" pitchFamily="18" charset="0"/>
                              <a:ea typeface="Calibri" panose="020F0502020204030204" pitchFamily="34" charset="0"/>
                              <a:cs typeface="Times New Roman" panose="02020603050405020304" pitchFamily="18" charset="0"/>
                            </a:rPr>
                            <m:t>𝒔𝒊𝒏𝒗</m:t>
                          </m:r>
                          <m:r>
                            <a:rPr lang="en-US" sz="2000" b="1" i="1">
                              <a:effectLst/>
                              <a:latin typeface="Cambria Math" panose="02040503050406030204" pitchFamily="18" charset="0"/>
                              <a:ea typeface="Calibri" panose="020F0502020204030204" pitchFamily="34" charset="0"/>
                              <a:cs typeface="Times New Roman" panose="02020603050405020304" pitchFamily="18" charset="0"/>
                            </a:rPr>
                            <m:t> </m:t>
                          </m:r>
                          <m:r>
                            <a:rPr lang="en-US" sz="2000" b="1" i="1">
                              <a:effectLst/>
                              <a:latin typeface="Cambria Math" panose="02040503050406030204" pitchFamily="18" charset="0"/>
                              <a:ea typeface="Calibri" panose="020F0502020204030204" pitchFamily="34" charset="0"/>
                              <a:cs typeface="Times New Roman" panose="02020603050405020304" pitchFamily="18" charset="0"/>
                            </a:rPr>
                            <m:t>𝒅𝒗</m:t>
                          </m:r>
                        </m:e>
                      </m:nary>
                    </m:oMath>
                  </m:oMathPara>
                </a14:m>
                <a:endParaRPr lang="en-US" sz="2000" b="1" dirty="0">
                  <a:effectLst/>
                  <a:latin typeface="Cabria Math"/>
                  <a:ea typeface="Calibri" panose="020F0502020204030204" pitchFamily="34" charset="0"/>
                  <a:cs typeface="Times New Roman" panose="02020603050405020304" pitchFamily="18" charset="0"/>
                </a:endParaRPr>
              </a:p>
              <a:p>
                <a:pPr marL="0" marR="0" algn="ctr">
                  <a:lnSpc>
                    <a:spcPct val="115000"/>
                  </a:lnSpc>
                  <a:spcBef>
                    <a:spcPts val="0"/>
                  </a:spcBef>
                  <a:spcAft>
                    <a:spcPts val="1000"/>
                  </a:spcAft>
                </a:pPr>
                <a:r>
                  <a:rPr lang="en-US" sz="2000" b="1" dirty="0">
                    <a:effectLst/>
                    <a:latin typeface="Cabria Math"/>
                    <a:ea typeface="Calibri" panose="020F0502020204030204" pitchFamily="34" charset="0"/>
                    <a:cs typeface="Times New Roman" panose="02020603050405020304" pitchFamily="18" charset="0"/>
                  </a:rPr>
                  <a:t> </a:t>
                </a:r>
              </a:p>
            </p:txBody>
          </p:sp>
        </mc:Choice>
        <mc:Fallback xmlns="">
          <p:sp>
            <p:nvSpPr>
              <p:cNvPr id="6" name="TextBox 5">
                <a:extLst>
                  <a:ext uri="{FF2B5EF4-FFF2-40B4-BE49-F238E27FC236}">
                    <a16:creationId xmlns:a16="http://schemas.microsoft.com/office/drawing/2014/main" id="{4C6F1105-171A-E789-3A0E-44DCC38D9481}"/>
                  </a:ext>
                </a:extLst>
              </p:cNvPr>
              <p:cNvSpPr txBox="1">
                <a:spLocks noRot="1" noChangeAspect="1" noMove="1" noResize="1" noEditPoints="1" noAdjustHandles="1" noChangeArrowheads="1" noChangeShapeType="1" noTextEdit="1"/>
              </p:cNvSpPr>
              <p:nvPr/>
            </p:nvSpPr>
            <p:spPr>
              <a:xfrm>
                <a:off x="1535785" y="1684537"/>
                <a:ext cx="6141562" cy="183614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4DFDA3F-1071-565F-10D8-A1500A2FEBD0}"/>
                  </a:ext>
                </a:extLst>
              </p:cNvPr>
              <p:cNvSpPr txBox="1"/>
              <p:nvPr/>
            </p:nvSpPr>
            <p:spPr>
              <a:xfrm>
                <a:off x="4724400" y="1684537"/>
                <a:ext cx="6141562" cy="1502976"/>
              </a:xfrm>
              <a:prstGeom prst="rect">
                <a:avLst/>
              </a:prstGeom>
              <a:noFill/>
            </p:spPr>
            <p:txBody>
              <a:bodyPr wrap="square">
                <a:spAutoFit/>
              </a:bodyPr>
              <a:lstStyle/>
              <a:p>
                <a:pPr marL="0" marR="0">
                  <a:lnSpc>
                    <a:spcPct val="115000"/>
                  </a:lnSpc>
                  <a:spcBef>
                    <a:spcPts val="0"/>
                  </a:spcBef>
                  <a:spcAft>
                    <a:spcPts val="1000"/>
                  </a:spcAft>
                </a:pPr>
                <a:br>
                  <a:rPr lang="en-US" sz="2000" b="1" i="1" dirty="0">
                    <a:effectLst/>
                    <a:latin typeface="Cabria Math"/>
                    <a:ea typeface="Calibri" panose="020F0502020204030204" pitchFamily="34" charset="0"/>
                    <a:cs typeface="Times New Roman" panose="02020603050405020304" pitchFamily="18" charset="0"/>
                  </a:rPr>
                </a:br>
                <a14:m>
                  <m:oMathPara xmlns:m="http://schemas.openxmlformats.org/officeDocument/2006/math">
                    <m:oMathParaPr>
                      <m:jc m:val="centerGroup"/>
                    </m:oMathParaPr>
                    <m:oMath xmlns:m="http://schemas.openxmlformats.org/officeDocument/2006/math">
                      <m:nary>
                        <m:naryPr>
                          <m:limLoc m:val="undOvr"/>
                          <m:subHide m:val="on"/>
                          <m:supHide m:val="on"/>
                          <m:ctrlPr>
                            <a:rPr lang="en-US" sz="2000" b="1" i="1">
                              <a:effectLst/>
                              <a:latin typeface="Cambria Math" panose="02040503050406030204" pitchFamily="18" charset="0"/>
                              <a:ea typeface="Calibri" panose="020F0502020204030204" pitchFamily="34" charset="0"/>
                              <a:cs typeface="Times New Roman" panose="02020603050405020304" pitchFamily="18" charset="0"/>
                            </a:rPr>
                          </m:ctrlPr>
                        </m:naryPr>
                        <m:sub/>
                        <m:sup/>
                        <m:e>
                          <m:r>
                            <a:rPr lang="en-US" sz="2000" b="1" i="1">
                              <a:effectLst/>
                              <a:latin typeface="Cambria Math" panose="02040503050406030204" pitchFamily="18" charset="0"/>
                              <a:ea typeface="Calibri" panose="020F0502020204030204" pitchFamily="34" charset="0"/>
                              <a:cs typeface="Times New Roman" panose="02020603050405020304" pitchFamily="18" charset="0"/>
                            </a:rPr>
                            <m:t>𝒄𝒐𝒔𝒖</m:t>
                          </m:r>
                          <m:r>
                            <a:rPr lang="en-US" sz="2000" b="1" i="1">
                              <a:effectLst/>
                              <a:latin typeface="Cambria Math" panose="02040503050406030204" pitchFamily="18" charset="0"/>
                              <a:ea typeface="Calibri" panose="020F0502020204030204" pitchFamily="34" charset="0"/>
                              <a:cs typeface="Times New Roman" panose="02020603050405020304" pitchFamily="18" charset="0"/>
                            </a:rPr>
                            <m:t> </m:t>
                          </m:r>
                          <m:r>
                            <a:rPr lang="en-US" sz="2000" b="1" i="1">
                              <a:effectLst/>
                              <a:latin typeface="Cambria Math" panose="02040503050406030204" pitchFamily="18" charset="0"/>
                              <a:ea typeface="Calibri" panose="020F0502020204030204" pitchFamily="34" charset="0"/>
                              <a:cs typeface="Times New Roman" panose="02020603050405020304" pitchFamily="18" charset="0"/>
                            </a:rPr>
                            <m:t>𝒄𝒐𝒔𝒗</m:t>
                          </m:r>
                          <m:r>
                            <a:rPr lang="en-US" sz="2000" b="1" i="1">
                              <a:effectLst/>
                              <a:latin typeface="Cambria Math" panose="02040503050406030204" pitchFamily="18" charset="0"/>
                              <a:ea typeface="Calibri" panose="020F0502020204030204" pitchFamily="34" charset="0"/>
                              <a:cs typeface="Times New Roman" panose="02020603050405020304" pitchFamily="18" charset="0"/>
                            </a:rPr>
                            <m:t> </m:t>
                          </m:r>
                          <m:r>
                            <a:rPr lang="en-US" sz="2000" b="1" i="1">
                              <a:effectLst/>
                              <a:latin typeface="Cambria Math" panose="02040503050406030204" pitchFamily="18" charset="0"/>
                              <a:ea typeface="Calibri" panose="020F0502020204030204" pitchFamily="34" charset="0"/>
                              <a:cs typeface="Times New Roman" panose="02020603050405020304" pitchFamily="18" charset="0"/>
                            </a:rPr>
                            <m:t>𝒅𝒗</m:t>
                          </m:r>
                        </m:e>
                      </m:nary>
                    </m:oMath>
                  </m:oMathPara>
                </a14:m>
                <a:endParaRPr lang="en-US" sz="2000" b="1" dirty="0">
                  <a:effectLst/>
                  <a:latin typeface="Cabria Math"/>
                  <a:ea typeface="Calibri" panose="020F0502020204030204" pitchFamily="34" charset="0"/>
                  <a:cs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id="{04DFDA3F-1071-565F-10D8-A1500A2FEBD0}"/>
                  </a:ext>
                </a:extLst>
              </p:cNvPr>
              <p:cNvSpPr txBox="1">
                <a:spLocks noRot="1" noChangeAspect="1" noMove="1" noResize="1" noEditPoints="1" noAdjustHandles="1" noChangeArrowheads="1" noChangeShapeType="1" noTextEdit="1"/>
              </p:cNvSpPr>
              <p:nvPr/>
            </p:nvSpPr>
            <p:spPr>
              <a:xfrm>
                <a:off x="4724400" y="1684537"/>
                <a:ext cx="6141562" cy="1502976"/>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B6CEF17-ED10-69CF-F983-921EA0DFAAD5}"/>
                  </a:ext>
                </a:extLst>
              </p:cNvPr>
              <p:cNvSpPr txBox="1"/>
              <p:nvPr/>
            </p:nvSpPr>
            <p:spPr>
              <a:xfrm>
                <a:off x="1060807" y="3259199"/>
                <a:ext cx="6546914"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𝒖</m:t>
                      </m:r>
                      <m:r>
                        <a:rPr lang="en-US" sz="2000" b="1" i="0">
                          <a:latin typeface="Cambria Math" panose="02040503050406030204" pitchFamily="18" charset="0"/>
                        </a:rPr>
                        <m:t>≠</m:t>
                      </m:r>
                      <m:r>
                        <a:rPr lang="en-US" sz="2000" b="1" i="1">
                          <a:latin typeface="Cambria Math" panose="02040503050406030204" pitchFamily="18" charset="0"/>
                        </a:rPr>
                        <m:t>𝒗</m:t>
                      </m:r>
                    </m:oMath>
                  </m:oMathPara>
                </a14:m>
                <a:endParaRPr lang="en-US" sz="2000" b="1" dirty="0">
                  <a:latin typeface="Cabria Math"/>
                </a:endParaRPr>
              </a:p>
            </p:txBody>
          </p:sp>
        </mc:Choice>
        <mc:Fallback xmlns="">
          <p:sp>
            <p:nvSpPr>
              <p:cNvPr id="8" name="TextBox 7">
                <a:extLst>
                  <a:ext uri="{FF2B5EF4-FFF2-40B4-BE49-F238E27FC236}">
                    <a16:creationId xmlns:a16="http://schemas.microsoft.com/office/drawing/2014/main" id="{0B6CEF17-ED10-69CF-F983-921EA0DFAAD5}"/>
                  </a:ext>
                </a:extLst>
              </p:cNvPr>
              <p:cNvSpPr txBox="1">
                <a:spLocks noRot="1" noChangeAspect="1" noMove="1" noResize="1" noEditPoints="1" noAdjustHandles="1" noChangeArrowheads="1" noChangeShapeType="1" noTextEdit="1"/>
              </p:cNvSpPr>
              <p:nvPr/>
            </p:nvSpPr>
            <p:spPr>
              <a:xfrm>
                <a:off x="1060807" y="3259199"/>
                <a:ext cx="6546914" cy="40011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FF13DCD-8251-3EEC-8D51-09383F99933C}"/>
                  </a:ext>
                </a:extLst>
              </p:cNvPr>
              <p:cNvSpPr txBox="1"/>
              <p:nvPr/>
            </p:nvSpPr>
            <p:spPr>
              <a:xfrm>
                <a:off x="1109707" y="4552640"/>
                <a:ext cx="6546914"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smtClean="0">
                          <a:solidFill>
                            <a:schemeClr val="tx1"/>
                          </a:solidFill>
                          <a:latin typeface="Cambria Math" panose="02040503050406030204" pitchFamily="18" charset="0"/>
                        </a:rPr>
                        <m:t>2</m:t>
                      </m:r>
                      <m:r>
                        <a:rPr lang="en-US" sz="2800" i="1">
                          <a:solidFill>
                            <a:schemeClr val="tx1"/>
                          </a:solidFill>
                          <a:latin typeface="Cambria Math" panose="02040503050406030204" pitchFamily="18" charset="0"/>
                        </a:rPr>
                        <m:t>𝑠𝑖𝑛𝑢</m:t>
                      </m:r>
                      <m:func>
                        <m:funcPr>
                          <m:ctrlPr>
                            <a:rPr lang="en-US" sz="2800" i="1">
                              <a:solidFill>
                                <a:schemeClr val="tx1"/>
                              </a:solidFill>
                              <a:latin typeface="Cambria Math" panose="02040503050406030204" pitchFamily="18" charset="0"/>
                            </a:rPr>
                          </m:ctrlPr>
                        </m:funcPr>
                        <m:fName>
                          <m:r>
                            <m:rPr>
                              <m:sty m:val="p"/>
                            </m:rPr>
                            <a:rPr lang="en-US" sz="2800" i="0">
                              <a:solidFill>
                                <a:schemeClr val="tx1"/>
                              </a:solidFill>
                              <a:latin typeface="Cambria Math" panose="02040503050406030204" pitchFamily="18" charset="0"/>
                            </a:rPr>
                            <m:t>cos</m:t>
                          </m:r>
                        </m:fName>
                        <m:e>
                          <m:r>
                            <a:rPr lang="en-US" sz="2800" i="1">
                              <a:solidFill>
                                <a:schemeClr val="tx1"/>
                              </a:solidFill>
                              <a:latin typeface="Cambria Math" panose="02040503050406030204" pitchFamily="18" charset="0"/>
                            </a:rPr>
                            <m:t>𝑣</m:t>
                          </m:r>
                          <m:r>
                            <a:rPr lang="en-US" sz="2800" i="0">
                              <a:solidFill>
                                <a:schemeClr val="tx1"/>
                              </a:solidFill>
                              <a:latin typeface="Cambria Math" panose="02040503050406030204" pitchFamily="18" charset="0"/>
                            </a:rPr>
                            <m:t>=</m:t>
                          </m:r>
                          <m:func>
                            <m:funcPr>
                              <m:ctrlPr>
                                <a:rPr lang="en-US" sz="2800" i="1">
                                  <a:solidFill>
                                    <a:schemeClr val="tx1"/>
                                  </a:solidFill>
                                  <a:latin typeface="Cambria Math" panose="02040503050406030204" pitchFamily="18" charset="0"/>
                                </a:rPr>
                              </m:ctrlPr>
                            </m:funcPr>
                            <m:fName>
                              <m:r>
                                <m:rPr>
                                  <m:sty m:val="p"/>
                                </m:rPr>
                                <a:rPr lang="en-US" sz="2800" i="0">
                                  <a:solidFill>
                                    <a:schemeClr val="tx1"/>
                                  </a:solidFill>
                                  <a:latin typeface="Cambria Math" panose="02040503050406030204" pitchFamily="18" charset="0"/>
                                </a:rPr>
                                <m:t>sin</m:t>
                              </m:r>
                            </m:fName>
                            <m:e>
                              <m:d>
                                <m:dPr>
                                  <m:ctrlPr>
                                    <a:rPr lang="en-US" sz="2800" i="1">
                                      <a:solidFill>
                                        <a:schemeClr val="tx1"/>
                                      </a:solidFill>
                                      <a:latin typeface="Cambria Math" panose="02040503050406030204" pitchFamily="18" charset="0"/>
                                    </a:rPr>
                                  </m:ctrlPr>
                                </m:dPr>
                                <m:e>
                                  <m:r>
                                    <a:rPr lang="en-US" sz="2800" i="1">
                                      <a:solidFill>
                                        <a:schemeClr val="tx1"/>
                                      </a:solidFill>
                                      <a:latin typeface="Cambria Math" panose="02040503050406030204" pitchFamily="18" charset="0"/>
                                    </a:rPr>
                                    <m:t>𝑢</m:t>
                                  </m:r>
                                  <m:r>
                                    <a:rPr lang="en-US" sz="2800" i="0">
                                      <a:solidFill>
                                        <a:schemeClr val="tx1"/>
                                      </a:solidFill>
                                      <a:latin typeface="Cambria Math" panose="02040503050406030204" pitchFamily="18" charset="0"/>
                                    </a:rPr>
                                    <m:t>+</m:t>
                                  </m:r>
                                  <m:r>
                                    <a:rPr lang="en-US" sz="2800" i="1">
                                      <a:solidFill>
                                        <a:schemeClr val="tx1"/>
                                      </a:solidFill>
                                      <a:latin typeface="Cambria Math" panose="02040503050406030204" pitchFamily="18" charset="0"/>
                                    </a:rPr>
                                    <m:t>𝑣</m:t>
                                  </m:r>
                                </m:e>
                              </m:d>
                              <m:r>
                                <a:rPr lang="en-US" sz="2800" i="0">
                                  <a:solidFill>
                                    <a:schemeClr val="tx1"/>
                                  </a:solidFill>
                                  <a:latin typeface="Cambria Math" panose="02040503050406030204" pitchFamily="18" charset="0"/>
                                </a:rPr>
                                <m:t>+</m:t>
                              </m:r>
                              <m:func>
                                <m:funcPr>
                                  <m:ctrlPr>
                                    <a:rPr lang="en-US" sz="2800" i="1">
                                      <a:solidFill>
                                        <a:schemeClr val="tx1"/>
                                      </a:solidFill>
                                      <a:latin typeface="Cambria Math" panose="02040503050406030204" pitchFamily="18" charset="0"/>
                                    </a:rPr>
                                  </m:ctrlPr>
                                </m:funcPr>
                                <m:fName>
                                  <m:r>
                                    <m:rPr>
                                      <m:sty m:val="p"/>
                                    </m:rPr>
                                    <a:rPr lang="en-US" sz="2800" i="0">
                                      <a:solidFill>
                                        <a:schemeClr val="tx1"/>
                                      </a:solidFill>
                                      <a:latin typeface="Cambria Math" panose="02040503050406030204" pitchFamily="18" charset="0"/>
                                    </a:rPr>
                                    <m:t>sin</m:t>
                                  </m:r>
                                </m:fName>
                                <m:e>
                                  <m:d>
                                    <m:dPr>
                                      <m:ctrlPr>
                                        <a:rPr lang="en-US" sz="2800" i="1">
                                          <a:solidFill>
                                            <a:schemeClr val="tx1"/>
                                          </a:solidFill>
                                          <a:latin typeface="Cambria Math" panose="02040503050406030204" pitchFamily="18" charset="0"/>
                                        </a:rPr>
                                      </m:ctrlPr>
                                    </m:dPr>
                                    <m:e>
                                      <m:r>
                                        <a:rPr lang="en-US" sz="2800" i="1">
                                          <a:solidFill>
                                            <a:schemeClr val="tx1"/>
                                          </a:solidFill>
                                          <a:latin typeface="Cambria Math" panose="02040503050406030204" pitchFamily="18" charset="0"/>
                                        </a:rPr>
                                        <m:t>𝑢</m:t>
                                      </m:r>
                                      <m:r>
                                        <a:rPr lang="en-US" sz="2800" i="0">
                                          <a:solidFill>
                                            <a:schemeClr val="tx1"/>
                                          </a:solidFill>
                                          <a:latin typeface="Cambria Math" panose="02040503050406030204" pitchFamily="18" charset="0"/>
                                        </a:rPr>
                                        <m:t>−</m:t>
                                      </m:r>
                                      <m:r>
                                        <a:rPr lang="en-US" sz="2800" i="1">
                                          <a:solidFill>
                                            <a:schemeClr val="tx1"/>
                                          </a:solidFill>
                                          <a:latin typeface="Cambria Math" panose="02040503050406030204" pitchFamily="18" charset="0"/>
                                        </a:rPr>
                                        <m:t>𝑣</m:t>
                                      </m:r>
                                    </m:e>
                                  </m:d>
                                </m:e>
                              </m:func>
                            </m:e>
                          </m:func>
                        </m:e>
                      </m:func>
                    </m:oMath>
                  </m:oMathPara>
                </a14:m>
                <a:endParaRPr lang="en-US" sz="2800" dirty="0">
                  <a:solidFill>
                    <a:schemeClr val="tx1"/>
                  </a:solidFill>
                  <a:latin typeface="Cabria Math"/>
                </a:endParaRPr>
              </a:p>
            </p:txBody>
          </p:sp>
        </mc:Choice>
        <mc:Fallback xmlns="">
          <p:sp>
            <p:nvSpPr>
              <p:cNvPr id="9" name="TextBox 8">
                <a:extLst>
                  <a:ext uri="{FF2B5EF4-FFF2-40B4-BE49-F238E27FC236}">
                    <a16:creationId xmlns:a16="http://schemas.microsoft.com/office/drawing/2014/main" id="{5FF13DCD-8251-3EEC-8D51-09383F99933C}"/>
                  </a:ext>
                </a:extLst>
              </p:cNvPr>
              <p:cNvSpPr txBox="1">
                <a:spLocks noRot="1" noChangeAspect="1" noMove="1" noResize="1" noEditPoints="1" noAdjustHandles="1" noChangeArrowheads="1" noChangeShapeType="1" noTextEdit="1"/>
              </p:cNvSpPr>
              <p:nvPr/>
            </p:nvSpPr>
            <p:spPr>
              <a:xfrm>
                <a:off x="1109707" y="4552640"/>
                <a:ext cx="6546914" cy="5232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E32A7EA-3678-804A-85E8-83EE1D925ACA}"/>
                  </a:ext>
                </a:extLst>
              </p:cNvPr>
              <p:cNvSpPr txBox="1"/>
              <p:nvPr/>
            </p:nvSpPr>
            <p:spPr>
              <a:xfrm>
                <a:off x="1109707" y="5245745"/>
                <a:ext cx="6546914"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smtClean="0">
                          <a:solidFill>
                            <a:schemeClr val="tx1"/>
                          </a:solidFill>
                          <a:latin typeface="Cambria Math" panose="02040503050406030204" pitchFamily="18" charset="0"/>
                        </a:rPr>
                        <m:t>2</m:t>
                      </m:r>
                      <m:r>
                        <a:rPr lang="en-US" sz="2800" i="1">
                          <a:solidFill>
                            <a:schemeClr val="tx1"/>
                          </a:solidFill>
                          <a:latin typeface="Cambria Math" panose="02040503050406030204" pitchFamily="18" charset="0"/>
                        </a:rPr>
                        <m:t>𝑠𝑖𝑛𝑢</m:t>
                      </m:r>
                      <m:func>
                        <m:funcPr>
                          <m:ctrlPr>
                            <a:rPr lang="en-US" sz="2800" i="1">
                              <a:solidFill>
                                <a:schemeClr val="tx1"/>
                              </a:solidFill>
                              <a:latin typeface="Cambria Math" panose="02040503050406030204" pitchFamily="18" charset="0"/>
                            </a:rPr>
                          </m:ctrlPr>
                        </m:funcPr>
                        <m:fName>
                          <m:r>
                            <m:rPr>
                              <m:sty m:val="p"/>
                            </m:rPr>
                            <a:rPr lang="en-US" sz="2800" i="0">
                              <a:solidFill>
                                <a:schemeClr val="tx1"/>
                              </a:solidFill>
                              <a:latin typeface="Cambria Math" panose="02040503050406030204" pitchFamily="18" charset="0"/>
                            </a:rPr>
                            <m:t>sin</m:t>
                          </m:r>
                        </m:fName>
                        <m:e>
                          <m:r>
                            <a:rPr lang="en-US" sz="2800" i="1">
                              <a:solidFill>
                                <a:schemeClr val="tx1"/>
                              </a:solidFill>
                              <a:latin typeface="Cambria Math" panose="02040503050406030204" pitchFamily="18" charset="0"/>
                            </a:rPr>
                            <m:t>𝑣</m:t>
                          </m:r>
                          <m:r>
                            <a:rPr lang="en-US" sz="2800" i="0">
                              <a:solidFill>
                                <a:schemeClr val="tx1"/>
                              </a:solidFill>
                              <a:latin typeface="Cambria Math" panose="02040503050406030204" pitchFamily="18" charset="0"/>
                            </a:rPr>
                            <m:t>=</m:t>
                          </m:r>
                          <m:func>
                            <m:funcPr>
                              <m:ctrlPr>
                                <a:rPr lang="en-US" sz="2800" i="1">
                                  <a:solidFill>
                                    <a:schemeClr val="tx1"/>
                                  </a:solidFill>
                                  <a:latin typeface="Cambria Math" panose="02040503050406030204" pitchFamily="18" charset="0"/>
                                </a:rPr>
                              </m:ctrlPr>
                            </m:funcPr>
                            <m:fName>
                              <m:r>
                                <m:rPr>
                                  <m:sty m:val="p"/>
                                </m:rPr>
                                <a:rPr lang="en-US" sz="2800" i="0">
                                  <a:solidFill>
                                    <a:schemeClr val="tx1"/>
                                  </a:solidFill>
                                  <a:latin typeface="Cambria Math" panose="02040503050406030204" pitchFamily="18" charset="0"/>
                                </a:rPr>
                                <m:t>cos</m:t>
                              </m:r>
                            </m:fName>
                            <m:e>
                              <m:d>
                                <m:dPr>
                                  <m:ctrlPr>
                                    <a:rPr lang="en-US" sz="2800" i="1">
                                      <a:solidFill>
                                        <a:schemeClr val="tx1"/>
                                      </a:solidFill>
                                      <a:latin typeface="Cambria Math" panose="02040503050406030204" pitchFamily="18" charset="0"/>
                                    </a:rPr>
                                  </m:ctrlPr>
                                </m:dPr>
                                <m:e>
                                  <m:r>
                                    <a:rPr lang="en-US" sz="2800" i="1">
                                      <a:solidFill>
                                        <a:schemeClr val="tx1"/>
                                      </a:solidFill>
                                      <a:latin typeface="Cambria Math" panose="02040503050406030204" pitchFamily="18" charset="0"/>
                                    </a:rPr>
                                    <m:t>𝑢</m:t>
                                  </m:r>
                                  <m:r>
                                    <a:rPr lang="en-US" sz="2800" i="0">
                                      <a:solidFill>
                                        <a:schemeClr val="tx1"/>
                                      </a:solidFill>
                                      <a:latin typeface="Cambria Math" panose="02040503050406030204" pitchFamily="18" charset="0"/>
                                    </a:rPr>
                                    <m:t>−</m:t>
                                  </m:r>
                                  <m:r>
                                    <a:rPr lang="en-US" sz="2800" i="1">
                                      <a:solidFill>
                                        <a:schemeClr val="tx1"/>
                                      </a:solidFill>
                                      <a:latin typeface="Cambria Math" panose="02040503050406030204" pitchFamily="18" charset="0"/>
                                    </a:rPr>
                                    <m:t>𝑣</m:t>
                                  </m:r>
                                </m:e>
                              </m:d>
                              <m:r>
                                <a:rPr lang="en-US" sz="2800" b="0" i="0" smtClean="0">
                                  <a:solidFill>
                                    <a:schemeClr val="tx1"/>
                                  </a:solidFill>
                                  <a:latin typeface="Cambria Math" panose="02040503050406030204" pitchFamily="18" charset="0"/>
                                </a:rPr>
                                <m:t>−</m:t>
                              </m:r>
                              <m:func>
                                <m:funcPr>
                                  <m:ctrlPr>
                                    <a:rPr lang="en-US" sz="2800" i="1">
                                      <a:solidFill>
                                        <a:schemeClr val="tx1"/>
                                      </a:solidFill>
                                      <a:latin typeface="Cambria Math" panose="02040503050406030204" pitchFamily="18" charset="0"/>
                                    </a:rPr>
                                  </m:ctrlPr>
                                </m:funcPr>
                                <m:fName>
                                  <m:r>
                                    <m:rPr>
                                      <m:sty m:val="p"/>
                                    </m:rPr>
                                    <a:rPr lang="en-US" sz="2800" i="0">
                                      <a:solidFill>
                                        <a:schemeClr val="tx1"/>
                                      </a:solidFill>
                                      <a:latin typeface="Cambria Math" panose="02040503050406030204" pitchFamily="18" charset="0"/>
                                    </a:rPr>
                                    <m:t>cos</m:t>
                                  </m:r>
                                </m:fName>
                                <m:e>
                                  <m:d>
                                    <m:dPr>
                                      <m:ctrlPr>
                                        <a:rPr lang="en-US" sz="2800" i="1">
                                          <a:solidFill>
                                            <a:schemeClr val="tx1"/>
                                          </a:solidFill>
                                          <a:latin typeface="Cambria Math" panose="02040503050406030204" pitchFamily="18" charset="0"/>
                                        </a:rPr>
                                      </m:ctrlPr>
                                    </m:dPr>
                                    <m:e>
                                      <m:r>
                                        <a:rPr lang="en-US" sz="2800" i="1">
                                          <a:solidFill>
                                            <a:schemeClr val="tx1"/>
                                          </a:solidFill>
                                          <a:latin typeface="Cambria Math" panose="02040503050406030204" pitchFamily="18" charset="0"/>
                                        </a:rPr>
                                        <m:t>𝑢</m:t>
                                      </m:r>
                                      <m:r>
                                        <a:rPr lang="en-US" sz="2800" i="0">
                                          <a:solidFill>
                                            <a:schemeClr val="tx1"/>
                                          </a:solidFill>
                                          <a:latin typeface="Cambria Math" panose="02040503050406030204" pitchFamily="18" charset="0"/>
                                        </a:rPr>
                                        <m:t>+</m:t>
                                      </m:r>
                                      <m:r>
                                        <a:rPr lang="en-US" sz="2800" i="1">
                                          <a:solidFill>
                                            <a:schemeClr val="tx1"/>
                                          </a:solidFill>
                                          <a:latin typeface="Cambria Math" panose="02040503050406030204" pitchFamily="18" charset="0"/>
                                        </a:rPr>
                                        <m:t>𝑣</m:t>
                                      </m:r>
                                    </m:e>
                                  </m:d>
                                </m:e>
                              </m:func>
                            </m:e>
                          </m:func>
                        </m:e>
                      </m:func>
                    </m:oMath>
                  </m:oMathPara>
                </a14:m>
                <a:endParaRPr lang="en-US" sz="2800" dirty="0">
                  <a:solidFill>
                    <a:schemeClr val="tx1"/>
                  </a:solidFill>
                  <a:latin typeface="Cabria Math"/>
                </a:endParaRPr>
              </a:p>
            </p:txBody>
          </p:sp>
        </mc:Choice>
        <mc:Fallback xmlns="">
          <p:sp>
            <p:nvSpPr>
              <p:cNvPr id="10" name="TextBox 9">
                <a:extLst>
                  <a:ext uri="{FF2B5EF4-FFF2-40B4-BE49-F238E27FC236}">
                    <a16:creationId xmlns:a16="http://schemas.microsoft.com/office/drawing/2014/main" id="{DE32A7EA-3678-804A-85E8-83EE1D925ACA}"/>
                  </a:ext>
                </a:extLst>
              </p:cNvPr>
              <p:cNvSpPr txBox="1">
                <a:spLocks noRot="1" noChangeAspect="1" noMove="1" noResize="1" noEditPoints="1" noAdjustHandles="1" noChangeArrowheads="1" noChangeShapeType="1" noTextEdit="1"/>
              </p:cNvSpPr>
              <p:nvPr/>
            </p:nvSpPr>
            <p:spPr>
              <a:xfrm>
                <a:off x="1109707" y="5245745"/>
                <a:ext cx="6546914" cy="52322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833B54B-E8A2-C180-B903-2B9E6179A511}"/>
                  </a:ext>
                </a:extLst>
              </p:cNvPr>
              <p:cNvSpPr txBox="1"/>
              <p:nvPr/>
            </p:nvSpPr>
            <p:spPr>
              <a:xfrm>
                <a:off x="1109707" y="5891193"/>
                <a:ext cx="6546914"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smtClean="0">
                          <a:solidFill>
                            <a:schemeClr val="tx1"/>
                          </a:solidFill>
                          <a:latin typeface="Cambria Math" panose="02040503050406030204" pitchFamily="18" charset="0"/>
                        </a:rPr>
                        <m:t>2</m:t>
                      </m:r>
                      <m:r>
                        <a:rPr lang="en-US" sz="2800" i="1">
                          <a:solidFill>
                            <a:schemeClr val="tx1"/>
                          </a:solidFill>
                          <a:latin typeface="Cambria Math" panose="02040503050406030204" pitchFamily="18" charset="0"/>
                        </a:rPr>
                        <m:t>𝑐𝑜𝑠𝑢</m:t>
                      </m:r>
                      <m:func>
                        <m:funcPr>
                          <m:ctrlPr>
                            <a:rPr lang="en-US" sz="2800" i="1">
                              <a:solidFill>
                                <a:schemeClr val="tx1"/>
                              </a:solidFill>
                              <a:latin typeface="Cambria Math" panose="02040503050406030204" pitchFamily="18" charset="0"/>
                            </a:rPr>
                          </m:ctrlPr>
                        </m:funcPr>
                        <m:fName>
                          <m:r>
                            <m:rPr>
                              <m:sty m:val="p"/>
                            </m:rPr>
                            <a:rPr lang="en-US" sz="2800" i="0">
                              <a:solidFill>
                                <a:schemeClr val="tx1"/>
                              </a:solidFill>
                              <a:latin typeface="Cambria Math" panose="02040503050406030204" pitchFamily="18" charset="0"/>
                            </a:rPr>
                            <m:t>cos</m:t>
                          </m:r>
                        </m:fName>
                        <m:e>
                          <m:r>
                            <a:rPr lang="en-US" sz="2800" i="1">
                              <a:solidFill>
                                <a:schemeClr val="tx1"/>
                              </a:solidFill>
                              <a:latin typeface="Cambria Math" panose="02040503050406030204" pitchFamily="18" charset="0"/>
                            </a:rPr>
                            <m:t>𝑣</m:t>
                          </m:r>
                          <m:r>
                            <a:rPr lang="en-US" sz="2800" i="0">
                              <a:solidFill>
                                <a:schemeClr val="tx1"/>
                              </a:solidFill>
                              <a:latin typeface="Cambria Math" panose="02040503050406030204" pitchFamily="18" charset="0"/>
                            </a:rPr>
                            <m:t>=</m:t>
                          </m:r>
                          <m:func>
                            <m:funcPr>
                              <m:ctrlPr>
                                <a:rPr lang="en-US" sz="2800" i="1">
                                  <a:solidFill>
                                    <a:schemeClr val="tx1"/>
                                  </a:solidFill>
                                  <a:latin typeface="Cambria Math" panose="02040503050406030204" pitchFamily="18" charset="0"/>
                                </a:rPr>
                              </m:ctrlPr>
                            </m:funcPr>
                            <m:fName>
                              <m:r>
                                <m:rPr>
                                  <m:sty m:val="p"/>
                                </m:rPr>
                                <a:rPr lang="en-US" sz="2800" i="0">
                                  <a:solidFill>
                                    <a:schemeClr val="tx1"/>
                                  </a:solidFill>
                                  <a:latin typeface="Cambria Math" panose="02040503050406030204" pitchFamily="18" charset="0"/>
                                </a:rPr>
                                <m:t>cos</m:t>
                              </m:r>
                            </m:fName>
                            <m:e>
                              <m:d>
                                <m:dPr>
                                  <m:ctrlPr>
                                    <a:rPr lang="en-US" sz="2800" i="1">
                                      <a:solidFill>
                                        <a:schemeClr val="tx1"/>
                                      </a:solidFill>
                                      <a:latin typeface="Cambria Math" panose="02040503050406030204" pitchFamily="18" charset="0"/>
                                    </a:rPr>
                                  </m:ctrlPr>
                                </m:dPr>
                                <m:e>
                                  <m:r>
                                    <a:rPr lang="en-US" sz="2800" i="1">
                                      <a:solidFill>
                                        <a:schemeClr val="tx1"/>
                                      </a:solidFill>
                                      <a:latin typeface="Cambria Math" panose="02040503050406030204" pitchFamily="18" charset="0"/>
                                    </a:rPr>
                                    <m:t>𝑢</m:t>
                                  </m:r>
                                  <m:r>
                                    <a:rPr lang="en-US" sz="2800" i="0">
                                      <a:solidFill>
                                        <a:schemeClr val="tx1"/>
                                      </a:solidFill>
                                      <a:latin typeface="Cambria Math" panose="02040503050406030204" pitchFamily="18" charset="0"/>
                                    </a:rPr>
                                    <m:t>+</m:t>
                                  </m:r>
                                  <m:r>
                                    <a:rPr lang="en-US" sz="2800" i="1">
                                      <a:solidFill>
                                        <a:schemeClr val="tx1"/>
                                      </a:solidFill>
                                      <a:latin typeface="Cambria Math" panose="02040503050406030204" pitchFamily="18" charset="0"/>
                                    </a:rPr>
                                    <m:t>𝑣</m:t>
                                  </m:r>
                                </m:e>
                              </m:d>
                              <m:r>
                                <a:rPr lang="en-US" sz="2800" i="0">
                                  <a:solidFill>
                                    <a:schemeClr val="tx1"/>
                                  </a:solidFill>
                                  <a:latin typeface="Cambria Math" panose="02040503050406030204" pitchFamily="18" charset="0"/>
                                </a:rPr>
                                <m:t>+</m:t>
                              </m:r>
                              <m:func>
                                <m:funcPr>
                                  <m:ctrlPr>
                                    <a:rPr lang="en-US" sz="2800" i="1">
                                      <a:solidFill>
                                        <a:schemeClr val="tx1"/>
                                      </a:solidFill>
                                      <a:latin typeface="Cambria Math" panose="02040503050406030204" pitchFamily="18" charset="0"/>
                                    </a:rPr>
                                  </m:ctrlPr>
                                </m:funcPr>
                                <m:fName>
                                  <m:r>
                                    <m:rPr>
                                      <m:sty m:val="p"/>
                                    </m:rPr>
                                    <a:rPr lang="en-US" sz="2800" i="0">
                                      <a:solidFill>
                                        <a:schemeClr val="tx1"/>
                                      </a:solidFill>
                                      <a:latin typeface="Cambria Math" panose="02040503050406030204" pitchFamily="18" charset="0"/>
                                    </a:rPr>
                                    <m:t>cos</m:t>
                                  </m:r>
                                </m:fName>
                                <m:e>
                                  <m:d>
                                    <m:dPr>
                                      <m:ctrlPr>
                                        <a:rPr lang="en-US" sz="2800" i="1">
                                          <a:solidFill>
                                            <a:schemeClr val="tx1"/>
                                          </a:solidFill>
                                          <a:latin typeface="Cambria Math" panose="02040503050406030204" pitchFamily="18" charset="0"/>
                                        </a:rPr>
                                      </m:ctrlPr>
                                    </m:dPr>
                                    <m:e>
                                      <m:r>
                                        <a:rPr lang="en-US" sz="2800" i="1">
                                          <a:solidFill>
                                            <a:schemeClr val="tx1"/>
                                          </a:solidFill>
                                          <a:latin typeface="Cambria Math" panose="02040503050406030204" pitchFamily="18" charset="0"/>
                                        </a:rPr>
                                        <m:t>𝑢</m:t>
                                      </m:r>
                                      <m:r>
                                        <a:rPr lang="en-US" sz="2800" i="0">
                                          <a:solidFill>
                                            <a:schemeClr val="tx1"/>
                                          </a:solidFill>
                                          <a:latin typeface="Cambria Math" panose="02040503050406030204" pitchFamily="18" charset="0"/>
                                        </a:rPr>
                                        <m:t>−</m:t>
                                      </m:r>
                                      <m:r>
                                        <a:rPr lang="en-US" sz="2800" i="1">
                                          <a:solidFill>
                                            <a:schemeClr val="tx1"/>
                                          </a:solidFill>
                                          <a:latin typeface="Cambria Math" panose="02040503050406030204" pitchFamily="18" charset="0"/>
                                        </a:rPr>
                                        <m:t>𝑣</m:t>
                                      </m:r>
                                    </m:e>
                                  </m:d>
                                </m:e>
                              </m:func>
                            </m:e>
                          </m:func>
                        </m:e>
                      </m:func>
                    </m:oMath>
                  </m:oMathPara>
                </a14:m>
                <a:endParaRPr lang="en-US" sz="2800" dirty="0">
                  <a:solidFill>
                    <a:schemeClr val="tx1"/>
                  </a:solidFill>
                  <a:latin typeface="Cabria Math"/>
                </a:endParaRPr>
              </a:p>
            </p:txBody>
          </p:sp>
        </mc:Choice>
        <mc:Fallback xmlns="">
          <p:sp>
            <p:nvSpPr>
              <p:cNvPr id="11" name="TextBox 10">
                <a:extLst>
                  <a:ext uri="{FF2B5EF4-FFF2-40B4-BE49-F238E27FC236}">
                    <a16:creationId xmlns:a16="http://schemas.microsoft.com/office/drawing/2014/main" id="{5833B54B-E8A2-C180-B903-2B9E6179A511}"/>
                  </a:ext>
                </a:extLst>
              </p:cNvPr>
              <p:cNvSpPr txBox="1">
                <a:spLocks noRot="1" noChangeAspect="1" noMove="1" noResize="1" noEditPoints="1" noAdjustHandles="1" noChangeArrowheads="1" noChangeShapeType="1" noTextEdit="1"/>
              </p:cNvSpPr>
              <p:nvPr/>
            </p:nvSpPr>
            <p:spPr>
              <a:xfrm>
                <a:off x="1109707" y="5891193"/>
                <a:ext cx="6546914" cy="523220"/>
              </a:xfrm>
              <a:prstGeom prst="rect">
                <a:avLst/>
              </a:prstGeom>
              <a:blipFill>
                <a:blip r:embed="rId8"/>
                <a:stretch>
                  <a:fillRect/>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BE547CAF-AB28-43A8-91A6-F53A46D04DD9}"/>
              </a:ext>
            </a:extLst>
          </p:cNvPr>
          <p:cNvSpPr txBox="1"/>
          <p:nvPr/>
        </p:nvSpPr>
        <p:spPr>
          <a:xfrm>
            <a:off x="922247" y="3730995"/>
            <a:ext cx="6341882" cy="523220"/>
          </a:xfrm>
          <a:prstGeom prst="rect">
            <a:avLst/>
          </a:prstGeom>
          <a:noFill/>
        </p:spPr>
        <p:txBody>
          <a:bodyPr wrap="square" rtlCol="0">
            <a:spAutoFit/>
          </a:bodyPr>
          <a:lstStyle/>
          <a:p>
            <a:r>
              <a:rPr lang="en-US" sz="2800" dirty="0">
                <a:latin typeface="Cabria Math"/>
              </a:rPr>
              <a:t>Use these trigonometric identities</a:t>
            </a:r>
          </a:p>
        </p:txBody>
      </p:sp>
    </p:spTree>
    <p:extLst>
      <p:ext uri="{BB962C8B-B14F-4D97-AF65-F5344CB8AC3E}">
        <p14:creationId xmlns:p14="http://schemas.microsoft.com/office/powerpoint/2010/main" val="30089732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PH" dirty="0"/>
              <a:t>Discrete Time Fourier Transform (DTFT)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F0A8DE9-207F-386D-2385-C66792F84257}"/>
                  </a:ext>
                </a:extLst>
              </p:cNvPr>
              <p:cNvSpPr>
                <a:spLocks noGrp="1"/>
              </p:cNvSpPr>
              <p:nvPr>
                <p:ph idx="1"/>
              </p:nvPr>
            </p:nvSpPr>
            <p:spPr>
              <a:xfrm>
                <a:off x="866441" y="2489200"/>
                <a:ext cx="7744159" cy="3530600"/>
              </a:xfrm>
            </p:spPr>
            <p:txBody>
              <a:bodyPr/>
              <a:lstStyle/>
              <a:p>
                <a:r>
                  <a:rPr lang="en-US" b="1" dirty="0"/>
                  <a:t>DTFT Analysis Equation:</a:t>
                </a:r>
                <a:endParaRPr lang="en-PH" dirty="0"/>
              </a:p>
              <a:p>
                <a:pPr marL="0" indent="0">
                  <a:buNone/>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𝒙</m:t>
                      </m:r>
                      <m:d>
                        <m:dPr>
                          <m:begChr m:val="["/>
                          <m:endChr m:val="]"/>
                          <m:ctrlPr>
                            <a:rPr lang="en-PH" b="1" i="1">
                              <a:latin typeface="Cambria Math" panose="02040503050406030204" pitchFamily="18" charset="0"/>
                            </a:rPr>
                          </m:ctrlPr>
                        </m:dPr>
                        <m:e>
                          <m:sSup>
                            <m:sSupPr>
                              <m:ctrlPr>
                                <a:rPr lang="en-PH" b="1" i="1" smtClean="0">
                                  <a:latin typeface="Cambria Math" panose="02040503050406030204" pitchFamily="18" charset="0"/>
                                </a:rPr>
                              </m:ctrlPr>
                            </m:sSupPr>
                            <m:e>
                              <m:r>
                                <a:rPr lang="en-US" b="1" i="1" smtClean="0">
                                  <a:latin typeface="Cambria Math" panose="02040503050406030204" pitchFamily="18" charset="0"/>
                                </a:rPr>
                                <m:t>𝒆</m:t>
                              </m:r>
                            </m:e>
                            <m:sup>
                              <m:r>
                                <a:rPr lang="en-US" b="1" i="1" smtClean="0">
                                  <a:latin typeface="Cambria Math" panose="02040503050406030204" pitchFamily="18" charset="0"/>
                                </a:rPr>
                                <m:t>𝒋</m:t>
                              </m:r>
                              <m:r>
                                <a:rPr lang="en-US" b="1" i="1" smtClean="0">
                                  <a:latin typeface="Cambria Math" panose="02040503050406030204" pitchFamily="18" charset="0"/>
                                  <a:ea typeface="Cambria Math" panose="02040503050406030204" pitchFamily="18" charset="0"/>
                                </a:rPr>
                                <m:t>𝝎</m:t>
                              </m:r>
                            </m:sup>
                          </m:sSup>
                        </m:e>
                      </m:d>
                      <m:r>
                        <a:rPr lang="en-US" b="1" i="1">
                          <a:latin typeface="Cambria Math" panose="02040503050406030204" pitchFamily="18" charset="0"/>
                        </a:rPr>
                        <m:t>=</m:t>
                      </m:r>
                      <m:nary>
                        <m:naryPr>
                          <m:chr m:val="∑"/>
                          <m:limLoc m:val="undOvr"/>
                          <m:ctrlPr>
                            <a:rPr lang="en-PH" b="1" i="1">
                              <a:latin typeface="Cambria Math" panose="02040503050406030204" pitchFamily="18" charset="0"/>
                            </a:rPr>
                          </m:ctrlPr>
                        </m:naryPr>
                        <m:sub>
                          <m:r>
                            <m:rPr>
                              <m:brk/>
                            </m:rPr>
                            <a:rPr lang="en-US" b="1" i="1" smtClean="0">
                              <a:latin typeface="Cambria Math" panose="02040503050406030204" pitchFamily="18" charset="0"/>
                            </a:rPr>
                            <m:t>𝒏</m:t>
                          </m:r>
                          <m:r>
                            <a:rPr lang="en-US" b="1" i="1" smtClean="0">
                              <a:latin typeface="Cambria Math" panose="02040503050406030204" pitchFamily="18" charset="0"/>
                            </a:rPr>
                            <m:t>=−∞</m:t>
                          </m:r>
                        </m:sub>
                        <m:sup>
                          <m:r>
                            <a:rPr lang="en-US" b="1" i="1" smtClean="0">
                              <a:latin typeface="Cambria Math" panose="02040503050406030204" pitchFamily="18" charset="0"/>
                              <a:ea typeface="Cambria Math" panose="02040503050406030204" pitchFamily="18" charset="0"/>
                            </a:rPr>
                            <m:t>∞</m:t>
                          </m:r>
                        </m:sup>
                        <m:e>
                          <m:r>
                            <a:rPr lang="en-US" b="1" i="1">
                              <a:latin typeface="Cambria Math" panose="02040503050406030204" pitchFamily="18" charset="0"/>
                            </a:rPr>
                            <m:t>𝒙</m:t>
                          </m:r>
                          <m:d>
                            <m:dPr>
                              <m:begChr m:val="["/>
                              <m:endChr m:val="]"/>
                              <m:ctrlPr>
                                <a:rPr lang="en-PH" b="1" i="1">
                                  <a:latin typeface="Cambria Math" panose="02040503050406030204" pitchFamily="18" charset="0"/>
                                </a:rPr>
                              </m:ctrlPr>
                            </m:dPr>
                            <m:e>
                              <m:r>
                                <a:rPr lang="en-US" b="1" i="1" smtClean="0">
                                  <a:latin typeface="Cambria Math" panose="02040503050406030204" pitchFamily="18" charset="0"/>
                                </a:rPr>
                                <m:t>𝒏</m:t>
                              </m:r>
                            </m:e>
                          </m:d>
                          <m:sSup>
                            <m:sSupPr>
                              <m:ctrlPr>
                                <a:rPr lang="en-PH" b="1" i="1">
                                  <a:latin typeface="Cambria Math" panose="02040503050406030204" pitchFamily="18" charset="0"/>
                                </a:rPr>
                              </m:ctrlPr>
                            </m:sSupPr>
                            <m:e>
                              <m:r>
                                <a:rPr lang="en-US" b="1" i="1">
                                  <a:latin typeface="Cambria Math" panose="02040503050406030204" pitchFamily="18" charset="0"/>
                                </a:rPr>
                                <m:t>𝒆</m:t>
                              </m:r>
                            </m:e>
                            <m:sup>
                              <m:r>
                                <a:rPr lang="en-US" b="1" i="1">
                                  <a:latin typeface="Cambria Math" panose="02040503050406030204" pitchFamily="18" charset="0"/>
                                </a:rPr>
                                <m:t>−</m:t>
                              </m:r>
                              <m:r>
                                <a:rPr lang="en-US" b="1" i="1" smtClean="0">
                                  <a:latin typeface="Cambria Math" panose="02040503050406030204" pitchFamily="18" charset="0"/>
                                </a:rPr>
                                <m:t>𝒋</m:t>
                              </m:r>
                              <m:r>
                                <a:rPr lang="en-US" b="1" i="1" smtClean="0">
                                  <a:latin typeface="Cambria Math" panose="02040503050406030204" pitchFamily="18" charset="0"/>
                                  <a:ea typeface="Cambria Math" panose="02040503050406030204" pitchFamily="18" charset="0"/>
                                </a:rPr>
                                <m:t>𝝎</m:t>
                              </m:r>
                              <m:r>
                                <a:rPr lang="en-US" b="1" i="1" smtClean="0">
                                  <a:latin typeface="Cambria Math" panose="02040503050406030204" pitchFamily="18" charset="0"/>
                                  <a:ea typeface="Cambria Math" panose="02040503050406030204" pitchFamily="18" charset="0"/>
                                </a:rPr>
                                <m:t>𝒏</m:t>
                              </m:r>
                            </m:sup>
                          </m:sSup>
                        </m:e>
                      </m:nary>
                    </m:oMath>
                  </m:oMathPara>
                </a14:m>
                <a:endParaRPr lang="en-PH" dirty="0"/>
              </a:p>
              <a:p>
                <a:pPr marL="0" indent="0">
                  <a:buNone/>
                </a:pPr>
                <a:r>
                  <a:rPr lang="en-US" b="1" dirty="0"/>
                  <a:t> </a:t>
                </a:r>
                <a:endParaRPr lang="en-PH" dirty="0"/>
              </a:p>
              <a:p>
                <a:r>
                  <a:rPr lang="en-US" b="1" dirty="0"/>
                  <a:t>IDTFT Synthesis Equation: </a:t>
                </a:r>
                <a:r>
                  <a:rPr lang="en-US" dirty="0"/>
                  <a:t>(inverse DTFT)</a:t>
                </a:r>
                <a:endParaRPr lang="en-PH" dirty="0"/>
              </a:p>
              <a:p>
                <a:pPr marL="0" indent="0">
                  <a:buNone/>
                </a:pPr>
                <a14:m>
                  <m:oMathPara xmlns:m="http://schemas.openxmlformats.org/officeDocument/2006/math">
                    <m:oMathParaPr>
                      <m:jc m:val="centerGroup"/>
                    </m:oMathParaPr>
                    <m:oMath xmlns:m="http://schemas.openxmlformats.org/officeDocument/2006/math">
                      <m:r>
                        <a:rPr lang="en-US" b="1" i="1">
                          <a:latin typeface="Cambria Math" panose="02040503050406030204" pitchFamily="18" charset="0"/>
                        </a:rPr>
                        <m:t>𝒙</m:t>
                      </m:r>
                      <m:d>
                        <m:dPr>
                          <m:begChr m:val="["/>
                          <m:endChr m:val="]"/>
                          <m:ctrlPr>
                            <a:rPr lang="en-PH" b="1" i="1">
                              <a:latin typeface="Cambria Math" panose="02040503050406030204" pitchFamily="18" charset="0"/>
                            </a:rPr>
                          </m:ctrlPr>
                        </m:dPr>
                        <m:e>
                          <m:r>
                            <a:rPr lang="en-US" b="1" i="1">
                              <a:latin typeface="Cambria Math" panose="02040503050406030204" pitchFamily="18" charset="0"/>
                            </a:rPr>
                            <m:t>𝒏</m:t>
                          </m:r>
                        </m:e>
                      </m:d>
                      <m:r>
                        <a:rPr lang="en-US" b="1" i="1">
                          <a:latin typeface="Cambria Math" panose="02040503050406030204" pitchFamily="18" charset="0"/>
                        </a:rPr>
                        <m:t>=</m:t>
                      </m:r>
                      <m:f>
                        <m:fPr>
                          <m:ctrlPr>
                            <a:rPr lang="en-US" b="1" i="1" smtClean="0">
                              <a:latin typeface="Cambria Math" panose="02040503050406030204" pitchFamily="18" charset="0"/>
                            </a:rPr>
                          </m:ctrlPr>
                        </m:fPr>
                        <m:num>
                          <m:r>
                            <a:rPr lang="en-US" b="1" i="1" smtClean="0">
                              <a:latin typeface="Cambria Math" panose="02040503050406030204" pitchFamily="18" charset="0"/>
                            </a:rPr>
                            <m:t>𝟏</m:t>
                          </m:r>
                        </m:num>
                        <m:den>
                          <m:r>
                            <a:rPr lang="en-US" b="1" i="1" smtClean="0">
                              <a:latin typeface="Cambria Math" panose="02040503050406030204" pitchFamily="18" charset="0"/>
                            </a:rPr>
                            <m:t>𝟐</m:t>
                          </m:r>
                          <m:r>
                            <a:rPr lang="en-US" b="1" i="1" smtClean="0">
                              <a:latin typeface="Cambria Math" panose="02040503050406030204" pitchFamily="18" charset="0"/>
                              <a:ea typeface="Cambria Math" panose="02040503050406030204" pitchFamily="18" charset="0"/>
                            </a:rPr>
                            <m:t>𝝅</m:t>
                          </m:r>
                        </m:den>
                      </m:f>
                      <m:nary>
                        <m:naryPr>
                          <m:ctrlPr>
                            <a:rPr lang="en-US" b="1" i="1" smtClean="0">
                              <a:latin typeface="Cambria Math" panose="02040503050406030204" pitchFamily="18" charset="0"/>
                            </a:rPr>
                          </m:ctrlPr>
                        </m:naryPr>
                        <m:sub>
                          <m:r>
                            <m:rPr>
                              <m:brk m:alnAt="23"/>
                            </m:rPr>
                            <a:rPr lang="en-US" b="1" i="1" smtClean="0">
                              <a:latin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𝝅</m:t>
                          </m:r>
                        </m:sub>
                        <m:sup>
                          <m:r>
                            <a:rPr lang="en-US" b="1" i="1" smtClean="0">
                              <a:latin typeface="Cambria Math" panose="02040503050406030204" pitchFamily="18" charset="0"/>
                              <a:ea typeface="Cambria Math" panose="02040503050406030204" pitchFamily="18" charset="0"/>
                            </a:rPr>
                            <m:t>𝝅</m:t>
                          </m:r>
                        </m:sup>
                        <m:e>
                          <m:r>
                            <a:rPr lang="en-US" b="1" i="1" smtClean="0">
                              <a:latin typeface="Cambria Math" panose="02040503050406030204" pitchFamily="18" charset="0"/>
                            </a:rPr>
                            <m:t>𝒙</m:t>
                          </m:r>
                          <m:d>
                            <m:dPr>
                              <m:ctrlPr>
                                <a:rPr lang="en-US" b="1" i="1" smtClean="0">
                                  <a:latin typeface="Cambria Math" panose="02040503050406030204" pitchFamily="18" charset="0"/>
                                </a:rPr>
                              </m:ctrlPr>
                            </m:dPr>
                            <m:e>
                              <m:sSup>
                                <m:sSupPr>
                                  <m:ctrlPr>
                                    <a:rPr lang="en-US" b="1" i="1" smtClean="0">
                                      <a:latin typeface="Cambria Math" panose="02040503050406030204" pitchFamily="18" charset="0"/>
                                    </a:rPr>
                                  </m:ctrlPr>
                                </m:sSupPr>
                                <m:e>
                                  <m:r>
                                    <a:rPr lang="en-US" b="1" i="1" smtClean="0">
                                      <a:latin typeface="Cambria Math" panose="02040503050406030204" pitchFamily="18" charset="0"/>
                                    </a:rPr>
                                    <m:t>𝒆</m:t>
                                  </m:r>
                                </m:e>
                                <m:sup>
                                  <m:r>
                                    <a:rPr lang="en-US" b="1" i="1" smtClean="0">
                                      <a:latin typeface="Cambria Math" panose="02040503050406030204" pitchFamily="18" charset="0"/>
                                    </a:rPr>
                                    <m:t>𝒋</m:t>
                                  </m:r>
                                  <m:r>
                                    <a:rPr lang="en-US" b="1" i="1" smtClean="0">
                                      <a:latin typeface="Cambria Math" panose="02040503050406030204" pitchFamily="18" charset="0"/>
                                      <a:ea typeface="Cambria Math" panose="02040503050406030204" pitchFamily="18" charset="0"/>
                                    </a:rPr>
                                    <m:t>𝝎</m:t>
                                  </m:r>
                                </m:sup>
                              </m:sSup>
                            </m:e>
                          </m:d>
                          <m:d>
                            <m:dPr>
                              <m:ctrlPr>
                                <a:rPr lang="en-US" b="1" i="1" smtClean="0">
                                  <a:latin typeface="Cambria Math" panose="02040503050406030204" pitchFamily="18" charset="0"/>
                                </a:rPr>
                              </m:ctrlPr>
                            </m:dPr>
                            <m:e>
                              <m:sSup>
                                <m:sSupPr>
                                  <m:ctrlPr>
                                    <a:rPr lang="en-US" b="1" i="1" smtClean="0">
                                      <a:latin typeface="Cambria Math" panose="02040503050406030204" pitchFamily="18" charset="0"/>
                                    </a:rPr>
                                  </m:ctrlPr>
                                </m:sSupPr>
                                <m:e>
                                  <m:r>
                                    <a:rPr lang="en-US" b="1" i="1" smtClean="0">
                                      <a:latin typeface="Cambria Math" panose="02040503050406030204" pitchFamily="18" charset="0"/>
                                    </a:rPr>
                                    <m:t>𝒆</m:t>
                                  </m:r>
                                </m:e>
                                <m:sup>
                                  <m:r>
                                    <a:rPr lang="en-US" b="1" i="1" smtClean="0">
                                      <a:latin typeface="Cambria Math" panose="02040503050406030204" pitchFamily="18" charset="0"/>
                                    </a:rPr>
                                    <m:t>𝒋</m:t>
                                  </m:r>
                                  <m:r>
                                    <a:rPr lang="en-US" b="1" i="1" smtClean="0">
                                      <a:latin typeface="Cambria Math" panose="02040503050406030204" pitchFamily="18" charset="0"/>
                                      <a:ea typeface="Cambria Math" panose="02040503050406030204" pitchFamily="18" charset="0"/>
                                    </a:rPr>
                                    <m:t>𝝎</m:t>
                                  </m:r>
                                  <m:r>
                                    <a:rPr lang="en-US" b="1" i="1" smtClean="0">
                                      <a:latin typeface="Cambria Math" panose="02040503050406030204" pitchFamily="18" charset="0"/>
                                      <a:ea typeface="Cambria Math" panose="02040503050406030204" pitchFamily="18" charset="0"/>
                                    </a:rPr>
                                    <m:t>𝒏</m:t>
                                  </m:r>
                                </m:sup>
                              </m:sSup>
                            </m:e>
                          </m:d>
                          <m:r>
                            <a:rPr lang="en-US" b="1" i="1" smtClean="0">
                              <a:latin typeface="Cambria Math" panose="02040503050406030204" pitchFamily="18" charset="0"/>
                            </a:rPr>
                            <m:t>𝒅</m:t>
                          </m:r>
                          <m:r>
                            <a:rPr lang="en-US" b="1" i="1" smtClean="0">
                              <a:latin typeface="Cambria Math" panose="02040503050406030204" pitchFamily="18" charset="0"/>
                              <a:ea typeface="Cambria Math" panose="02040503050406030204" pitchFamily="18" charset="0"/>
                            </a:rPr>
                            <m:t>𝝎</m:t>
                          </m:r>
                        </m:e>
                      </m:nary>
                    </m:oMath>
                  </m:oMathPara>
                </a14:m>
                <a:endParaRPr lang="en-PH" dirty="0"/>
              </a:p>
            </p:txBody>
          </p:sp>
        </mc:Choice>
        <mc:Fallback xmlns="">
          <p:sp>
            <p:nvSpPr>
              <p:cNvPr id="3" name="Content Placeholder 2">
                <a:extLst>
                  <a:ext uri="{FF2B5EF4-FFF2-40B4-BE49-F238E27FC236}">
                    <a16:creationId xmlns:a16="http://schemas.microsoft.com/office/drawing/2014/main" id="{EF0A8DE9-207F-386D-2385-C66792F84257}"/>
                  </a:ext>
                </a:extLst>
              </p:cNvPr>
              <p:cNvSpPr>
                <a:spLocks noGrp="1" noRot="1" noChangeAspect="1" noMove="1" noResize="1" noEditPoints="1" noAdjustHandles="1" noChangeArrowheads="1" noChangeShapeType="1" noTextEdit="1"/>
              </p:cNvSpPr>
              <p:nvPr>
                <p:ph idx="1"/>
              </p:nvPr>
            </p:nvSpPr>
            <p:spPr>
              <a:xfrm>
                <a:off x="866441" y="2489200"/>
                <a:ext cx="7744159" cy="3530600"/>
              </a:xfrm>
              <a:blipFill>
                <a:blip r:embed="rId2"/>
                <a:stretch>
                  <a:fillRect l="-157" t="-862"/>
                </a:stretch>
              </a:blipFill>
            </p:spPr>
            <p:txBody>
              <a:bodyPr/>
              <a:lstStyle/>
              <a:p>
                <a:r>
                  <a:rPr lang="en-US">
                    <a:noFill/>
                  </a:rPr>
                  <a:t> </a:t>
                </a:r>
              </a:p>
            </p:txBody>
          </p:sp>
        </mc:Fallback>
      </mc:AlternateContent>
    </p:spTree>
    <p:extLst>
      <p:ext uri="{BB962C8B-B14F-4D97-AF65-F5344CB8AC3E}">
        <p14:creationId xmlns:p14="http://schemas.microsoft.com/office/powerpoint/2010/main" val="38929046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PH" dirty="0"/>
              <a:t>IDTFT Properties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F0A8DE9-207F-386D-2385-C66792F84257}"/>
                  </a:ext>
                </a:extLst>
              </p:cNvPr>
              <p:cNvSpPr>
                <a:spLocks noGrp="1"/>
              </p:cNvSpPr>
              <p:nvPr>
                <p:ph idx="1"/>
              </p:nvPr>
            </p:nvSpPr>
            <p:spPr>
              <a:xfrm>
                <a:off x="866441" y="2489200"/>
                <a:ext cx="7744159" cy="3530600"/>
              </a:xfrm>
            </p:spPr>
            <p:txBody>
              <a:bodyPr>
                <a:normAutofit/>
              </a:bodyPr>
              <a:lstStyle/>
              <a:p>
                <a:pPr marL="0" indent="0" algn="ctr">
                  <a:buNone/>
                </a:pPr>
                <a14:m>
                  <m:oMathPara xmlns:m="http://schemas.openxmlformats.org/officeDocument/2006/math">
                    <m:oMathParaPr>
                      <m:jc m:val="left"/>
                    </m:oMathParaPr>
                    <m:oMath xmlns:m="http://schemas.openxmlformats.org/officeDocument/2006/math">
                      <m:sSup>
                        <m:sSupPr>
                          <m:ctrlPr>
                            <a:rPr lang="en-US" sz="2800" b="1" i="1" smtClean="0">
                              <a:latin typeface="Cambria Math" panose="02040503050406030204" pitchFamily="18" charset="0"/>
                              <a:ea typeface="Cambria Math" panose="02040503050406030204" pitchFamily="18" charset="0"/>
                            </a:rPr>
                          </m:ctrlPr>
                        </m:sSupPr>
                        <m:e>
                          <m:r>
                            <a:rPr lang="en-US" sz="2800" b="1" i="1" smtClean="0">
                              <a:latin typeface="Cambria Math" panose="02040503050406030204" pitchFamily="18" charset="0"/>
                              <a:ea typeface="Cambria Math" panose="02040503050406030204" pitchFamily="18" charset="0"/>
                            </a:rPr>
                            <m:t>𝜹</m:t>
                          </m:r>
                        </m:e>
                        <m:sup>
                          <m:r>
                            <a:rPr lang="en-US" sz="2800" b="1" i="1" smtClean="0">
                              <a:latin typeface="Cambria Math" panose="02040503050406030204" pitchFamily="18" charset="0"/>
                              <a:ea typeface="Cambria Math" panose="02040503050406030204" pitchFamily="18" charset="0"/>
                            </a:rPr>
                            <m:t>𝒏</m:t>
                          </m:r>
                        </m:sup>
                      </m:sSup>
                      <m:r>
                        <a:rPr lang="en-US" sz="2800" b="1" i="1">
                          <a:latin typeface="Cambria Math" panose="02040503050406030204" pitchFamily="18" charset="0"/>
                          <a:ea typeface="Cambria Math" panose="02040503050406030204" pitchFamily="18" charset="0"/>
                        </a:rPr>
                        <m:t>=</m:t>
                      </m:r>
                      <m:r>
                        <a:rPr lang="en-US" sz="2800" b="1" i="1" smtClean="0">
                          <a:latin typeface="Cambria Math" panose="02040503050406030204" pitchFamily="18" charset="0"/>
                          <a:ea typeface="Cambria Math" panose="02040503050406030204" pitchFamily="18" charset="0"/>
                        </a:rPr>
                        <m:t>𝟏</m:t>
                      </m:r>
                    </m:oMath>
                  </m:oMathPara>
                </a14:m>
                <a:endParaRPr lang="en-PH" sz="2800" dirty="0">
                  <a:latin typeface="Cambria Math" panose="02040503050406030204" pitchFamily="18" charset="0"/>
                  <a:ea typeface="Cambria Math" panose="02040503050406030204" pitchFamily="18" charset="0"/>
                </a:endParaRPr>
              </a:p>
              <a:p>
                <a:pPr marL="0" indent="0" algn="ctr">
                  <a:buNone/>
                </a:pPr>
                <a14:m>
                  <m:oMathPara xmlns:m="http://schemas.openxmlformats.org/officeDocument/2006/math">
                    <m:oMathParaPr>
                      <m:jc m:val="left"/>
                    </m:oMathParaPr>
                    <m:oMath xmlns:m="http://schemas.openxmlformats.org/officeDocument/2006/math">
                      <m:r>
                        <a:rPr lang="en-US" sz="2800" b="1" i="1" smtClean="0">
                          <a:latin typeface="Cambria Math" panose="02040503050406030204" pitchFamily="18" charset="0"/>
                          <a:ea typeface="Cambria Math" panose="02040503050406030204" pitchFamily="18" charset="0"/>
                        </a:rPr>
                        <m:t>𝜹</m:t>
                      </m:r>
                      <m:d>
                        <m:dPr>
                          <m:ctrlPr>
                            <a:rPr lang="en-US" sz="2800" b="1" i="1" smtClean="0">
                              <a:latin typeface="Cambria Math" panose="02040503050406030204" pitchFamily="18" charset="0"/>
                              <a:ea typeface="Cambria Math" panose="02040503050406030204" pitchFamily="18" charset="0"/>
                            </a:rPr>
                          </m:ctrlPr>
                        </m:dPr>
                        <m:e>
                          <m:r>
                            <a:rPr lang="en-US" sz="2800" b="1" i="1" smtClean="0">
                              <a:latin typeface="Cambria Math" panose="02040503050406030204" pitchFamily="18" charset="0"/>
                              <a:ea typeface="Cambria Math" panose="02040503050406030204" pitchFamily="18" charset="0"/>
                            </a:rPr>
                            <m:t>𝒏</m:t>
                          </m:r>
                          <m:r>
                            <a:rPr lang="en-US" sz="2800" b="1" i="1" smtClean="0">
                              <a:latin typeface="Cambria Math" panose="02040503050406030204" pitchFamily="18" charset="0"/>
                              <a:ea typeface="Cambria Math" panose="02040503050406030204" pitchFamily="18" charset="0"/>
                            </a:rPr>
                            <m:t>−</m:t>
                          </m:r>
                          <m:r>
                            <a:rPr lang="en-US" sz="2800" b="1" i="1" smtClean="0">
                              <a:latin typeface="Cambria Math" panose="02040503050406030204" pitchFamily="18" charset="0"/>
                              <a:ea typeface="Cambria Math" panose="02040503050406030204" pitchFamily="18" charset="0"/>
                            </a:rPr>
                            <m:t>𝟏</m:t>
                          </m:r>
                        </m:e>
                      </m:d>
                      <m:r>
                        <a:rPr lang="en-US" sz="2800" b="1" i="1">
                          <a:latin typeface="Cambria Math" panose="02040503050406030204" pitchFamily="18" charset="0"/>
                          <a:ea typeface="Cambria Math" panose="02040503050406030204" pitchFamily="18" charset="0"/>
                        </a:rPr>
                        <m:t>=</m:t>
                      </m:r>
                      <m:sSup>
                        <m:sSupPr>
                          <m:ctrlPr>
                            <a:rPr lang="en-US" sz="2800" b="1" i="1" smtClean="0">
                              <a:latin typeface="Cambria Math" panose="02040503050406030204" pitchFamily="18" charset="0"/>
                              <a:ea typeface="Cambria Math" panose="02040503050406030204" pitchFamily="18" charset="0"/>
                            </a:rPr>
                          </m:ctrlPr>
                        </m:sSupPr>
                        <m:e>
                          <m:r>
                            <a:rPr lang="en-US" sz="2800" b="1" i="1" smtClean="0">
                              <a:latin typeface="Cambria Math" panose="02040503050406030204" pitchFamily="18" charset="0"/>
                              <a:ea typeface="Cambria Math" panose="02040503050406030204" pitchFamily="18" charset="0"/>
                            </a:rPr>
                            <m:t>𝒆</m:t>
                          </m:r>
                        </m:e>
                        <m:sup>
                          <m:r>
                            <a:rPr lang="en-US" sz="2800" b="1" i="1" smtClean="0">
                              <a:latin typeface="Cambria Math" panose="02040503050406030204" pitchFamily="18" charset="0"/>
                              <a:ea typeface="Cambria Math" panose="02040503050406030204" pitchFamily="18" charset="0"/>
                            </a:rPr>
                            <m:t>−</m:t>
                          </m:r>
                          <m:r>
                            <a:rPr lang="en-US" sz="2800" b="1" i="1" smtClean="0">
                              <a:latin typeface="Cambria Math" panose="02040503050406030204" pitchFamily="18" charset="0"/>
                              <a:ea typeface="Cambria Math" panose="02040503050406030204" pitchFamily="18" charset="0"/>
                            </a:rPr>
                            <m:t>𝒋</m:t>
                          </m:r>
                          <m:r>
                            <a:rPr lang="en-US" sz="2800" b="1" i="1" smtClean="0">
                              <a:latin typeface="Cambria Math" panose="02040503050406030204" pitchFamily="18" charset="0"/>
                              <a:ea typeface="Cambria Math" panose="02040503050406030204" pitchFamily="18" charset="0"/>
                            </a:rPr>
                            <m:t>𝝎</m:t>
                          </m:r>
                        </m:sup>
                      </m:sSup>
                      <m:r>
                        <a:rPr lang="en-US" sz="2800" b="1" i="1" smtClean="0">
                          <a:latin typeface="Cambria Math" panose="02040503050406030204" pitchFamily="18" charset="0"/>
                          <a:ea typeface="Cambria Math" panose="02040503050406030204" pitchFamily="18" charset="0"/>
                        </a:rPr>
                        <m:t>.</m:t>
                      </m:r>
                      <m:r>
                        <a:rPr lang="en-US" sz="2800" b="1" i="1" smtClean="0">
                          <a:latin typeface="Cambria Math" panose="02040503050406030204" pitchFamily="18" charset="0"/>
                          <a:ea typeface="Cambria Math" panose="02040503050406030204" pitchFamily="18" charset="0"/>
                        </a:rPr>
                        <m:t>𝟏</m:t>
                      </m:r>
                    </m:oMath>
                  </m:oMathPara>
                </a14:m>
                <a:endParaRPr lang="en-PH" sz="2800" dirty="0">
                  <a:latin typeface="Cambria Math" panose="02040503050406030204" pitchFamily="18" charset="0"/>
                  <a:ea typeface="Cambria Math" panose="02040503050406030204" pitchFamily="18" charset="0"/>
                </a:endParaRPr>
              </a:p>
              <a:p>
                <a:pPr marL="0" indent="0" algn="ctr">
                  <a:buNone/>
                </a:pPr>
                <a14:m>
                  <m:oMathPara xmlns:m="http://schemas.openxmlformats.org/officeDocument/2006/math">
                    <m:oMathParaPr>
                      <m:jc m:val="left"/>
                    </m:oMathParaPr>
                    <m:oMath xmlns:m="http://schemas.openxmlformats.org/officeDocument/2006/math">
                      <m:r>
                        <a:rPr lang="en-US" sz="2800" b="1" i="1" smtClean="0">
                          <a:latin typeface="Cambria Math" panose="02040503050406030204" pitchFamily="18" charset="0"/>
                          <a:ea typeface="Cambria Math" panose="02040503050406030204" pitchFamily="18" charset="0"/>
                        </a:rPr>
                        <m:t>𝜹</m:t>
                      </m:r>
                      <m:d>
                        <m:dPr>
                          <m:ctrlPr>
                            <a:rPr lang="en-US" sz="2800" b="1" i="1" smtClean="0">
                              <a:latin typeface="Cambria Math" panose="02040503050406030204" pitchFamily="18" charset="0"/>
                              <a:ea typeface="Cambria Math" panose="02040503050406030204" pitchFamily="18" charset="0"/>
                            </a:rPr>
                          </m:ctrlPr>
                        </m:dPr>
                        <m:e>
                          <m:r>
                            <a:rPr lang="en-US" sz="2800" b="1" i="1" smtClean="0">
                              <a:latin typeface="Cambria Math" panose="02040503050406030204" pitchFamily="18" charset="0"/>
                              <a:ea typeface="Cambria Math" panose="02040503050406030204" pitchFamily="18" charset="0"/>
                            </a:rPr>
                            <m:t>𝒏</m:t>
                          </m:r>
                          <m:r>
                            <a:rPr lang="en-US" sz="2800" b="1" i="1" smtClean="0">
                              <a:latin typeface="Cambria Math" panose="02040503050406030204" pitchFamily="18" charset="0"/>
                              <a:ea typeface="Cambria Math" panose="02040503050406030204" pitchFamily="18" charset="0"/>
                            </a:rPr>
                            <m:t>−</m:t>
                          </m:r>
                          <m:r>
                            <a:rPr lang="en-US" sz="2800" b="1" i="1" smtClean="0">
                              <a:latin typeface="Cambria Math" panose="02040503050406030204" pitchFamily="18" charset="0"/>
                              <a:ea typeface="Cambria Math" panose="02040503050406030204" pitchFamily="18" charset="0"/>
                            </a:rPr>
                            <m:t>𝟐</m:t>
                          </m:r>
                        </m:e>
                      </m:d>
                      <m:r>
                        <a:rPr lang="en-US" sz="2800" b="1" i="1">
                          <a:latin typeface="Cambria Math" panose="02040503050406030204" pitchFamily="18" charset="0"/>
                          <a:ea typeface="Cambria Math" panose="02040503050406030204" pitchFamily="18" charset="0"/>
                        </a:rPr>
                        <m:t>=</m:t>
                      </m:r>
                      <m:sSup>
                        <m:sSupPr>
                          <m:ctrlPr>
                            <a:rPr lang="en-US" sz="2800" b="1" i="1" smtClean="0">
                              <a:latin typeface="Cambria Math" panose="02040503050406030204" pitchFamily="18" charset="0"/>
                              <a:ea typeface="Cambria Math" panose="02040503050406030204" pitchFamily="18" charset="0"/>
                            </a:rPr>
                          </m:ctrlPr>
                        </m:sSupPr>
                        <m:e>
                          <m:r>
                            <a:rPr lang="en-US" sz="2800" b="1" i="1" smtClean="0">
                              <a:latin typeface="Cambria Math" panose="02040503050406030204" pitchFamily="18" charset="0"/>
                              <a:ea typeface="Cambria Math" panose="02040503050406030204" pitchFamily="18" charset="0"/>
                            </a:rPr>
                            <m:t>𝒆</m:t>
                          </m:r>
                        </m:e>
                        <m:sup>
                          <m:r>
                            <a:rPr lang="en-US" sz="2800" b="1" i="1" smtClean="0">
                              <a:latin typeface="Cambria Math" panose="02040503050406030204" pitchFamily="18" charset="0"/>
                              <a:ea typeface="Cambria Math" panose="02040503050406030204" pitchFamily="18" charset="0"/>
                            </a:rPr>
                            <m:t>−</m:t>
                          </m:r>
                          <m:r>
                            <a:rPr lang="en-US" sz="2800" b="1" i="1" smtClean="0">
                              <a:latin typeface="Cambria Math" panose="02040503050406030204" pitchFamily="18" charset="0"/>
                              <a:ea typeface="Cambria Math" panose="02040503050406030204" pitchFamily="18" charset="0"/>
                            </a:rPr>
                            <m:t>𝒋</m:t>
                          </m:r>
                          <m:r>
                            <a:rPr lang="en-US" sz="2800" b="1" i="1" smtClean="0">
                              <a:latin typeface="Cambria Math" panose="02040503050406030204" pitchFamily="18" charset="0"/>
                              <a:ea typeface="Cambria Math" panose="02040503050406030204" pitchFamily="18" charset="0"/>
                            </a:rPr>
                            <m:t>𝟐</m:t>
                          </m:r>
                          <m:r>
                            <a:rPr lang="en-US" sz="2800" b="1" i="1" smtClean="0">
                              <a:latin typeface="Cambria Math" panose="02040503050406030204" pitchFamily="18" charset="0"/>
                              <a:ea typeface="Cambria Math" panose="02040503050406030204" pitchFamily="18" charset="0"/>
                            </a:rPr>
                            <m:t>𝝎</m:t>
                          </m:r>
                        </m:sup>
                      </m:sSup>
                      <m:r>
                        <a:rPr lang="en-US" sz="2800" b="1" i="1" smtClean="0">
                          <a:latin typeface="Cambria Math" panose="02040503050406030204" pitchFamily="18" charset="0"/>
                          <a:ea typeface="Cambria Math" panose="02040503050406030204" pitchFamily="18" charset="0"/>
                        </a:rPr>
                        <m:t>.</m:t>
                      </m:r>
                      <m:r>
                        <a:rPr lang="en-US" sz="2800" b="1" i="1" smtClean="0">
                          <a:latin typeface="Cambria Math" panose="02040503050406030204" pitchFamily="18" charset="0"/>
                          <a:ea typeface="Cambria Math" panose="02040503050406030204" pitchFamily="18" charset="0"/>
                        </a:rPr>
                        <m:t>𝟏</m:t>
                      </m:r>
                    </m:oMath>
                  </m:oMathPara>
                </a14:m>
                <a:endParaRPr lang="en-PH" sz="2800" dirty="0">
                  <a:latin typeface="Cambria Math" panose="02040503050406030204" pitchFamily="18" charset="0"/>
                  <a:ea typeface="Cambria Math" panose="02040503050406030204" pitchFamily="18" charset="0"/>
                </a:endParaRPr>
              </a:p>
              <a:p>
                <a:pPr marL="0" indent="0" algn="ctr">
                  <a:buNone/>
                </a:pPr>
                <a14:m>
                  <m:oMathPara xmlns:m="http://schemas.openxmlformats.org/officeDocument/2006/math">
                    <m:oMathParaPr>
                      <m:jc m:val="left"/>
                    </m:oMathParaPr>
                    <m:oMath xmlns:m="http://schemas.openxmlformats.org/officeDocument/2006/math">
                      <m:r>
                        <a:rPr lang="en-US" sz="2800" b="1" i="1" smtClean="0">
                          <a:latin typeface="Cambria Math" panose="02040503050406030204" pitchFamily="18" charset="0"/>
                          <a:ea typeface="Cambria Math" panose="02040503050406030204" pitchFamily="18" charset="0"/>
                        </a:rPr>
                        <m:t>𝜹</m:t>
                      </m:r>
                      <m:d>
                        <m:dPr>
                          <m:ctrlPr>
                            <a:rPr lang="en-US" sz="2800" b="1" i="1" smtClean="0">
                              <a:latin typeface="Cambria Math" panose="02040503050406030204" pitchFamily="18" charset="0"/>
                              <a:ea typeface="Cambria Math" panose="02040503050406030204" pitchFamily="18" charset="0"/>
                            </a:rPr>
                          </m:ctrlPr>
                        </m:dPr>
                        <m:e>
                          <m:r>
                            <a:rPr lang="en-US" sz="2800" b="1" i="1" smtClean="0">
                              <a:latin typeface="Cambria Math" panose="02040503050406030204" pitchFamily="18" charset="0"/>
                              <a:ea typeface="Cambria Math" panose="02040503050406030204" pitchFamily="18" charset="0"/>
                            </a:rPr>
                            <m:t>𝒏</m:t>
                          </m:r>
                          <m:r>
                            <a:rPr lang="en-US" sz="2800" b="1" i="1" smtClean="0">
                              <a:latin typeface="Cambria Math" panose="02040503050406030204" pitchFamily="18" charset="0"/>
                              <a:ea typeface="Cambria Math" panose="02040503050406030204" pitchFamily="18" charset="0"/>
                            </a:rPr>
                            <m:t>+</m:t>
                          </m:r>
                          <m:r>
                            <a:rPr lang="en-US" sz="2800" b="1" i="1" smtClean="0">
                              <a:latin typeface="Cambria Math" panose="02040503050406030204" pitchFamily="18" charset="0"/>
                              <a:ea typeface="Cambria Math" panose="02040503050406030204" pitchFamily="18" charset="0"/>
                            </a:rPr>
                            <m:t>𝟐</m:t>
                          </m:r>
                        </m:e>
                      </m:d>
                      <m:r>
                        <a:rPr lang="en-US" sz="2800" b="1" i="1">
                          <a:latin typeface="Cambria Math" panose="02040503050406030204" pitchFamily="18" charset="0"/>
                          <a:ea typeface="Cambria Math" panose="02040503050406030204" pitchFamily="18" charset="0"/>
                        </a:rPr>
                        <m:t>=</m:t>
                      </m:r>
                      <m:sSup>
                        <m:sSupPr>
                          <m:ctrlPr>
                            <a:rPr lang="en-US" sz="2800" b="1" i="1" smtClean="0">
                              <a:latin typeface="Cambria Math" panose="02040503050406030204" pitchFamily="18" charset="0"/>
                              <a:ea typeface="Cambria Math" panose="02040503050406030204" pitchFamily="18" charset="0"/>
                            </a:rPr>
                          </m:ctrlPr>
                        </m:sSupPr>
                        <m:e>
                          <m:r>
                            <a:rPr lang="en-US" sz="2800" b="1" i="1" smtClean="0">
                              <a:latin typeface="Cambria Math" panose="02040503050406030204" pitchFamily="18" charset="0"/>
                              <a:ea typeface="Cambria Math" panose="02040503050406030204" pitchFamily="18" charset="0"/>
                            </a:rPr>
                            <m:t>𝒆</m:t>
                          </m:r>
                        </m:e>
                        <m:sup>
                          <m:r>
                            <a:rPr lang="en-US" sz="2800" b="1" i="1" smtClean="0">
                              <a:latin typeface="Cambria Math" panose="02040503050406030204" pitchFamily="18" charset="0"/>
                              <a:ea typeface="Cambria Math" panose="02040503050406030204" pitchFamily="18" charset="0"/>
                            </a:rPr>
                            <m:t>𝒋</m:t>
                          </m:r>
                          <m:r>
                            <a:rPr lang="en-US" sz="2800" b="1" i="1" smtClean="0">
                              <a:latin typeface="Cambria Math" panose="02040503050406030204" pitchFamily="18" charset="0"/>
                              <a:ea typeface="Cambria Math" panose="02040503050406030204" pitchFamily="18" charset="0"/>
                            </a:rPr>
                            <m:t>𝟐</m:t>
                          </m:r>
                          <m:r>
                            <a:rPr lang="en-US" sz="2800" b="1" i="1" smtClean="0">
                              <a:latin typeface="Cambria Math" panose="02040503050406030204" pitchFamily="18" charset="0"/>
                              <a:ea typeface="Cambria Math" panose="02040503050406030204" pitchFamily="18" charset="0"/>
                            </a:rPr>
                            <m:t>𝝎</m:t>
                          </m:r>
                        </m:sup>
                      </m:sSup>
                      <m:r>
                        <a:rPr lang="en-US" sz="2800" b="1" i="1" smtClean="0">
                          <a:latin typeface="Cambria Math" panose="02040503050406030204" pitchFamily="18" charset="0"/>
                          <a:ea typeface="Cambria Math" panose="02040503050406030204" pitchFamily="18" charset="0"/>
                        </a:rPr>
                        <m:t>.</m:t>
                      </m:r>
                      <m:r>
                        <a:rPr lang="en-US" sz="2800" b="1" i="1" smtClean="0">
                          <a:latin typeface="Cambria Math" panose="02040503050406030204" pitchFamily="18" charset="0"/>
                          <a:ea typeface="Cambria Math" panose="02040503050406030204" pitchFamily="18" charset="0"/>
                        </a:rPr>
                        <m:t>𝟏</m:t>
                      </m:r>
                    </m:oMath>
                  </m:oMathPara>
                </a14:m>
                <a:endParaRPr lang="en-PH" sz="2800" dirty="0">
                  <a:latin typeface="Cambria Math" panose="02040503050406030204" pitchFamily="18" charset="0"/>
                  <a:ea typeface="Cambria Math" panose="02040503050406030204" pitchFamily="18" charset="0"/>
                </a:endParaRPr>
              </a:p>
              <a:p>
                <a:pPr marL="0" indent="0">
                  <a:buNone/>
                </a:pPr>
                <a:endParaRPr lang="en-PH" sz="2800" dirty="0">
                  <a:latin typeface="Cambria Math" panose="02040503050406030204" pitchFamily="18" charset="0"/>
                  <a:ea typeface="Cambria Math" panose="02040503050406030204" pitchFamily="18" charset="0"/>
                </a:endParaRPr>
              </a:p>
              <a:p>
                <a:pPr marL="0" indent="0">
                  <a:buNone/>
                </a:pPr>
                <a:endParaRPr lang="en-PH" sz="2800" dirty="0">
                  <a:latin typeface="Cambria Math" panose="02040503050406030204" pitchFamily="18" charset="0"/>
                  <a:ea typeface="Cambria Math" panose="02040503050406030204" pitchFamily="18" charset="0"/>
                </a:endParaRPr>
              </a:p>
              <a:p>
                <a:pPr marL="0" indent="0">
                  <a:buNone/>
                </a:pPr>
                <a:r>
                  <a:rPr lang="en-US" sz="2800" b="1" dirty="0">
                    <a:latin typeface="Cambria Math" panose="02040503050406030204" pitchFamily="18" charset="0"/>
                    <a:ea typeface="Cambria Math" panose="02040503050406030204" pitchFamily="18" charset="0"/>
                  </a:rPr>
                  <a:t> </a:t>
                </a:r>
                <a:endParaRPr lang="en-PH" sz="2800" dirty="0">
                  <a:latin typeface="Cambria Math" panose="02040503050406030204" pitchFamily="18" charset="0"/>
                  <a:ea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EF0A8DE9-207F-386D-2385-C66792F84257}"/>
                  </a:ext>
                </a:extLst>
              </p:cNvPr>
              <p:cNvSpPr>
                <a:spLocks noGrp="1" noRot="1" noChangeAspect="1" noMove="1" noResize="1" noEditPoints="1" noAdjustHandles="1" noChangeArrowheads="1" noChangeShapeType="1" noTextEdit="1"/>
              </p:cNvSpPr>
              <p:nvPr>
                <p:ph idx="1"/>
              </p:nvPr>
            </p:nvSpPr>
            <p:spPr>
              <a:xfrm>
                <a:off x="866441" y="2489200"/>
                <a:ext cx="7744159" cy="3530600"/>
              </a:xfr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3627958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a:t>Examples - DTFT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F0A8DE9-207F-386D-2385-C66792F84257}"/>
                  </a:ext>
                </a:extLst>
              </p:cNvPr>
              <p:cNvSpPr>
                <a:spLocks noGrp="1"/>
              </p:cNvSpPr>
              <p:nvPr>
                <p:ph idx="1"/>
              </p:nvPr>
            </p:nvSpPr>
            <p:spPr>
              <a:xfrm>
                <a:off x="866441" y="2489200"/>
                <a:ext cx="7744159" cy="3530600"/>
              </a:xfrm>
            </p:spPr>
            <p:txBody>
              <a:bodyPr/>
              <a:lstStyle/>
              <a:p>
                <a:pPr>
                  <a:buAutoNum type="arabicPeriod"/>
                </a:pPr>
                <a14:m>
                  <m:oMath xmlns:m="http://schemas.openxmlformats.org/officeDocument/2006/math">
                    <m:r>
                      <m:rPr>
                        <m:sty m:val="p"/>
                      </m:rPr>
                      <a:rPr lang="en-US" sz="2800" b="0" i="0" smtClean="0">
                        <a:latin typeface="Cambria Math" panose="02040503050406030204" pitchFamily="18" charset="0"/>
                        <a:ea typeface="Cambria Math" panose="02040503050406030204" pitchFamily="18" charset="0"/>
                      </a:rPr>
                      <m:t>x</m:t>
                    </m:r>
                    <m:r>
                      <a:rPr lang="en-US" sz="2800" b="0" i="0" smtClean="0">
                        <a:latin typeface="Cambria Math" panose="02040503050406030204" pitchFamily="18" charset="0"/>
                        <a:ea typeface="Cambria Math" panose="02040503050406030204" pitchFamily="18" charset="0"/>
                      </a:rPr>
                      <m:t>(</m:t>
                    </m:r>
                    <m:r>
                      <m:rPr>
                        <m:sty m:val="p"/>
                      </m:rPr>
                      <a:rPr lang="en-US" sz="2800" b="0" i="0" smtClean="0">
                        <a:latin typeface="Cambria Math" panose="02040503050406030204" pitchFamily="18" charset="0"/>
                        <a:ea typeface="Cambria Math" panose="02040503050406030204" pitchFamily="18" charset="0"/>
                      </a:rPr>
                      <m:t>n</m:t>
                    </m:r>
                    <m:r>
                      <a:rPr lang="en-US" sz="2800" b="0" i="0"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m:t>
                    </m:r>
                    <m:sSup>
                      <m:sSupPr>
                        <m:ctrlPr>
                          <a:rPr lang="en-US" sz="2800" b="0" i="1" smtClean="0">
                            <a:latin typeface="Cambria Math" panose="02040503050406030204" pitchFamily="18" charset="0"/>
                            <a:ea typeface="Cambria Math" panose="02040503050406030204" pitchFamily="18" charset="0"/>
                          </a:rPr>
                        </m:ctrlPr>
                      </m:sSupPr>
                      <m:e>
                        <m:r>
                          <a:rPr lang="en-US" sz="2800" b="0" i="1" smtClean="0">
                            <a:latin typeface="Cambria Math" panose="02040503050406030204" pitchFamily="18" charset="0"/>
                            <a:ea typeface="Cambria Math" panose="02040503050406030204" pitchFamily="18" charset="0"/>
                          </a:rPr>
                          <m:t>𝛼</m:t>
                        </m:r>
                      </m:e>
                      <m:sup>
                        <m:r>
                          <a:rPr lang="en-US" sz="2800" b="0" i="1" smtClean="0">
                            <a:latin typeface="Cambria Math" panose="02040503050406030204" pitchFamily="18" charset="0"/>
                            <a:ea typeface="Cambria Math" panose="02040503050406030204" pitchFamily="18" charset="0"/>
                          </a:rPr>
                          <m:t>𝑛</m:t>
                        </m:r>
                      </m:sup>
                    </m:sSup>
                    <m:r>
                      <a:rPr lang="en-US" sz="2800" b="0" i="1" smtClean="0">
                        <a:latin typeface="Cambria Math" panose="02040503050406030204" pitchFamily="18" charset="0"/>
                        <a:ea typeface="Cambria Math" panose="02040503050406030204" pitchFamily="18" charset="0"/>
                      </a:rPr>
                      <m:t>𝑢</m:t>
                    </m:r>
                    <m:d>
                      <m:dPr>
                        <m:ctrlPr>
                          <a:rPr lang="en-US" sz="2800" b="0" i="1" smtClean="0">
                            <a:latin typeface="Cambria Math" panose="02040503050406030204" pitchFamily="18" charset="0"/>
                            <a:ea typeface="Cambria Math" panose="02040503050406030204" pitchFamily="18" charset="0"/>
                          </a:rPr>
                        </m:ctrlPr>
                      </m:dPr>
                      <m:e>
                        <m:r>
                          <a:rPr lang="en-US" sz="2800" b="0" i="1" smtClean="0">
                            <a:latin typeface="Cambria Math" panose="02040503050406030204" pitchFamily="18" charset="0"/>
                            <a:ea typeface="Cambria Math" panose="02040503050406030204" pitchFamily="18" charset="0"/>
                          </a:rPr>
                          <m:t>𝑛</m:t>
                        </m:r>
                      </m:e>
                    </m:d>
                    <m:r>
                      <a:rPr lang="en-US" sz="2800" b="0" i="1" smtClean="0">
                        <a:latin typeface="Cambria Math" panose="02040503050406030204" pitchFamily="18" charset="0"/>
                        <a:ea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𝛼</m:t>
                    </m:r>
                    <m:r>
                      <a:rPr lang="en-US" sz="2800" b="0" i="1" smtClean="0">
                        <a:latin typeface="Cambria Math" panose="02040503050406030204" pitchFamily="18" charset="0"/>
                        <a:ea typeface="Cambria Math" panose="02040503050406030204" pitchFamily="18" charset="0"/>
                      </a:rPr>
                      <m:t>&lt;1</m:t>
                    </m:r>
                  </m:oMath>
                </a14:m>
                <a:r>
                  <a:rPr lang="en-US" sz="2800" b="0" dirty="0">
                    <a:latin typeface="Cambria Math" panose="02040503050406030204" pitchFamily="18" charset="0"/>
                    <a:ea typeface="Cambria Math" panose="02040503050406030204" pitchFamily="18" charset="0"/>
                  </a:rPr>
                  <a:t> </a:t>
                </a:r>
              </a:p>
              <a:p>
                <a:pPr>
                  <a:buFont typeface="Wingdings 3" charset="2"/>
                  <a:buAutoNum type="arabicPeriod"/>
                </a:pPr>
                <a14:m>
                  <m:oMath xmlns:m="http://schemas.openxmlformats.org/officeDocument/2006/math">
                    <m:r>
                      <m:rPr>
                        <m:sty m:val="p"/>
                      </m:rPr>
                      <a:rPr lang="en-US" sz="2800" b="0" i="0" smtClean="0">
                        <a:latin typeface="Cambria Math" panose="02040503050406030204" pitchFamily="18" charset="0"/>
                        <a:ea typeface="Cambria Math" panose="02040503050406030204" pitchFamily="18" charset="0"/>
                      </a:rPr>
                      <m:t>x</m:t>
                    </m:r>
                    <m:d>
                      <m:dPr>
                        <m:ctrlPr>
                          <a:rPr lang="en-US" sz="2800" b="0" i="1" smtClean="0">
                            <a:latin typeface="Cambria Math" panose="02040503050406030204" pitchFamily="18" charset="0"/>
                            <a:ea typeface="Cambria Math" panose="02040503050406030204" pitchFamily="18" charset="0"/>
                          </a:rPr>
                        </m:ctrlPr>
                      </m:dPr>
                      <m:e>
                        <m:r>
                          <m:rPr>
                            <m:sty m:val="p"/>
                          </m:rPr>
                          <a:rPr lang="en-US" sz="2800" b="0" i="0" smtClean="0">
                            <a:latin typeface="Cambria Math" panose="02040503050406030204" pitchFamily="18" charset="0"/>
                            <a:ea typeface="Cambria Math" panose="02040503050406030204" pitchFamily="18" charset="0"/>
                          </a:rPr>
                          <m:t>n</m:t>
                        </m:r>
                      </m:e>
                    </m:d>
                    <m:r>
                      <a:rPr lang="en-US" sz="2800" b="0" i="1" smtClean="0">
                        <a:latin typeface="Cambria Math" panose="02040503050406030204" pitchFamily="18" charset="0"/>
                        <a:ea typeface="Cambria Math" panose="02040503050406030204" pitchFamily="18" charset="0"/>
                      </a:rPr>
                      <m:t>=</m:t>
                    </m:r>
                    <m:sSup>
                      <m:sSupPr>
                        <m:ctrlPr>
                          <a:rPr lang="en-US" sz="2800" b="0" i="1" smtClean="0">
                            <a:latin typeface="Cambria Math" panose="02040503050406030204" pitchFamily="18" charset="0"/>
                            <a:ea typeface="Cambria Math" panose="02040503050406030204" pitchFamily="18" charset="0"/>
                          </a:rPr>
                        </m:ctrlPr>
                      </m:sSupPr>
                      <m:e>
                        <m:r>
                          <a:rPr lang="en-US" sz="2800" b="0" i="1" smtClean="0">
                            <a:latin typeface="Cambria Math" panose="02040503050406030204" pitchFamily="18" charset="0"/>
                            <a:ea typeface="Cambria Math" panose="02040503050406030204" pitchFamily="18" charset="0"/>
                          </a:rPr>
                          <m:t>2</m:t>
                        </m:r>
                      </m:e>
                      <m:sup>
                        <m:r>
                          <a:rPr lang="en-US" sz="2800" b="0" i="1" smtClean="0">
                            <a:latin typeface="Cambria Math" panose="02040503050406030204" pitchFamily="18" charset="0"/>
                            <a:ea typeface="Cambria Math" panose="02040503050406030204" pitchFamily="18" charset="0"/>
                          </a:rPr>
                          <m:t>𝑛</m:t>
                        </m:r>
                      </m:sup>
                    </m:sSup>
                    <m:r>
                      <a:rPr lang="en-US" sz="2800" b="0" i="1" smtClean="0">
                        <a:latin typeface="Cambria Math" panose="02040503050406030204" pitchFamily="18" charset="0"/>
                        <a:ea typeface="Cambria Math" panose="02040503050406030204" pitchFamily="18" charset="0"/>
                      </a:rPr>
                      <m:t>𝑢</m:t>
                    </m:r>
                    <m:d>
                      <m:dPr>
                        <m:ctrlPr>
                          <a:rPr lang="en-US" sz="2800" b="0" i="1" smtClean="0">
                            <a:latin typeface="Cambria Math" panose="02040503050406030204" pitchFamily="18" charset="0"/>
                            <a:ea typeface="Cambria Math" panose="02040503050406030204" pitchFamily="18" charset="0"/>
                          </a:rPr>
                        </m:ctrlPr>
                      </m:dPr>
                      <m:e>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𝑛</m:t>
                        </m:r>
                      </m:e>
                    </m:d>
                    <m:r>
                      <a:rPr lang="en-US" sz="2800" b="0" i="1" smtClean="0">
                        <a:latin typeface="Cambria Math" panose="02040503050406030204" pitchFamily="18" charset="0"/>
                        <a:ea typeface="Cambria Math" panose="02040503050406030204" pitchFamily="18" charset="0"/>
                      </a:rPr>
                      <m:t> </m:t>
                    </m:r>
                  </m:oMath>
                </a14:m>
                <a:endParaRPr lang="en-US" sz="2800" b="0" dirty="0">
                  <a:latin typeface="Cambria Math" panose="02040503050406030204" pitchFamily="18" charset="0"/>
                  <a:ea typeface="Cambria Math" panose="02040503050406030204" pitchFamily="18" charset="0"/>
                </a:endParaRPr>
              </a:p>
              <a:p>
                <a:pPr>
                  <a:buFont typeface="Wingdings 3" charset="2"/>
                  <a:buAutoNum type="arabicPeriod"/>
                </a:pPr>
                <a14:m>
                  <m:oMath xmlns:m="http://schemas.openxmlformats.org/officeDocument/2006/math">
                    <m:r>
                      <m:rPr>
                        <m:sty m:val="p"/>
                      </m:rPr>
                      <a:rPr lang="en-US" sz="2800" b="0" i="0" smtClean="0">
                        <a:latin typeface="Cambria Math" panose="02040503050406030204" pitchFamily="18" charset="0"/>
                        <a:ea typeface="Cambria Math" panose="02040503050406030204" pitchFamily="18" charset="0"/>
                      </a:rPr>
                      <m:t>x</m:t>
                    </m:r>
                    <m:r>
                      <a:rPr lang="en-US" sz="2800" b="0" i="0" smtClean="0">
                        <a:latin typeface="Cambria Math" panose="02040503050406030204" pitchFamily="18" charset="0"/>
                        <a:ea typeface="Cambria Math" panose="02040503050406030204" pitchFamily="18" charset="0"/>
                      </a:rPr>
                      <m:t>(</m:t>
                    </m:r>
                    <m:r>
                      <m:rPr>
                        <m:sty m:val="p"/>
                      </m:rPr>
                      <a:rPr lang="en-US" sz="2800" b="0" i="0" smtClean="0">
                        <a:latin typeface="Cambria Math" panose="02040503050406030204" pitchFamily="18" charset="0"/>
                        <a:ea typeface="Cambria Math" panose="02040503050406030204" pitchFamily="18" charset="0"/>
                      </a:rPr>
                      <m:t>n</m:t>
                    </m:r>
                    <m:r>
                      <a:rPr lang="en-US" sz="2800" b="0" i="0"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m:t>
                    </m:r>
                    <m:sSup>
                      <m:sSupPr>
                        <m:ctrlPr>
                          <a:rPr lang="en-US" sz="2800" b="0" i="1" smtClean="0">
                            <a:latin typeface="Cambria Math" panose="02040503050406030204" pitchFamily="18" charset="0"/>
                            <a:ea typeface="Cambria Math" panose="02040503050406030204" pitchFamily="18" charset="0"/>
                          </a:rPr>
                        </m:ctrlPr>
                      </m:sSupPr>
                      <m:e>
                        <m:f>
                          <m:fPr>
                            <m:ctrlPr>
                              <a:rPr lang="en-US" sz="2800" b="0" i="1" smtClean="0">
                                <a:latin typeface="Cambria Math" panose="02040503050406030204" pitchFamily="18" charset="0"/>
                                <a:ea typeface="Cambria Math" panose="02040503050406030204" pitchFamily="18" charset="0"/>
                              </a:rPr>
                            </m:ctrlPr>
                          </m:fPr>
                          <m:num>
                            <m:r>
                              <a:rPr lang="en-US" sz="2800" b="0" i="1" smtClean="0">
                                <a:latin typeface="Cambria Math" panose="02040503050406030204" pitchFamily="18" charset="0"/>
                                <a:ea typeface="Cambria Math" panose="02040503050406030204" pitchFamily="18" charset="0"/>
                              </a:rPr>
                              <m:t>1</m:t>
                            </m:r>
                          </m:num>
                          <m:den>
                            <m:r>
                              <a:rPr lang="en-US" sz="2800" b="0" i="1" smtClean="0">
                                <a:latin typeface="Cambria Math" panose="02040503050406030204" pitchFamily="18" charset="0"/>
                                <a:ea typeface="Cambria Math" panose="02040503050406030204" pitchFamily="18" charset="0"/>
                              </a:rPr>
                              <m:t>3</m:t>
                            </m:r>
                          </m:den>
                        </m:f>
                        <m:r>
                          <a:rPr lang="en-US" sz="2800" b="0" i="1" smtClean="0">
                            <a:latin typeface="Cambria Math" panose="02040503050406030204" pitchFamily="18" charset="0"/>
                            <a:ea typeface="Cambria Math" panose="02040503050406030204" pitchFamily="18" charset="0"/>
                          </a:rPr>
                          <m:t>)</m:t>
                        </m:r>
                      </m:e>
                      <m:sup>
                        <m:r>
                          <a:rPr lang="en-US" sz="2800" b="0" i="1" smtClean="0">
                            <a:latin typeface="Cambria Math" panose="02040503050406030204" pitchFamily="18" charset="0"/>
                            <a:ea typeface="Cambria Math" panose="02040503050406030204" pitchFamily="18" charset="0"/>
                          </a:rPr>
                          <m:t>𝑛</m:t>
                        </m:r>
                      </m:sup>
                    </m:sSup>
                    <m:r>
                      <a:rPr lang="en-US" sz="2800" b="0" i="1" smtClean="0">
                        <a:latin typeface="Cambria Math" panose="02040503050406030204" pitchFamily="18" charset="0"/>
                        <a:ea typeface="Cambria Math" panose="02040503050406030204" pitchFamily="18" charset="0"/>
                      </a:rPr>
                      <m:t>𝑢</m:t>
                    </m:r>
                    <m:d>
                      <m:dPr>
                        <m:ctrlPr>
                          <a:rPr lang="en-US" sz="2800" b="0" i="1" smtClean="0">
                            <a:latin typeface="Cambria Math" panose="02040503050406030204" pitchFamily="18" charset="0"/>
                            <a:ea typeface="Cambria Math" panose="02040503050406030204" pitchFamily="18" charset="0"/>
                          </a:rPr>
                        </m:ctrlPr>
                      </m:dPr>
                      <m:e>
                        <m:r>
                          <a:rPr lang="en-US" sz="2800" b="0" i="1" smtClean="0">
                            <a:latin typeface="Cambria Math" panose="02040503050406030204" pitchFamily="18" charset="0"/>
                            <a:ea typeface="Cambria Math" panose="02040503050406030204" pitchFamily="18" charset="0"/>
                          </a:rPr>
                          <m:t>𝑛</m:t>
                        </m:r>
                        <m:r>
                          <a:rPr lang="en-US" sz="2800" b="0" i="1" smtClean="0">
                            <a:latin typeface="Cambria Math" panose="02040503050406030204" pitchFamily="18" charset="0"/>
                            <a:ea typeface="Cambria Math" panose="02040503050406030204" pitchFamily="18" charset="0"/>
                          </a:rPr>
                          <m:t>−3</m:t>
                        </m:r>
                      </m:e>
                    </m:d>
                  </m:oMath>
                </a14:m>
                <a:endParaRPr lang="en-US" sz="2800" b="0" i="1" dirty="0">
                  <a:latin typeface="Cambria Math" panose="02040503050406030204" pitchFamily="18" charset="0"/>
                  <a:ea typeface="Cambria Math" panose="02040503050406030204" pitchFamily="18" charset="0"/>
                </a:endParaRPr>
              </a:p>
              <a:p>
                <a:pPr>
                  <a:buFont typeface="Wingdings 3" charset="2"/>
                  <a:buAutoNum type="arabicPeriod"/>
                </a:pPr>
                <a14:m>
                  <m:oMath xmlns:m="http://schemas.openxmlformats.org/officeDocument/2006/math">
                    <m:r>
                      <m:rPr>
                        <m:sty m:val="p"/>
                      </m:rPr>
                      <a:rPr lang="en-US" sz="2800">
                        <a:latin typeface="Cambria Math" panose="02040503050406030204" pitchFamily="18" charset="0"/>
                      </a:rPr>
                      <m:t>x</m:t>
                    </m:r>
                    <m:d>
                      <m:dPr>
                        <m:ctrlPr>
                          <a:rPr lang="en-US" sz="2800" i="1">
                            <a:latin typeface="Cambria Math" panose="02040503050406030204" pitchFamily="18" charset="0"/>
                          </a:rPr>
                        </m:ctrlPr>
                      </m:dPr>
                      <m:e>
                        <m:r>
                          <m:rPr>
                            <m:sty m:val="p"/>
                          </m:rPr>
                          <a:rPr lang="en-US" sz="2800">
                            <a:latin typeface="Cambria Math" panose="02040503050406030204" pitchFamily="18" charset="0"/>
                          </a:rPr>
                          <m:t>n</m:t>
                        </m:r>
                      </m:e>
                    </m:d>
                    <m:r>
                      <a:rPr lang="en-US" sz="2800" i="1">
                        <a:latin typeface="Cambria Math" panose="02040503050406030204" pitchFamily="18" charset="0"/>
                      </a:rPr>
                      <m:t>=</m:t>
                    </m:r>
                    <m:r>
                      <a:rPr lang="en-US" sz="2800" i="1" smtClean="0">
                        <a:latin typeface="Cambria Math" panose="02040503050406030204" pitchFamily="18" charset="0"/>
                        <a:ea typeface="Cambria Math" panose="02040503050406030204" pitchFamily="18" charset="0"/>
                      </a:rPr>
                      <m:t>𝛿</m:t>
                    </m:r>
                    <m:d>
                      <m:dPr>
                        <m:begChr m:val="["/>
                        <m:endChr m:val="]"/>
                        <m:ctrlPr>
                          <a:rPr lang="en-US" sz="2800" b="0" i="1" smtClean="0">
                            <a:latin typeface="Cambria Math" panose="02040503050406030204" pitchFamily="18" charset="0"/>
                            <a:ea typeface="Cambria Math" panose="02040503050406030204" pitchFamily="18" charset="0"/>
                          </a:rPr>
                        </m:ctrlPr>
                      </m:dPr>
                      <m:e>
                        <m:r>
                          <a:rPr lang="en-US" sz="2800" b="0" i="1" smtClean="0">
                            <a:latin typeface="Cambria Math" panose="02040503050406030204" pitchFamily="18" charset="0"/>
                            <a:ea typeface="Cambria Math" panose="02040503050406030204" pitchFamily="18" charset="0"/>
                          </a:rPr>
                          <m:t>𝑛</m:t>
                        </m:r>
                      </m:e>
                    </m:d>
                  </m:oMath>
                </a14:m>
                <a:endParaRPr lang="en-US" sz="2800" b="0" dirty="0">
                  <a:ea typeface="Cambria Math" panose="02040503050406030204" pitchFamily="18" charset="0"/>
                </a:endParaRPr>
              </a:p>
              <a:p>
                <a:pPr>
                  <a:buFont typeface="Wingdings 3" charset="2"/>
                  <a:buAutoNum type="arabicPeriod"/>
                </a:pPr>
                <a:endParaRPr lang="en-US" b="0" dirty="0"/>
              </a:p>
              <a:p>
                <a:pPr>
                  <a:buAutoNum type="arabicPeriod"/>
                </a:pPr>
                <a:endParaRPr lang="en-US" b="0" dirty="0"/>
              </a:p>
              <a:p>
                <a:pPr>
                  <a:buAutoNum type="arabicPeriod"/>
                </a:pPr>
                <a:endParaRPr lang="en-US" b="0" dirty="0"/>
              </a:p>
              <a:p>
                <a:pPr>
                  <a:buAutoNum type="arabicPeriod"/>
                </a:pPr>
                <a:endParaRPr lang="en-PH" dirty="0"/>
              </a:p>
              <a:p>
                <a:pPr>
                  <a:buAutoNum type="arabicPeriod"/>
                </a:pPr>
                <a:endParaRPr lang="en-PH" dirty="0"/>
              </a:p>
              <a:p>
                <a:pPr marL="0" indent="0">
                  <a:buNone/>
                </a:pPr>
                <a:endParaRPr lang="en-PH" dirty="0"/>
              </a:p>
            </p:txBody>
          </p:sp>
        </mc:Choice>
        <mc:Fallback xmlns="">
          <p:sp>
            <p:nvSpPr>
              <p:cNvPr id="3" name="Content Placeholder 2">
                <a:extLst>
                  <a:ext uri="{FF2B5EF4-FFF2-40B4-BE49-F238E27FC236}">
                    <a16:creationId xmlns:a16="http://schemas.microsoft.com/office/drawing/2014/main" id="{EF0A8DE9-207F-386D-2385-C66792F84257}"/>
                  </a:ext>
                </a:extLst>
              </p:cNvPr>
              <p:cNvSpPr>
                <a:spLocks noGrp="1" noRot="1" noChangeAspect="1" noMove="1" noResize="1" noEditPoints="1" noAdjustHandles="1" noChangeArrowheads="1" noChangeShapeType="1" noTextEdit="1"/>
              </p:cNvSpPr>
              <p:nvPr>
                <p:ph idx="1"/>
              </p:nvPr>
            </p:nvSpPr>
            <p:spPr>
              <a:xfrm>
                <a:off x="866441" y="2489200"/>
                <a:ext cx="7744159" cy="3530600"/>
              </a:xfrm>
              <a:blipFill>
                <a:blip r:embed="rId2"/>
                <a:stretch>
                  <a:fillRect/>
                </a:stretch>
              </a:blipFill>
            </p:spPr>
            <p:txBody>
              <a:bodyPr/>
              <a:lstStyle/>
              <a:p>
                <a:r>
                  <a:rPr lang="en-PH">
                    <a:noFill/>
                  </a:rPr>
                  <a:t> </a:t>
                </a:r>
              </a:p>
            </p:txBody>
          </p:sp>
        </mc:Fallback>
      </mc:AlternateContent>
    </p:spTree>
    <p:extLst>
      <p:ext uri="{BB962C8B-B14F-4D97-AF65-F5344CB8AC3E}">
        <p14:creationId xmlns:p14="http://schemas.microsoft.com/office/powerpoint/2010/main" val="6052799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a:t>Examples - IDTFT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F0A8DE9-207F-386D-2385-C66792F84257}"/>
                  </a:ext>
                </a:extLst>
              </p:cNvPr>
              <p:cNvSpPr>
                <a:spLocks noGrp="1"/>
              </p:cNvSpPr>
              <p:nvPr>
                <p:ph idx="1"/>
              </p:nvPr>
            </p:nvSpPr>
            <p:spPr>
              <a:xfrm>
                <a:off x="866441" y="2489200"/>
                <a:ext cx="7744159" cy="3530600"/>
              </a:xfrm>
            </p:spPr>
            <p:txBody>
              <a:bodyPr>
                <a:normAutofit/>
              </a:bodyPr>
              <a:lstStyle/>
              <a:p>
                <a:pPr>
                  <a:buAutoNum type="arabicPeriod"/>
                </a:pPr>
                <a:r>
                  <a:rPr lang="en-US" sz="2400" b="0" dirty="0">
                    <a:latin typeface="Cambria Math" panose="02040503050406030204" pitchFamily="18" charset="0"/>
                    <a:ea typeface="Cambria Math" panose="02040503050406030204" pitchFamily="18" charset="0"/>
                  </a:rPr>
                  <a:t>If </a:t>
                </a:r>
                <a14:m>
                  <m:oMath xmlns:m="http://schemas.openxmlformats.org/officeDocument/2006/math">
                    <m:r>
                      <m:rPr>
                        <m:sty m:val="p"/>
                      </m:rPr>
                      <a:rPr lang="en-US" sz="2400">
                        <a:latin typeface="Cambria Math" panose="02040503050406030204" pitchFamily="18" charset="0"/>
                        <a:ea typeface="Cambria Math" panose="02040503050406030204" pitchFamily="18" charset="0"/>
                      </a:rPr>
                      <m:t>X</m:t>
                    </m:r>
                    <m:r>
                      <a:rPr lang="en-US" sz="2400" b="0" i="0" smtClean="0">
                        <a:latin typeface="Cambria Math" panose="02040503050406030204" pitchFamily="18" charset="0"/>
                        <a:ea typeface="Cambria Math" panose="02040503050406030204" pitchFamily="18" charset="0"/>
                      </a:rPr>
                      <m:t>(</m:t>
                    </m:r>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𝑒</m:t>
                        </m:r>
                      </m:e>
                      <m:sup>
                        <m:r>
                          <a:rPr lang="en-US" sz="2400" b="0" i="1" smtClean="0">
                            <a:latin typeface="Cambria Math" panose="02040503050406030204" pitchFamily="18" charset="0"/>
                            <a:ea typeface="Cambria Math" panose="02040503050406030204" pitchFamily="18" charset="0"/>
                          </a:rPr>
                          <m:t>𝑗</m:t>
                        </m:r>
                        <m:r>
                          <a:rPr lang="en-US" sz="2400" b="0" i="1" smtClean="0">
                            <a:latin typeface="Cambria Math" panose="02040503050406030204" pitchFamily="18" charset="0"/>
                            <a:ea typeface="Cambria Math" panose="02040503050406030204" pitchFamily="18" charset="0"/>
                          </a:rPr>
                          <m:t>𝜔</m:t>
                        </m:r>
                      </m:sup>
                    </m:sSup>
                    <m:r>
                      <a:rPr lang="en-US" sz="2400" b="0" i="1" smtClean="0">
                        <a:latin typeface="Cambria Math" panose="02040503050406030204" pitchFamily="18" charset="0"/>
                        <a:ea typeface="Cambria Math" panose="02040503050406030204" pitchFamily="18" charset="0"/>
                      </a:rPr>
                      <m:t>)=</m:t>
                    </m:r>
                    <m:f>
                      <m:fPr>
                        <m:ctrlPr>
                          <a:rPr lang="en-US" sz="2400" b="0" i="1" smtClean="0">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6−</m:t>
                        </m:r>
                        <m:f>
                          <m:fPr>
                            <m:ctrlPr>
                              <a:rPr lang="en-US" sz="2400" b="0" i="1" smtClean="0">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2</m:t>
                            </m:r>
                          </m:num>
                          <m:den>
                            <m:r>
                              <a:rPr lang="en-US" sz="2400" b="0" i="1" smtClean="0">
                                <a:latin typeface="Cambria Math" panose="02040503050406030204" pitchFamily="18" charset="0"/>
                                <a:ea typeface="Cambria Math" panose="02040503050406030204" pitchFamily="18" charset="0"/>
                              </a:rPr>
                              <m:t>3</m:t>
                            </m:r>
                          </m:den>
                        </m:f>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𝑒</m:t>
                            </m:r>
                          </m:e>
                          <m:sup>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𝑗</m:t>
                            </m:r>
                            <m:r>
                              <a:rPr lang="en-US" sz="2400" b="0" i="1" smtClean="0">
                                <a:latin typeface="Cambria Math" panose="02040503050406030204" pitchFamily="18" charset="0"/>
                                <a:ea typeface="Cambria Math" panose="02040503050406030204" pitchFamily="18" charset="0"/>
                              </a:rPr>
                              <m:t>𝜔</m:t>
                            </m:r>
                          </m:sup>
                        </m:sSup>
                        <m:r>
                          <a:rPr lang="en-US" sz="2400" b="0" i="1" smtClean="0">
                            <a:latin typeface="Cambria Math" panose="02040503050406030204" pitchFamily="18" charset="0"/>
                            <a:ea typeface="Cambria Math" panose="02040503050406030204" pitchFamily="18" charset="0"/>
                          </a:rPr>
                          <m:t>−</m:t>
                        </m:r>
                        <m:f>
                          <m:fPr>
                            <m:ctrlPr>
                              <a:rPr lang="en-US" sz="2400" b="0" i="1" smtClean="0">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1</m:t>
                            </m:r>
                          </m:num>
                          <m:den>
                            <m:r>
                              <a:rPr lang="en-US" sz="2400" b="0" i="1" smtClean="0">
                                <a:latin typeface="Cambria Math" panose="02040503050406030204" pitchFamily="18" charset="0"/>
                                <a:ea typeface="Cambria Math" panose="02040503050406030204" pitchFamily="18" charset="0"/>
                              </a:rPr>
                              <m:t>6</m:t>
                            </m:r>
                          </m:den>
                        </m:f>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𝑒</m:t>
                            </m:r>
                          </m:e>
                          <m:sup>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𝑗</m:t>
                            </m:r>
                            <m:r>
                              <a:rPr lang="en-US" sz="2400" i="1">
                                <a:latin typeface="Cambria Math" panose="02040503050406030204" pitchFamily="18" charset="0"/>
                                <a:ea typeface="Cambria Math" panose="02040503050406030204" pitchFamily="18" charset="0"/>
                              </a:rPr>
                              <m:t>𝜔</m:t>
                            </m:r>
                          </m:sup>
                        </m:sSup>
                      </m:num>
                      <m:den>
                        <m:r>
                          <a:rPr lang="en-US" sz="2400" b="0" i="1" smtClean="0">
                            <a:latin typeface="Cambria Math" panose="02040503050406030204" pitchFamily="18" charset="0"/>
                            <a:ea typeface="Cambria Math" panose="02040503050406030204" pitchFamily="18" charset="0"/>
                          </a:rPr>
                          <m:t>−</m:t>
                        </m:r>
                        <m:f>
                          <m:fPr>
                            <m:ctrlPr>
                              <a:rPr lang="en-US" sz="2400" b="0" i="1" smtClean="0">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1</m:t>
                            </m:r>
                          </m:num>
                          <m:den>
                            <m:r>
                              <a:rPr lang="en-US" sz="2400" b="0" i="1" smtClean="0">
                                <a:latin typeface="Cambria Math" panose="02040503050406030204" pitchFamily="18" charset="0"/>
                                <a:ea typeface="Cambria Math" panose="02040503050406030204" pitchFamily="18" charset="0"/>
                              </a:rPr>
                              <m:t>6</m:t>
                            </m:r>
                          </m:den>
                        </m:f>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𝑒</m:t>
                            </m:r>
                          </m:e>
                          <m:sup>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𝑗</m:t>
                            </m:r>
                            <m:r>
                              <a:rPr lang="en-US" sz="2400" b="0" i="1" smtClean="0">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𝜔</m:t>
                            </m:r>
                          </m:sup>
                        </m:sSup>
                        <m:r>
                          <a:rPr lang="en-US" sz="2400" b="0" i="1" smtClean="0">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1</m:t>
                            </m:r>
                          </m:num>
                          <m:den>
                            <m:r>
                              <a:rPr lang="en-US" sz="2400" i="1">
                                <a:latin typeface="Cambria Math" panose="02040503050406030204" pitchFamily="18" charset="0"/>
                                <a:ea typeface="Cambria Math" panose="02040503050406030204" pitchFamily="18" charset="0"/>
                              </a:rPr>
                              <m:t>6</m:t>
                            </m:r>
                          </m:den>
                        </m:f>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𝑒</m:t>
                            </m:r>
                          </m:e>
                          <m:sup>
                            <m:r>
                              <a:rPr lang="en-US" sz="2400" b="0" i="1" smtClean="0">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𝑗</m:t>
                            </m:r>
                            <m:r>
                              <a:rPr lang="en-US" sz="2400" i="1">
                                <a:latin typeface="Cambria Math" panose="02040503050406030204" pitchFamily="18" charset="0"/>
                                <a:ea typeface="Cambria Math" panose="02040503050406030204" pitchFamily="18" charset="0"/>
                              </a:rPr>
                              <m:t>𝜔</m:t>
                            </m:r>
                          </m:sup>
                        </m:sSup>
                        <m:r>
                          <a:rPr lang="en-US" sz="2400" b="0" i="1" smtClean="0">
                            <a:latin typeface="Cambria Math" panose="02040503050406030204" pitchFamily="18" charset="0"/>
                            <a:ea typeface="Cambria Math" panose="02040503050406030204" pitchFamily="18" charset="0"/>
                          </a:rPr>
                          <m:t>+1</m:t>
                        </m:r>
                      </m:den>
                    </m:f>
                  </m:oMath>
                </a14:m>
                <a:r>
                  <a:rPr lang="en-US" sz="2400" dirty="0">
                    <a:latin typeface="Cambria Math" panose="02040503050406030204" pitchFamily="18" charset="0"/>
                    <a:ea typeface="Cambria Math" panose="02040503050406030204" pitchFamily="18" charset="0"/>
                  </a:rPr>
                  <a:t> find x(n)</a:t>
                </a:r>
              </a:p>
              <a:p>
                <a:pPr>
                  <a:buAutoNum type="arabicPeriod"/>
                </a:pPr>
                <a:r>
                  <a:rPr lang="en-US" sz="2400" b="0" dirty="0">
                    <a:latin typeface="Cambria Math" panose="02040503050406030204" pitchFamily="18" charset="0"/>
                    <a:ea typeface="Cambria Math" panose="02040503050406030204" pitchFamily="18" charset="0"/>
                  </a:rPr>
                  <a:t>Find the value of x(n) </a:t>
                </a:r>
                <a:r>
                  <a:rPr lang="en-US" sz="2400" dirty="0">
                    <a:latin typeface="Cambria Math" panose="02040503050406030204" pitchFamily="18" charset="0"/>
                    <a:ea typeface="Cambria Math" panose="02040503050406030204" pitchFamily="18" charset="0"/>
                  </a:rPr>
                  <a:t>for</a:t>
                </a:r>
                <a:r>
                  <a:rPr lang="en-US" sz="2400" b="0" dirty="0">
                    <a:latin typeface="Cambria Math" panose="02040503050406030204" pitchFamily="18" charset="0"/>
                    <a:ea typeface="Cambria Math" panose="02040503050406030204" pitchFamily="18" charset="0"/>
                  </a:rPr>
                  <a:t> </a:t>
                </a:r>
                <a14:m>
                  <m:oMath xmlns:m="http://schemas.openxmlformats.org/officeDocument/2006/math">
                    <m:r>
                      <m:rPr>
                        <m:sty m:val="p"/>
                      </m:rPr>
                      <a:rPr lang="en-US" sz="2400">
                        <a:latin typeface="Cambria Math" panose="02040503050406030204" pitchFamily="18" charset="0"/>
                        <a:ea typeface="Cambria Math" panose="02040503050406030204" pitchFamily="18" charset="0"/>
                      </a:rPr>
                      <m:t>X</m:t>
                    </m:r>
                    <m:r>
                      <a:rPr lang="en-US" sz="2400" b="0" i="0" smtClean="0">
                        <a:latin typeface="Cambria Math" panose="02040503050406030204" pitchFamily="18" charset="0"/>
                        <a:ea typeface="Cambria Math" panose="02040503050406030204" pitchFamily="18" charset="0"/>
                      </a:rPr>
                      <m:t>(</m:t>
                    </m:r>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𝑒</m:t>
                        </m:r>
                      </m:e>
                      <m:sup>
                        <m:r>
                          <a:rPr lang="en-US" sz="2400" b="0" i="1" smtClean="0">
                            <a:latin typeface="Cambria Math" panose="02040503050406030204" pitchFamily="18" charset="0"/>
                            <a:ea typeface="Cambria Math" panose="02040503050406030204" pitchFamily="18" charset="0"/>
                          </a:rPr>
                          <m:t>𝑗</m:t>
                        </m:r>
                        <m:r>
                          <a:rPr lang="en-US" sz="2400" b="0" i="1" smtClean="0">
                            <a:latin typeface="Cambria Math" panose="02040503050406030204" pitchFamily="18" charset="0"/>
                            <a:ea typeface="Cambria Math" panose="02040503050406030204" pitchFamily="18" charset="0"/>
                          </a:rPr>
                          <m:t>𝜔</m:t>
                        </m:r>
                      </m:sup>
                    </m:sSup>
                    <m:r>
                      <a:rPr lang="en-US" sz="2400" b="0" i="1" smtClean="0">
                        <a:latin typeface="Cambria Math" panose="02040503050406030204" pitchFamily="18" charset="0"/>
                        <a:ea typeface="Cambria Math" panose="02040503050406030204" pitchFamily="18" charset="0"/>
                      </a:rPr>
                      <m:t>)=</m:t>
                    </m:r>
                    <m:f>
                      <m:fPr>
                        <m:ctrlPr>
                          <a:rPr lang="en-US" sz="2400" b="0" i="1" smtClean="0">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3−(</m:t>
                        </m:r>
                        <m:f>
                          <m:fPr>
                            <m:ctrlPr>
                              <a:rPr lang="en-US" sz="2400" b="0" i="1" smtClean="0">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1</m:t>
                            </m:r>
                          </m:num>
                          <m:den>
                            <m:r>
                              <a:rPr lang="en-US" sz="2400" b="0" i="1" smtClean="0">
                                <a:latin typeface="Cambria Math" panose="02040503050406030204" pitchFamily="18" charset="0"/>
                                <a:ea typeface="Cambria Math" panose="02040503050406030204" pitchFamily="18" charset="0"/>
                              </a:rPr>
                              <m:t>4</m:t>
                            </m:r>
                          </m:den>
                        </m:f>
                        <m:r>
                          <a:rPr lang="en-US" sz="2400" b="0" i="1" smtClean="0">
                            <a:latin typeface="Cambria Math" panose="02040503050406030204" pitchFamily="18" charset="0"/>
                            <a:ea typeface="Cambria Math" panose="02040503050406030204" pitchFamily="18" charset="0"/>
                          </a:rPr>
                          <m:t>)</m:t>
                        </m:r>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𝑒</m:t>
                            </m:r>
                          </m:e>
                          <m:sup>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𝑗</m:t>
                            </m:r>
                            <m:r>
                              <a:rPr lang="en-US" sz="2400" b="0" i="1" smtClean="0">
                                <a:latin typeface="Cambria Math" panose="02040503050406030204" pitchFamily="18" charset="0"/>
                                <a:ea typeface="Cambria Math" panose="02040503050406030204" pitchFamily="18" charset="0"/>
                              </a:rPr>
                              <m:t>𝜔</m:t>
                            </m:r>
                          </m:sup>
                        </m:sSup>
                      </m:num>
                      <m:den>
                        <m:r>
                          <a:rPr lang="en-US" sz="2400" b="0" i="1" smtClean="0">
                            <a:latin typeface="Cambria Math" panose="02040503050406030204" pitchFamily="18" charset="0"/>
                            <a:ea typeface="Cambria Math" panose="02040503050406030204" pitchFamily="18" charset="0"/>
                          </a:rPr>
                          <m:t>−</m:t>
                        </m:r>
                        <m:f>
                          <m:fPr>
                            <m:ctrlPr>
                              <a:rPr lang="en-US" sz="2400" b="0" i="1" smtClean="0">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1</m:t>
                            </m:r>
                          </m:num>
                          <m:den>
                            <m:r>
                              <a:rPr lang="en-US" sz="2400" b="0" i="1" smtClean="0">
                                <a:latin typeface="Cambria Math" panose="02040503050406030204" pitchFamily="18" charset="0"/>
                                <a:ea typeface="Cambria Math" panose="02040503050406030204" pitchFamily="18" charset="0"/>
                              </a:rPr>
                              <m:t>16</m:t>
                            </m:r>
                          </m:den>
                        </m:f>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𝑒</m:t>
                            </m:r>
                          </m:e>
                          <m:sup>
                            <m:r>
                              <a:rPr lang="en-US" sz="2400" i="1">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𝑗</m:t>
                            </m:r>
                            <m:r>
                              <a:rPr lang="en-US" sz="2400" i="1">
                                <a:latin typeface="Cambria Math" panose="02040503050406030204" pitchFamily="18" charset="0"/>
                                <a:ea typeface="Cambria Math" panose="02040503050406030204" pitchFamily="18" charset="0"/>
                              </a:rPr>
                              <m:t>𝜔</m:t>
                            </m:r>
                          </m:sup>
                        </m:sSup>
                        <m:r>
                          <a:rPr lang="en-US" sz="2400" b="0" i="1" smtClean="0">
                            <a:latin typeface="Cambria Math" panose="02040503050406030204" pitchFamily="18" charset="0"/>
                            <a:ea typeface="Cambria Math" panose="02040503050406030204" pitchFamily="18" charset="0"/>
                          </a:rPr>
                          <m:t>+1</m:t>
                        </m:r>
                      </m:den>
                    </m:f>
                  </m:oMath>
                </a14:m>
                <a:endParaRPr lang="en-US" sz="2400" b="0" dirty="0">
                  <a:latin typeface="Cambria Math" panose="02040503050406030204" pitchFamily="18" charset="0"/>
                  <a:ea typeface="Cambria Math" panose="02040503050406030204" pitchFamily="18" charset="0"/>
                </a:endParaRPr>
              </a:p>
              <a:p>
                <a:pPr>
                  <a:buAutoNum type="arabicPeriod"/>
                </a:pPr>
                <a:endParaRPr lang="en-PH" sz="2400" dirty="0">
                  <a:latin typeface="Cambria Math" panose="02040503050406030204" pitchFamily="18" charset="0"/>
                  <a:ea typeface="Cambria Math" panose="02040503050406030204" pitchFamily="18" charset="0"/>
                </a:endParaRPr>
              </a:p>
              <a:p>
                <a:pPr>
                  <a:buAutoNum type="arabicPeriod"/>
                </a:pPr>
                <a:r>
                  <a:rPr lang="en-PH" sz="2400" dirty="0">
                    <a:latin typeface="Cambria Math" panose="02040503050406030204" pitchFamily="18" charset="0"/>
                    <a:ea typeface="Cambria Math" panose="02040503050406030204" pitchFamily="18" charset="0"/>
                  </a:rPr>
                  <a:t>Find the IDTFT of </a:t>
                </a:r>
                <a14:m>
                  <m:oMath xmlns:m="http://schemas.openxmlformats.org/officeDocument/2006/math">
                    <m:r>
                      <m:rPr>
                        <m:sty m:val="p"/>
                      </m:rPr>
                      <a:rPr lang="en-US" sz="2400">
                        <a:latin typeface="Cambria Math" panose="02040503050406030204" pitchFamily="18" charset="0"/>
                        <a:ea typeface="Cambria Math" panose="02040503050406030204" pitchFamily="18" charset="0"/>
                      </a:rPr>
                      <m:t>X</m:t>
                    </m:r>
                    <m:r>
                      <a:rPr lang="en-US" sz="2400" b="0" i="0" smtClean="0">
                        <a:latin typeface="Cambria Math" panose="02040503050406030204" pitchFamily="18" charset="0"/>
                        <a:ea typeface="Cambria Math" panose="02040503050406030204" pitchFamily="18" charset="0"/>
                      </a:rPr>
                      <m:t>(</m:t>
                    </m:r>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𝑒</m:t>
                        </m:r>
                      </m:e>
                      <m:sup>
                        <m:r>
                          <a:rPr lang="en-US" sz="2400" b="0" i="1" smtClean="0">
                            <a:latin typeface="Cambria Math" panose="02040503050406030204" pitchFamily="18" charset="0"/>
                            <a:ea typeface="Cambria Math" panose="02040503050406030204" pitchFamily="18" charset="0"/>
                          </a:rPr>
                          <m:t>𝑗</m:t>
                        </m:r>
                        <m:r>
                          <a:rPr lang="en-US" sz="2400" b="0" i="1" smtClean="0">
                            <a:latin typeface="Cambria Math" panose="02040503050406030204" pitchFamily="18" charset="0"/>
                            <a:ea typeface="Cambria Math" panose="02040503050406030204" pitchFamily="18" charset="0"/>
                          </a:rPr>
                          <m:t>𝜔</m:t>
                        </m:r>
                      </m:sup>
                    </m:sSup>
                    <m:r>
                      <a:rPr lang="en-US" sz="2400" b="0" i="1" smtClean="0">
                        <a:latin typeface="Cambria Math" panose="02040503050406030204" pitchFamily="18" charset="0"/>
                        <a:ea typeface="Cambria Math" panose="02040503050406030204" pitchFamily="18" charset="0"/>
                      </a:rPr>
                      <m:t>)=</m:t>
                    </m:r>
                    <m:func>
                      <m:funcPr>
                        <m:ctrlPr>
                          <a:rPr lang="en-US" sz="2400" b="0" i="1" smtClean="0">
                            <a:latin typeface="Cambria Math" panose="02040503050406030204" pitchFamily="18" charset="0"/>
                            <a:ea typeface="Cambria Math" panose="02040503050406030204" pitchFamily="18" charset="0"/>
                          </a:rPr>
                        </m:ctrlPr>
                      </m:funcPr>
                      <m:fName>
                        <m:r>
                          <m:rPr>
                            <m:sty m:val="p"/>
                          </m:rPr>
                          <a:rPr lang="en-US" sz="2400" b="0" i="0" smtClean="0">
                            <a:latin typeface="Cambria Math" panose="02040503050406030204" pitchFamily="18" charset="0"/>
                            <a:ea typeface="Cambria Math" panose="02040503050406030204" pitchFamily="18" charset="0"/>
                          </a:rPr>
                          <m:t>cos</m:t>
                        </m:r>
                      </m:fName>
                      <m:e>
                        <m:r>
                          <a:rPr lang="en-US" sz="2400" b="0" i="1" smtClean="0">
                            <a:latin typeface="Cambria Math" panose="02040503050406030204" pitchFamily="18" charset="0"/>
                            <a:ea typeface="Cambria Math" panose="02040503050406030204" pitchFamily="18" charset="0"/>
                          </a:rPr>
                          <m:t>𝜔</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𝑗</m:t>
                        </m:r>
                        <m:func>
                          <m:funcPr>
                            <m:ctrlPr>
                              <a:rPr lang="en-US" sz="2400" b="0" i="1" smtClean="0">
                                <a:latin typeface="Cambria Math" panose="02040503050406030204" pitchFamily="18" charset="0"/>
                                <a:ea typeface="Cambria Math" panose="02040503050406030204" pitchFamily="18" charset="0"/>
                              </a:rPr>
                            </m:ctrlPr>
                          </m:funcPr>
                          <m:fName>
                            <m:r>
                              <m:rPr>
                                <m:sty m:val="p"/>
                              </m:rPr>
                              <a:rPr lang="en-US" sz="2400" b="0" i="0" smtClean="0">
                                <a:latin typeface="Cambria Math" panose="02040503050406030204" pitchFamily="18" charset="0"/>
                                <a:ea typeface="Cambria Math" panose="02040503050406030204" pitchFamily="18" charset="0"/>
                              </a:rPr>
                              <m:t>sin</m:t>
                            </m:r>
                          </m:fName>
                          <m:e>
                            <m:r>
                              <a:rPr lang="en-US" sz="2400" b="0" i="1" smtClean="0">
                                <a:latin typeface="Cambria Math" panose="02040503050406030204" pitchFamily="18" charset="0"/>
                                <a:ea typeface="Cambria Math" panose="02040503050406030204" pitchFamily="18" charset="0"/>
                              </a:rPr>
                              <m:t>𝜔</m:t>
                            </m:r>
                          </m:e>
                        </m:func>
                      </m:e>
                    </m:func>
                  </m:oMath>
                </a14:m>
                <a:endParaRPr lang="en-PH" sz="2400" dirty="0">
                  <a:latin typeface="Cambria Math" panose="02040503050406030204" pitchFamily="18" charset="0"/>
                  <a:ea typeface="Cambria Math" panose="02040503050406030204" pitchFamily="18" charset="0"/>
                </a:endParaRPr>
              </a:p>
              <a:p>
                <a:pPr>
                  <a:buAutoNum type="arabicPeriod"/>
                </a:pPr>
                <a:r>
                  <a:rPr lang="en-PH" sz="2400" dirty="0">
                    <a:latin typeface="Cambria Math" panose="02040503050406030204" pitchFamily="18" charset="0"/>
                    <a:ea typeface="Cambria Math" panose="02040503050406030204" pitchFamily="18" charset="0"/>
                  </a:rPr>
                  <a:t>Find the IDTFT of </a:t>
                </a:r>
                <a14:m>
                  <m:oMath xmlns:m="http://schemas.openxmlformats.org/officeDocument/2006/math">
                    <m:r>
                      <m:rPr>
                        <m:sty m:val="p"/>
                      </m:rPr>
                      <a:rPr lang="en-US" sz="2400" smtClean="0">
                        <a:latin typeface="Cambria Math" panose="02040503050406030204" pitchFamily="18" charset="0"/>
                        <a:ea typeface="Cambria Math" panose="02040503050406030204" pitchFamily="18" charset="0"/>
                      </a:rPr>
                      <m:t>X</m:t>
                    </m:r>
                    <m:r>
                      <a:rPr lang="en-US" sz="2400" b="0" i="0" smtClean="0">
                        <a:latin typeface="Cambria Math" panose="02040503050406030204" pitchFamily="18" charset="0"/>
                        <a:ea typeface="Cambria Math" panose="02040503050406030204" pitchFamily="18" charset="0"/>
                      </a:rPr>
                      <m:t>(</m:t>
                    </m:r>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𝑒</m:t>
                        </m:r>
                      </m:e>
                      <m:sup>
                        <m:r>
                          <a:rPr lang="en-US" sz="2400" b="0" i="1" smtClean="0">
                            <a:latin typeface="Cambria Math" panose="02040503050406030204" pitchFamily="18" charset="0"/>
                            <a:ea typeface="Cambria Math" panose="02040503050406030204" pitchFamily="18" charset="0"/>
                          </a:rPr>
                          <m:t>𝑗</m:t>
                        </m:r>
                        <m:r>
                          <a:rPr lang="en-US" sz="2400" b="0" i="1" smtClean="0">
                            <a:latin typeface="Cambria Math" panose="02040503050406030204" pitchFamily="18" charset="0"/>
                            <a:ea typeface="Cambria Math" panose="02040503050406030204" pitchFamily="18" charset="0"/>
                          </a:rPr>
                          <m:t>𝜔</m:t>
                        </m:r>
                      </m:sup>
                    </m:sSup>
                    <m:r>
                      <a:rPr lang="en-US" sz="2400" b="0" i="1" smtClean="0">
                        <a:latin typeface="Cambria Math" panose="02040503050406030204" pitchFamily="18" charset="0"/>
                        <a:ea typeface="Cambria Math" panose="02040503050406030204" pitchFamily="18" charset="0"/>
                      </a:rPr>
                      <m:t>)=</m:t>
                    </m:r>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𝑐𝑜𝑠</m:t>
                        </m:r>
                      </m:e>
                      <m:sup>
                        <m:r>
                          <a:rPr lang="en-US" sz="2400" b="0" i="1" smtClean="0">
                            <a:latin typeface="Cambria Math" panose="02040503050406030204" pitchFamily="18" charset="0"/>
                            <a:ea typeface="Cambria Math" panose="02040503050406030204" pitchFamily="18" charset="0"/>
                          </a:rPr>
                          <m:t>2</m:t>
                        </m:r>
                      </m:sup>
                    </m:sSup>
                    <m:r>
                      <a:rPr lang="en-US" sz="2400" b="0" i="1" smtClean="0">
                        <a:latin typeface="Cambria Math" panose="02040503050406030204" pitchFamily="18" charset="0"/>
                        <a:ea typeface="Cambria Math" panose="02040503050406030204" pitchFamily="18" charset="0"/>
                      </a:rPr>
                      <m:t>𝜔</m:t>
                    </m:r>
                  </m:oMath>
                </a14:m>
                <a:endParaRPr lang="en-PH" sz="2400" dirty="0">
                  <a:latin typeface="Cambria Math" panose="02040503050406030204" pitchFamily="18" charset="0"/>
                  <a:ea typeface="Cambria Math" panose="02040503050406030204" pitchFamily="18" charset="0"/>
                </a:endParaRPr>
              </a:p>
              <a:p>
                <a:pPr marL="0" indent="0">
                  <a:buNone/>
                </a:pPr>
                <a:endParaRPr lang="en-PH" sz="2400" dirty="0">
                  <a:latin typeface="Cambria Math" panose="02040503050406030204" pitchFamily="18" charset="0"/>
                  <a:ea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EF0A8DE9-207F-386D-2385-C66792F84257}"/>
                  </a:ext>
                </a:extLst>
              </p:cNvPr>
              <p:cNvSpPr>
                <a:spLocks noGrp="1" noRot="1" noChangeAspect="1" noMove="1" noResize="1" noEditPoints="1" noAdjustHandles="1" noChangeArrowheads="1" noChangeShapeType="1" noTextEdit="1"/>
              </p:cNvSpPr>
              <p:nvPr>
                <p:ph idx="1"/>
              </p:nvPr>
            </p:nvSpPr>
            <p:spPr>
              <a:xfrm>
                <a:off x="866441" y="2489200"/>
                <a:ext cx="7744159" cy="3530600"/>
              </a:xfrm>
              <a:blipFill>
                <a:blip r:embed="rId2"/>
                <a:stretch>
                  <a:fillRect l="-708"/>
                </a:stretch>
              </a:blipFill>
            </p:spPr>
            <p:txBody>
              <a:bodyPr/>
              <a:lstStyle/>
              <a:p>
                <a:r>
                  <a:rPr lang="en-PH">
                    <a:noFill/>
                  </a:rPr>
                  <a:t> </a:t>
                </a:r>
              </a:p>
            </p:txBody>
          </p:sp>
        </mc:Fallback>
      </mc:AlternateContent>
    </p:spTree>
    <p:extLst>
      <p:ext uri="{BB962C8B-B14F-4D97-AF65-F5344CB8AC3E}">
        <p14:creationId xmlns:p14="http://schemas.microsoft.com/office/powerpoint/2010/main" val="35120563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65410-1EF9-190A-547D-C184A0F0015C}"/>
              </a:ext>
            </a:extLst>
          </p:cNvPr>
          <p:cNvSpPr>
            <a:spLocks noGrp="1"/>
          </p:cNvSpPr>
          <p:nvPr>
            <p:ph type="title"/>
          </p:nvPr>
        </p:nvSpPr>
        <p:spPr/>
        <p:txBody>
          <a:bodyPr/>
          <a:lstStyle/>
          <a:p>
            <a:r>
              <a:rPr lang="en-US" dirty="0"/>
              <a:t>CONVOLUTION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68A635B-2B5A-7346-BED6-5818DC4F1DA1}"/>
                  </a:ext>
                </a:extLst>
              </p:cNvPr>
              <p:cNvSpPr>
                <a:spLocks noGrp="1"/>
              </p:cNvSpPr>
              <p:nvPr>
                <p:ph idx="1"/>
              </p:nvPr>
            </p:nvSpPr>
            <p:spPr/>
            <p:txBody>
              <a:bodyPr/>
              <a:lstStyle/>
              <a:p>
                <a:pPr marL="0" indent="0">
                  <a:buNone/>
                </a:pPr>
                <a:r>
                  <a:rPr lang="en-US" dirty="0"/>
                  <a:t>Perform the following on the sequence</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1, 2, 3, 1</m:t>
                          </m:r>
                        </m:e>
                      </m:d>
                    </m:oMath>
                  </m:oMathPara>
                </a14:m>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h</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1, 1, 1</m:t>
                          </m:r>
                        </m:e>
                      </m:d>
                    </m:oMath>
                  </m:oMathPara>
                </a14:m>
                <a:endParaRPr lang="en-US" b="0" dirty="0"/>
              </a:p>
              <a:p>
                <a:pPr>
                  <a:buAutoNum type="alphaLcPeriod"/>
                </a:pPr>
                <a:r>
                  <a:rPr lang="en-US" dirty="0"/>
                  <a:t>Linear Convolution</a:t>
                </a:r>
              </a:p>
              <a:p>
                <a:pPr>
                  <a:buAutoNum type="alphaLcPeriod"/>
                </a:pPr>
                <a:r>
                  <a:rPr lang="en-US" dirty="0"/>
                  <a:t>Circular Convolution</a:t>
                </a:r>
              </a:p>
              <a:p>
                <a:pPr>
                  <a:buAutoNum type="alphaLcPeriod"/>
                </a:pPr>
                <a:r>
                  <a:rPr lang="en-US" dirty="0"/>
                  <a:t>Linear Convolution using Circular Convolution</a:t>
                </a:r>
              </a:p>
            </p:txBody>
          </p:sp>
        </mc:Choice>
        <mc:Fallback xmlns="">
          <p:sp>
            <p:nvSpPr>
              <p:cNvPr id="3" name="Content Placeholder 2">
                <a:extLst>
                  <a:ext uri="{FF2B5EF4-FFF2-40B4-BE49-F238E27FC236}">
                    <a16:creationId xmlns:a16="http://schemas.microsoft.com/office/drawing/2014/main" id="{068A635B-2B5A-7346-BED6-5818DC4F1DA1}"/>
                  </a:ext>
                </a:extLst>
              </p:cNvPr>
              <p:cNvSpPr>
                <a:spLocks noGrp="1" noRot="1" noChangeAspect="1" noMove="1" noResize="1" noEditPoints="1" noAdjustHandles="1" noChangeArrowheads="1" noChangeShapeType="1" noTextEdit="1"/>
              </p:cNvSpPr>
              <p:nvPr>
                <p:ph idx="1"/>
              </p:nvPr>
            </p:nvSpPr>
            <p:spPr>
              <a:blipFill>
                <a:blip r:embed="rId3"/>
                <a:stretch>
                  <a:fillRect l="-768" t="-862"/>
                </a:stretch>
              </a:blipFill>
            </p:spPr>
            <p:txBody>
              <a:bodyPr/>
              <a:lstStyle/>
              <a:p>
                <a:r>
                  <a:rPr lang="en-US">
                    <a:noFill/>
                  </a:rPr>
                  <a:t> </a:t>
                </a:r>
              </a:p>
            </p:txBody>
          </p:sp>
        </mc:Fallback>
      </mc:AlternateContent>
    </p:spTree>
    <p:extLst>
      <p:ext uri="{BB962C8B-B14F-4D97-AF65-F5344CB8AC3E}">
        <p14:creationId xmlns:p14="http://schemas.microsoft.com/office/powerpoint/2010/main" val="6430906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65410-1EF9-190A-547D-C184A0F0015C}"/>
              </a:ext>
            </a:extLst>
          </p:cNvPr>
          <p:cNvSpPr>
            <a:spLocks noGrp="1"/>
          </p:cNvSpPr>
          <p:nvPr>
            <p:ph type="title"/>
          </p:nvPr>
        </p:nvSpPr>
        <p:spPr/>
        <p:txBody>
          <a:bodyPr/>
          <a:lstStyle/>
          <a:p>
            <a:r>
              <a:rPr lang="en-US" dirty="0"/>
              <a:t>CONVOLUTION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68A635B-2B5A-7346-BED6-5818DC4F1DA1}"/>
                  </a:ext>
                </a:extLst>
              </p:cNvPr>
              <p:cNvSpPr>
                <a:spLocks noGrp="1"/>
              </p:cNvSpPr>
              <p:nvPr>
                <p:ph idx="1"/>
              </p:nvPr>
            </p:nvSpPr>
            <p:spPr>
              <a:xfrm>
                <a:off x="866441" y="2489200"/>
                <a:ext cx="7210759" cy="3530600"/>
              </a:xfrm>
            </p:spPr>
            <p:txBody>
              <a:bodyPr/>
              <a:lstStyle/>
              <a:p>
                <a:pPr marL="0" indent="0">
                  <a:buNone/>
                </a:pPr>
                <a:r>
                  <a:rPr lang="en-US" dirty="0"/>
                  <a:t>Determine the linear convolution of the following system signals</a:t>
                </a:r>
              </a:p>
              <a:p>
                <a:pPr marL="0" indent="0" algn="ctr">
                  <a:buNone/>
                </a:pPr>
                <a:endParaRPr lang="en-US" b="0" i="1" dirty="0">
                  <a:latin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i="1" smtClean="0">
                          <a:latin typeface="Cambria Math" panose="02040503050406030204" pitchFamily="18" charset="0"/>
                        </a:rPr>
                        <m:t>=</m:t>
                      </m:r>
                      <m:r>
                        <a:rPr lang="en-US" i="1" smtClean="0">
                          <a:latin typeface="Cambria Math" panose="02040503050406030204" pitchFamily="18" charset="0"/>
                          <a:ea typeface="Cambria Math" panose="02040503050406030204" pitchFamily="18" charset="0"/>
                        </a:rPr>
                        <m:t>𝛿</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𝑛</m:t>
                          </m:r>
                        </m:e>
                      </m:d>
                      <m:r>
                        <a:rPr lang="en-US" b="0" i="1" smtClean="0">
                          <a:latin typeface="Cambria Math" panose="02040503050406030204" pitchFamily="18" charset="0"/>
                          <a:ea typeface="Cambria Math" panose="02040503050406030204" pitchFamily="18" charset="0"/>
                        </a:rPr>
                        <m:t>+3</m:t>
                      </m:r>
                      <m:r>
                        <a:rPr lang="en-US" i="1">
                          <a:latin typeface="Cambria Math" panose="02040503050406030204" pitchFamily="18" charset="0"/>
                          <a:ea typeface="Cambria Math" panose="02040503050406030204" pitchFamily="18" charset="0"/>
                        </a:rPr>
                        <m:t>𝛿</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−1</m:t>
                          </m:r>
                        </m:e>
                      </m:d>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2</m:t>
                      </m:r>
                      <m:r>
                        <a:rPr lang="en-US" i="1">
                          <a:latin typeface="Cambria Math" panose="02040503050406030204" pitchFamily="18" charset="0"/>
                          <a:ea typeface="Cambria Math" panose="02040503050406030204" pitchFamily="18" charset="0"/>
                        </a:rPr>
                        <m:t>𝛿</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−1</m:t>
                          </m:r>
                        </m:e>
                      </m:d>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𝛿</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−3</m:t>
                          </m:r>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𝛿</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−4</m:t>
                          </m:r>
                        </m:e>
                      </m:d>
                    </m:oMath>
                  </m:oMathPara>
                </a14:m>
                <a:endParaRPr lang="en-US" dirty="0">
                  <a:ea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h</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i="1" smtClean="0">
                          <a:latin typeface="Cambria Math" panose="02040503050406030204" pitchFamily="18" charset="0"/>
                        </a:rPr>
                        <m:t>=</m:t>
                      </m:r>
                      <m:r>
                        <a:rPr lang="en-US" b="0" i="1" smtClean="0">
                          <a:latin typeface="Cambria Math" panose="02040503050406030204" pitchFamily="18" charset="0"/>
                        </a:rPr>
                        <m:t>2</m:t>
                      </m:r>
                      <m:r>
                        <a:rPr lang="en-US" i="1" smtClean="0">
                          <a:latin typeface="Cambria Math" panose="02040503050406030204" pitchFamily="18" charset="0"/>
                          <a:ea typeface="Cambria Math" panose="02040503050406030204" pitchFamily="18" charset="0"/>
                        </a:rPr>
                        <m:t>𝛿</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𝑛</m:t>
                          </m:r>
                        </m:e>
                      </m:d>
                      <m:r>
                        <a:rPr lang="en-US" b="0" i="1" smtClean="0">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𝛿</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−1</m:t>
                          </m:r>
                        </m:e>
                      </m:d>
                    </m:oMath>
                  </m:oMathPara>
                </a14:m>
                <a:endParaRPr lang="en-US" dirty="0">
                  <a:ea typeface="Cambria Math" panose="02040503050406030204" pitchFamily="18" charset="0"/>
                </a:endParaRPr>
              </a:p>
              <a:p>
                <a:pPr marL="0" indent="0">
                  <a:buNone/>
                </a:pPr>
                <a:endParaRPr lang="en-US" dirty="0"/>
              </a:p>
            </p:txBody>
          </p:sp>
        </mc:Choice>
        <mc:Fallback xmlns="">
          <p:sp>
            <p:nvSpPr>
              <p:cNvPr id="3" name="Content Placeholder 2">
                <a:extLst>
                  <a:ext uri="{FF2B5EF4-FFF2-40B4-BE49-F238E27FC236}">
                    <a16:creationId xmlns:a16="http://schemas.microsoft.com/office/drawing/2014/main" id="{068A635B-2B5A-7346-BED6-5818DC4F1DA1}"/>
                  </a:ext>
                </a:extLst>
              </p:cNvPr>
              <p:cNvSpPr>
                <a:spLocks noGrp="1" noRot="1" noChangeAspect="1" noMove="1" noResize="1" noEditPoints="1" noAdjustHandles="1" noChangeArrowheads="1" noChangeShapeType="1" noTextEdit="1"/>
              </p:cNvSpPr>
              <p:nvPr>
                <p:ph idx="1"/>
              </p:nvPr>
            </p:nvSpPr>
            <p:spPr>
              <a:xfrm>
                <a:off x="866441" y="2489200"/>
                <a:ext cx="7210759" cy="3530600"/>
              </a:xfrm>
              <a:blipFill>
                <a:blip r:embed="rId2"/>
                <a:stretch>
                  <a:fillRect l="-676" t="-862" r="-507"/>
                </a:stretch>
              </a:blipFill>
            </p:spPr>
            <p:txBody>
              <a:bodyPr/>
              <a:lstStyle/>
              <a:p>
                <a:r>
                  <a:rPr lang="en-US">
                    <a:noFill/>
                  </a:rPr>
                  <a:t> </a:t>
                </a:r>
              </a:p>
            </p:txBody>
          </p:sp>
        </mc:Fallback>
      </mc:AlternateContent>
    </p:spTree>
    <p:extLst>
      <p:ext uri="{BB962C8B-B14F-4D97-AF65-F5344CB8AC3E}">
        <p14:creationId xmlns:p14="http://schemas.microsoft.com/office/powerpoint/2010/main" val="163677993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tint val="100000"/>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A3AB87EF-B655-4FFF-8D05-F333AD7F278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4447dd6a-a4a1-440b-a6a3-9124ef1ee017}" enabled="1" method="Privileged" siteId="{7a18110d-ef9b-4274-acef-e62ab0fe28ed}" contentBits="0" removed="0"/>
</clbl:labelList>
</file>

<file path=docProps/app.xml><?xml version="1.0" encoding="utf-8"?>
<Properties xmlns="http://schemas.openxmlformats.org/officeDocument/2006/extended-properties" xmlns:vt="http://schemas.openxmlformats.org/officeDocument/2006/docPropsVTypes">
  <Template/>
  <TotalTime>8002</TotalTime>
  <Words>1536</Words>
  <Application>Microsoft Office PowerPoint</Application>
  <PresentationFormat>On-screen Show (4:3)</PresentationFormat>
  <Paragraphs>256</Paragraphs>
  <Slides>34</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Cabria Math</vt:lpstr>
      <vt:lpstr>Calibri</vt:lpstr>
      <vt:lpstr>Cambria Math</vt:lpstr>
      <vt:lpstr>Century Gothic</vt:lpstr>
      <vt:lpstr>Wingdings 3</vt:lpstr>
      <vt:lpstr>Ion Boardroom</vt:lpstr>
      <vt:lpstr>Classification of Discrete-Time Systems</vt:lpstr>
      <vt:lpstr>Classification of Discrete-Time Systems</vt:lpstr>
      <vt:lpstr>Classification of Discrete-Time Systems</vt:lpstr>
      <vt:lpstr>Classification of Discrete-Time Systems</vt:lpstr>
      <vt:lpstr>Classification of Discrete-Time Systems</vt:lpstr>
      <vt:lpstr>Classification of Discrete-Time Systems</vt:lpstr>
      <vt:lpstr>Classification of Discrete-Time Systems</vt:lpstr>
      <vt:lpstr>Classification of Discrete-Time Systems</vt:lpstr>
      <vt:lpstr>Classification of Discrete-Time Systems</vt:lpstr>
      <vt:lpstr>Classification of Discrete-Time Systems</vt:lpstr>
      <vt:lpstr>Classification of Discrete-Time Systems</vt:lpstr>
      <vt:lpstr>Classification of Discrete-Time Systems</vt:lpstr>
      <vt:lpstr>Discrete Fourier Transform </vt:lpstr>
      <vt:lpstr>Discrete Fourier Transform </vt:lpstr>
      <vt:lpstr>Example</vt:lpstr>
      <vt:lpstr>Discrete Fourier transform </vt:lpstr>
      <vt:lpstr>MATRIX MANIPULATION</vt:lpstr>
      <vt:lpstr>Discrete Fourier transform </vt:lpstr>
      <vt:lpstr>Inverse Discrete Fourier Transform</vt:lpstr>
      <vt:lpstr>FOURIER SERIES</vt:lpstr>
      <vt:lpstr>FOURIER SERIES</vt:lpstr>
      <vt:lpstr>Fourier series with period 2π</vt:lpstr>
      <vt:lpstr>Fourier Series</vt:lpstr>
      <vt:lpstr>Fourier Series</vt:lpstr>
      <vt:lpstr>EXAMPLE NO. 1</vt:lpstr>
      <vt:lpstr>EXAMPLE NO. 2</vt:lpstr>
      <vt:lpstr>Trigonometric Identity</vt:lpstr>
      <vt:lpstr>PRODUCT OF SINES AND COSINES </vt:lpstr>
      <vt:lpstr>Discrete Time Fourier Transform (DTFT)</vt:lpstr>
      <vt:lpstr>IDTFT Properties</vt:lpstr>
      <vt:lpstr>Examples - DTFT</vt:lpstr>
      <vt:lpstr>Examples - IDTFT</vt:lpstr>
      <vt:lpstr>CONVOLUTION </vt:lpstr>
      <vt:lpstr>CONVOLUTION </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ELECTromagnetics</dc:title>
  <dc:creator>USER</dc:creator>
  <cp:lastModifiedBy>Ralph Monsour Delima</cp:lastModifiedBy>
  <cp:revision>310</cp:revision>
  <dcterms:created xsi:type="dcterms:W3CDTF">2014-11-04T02:41:34Z</dcterms:created>
  <dcterms:modified xsi:type="dcterms:W3CDTF">2025-09-23T11:44:50Z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447dd6a-a4a1-440b-a6a3-9124ef1ee017_Enabled">
    <vt:lpwstr>true</vt:lpwstr>
  </property>
  <property fmtid="{D5CDD505-2E9C-101B-9397-08002B2CF9AE}" pid="3" name="MSIP_Label_4447dd6a-a4a1-440b-a6a3-9124ef1ee017_SetDate">
    <vt:lpwstr>2022-09-15T23:05:16Z</vt:lpwstr>
  </property>
  <property fmtid="{D5CDD505-2E9C-101B-9397-08002B2CF9AE}" pid="4" name="MSIP_Label_4447dd6a-a4a1-440b-a6a3-9124ef1ee017_Method">
    <vt:lpwstr>Privileged</vt:lpwstr>
  </property>
  <property fmtid="{D5CDD505-2E9C-101B-9397-08002B2CF9AE}" pid="5" name="MSIP_Label_4447dd6a-a4a1-440b-a6a3-9124ef1ee017_Name">
    <vt:lpwstr>NO TECH DATA</vt:lpwstr>
  </property>
  <property fmtid="{D5CDD505-2E9C-101B-9397-08002B2CF9AE}" pid="6" name="MSIP_Label_4447dd6a-a4a1-440b-a6a3-9124ef1ee017_SiteId">
    <vt:lpwstr>7a18110d-ef9b-4274-acef-e62ab0fe28ed</vt:lpwstr>
  </property>
  <property fmtid="{D5CDD505-2E9C-101B-9397-08002B2CF9AE}" pid="7" name="MSIP_Label_4447dd6a-a4a1-440b-a6a3-9124ef1ee017_ActionId">
    <vt:lpwstr>184af763-939f-48f9-bb55-ae5174af5e22</vt:lpwstr>
  </property>
  <property fmtid="{D5CDD505-2E9C-101B-9397-08002B2CF9AE}" pid="8" name="MSIP_Label_4447dd6a-a4a1-440b-a6a3-9124ef1ee017_ContentBits">
    <vt:lpwstr>0</vt:lpwstr>
  </property>
</Properties>
</file>