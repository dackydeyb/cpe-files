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8" r:id="rId1"/>
  </p:sldMasterIdLst>
  <p:notesMasterIdLst>
    <p:notesMasterId r:id="rId14"/>
  </p:notesMasterIdLst>
  <p:sldIdLst>
    <p:sldId id="345" r:id="rId2"/>
    <p:sldId id="346" r:id="rId3"/>
    <p:sldId id="347" r:id="rId4"/>
    <p:sldId id="348" r:id="rId5"/>
    <p:sldId id="353" r:id="rId6"/>
    <p:sldId id="350" r:id="rId7"/>
    <p:sldId id="349" r:id="rId8"/>
    <p:sldId id="360" r:id="rId9"/>
    <p:sldId id="361" r:id="rId10"/>
    <p:sldId id="362" r:id="rId11"/>
    <p:sldId id="363" r:id="rId12"/>
    <p:sldId id="364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68" autoAdjust="0"/>
    <p:restoredTop sz="91942" autoAdjust="0"/>
  </p:normalViewPr>
  <p:slideViewPr>
    <p:cSldViewPr>
      <p:cViewPr varScale="1">
        <p:scale>
          <a:sx n="76" d="100"/>
          <a:sy n="76" d="100"/>
        </p:scale>
        <p:origin x="1968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e Paduada" userId="b9fe3674efc3e3fd" providerId="LiveId" clId="{746CBAE2-8E78-4E9B-904E-3C9FE6A50151}"/>
    <pc:docChg chg="undo custSel addSld delSld">
      <pc:chgData name="Dave Paduada" userId="b9fe3674efc3e3fd" providerId="LiveId" clId="{746CBAE2-8E78-4E9B-904E-3C9FE6A50151}" dt="2025-12-06T14:40:13.869" v="5" actId="47"/>
      <pc:docMkLst>
        <pc:docMk/>
      </pc:docMkLst>
      <pc:sldChg chg="del">
        <pc:chgData name="Dave Paduada" userId="b9fe3674efc3e3fd" providerId="LiveId" clId="{746CBAE2-8E78-4E9B-904E-3C9FE6A50151}" dt="2025-12-06T14:40:13.869" v="5" actId="47"/>
        <pc:sldMkLst>
          <pc:docMk/>
          <pc:sldMk cId="2000784223" sldId="355"/>
        </pc:sldMkLst>
      </pc:sldChg>
      <pc:sldChg chg="add del">
        <pc:chgData name="Dave Paduada" userId="b9fe3674efc3e3fd" providerId="LiveId" clId="{746CBAE2-8E78-4E9B-904E-3C9FE6A50151}" dt="2025-12-06T14:31:02.511" v="2" actId="47"/>
        <pc:sldMkLst>
          <pc:docMk/>
          <pc:sldMk cId="3248939410" sldId="357"/>
        </pc:sldMkLst>
      </pc:sldChg>
      <pc:sldChg chg="del">
        <pc:chgData name="Dave Paduada" userId="b9fe3674efc3e3fd" providerId="LiveId" clId="{746CBAE2-8E78-4E9B-904E-3C9FE6A50151}" dt="2025-12-06T14:31:03.716" v="3" actId="47"/>
        <pc:sldMkLst>
          <pc:docMk/>
          <pc:sldMk cId="4268330853" sldId="358"/>
        </pc:sldMkLst>
      </pc:sldChg>
      <pc:sldChg chg="del">
        <pc:chgData name="Dave Paduada" userId="b9fe3674efc3e3fd" providerId="LiveId" clId="{746CBAE2-8E78-4E9B-904E-3C9FE6A50151}" dt="2025-12-06T14:31:05.070" v="4" actId="47"/>
        <pc:sldMkLst>
          <pc:docMk/>
          <pc:sldMk cId="565293293" sldId="35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50050-BE96-45EE-B3CA-AF8849F1C5D2}" type="datetimeFigureOut">
              <a:rPr lang="en-PH" smtClean="0"/>
              <a:t>12/6/2025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EF6BA3-DBF6-4A26-8DB5-A9523DAED63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64434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1" y="2222623"/>
            <a:ext cx="5917679" cy="2554983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866441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76937" y="1828799"/>
            <a:ext cx="990599" cy="228659"/>
          </a:xfrm>
        </p:spPr>
        <p:txBody>
          <a:bodyPr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A563E81C-52A1-4927-B0F6-AE8BF1C2109C}" type="datetimeFigureOut">
              <a:rPr lang="en-PH" smtClean="0"/>
              <a:t>12/6/2025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10" y="3264407"/>
            <a:ext cx="3859795" cy="228659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PH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052817A9-83F6-4B6B-A696-2DBA247D986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40281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E81C-52A1-4927-B0F6-AE8BF1C2109C}" type="datetimeFigureOut">
              <a:rPr lang="en-PH" smtClean="0"/>
              <a:t>12/6/2025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052817A9-83F6-4B6B-A696-2DBA247D986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68676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9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 bwMode="gray"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257588"/>
            <a:ext cx="3101765" cy="3020343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7"/>
            <a:ext cx="3054653" cy="302034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E81C-52A1-4927-B0F6-AE8BF1C2109C}" type="datetimeFigureOut">
              <a:rPr lang="en-PH" smtClean="0"/>
              <a:t>12/6/2025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15" name="Rectangle 14"/>
          <p:cNvSpPr/>
          <p:nvPr/>
        </p:nvSpPr>
        <p:spPr>
          <a:xfrm>
            <a:off x="7738039" y="7605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052817A9-83F6-4B6B-A696-2DBA247D986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803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199"/>
            <a:ext cx="3636980" cy="353060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489199"/>
            <a:ext cx="3636981" cy="35306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E81C-52A1-4927-B0F6-AE8BF1C2109C}" type="datetimeFigureOut">
              <a:rPr lang="en-PH" smtClean="0"/>
              <a:t>12/6/2025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052817A9-83F6-4B6B-A696-2DBA247D986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51296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94298"/>
            <a:ext cx="3636980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39" y="3253588"/>
            <a:ext cx="3636981" cy="276621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E81C-52A1-4927-B0F6-AE8BF1C2109C}" type="datetimeFigureOut">
              <a:rPr lang="en-PH" smtClean="0"/>
              <a:t>12/6/2025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052817A9-83F6-4B6B-A696-2DBA247D986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30643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E81C-52A1-4927-B0F6-AE8BF1C2109C}" type="datetimeFigureOut">
              <a:rPr lang="en-PH" smtClean="0"/>
              <a:t>12/6/2025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052817A9-83F6-4B6B-A696-2DBA247D986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24550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E81C-52A1-4927-B0F6-AE8BF1C2109C}" type="datetimeFigureOut">
              <a:rPr lang="en-PH" smtClean="0"/>
              <a:t>12/6/2025</a:t>
            </a:fld>
            <a:endParaRPr lang="en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Rectangle 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052817A9-83F6-4B6B-A696-2DBA247D986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28535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89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1182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3086845"/>
            <a:ext cx="2712589" cy="2938036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E81C-52A1-4927-B0F6-AE8BF1C2109C}" type="datetimeFigureOut">
              <a:rPr lang="en-PH" smtClean="0"/>
              <a:t>12/6/2025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052817A9-83F6-4B6B-A696-2DBA247D986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31430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1591" y="1340000"/>
            <a:ext cx="3001938" cy="161619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51591" y="3086100"/>
            <a:ext cx="3001938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E81C-52A1-4927-B0F6-AE8BF1C2109C}" type="datetimeFigureOut">
              <a:rPr lang="en-PH" smtClean="0"/>
              <a:t>12/6/2025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052817A9-83F6-4B6B-A696-2DBA247D986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80225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9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5" y="4961453"/>
            <a:ext cx="6422002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3" y="5528191"/>
            <a:ext cx="6422003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E81C-52A1-4927-B0F6-AE8BF1C2109C}" type="datetimeFigureOut">
              <a:rPr lang="en-PH" smtClean="0"/>
              <a:t>12/6/2025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052817A9-83F6-4B6B-A696-2DBA247D986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2469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1"/>
            <a:ext cx="6422004" cy="1692720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8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E81C-52A1-4927-B0F6-AE8BF1C2109C}" type="datetimeFigureOut">
              <a:rPr lang="en-PH" smtClean="0"/>
              <a:t>12/6/2025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12" name="Rectangle 1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052817A9-83F6-4B6B-A696-2DBA247D986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5403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12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3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12" name="TextBox 11"/>
          <p:cNvSpPr txBox="1"/>
          <p:nvPr/>
        </p:nvSpPr>
        <p:spPr bwMode="gray">
          <a:xfrm>
            <a:off x="7033422" y="2898648"/>
            <a:ext cx="6605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/>
              <a:t>”</a:t>
            </a:r>
          </a:p>
        </p:txBody>
      </p:sp>
      <p:sp>
        <p:nvSpPr>
          <p:cNvPr id="11" name="TextBox 10"/>
          <p:cNvSpPr txBox="1"/>
          <p:nvPr/>
        </p:nvSpPr>
        <p:spPr bwMode="gray">
          <a:xfrm>
            <a:off x="651683" y="589767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58" y="903421"/>
            <a:ext cx="6160385" cy="289565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9" y="3809278"/>
            <a:ext cx="5646142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5"/>
            <a:ext cx="6422005" cy="1024065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E81C-52A1-4927-B0F6-AE8BF1C2109C}" type="datetimeFigureOut">
              <a:rPr lang="en-PH" smtClean="0"/>
              <a:t>12/6/2025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22" name="Rectangle 2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052817A9-83F6-4B6B-A696-2DBA247D986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613047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057400"/>
            <a:ext cx="6422004" cy="2095500"/>
          </a:xfrm>
        </p:spPr>
        <p:txBody>
          <a:bodyPr anchor="b"/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E81C-52A1-4927-B0F6-AE8BF1C2109C}" type="datetimeFigureOut">
              <a:rPr lang="en-PH" smtClean="0"/>
              <a:t>12/6/2025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12" name="Rectangle 1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052817A9-83F6-4B6B-A696-2DBA247D986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331017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2305"/>
            <a:ext cx="6423592" cy="71466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2489200"/>
            <a:ext cx="2313433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5"/>
            <a:ext cx="2313432" cy="2877714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8472" y="2489200"/>
            <a:ext cx="232675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2" y="3147165"/>
            <a:ext cx="2326749" cy="2869878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0" y="2489201"/>
            <a:ext cx="231374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3821" y="3147164"/>
            <a:ext cx="2313740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E81C-52A1-4927-B0F6-AE8BF1C2109C}" type="datetimeFigureOut">
              <a:rPr lang="en-PH" smtClean="0"/>
              <a:t>12/6/2025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052817A9-83F6-4B6B-A696-2DBA247D986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293017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1"/>
            <a:ext cx="6423592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461" y="4180095"/>
            <a:ext cx="229904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2743" y="2486221"/>
            <a:ext cx="2021456" cy="145032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1"/>
          </p:nvPr>
        </p:nvSpPr>
        <p:spPr>
          <a:xfrm>
            <a:off x="881461" y="4837558"/>
            <a:ext cx="2298410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4318" y="4179596"/>
            <a:ext cx="231779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16"/>
          </p:nvPr>
        </p:nvSpPr>
        <p:spPr>
          <a:xfrm>
            <a:off x="3550622" y="2509453"/>
            <a:ext cx="2025182" cy="142708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04318" y="4837558"/>
            <a:ext cx="2330903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1" y="4179595"/>
            <a:ext cx="229949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17"/>
          </p:nvPr>
        </p:nvSpPr>
        <p:spPr>
          <a:xfrm>
            <a:off x="6104946" y="2509453"/>
            <a:ext cx="2018839" cy="142708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63821" y="4837558"/>
            <a:ext cx="229949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E81C-52A1-4927-B0F6-AE8BF1C2109C}" type="datetimeFigureOut">
              <a:rPr lang="en-PH" smtClean="0"/>
              <a:t>12/6/2025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052817A9-83F6-4B6B-A696-2DBA247D986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263189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E81C-52A1-4927-B0F6-AE8BF1C2109C}" type="datetimeFigureOut">
              <a:rPr lang="en-PH" smtClean="0"/>
              <a:t>12/6/2025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052817A9-83F6-4B6B-A696-2DBA247D986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301920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8"/>
            <p:cNvSpPr/>
            <p:nvPr/>
          </p:nvSpPr>
          <p:spPr bwMode="gray">
            <a:xfrm rot="5400000">
              <a:off x="1299309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414867" y="402165"/>
              <a:ext cx="46105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68970" y="1447799"/>
            <a:ext cx="1077347" cy="457199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440" y="1447799"/>
            <a:ext cx="4417234" cy="4572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E81C-52A1-4927-B0F6-AE8BF1C2109C}" type="datetimeFigureOut">
              <a:rPr lang="en-PH" smtClean="0"/>
              <a:t>12/6/2025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052817A9-83F6-4B6B-A696-2DBA247D986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71598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25" name="Rectangle 24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H"/>
            </a:p>
          </p:txBody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H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H"/>
            </a:p>
          </p:txBody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H"/>
            </a:p>
          </p:txBody>
        </p:sp>
        <p:sp>
          <p:nvSpPr>
            <p:cNvPr id="24" name="Oval 23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H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H"/>
            </a:p>
          </p:txBody>
        </p:sp>
        <p:sp>
          <p:nvSpPr>
            <p:cNvPr id="21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9" name="Freeform 18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3202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2489200"/>
            <a:ext cx="6343201" cy="353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39638" y="6365499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  <a:latin typeface="+mn-lt"/>
              </a:defRPr>
            </a:lvl1pPr>
          </a:lstStyle>
          <a:p>
            <a:fld id="{A563E81C-52A1-4927-B0F6-AE8BF1C2109C}" type="datetimeFigureOut">
              <a:rPr lang="en-PH" smtClean="0"/>
              <a:t>12/6/2025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8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PH"/>
          </a:p>
        </p:txBody>
      </p:sp>
      <p:sp>
        <p:nvSpPr>
          <p:cNvPr id="22" name="Rectangle 2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H"/>
          </a:p>
        </p:txBody>
      </p:sp>
      <p:sp>
        <p:nvSpPr>
          <p:cNvPr id="3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052817A9-83F6-4B6B-A696-2DBA247D986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38802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9" r:id="rId1"/>
    <p:sldLayoutId id="2147483900" r:id="rId2"/>
    <p:sldLayoutId id="2147483901" r:id="rId3"/>
    <p:sldLayoutId id="2147483902" r:id="rId4"/>
    <p:sldLayoutId id="2147483903" r:id="rId5"/>
    <p:sldLayoutId id="2147483904" r:id="rId6"/>
    <p:sldLayoutId id="2147483905" r:id="rId7"/>
    <p:sldLayoutId id="2147483906" r:id="rId8"/>
    <p:sldLayoutId id="2147483907" r:id="rId9"/>
    <p:sldLayoutId id="2147483908" r:id="rId10"/>
    <p:sldLayoutId id="2147483909" r:id="rId11"/>
    <p:sldLayoutId id="2147483910" r:id="rId12"/>
    <p:sldLayoutId id="2147483911" r:id="rId13"/>
    <p:sldLayoutId id="2147483912" r:id="rId14"/>
    <p:sldLayoutId id="2147483913" r:id="rId15"/>
    <p:sldLayoutId id="2147483914" r:id="rId16"/>
    <p:sldLayoutId id="214748391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7C403-6EDA-D682-7E2C-169CC9A63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Z-transform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C8A4E3-C18C-958B-95E2-40710C3F89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66441" y="2489200"/>
                <a:ext cx="7210759" cy="353060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The z-transform of a discrete time signal x(n) is defined as the power series </a:t>
                </a:r>
              </a:p>
              <a:p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40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pt-B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/>
              </a:p>
              <a:p>
                <a:r>
                  <a:rPr lang="en-US" dirty="0"/>
                  <a:t>Where z is a complex variable. It is sometimes called the direct z-transform because it transforms the time domain signal x(n) into its complex-plane representation X(z).</a:t>
                </a:r>
              </a:p>
              <a:p>
                <a:endParaRPr lang="en-US" dirty="0"/>
              </a:p>
              <a:p>
                <a:r>
                  <a:rPr lang="en-US" dirty="0"/>
                  <a:t>The ROC (region of convergence) of X(z) is the set of all values of z for which  X(z) attains a finite value.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C8A4E3-C18C-958B-95E2-40710C3F89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66441" y="2489200"/>
                <a:ext cx="7210759" cy="3530600"/>
              </a:xfrm>
              <a:blipFill>
                <a:blip r:embed="rId2"/>
                <a:stretch>
                  <a:fillRect l="-85" t="-1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0956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6212A-CBBF-DABA-0B7D-D009363FB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Z-transform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C1212E-7D94-8429-FD41-4986ECDCFE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pt-BR" sz="1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180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pt-B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z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p>
                    </m:sSup>
                  </m:oMath>
                </a14:m>
                <a:r>
                  <a:rPr lang="en-US" dirty="0"/>
                  <a:t>  - polar form of complex variable z</a:t>
                </a:r>
              </a:p>
              <a:p>
                <a:pPr marL="0" indent="0">
                  <a:buNone/>
                </a:pPr>
                <a:r>
                  <a:rPr lang="en-US" dirty="0"/>
                  <a:t>r – magnitude of the complex variable z</a:t>
                </a:r>
              </a:p>
              <a:p>
                <a:pPr marL="0" indent="0">
                  <a:buNone/>
                </a:pPr>
                <a:r>
                  <a:rPr lang="en-US" dirty="0"/>
                  <a:t>r =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dirty="0"/>
                  <a:t> = mod z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C1212E-7D94-8429-FD41-4986ECDCFE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F669DD1-B64E-BA43-07FA-0C19E2672833}"/>
                  </a:ext>
                </a:extLst>
              </p:cNvPr>
              <p:cNvSpPr txBox="1"/>
              <p:nvPr/>
            </p:nvSpPr>
            <p:spPr>
              <a:xfrm>
                <a:off x="914400" y="4953000"/>
                <a:ext cx="435491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𝑐𝑜𝑚𝑝𝑙𝑒𝑥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𝑎𝑟𝑔𝑢𝑚𝑒𝑛𝑡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𝑝h𝑎𝑠𝑒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𝑎𝑛𝑔𝑙𝑒</m:t>
                      </m:r>
                    </m:oMath>
                  </m:oMathPara>
                </a14:m>
                <a:endParaRPr lang="en-US" dirty="0">
                  <a:latin typeface="Century Gothic (Body)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F669DD1-B64E-BA43-07FA-0C19E26728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953000"/>
                <a:ext cx="4354910" cy="276999"/>
              </a:xfrm>
              <a:prstGeom prst="rect">
                <a:avLst/>
              </a:prstGeom>
              <a:blipFill>
                <a:blip r:embed="rId3"/>
                <a:stretch>
                  <a:fillRect l="-560" r="-1401" b="-3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2639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AB184-27B8-BD3F-39F6-47D3F3C6B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Z-transform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6EDBB5-AF1B-A7DB-C0EE-FB74F52806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91541" y="2590800"/>
                <a:ext cx="7515559" cy="4038600"/>
              </a:xfrm>
            </p:spPr>
            <p:txBody>
              <a:bodyPr>
                <a:normAutofit/>
              </a:bodyPr>
              <a:lstStyle/>
              <a:p>
                <a:pPr>
                  <a:buFont typeface="Wingdings 3" charset="2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>
                  <a:buFont typeface="Wingdings 3" charset="2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>
                  <a:buFont typeface="Wingdings 3" charset="2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endParaRPr lang="en-US" dirty="0"/>
              </a:p>
              <a:p>
                <a:pPr>
                  <a:buFont typeface="Wingdings 3" charset="2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>
                  <a:buFont typeface="Wingdings 3" charset="2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>
                  <a:buFont typeface="Wingdings 3" charset="2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>
                  <a:buFont typeface="Wingdings 3" charset="2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−1)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pPr>
                  <a:buFont typeface="Wingdings 3" charset="2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>
                  <a:buFont typeface="Wingdings 3" charset="2"/>
                  <a:buAutoNum type="arabicPeriod"/>
                </a:pPr>
                <a:endParaRPr lang="en-US" dirty="0"/>
              </a:p>
              <a:p>
                <a:pPr>
                  <a:buFont typeface="Wingdings 3" charset="2"/>
                  <a:buAutoNum type="arabicPeriod"/>
                </a:pPr>
                <a:endParaRPr lang="en-US" dirty="0"/>
              </a:p>
              <a:p>
                <a:pPr>
                  <a:buFont typeface="Wingdings 3" charset="2"/>
                  <a:buAutoNum type="arabicPeriod"/>
                </a:pPr>
                <a:endParaRPr lang="en-US" dirty="0"/>
              </a:p>
              <a:p>
                <a:pPr>
                  <a:buFont typeface="Wingdings 3" charset="2"/>
                  <a:buAutoNum type="arabicPeriod"/>
                </a:pPr>
                <a:endParaRPr lang="en-US" dirty="0"/>
              </a:p>
              <a:p>
                <a:pPr>
                  <a:buFont typeface="Wingdings 3" charset="2"/>
                  <a:buAutoNum type="arabicPeriod"/>
                </a:pPr>
                <a:endParaRPr lang="en-US" dirty="0"/>
              </a:p>
              <a:p>
                <a:pPr>
                  <a:buFont typeface="Wingdings 3" charset="2"/>
                  <a:buAutoNum type="arabicPeriod"/>
                </a:pPr>
                <a:endParaRPr lang="en-US" dirty="0"/>
              </a:p>
              <a:p>
                <a:pPr>
                  <a:buFont typeface="Wingdings 3" charset="2"/>
                  <a:buAutoNum type="arabicPeriod"/>
                </a:pPr>
                <a:endParaRPr lang="en-US" dirty="0"/>
              </a:p>
              <a:p>
                <a:pPr>
                  <a:buFont typeface="Wingdings 3" charset="2"/>
                  <a:buAutoNum type="arabicPeriod"/>
                </a:pPr>
                <a:endParaRPr lang="en-US" dirty="0"/>
              </a:p>
              <a:p>
                <a:pPr>
                  <a:buFont typeface="Wingdings 3" charset="2"/>
                  <a:buAutoNum type="arabicPeriod"/>
                </a:pPr>
                <a:endParaRPr lang="en-US" dirty="0"/>
              </a:p>
              <a:p>
                <a:pPr>
                  <a:buFont typeface="Wingdings 3" charset="2"/>
                  <a:buAutoNum type="arabicPeriod"/>
                </a:pPr>
                <a:endParaRPr lang="en-US" dirty="0"/>
              </a:p>
              <a:p>
                <a:pPr>
                  <a:buFont typeface="Wingdings 3" charset="2"/>
                  <a:buAutoNum type="arabicPeriod"/>
                </a:pPr>
                <a:endParaRPr lang="en-US" dirty="0"/>
              </a:p>
              <a:p>
                <a:pPr>
                  <a:buAutoNum type="arabicPeriod"/>
                </a:pPr>
                <a:endParaRPr lang="en-US" dirty="0"/>
              </a:p>
              <a:p>
                <a:pPr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6EDBB5-AF1B-A7DB-C0EE-FB74F52806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91541" y="2590800"/>
                <a:ext cx="7515559" cy="4038600"/>
              </a:xfrm>
              <a:blipFill>
                <a:blip r:embed="rId2"/>
                <a:stretch>
                  <a:fillRect l="-243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0A4D130-9540-BEC1-DE7B-8AEFE4B4F3A5}"/>
              </a:ext>
            </a:extLst>
          </p:cNvPr>
          <p:cNvSpPr txBox="1"/>
          <p:nvPr/>
        </p:nvSpPr>
        <p:spPr>
          <a:xfrm>
            <a:off x="762000" y="2201746"/>
            <a:ext cx="7947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Find the z-transform and ROC of the following functions. Plot its ROC</a:t>
            </a:r>
          </a:p>
        </p:txBody>
      </p:sp>
    </p:spTree>
    <p:extLst>
      <p:ext uri="{BB962C8B-B14F-4D97-AF65-F5344CB8AC3E}">
        <p14:creationId xmlns:p14="http://schemas.microsoft.com/office/powerpoint/2010/main" val="826042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34ED4-B818-EC68-9B2E-25E4542CA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Inverse Z-transform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014194C-6E2C-6811-13AC-70BCC61E3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71800"/>
            <a:ext cx="8229600" cy="3581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4CE98EB-113E-710E-B1ED-DC2F8269192D}"/>
              </a:ext>
            </a:extLst>
          </p:cNvPr>
          <p:cNvSpPr txBox="1"/>
          <p:nvPr/>
        </p:nvSpPr>
        <p:spPr>
          <a:xfrm>
            <a:off x="609600" y="2209800"/>
            <a:ext cx="822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inverse Z-transform is defined as the process of finding the time domain signal x(n) from its Z-transform X(z).</a:t>
            </a:r>
          </a:p>
        </p:txBody>
      </p:sp>
    </p:spTree>
    <p:extLst>
      <p:ext uri="{BB962C8B-B14F-4D97-AF65-F5344CB8AC3E}">
        <p14:creationId xmlns:p14="http://schemas.microsoft.com/office/powerpoint/2010/main" val="262930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239E1-B01B-70B3-46A9-F08544379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Inverse Z-transform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715228-EBEA-E861-60E8-0B4F54B21E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3401" y="2209800"/>
                <a:ext cx="8229600" cy="3962400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1.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l-GR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l-GR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sSup>
                          <m:sSupPr>
                            <m:ctrlPr>
                              <a:rPr lang="el-GR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(1−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(1−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000" dirty="0"/>
                  <a:t>ROC: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&gt;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&lt;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2.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l-GR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3+2</m:t>
                        </m:r>
                        <m:sSup>
                          <m:sSupPr>
                            <m:ctrlPr>
                              <a:rPr lang="el-GR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l-G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1−3</m:t>
                        </m:r>
                        <m:sSup>
                          <m:sSupPr>
                            <m:ctrlPr>
                              <a:rPr lang="el-G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l-G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p>
                        </m:sSup>
                      </m:den>
                    </m:f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715228-EBEA-E861-60E8-0B4F54B21E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3401" y="2209800"/>
                <a:ext cx="8229600" cy="3962400"/>
              </a:xfrm>
              <a:blipFill>
                <a:blip r:embed="rId2"/>
                <a:stretch>
                  <a:fillRect l="-8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1642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239E1-B01B-70B3-46A9-F08544379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Inverse Z-transform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715228-EBEA-E861-60E8-0B4F54B21E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3.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l-GR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1+3</m:t>
                        </m:r>
                        <m:sSup>
                          <m:sSupPr>
                            <m:ctrlPr>
                              <a:rPr lang="el-GR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1+3</m:t>
                        </m:r>
                        <m:sSup>
                          <m:sSupPr>
                            <m:ctrlPr>
                              <a:rPr lang="el-G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l-G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/>
                  <a:t> </a:t>
                </a:r>
              </a:p>
              <a:p>
                <a:pPr marL="0" indent="0">
                  <a:buNone/>
                </a:pPr>
                <a:r>
                  <a:rPr lang="en-US" sz="2400" dirty="0"/>
                  <a:t>4.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l-GR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−1+5</m:t>
                        </m:r>
                        <m:sSup>
                          <m:sSupPr>
                            <m:ctrlPr>
                              <a:rPr lang="el-GR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l-G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f>
                              <m:fPr>
                                <m:ctrlPr>
                                  <a:rPr lang="el-GR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l-G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f>
                              <m:fPr>
                                <m:ctrlPr>
                                  <a:rPr lang="el-GR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/>
                  <a:t> </a:t>
                </a:r>
              </a:p>
              <a:p>
                <a:pPr marL="0" indent="0">
                  <a:buNone/>
                </a:pPr>
                <a:r>
                  <a:rPr lang="en-US" sz="2400" dirty="0"/>
                  <a:t>5.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l-GR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1+2</m:t>
                        </m:r>
                        <m:sSup>
                          <m:sSupPr>
                            <m:ctrlPr>
                              <a:rPr lang="el-GR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l-G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l-G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f>
                              <m:fPr>
                                <m:ctrlPr>
                                  <a:rPr lang="el-GR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l-G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f>
                              <m:fPr>
                                <m:ctrlPr>
                                  <a:rPr lang="el-GR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/>
                  <a:t> </a:t>
                </a:r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715228-EBEA-E861-60E8-0B4F54B21E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0013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DC381-8821-39B0-E232-5D425F294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Inverse Z-Transform using Power Series Expansion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F6C54C-5839-3D1F-6AA7-614660A6C2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1</a:t>
                </a:r>
                <a:r>
                  <a:rPr lang="en-US" sz="1800" dirty="0"/>
                  <a:t>. Find the IZT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l-GR" sz="1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1−1.5</m:t>
                        </m:r>
                        <m:sSup>
                          <m:sSupPr>
                            <m:ctrlPr>
                              <a:rPr lang="el-GR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l-GR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0.5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1800" dirty="0"/>
                  <a:t>  ROC: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endParaRPr lang="en-US" sz="1800" dirty="0"/>
              </a:p>
              <a:p>
                <a:pPr marL="0" indent="0">
                  <a:buNone/>
                </a:pPr>
                <a:r>
                  <a:rPr lang="en-US" dirty="0"/>
                  <a:t>2</a:t>
                </a:r>
                <a:r>
                  <a:rPr lang="en-US" sz="1800" dirty="0"/>
                  <a:t>. Find the IZT of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1−1.5</m:t>
                        </m:r>
                        <m:sSup>
                          <m:sSupPr>
                            <m:ctrlPr>
                              <a:rPr lang="el-G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l-G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0.5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/>
                  <a:t>  ROC: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&lt;0.5</m:t>
                    </m:r>
                  </m:oMath>
                </a14:m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3. Find the IZT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l-GR" sz="1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sSup>
                          <m:sSupPr>
                            <m:ctrlPr>
                              <a:rPr lang="el-GR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sz="1800" dirty="0"/>
                  <a:t> </a:t>
                </a:r>
                <a:r>
                  <a:rPr lang="en-US" dirty="0"/>
                  <a:t>ROC: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4. Find the IZT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sSup>
                          <m:sSupPr>
                            <m:ctrlPr>
                              <a:rPr lang="el-G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−3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dirty="0"/>
                  <a:t> ROC: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F6C54C-5839-3D1F-6AA7-614660A6C2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0922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314C310-850D-4491-AA52-C75BEA68B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H"/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3C78A20-FBFD-4B43-B27D-923530E7A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185" y="1085549"/>
            <a:ext cx="2573210" cy="4686903"/>
          </a:xfrm>
        </p:spPr>
        <p:txBody>
          <a:bodyPr anchor="ctr">
            <a:normAutofit/>
          </a:bodyPr>
          <a:lstStyle/>
          <a:p>
            <a:pPr algn="r"/>
            <a:r>
              <a:rPr lang="en-US">
                <a:solidFill>
                  <a:schemeClr val="tx1"/>
                </a:solidFill>
              </a:rPr>
              <a:t>WHAT ARE FILTERS?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0F2E9-3F79-4752-9F05-D1480C44D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1049" y="1085549"/>
            <a:ext cx="4184780" cy="468690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-series of components designed to reduce the amplitude or attenuate of an unwanted frequency in respect to some cutoff frequency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0308D749-5984-4BB8-A788-A85D24304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420832" y="6391838"/>
            <a:ext cx="2894846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bg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rgbClr val="B31166"/>
              </a:solidFill>
            </a:endParaRPr>
          </a:p>
        </p:txBody>
      </p:sp>
      <p:sp>
        <p:nvSpPr>
          <p:cNvPr id="27" name="Date Placeholder 3">
            <a:extLst>
              <a:ext uri="{FF2B5EF4-FFF2-40B4-BE49-F238E27FC236}">
                <a16:creationId xmlns:a16="http://schemas.microsoft.com/office/drawing/2014/main" id="{95B8172D-A4C8-41B4-8991-78BBEC4039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5789140" y="6391839"/>
            <a:ext cx="2248228" cy="30479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bg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b="1" dirty="0">
              <a:solidFill>
                <a:srgbClr val="B311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7947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317C6-D92D-41D7-913A-03BAA6C9E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50" dirty="0"/>
              <a:t>TYPES OF FILTERS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0FACC-AADD-4484-B2DB-388F6E00F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1. Low pass filters - passes lower frequencies and stops high frequencies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C0393F-4ABB-ECA3-6388-B01EF2FE4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3454101"/>
            <a:ext cx="5306616" cy="3177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0907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BB0DF-9EA0-4DE6-A19F-D2D64B91E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50" dirty="0"/>
              <a:t>TYPES OF FILTERS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110AD-5C72-4FF2-84C5-24931FB170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2. High pass filter - pass high frequencies and rejects low frequencies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5D88A4-88A9-635D-4B12-9EB22C0FB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180" y="3581400"/>
            <a:ext cx="5130462" cy="3052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928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03C9B-C937-4095-890A-CAFAE6929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50" dirty="0"/>
              <a:t>TYPES OF FILTERS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9B7E3-FDDE-4F1F-AD76-3B6001F79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3. Bandpass filter - passes frequencies within a frequency band and blocks or attenuates frequencies outside the band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C2E7B42-650E-5A13-9411-BC8734101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574" y="3810000"/>
            <a:ext cx="5086852" cy="2891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5598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91FF9-46F5-4525-A086-5DB032501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50" dirty="0"/>
              <a:t>TYPES OF FILTERS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62331-4B55-4EE9-A545-FBA10BA59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4. </a:t>
            </a:r>
            <a:r>
              <a:rPr lang="en-US" sz="2400" dirty="0" err="1"/>
              <a:t>Bandstop</a:t>
            </a:r>
            <a:r>
              <a:rPr lang="en-US" sz="2400" dirty="0"/>
              <a:t> filter - passes frequencies outside a frequency band and blocks or attenuates frequencies within the band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85C304-B689-900A-7633-A69C50C5C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3810000"/>
            <a:ext cx="5194697" cy="2911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1271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tint val="100000"/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4447dd6a-a4a1-440b-a6a3-9124ef1ee017}" enabled="1" method="Privileged" siteId="{7a18110d-ef9b-4274-acef-e62ab0fe28e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8236</TotalTime>
  <Words>479</Words>
  <Application>Microsoft Office PowerPoint</Application>
  <PresentationFormat>On-screen Show (4:3)</PresentationFormat>
  <Paragraphs>63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Calibri</vt:lpstr>
      <vt:lpstr>Cambria Math</vt:lpstr>
      <vt:lpstr>Century Gothic</vt:lpstr>
      <vt:lpstr>Century Gothic (Body)</vt:lpstr>
      <vt:lpstr>Wingdings 3</vt:lpstr>
      <vt:lpstr>Ion Boardroom</vt:lpstr>
      <vt:lpstr>Z-transform</vt:lpstr>
      <vt:lpstr>Z-transform</vt:lpstr>
      <vt:lpstr>Examples of Z-transform</vt:lpstr>
      <vt:lpstr>Inverse Z-transform</vt:lpstr>
      <vt:lpstr>Examples of Inverse Z-transform</vt:lpstr>
      <vt:lpstr>Examples of Inverse Z-transform</vt:lpstr>
      <vt:lpstr>Inverse Z-Transform using Power Series Expansion</vt:lpstr>
      <vt:lpstr>WHAT ARE FILTERS?</vt:lpstr>
      <vt:lpstr>TYPES OF FILTERS</vt:lpstr>
      <vt:lpstr>TYPES OF FILTERS</vt:lpstr>
      <vt:lpstr>TYPES OF FILTERS</vt:lpstr>
      <vt:lpstr>TYPES OF FILTERS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ELECTromagnetics</dc:title>
  <dc:creator>USER</dc:creator>
  <cp:lastModifiedBy>Dave Paduada</cp:lastModifiedBy>
  <cp:revision>306</cp:revision>
  <dcterms:created xsi:type="dcterms:W3CDTF">2014-11-04T02:41:34Z</dcterms:created>
  <dcterms:modified xsi:type="dcterms:W3CDTF">2025-12-06T14:40:16Z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447dd6a-a4a1-440b-a6a3-9124ef1ee017_Enabled">
    <vt:lpwstr>true</vt:lpwstr>
  </property>
  <property fmtid="{D5CDD505-2E9C-101B-9397-08002B2CF9AE}" pid="3" name="MSIP_Label_4447dd6a-a4a1-440b-a6a3-9124ef1ee017_SetDate">
    <vt:lpwstr>2022-09-15T23:05:16Z</vt:lpwstr>
  </property>
  <property fmtid="{D5CDD505-2E9C-101B-9397-08002B2CF9AE}" pid="4" name="MSIP_Label_4447dd6a-a4a1-440b-a6a3-9124ef1ee017_Method">
    <vt:lpwstr>Privileged</vt:lpwstr>
  </property>
  <property fmtid="{D5CDD505-2E9C-101B-9397-08002B2CF9AE}" pid="5" name="MSIP_Label_4447dd6a-a4a1-440b-a6a3-9124ef1ee017_Name">
    <vt:lpwstr>NO TECH DATA</vt:lpwstr>
  </property>
  <property fmtid="{D5CDD505-2E9C-101B-9397-08002B2CF9AE}" pid="6" name="MSIP_Label_4447dd6a-a4a1-440b-a6a3-9124ef1ee017_SiteId">
    <vt:lpwstr>7a18110d-ef9b-4274-acef-e62ab0fe28ed</vt:lpwstr>
  </property>
  <property fmtid="{D5CDD505-2E9C-101B-9397-08002B2CF9AE}" pid="7" name="MSIP_Label_4447dd6a-a4a1-440b-a6a3-9124ef1ee017_ActionId">
    <vt:lpwstr>184af763-939f-48f9-bb55-ae5174af5e22</vt:lpwstr>
  </property>
  <property fmtid="{D5CDD505-2E9C-101B-9397-08002B2CF9AE}" pid="8" name="MSIP_Label_4447dd6a-a4a1-440b-a6a3-9124ef1ee017_ContentBits">
    <vt:lpwstr>0</vt:lpwstr>
  </property>
</Properties>
</file>