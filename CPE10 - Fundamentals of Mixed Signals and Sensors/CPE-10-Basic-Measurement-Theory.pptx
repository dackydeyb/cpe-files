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7" r:id="rId2"/>
    <p:sldId id="267" r:id="rId3"/>
    <p:sldId id="258" r:id="rId4"/>
    <p:sldId id="259" r:id="rId5"/>
    <p:sldId id="285" r:id="rId6"/>
    <p:sldId id="260" r:id="rId7"/>
    <p:sldId id="261" r:id="rId8"/>
    <p:sldId id="262" r:id="rId9"/>
    <p:sldId id="264" r:id="rId10"/>
    <p:sldId id="286" r:id="rId11"/>
    <p:sldId id="288" r:id="rId12"/>
    <p:sldId id="289" r:id="rId13"/>
    <p:sldId id="268" r:id="rId14"/>
    <p:sldId id="269" r:id="rId15"/>
    <p:sldId id="271" r:id="rId16"/>
    <p:sldId id="280" r:id="rId17"/>
    <p:sldId id="274" r:id="rId18"/>
    <p:sldId id="275" r:id="rId19"/>
    <p:sldId id="276" r:id="rId20"/>
    <p:sldId id="290" r:id="rId21"/>
    <p:sldId id="277" r:id="rId22"/>
    <p:sldId id="279" r:id="rId23"/>
    <p:sldId id="281" r:id="rId24"/>
    <p:sldId id="282" r:id="rId25"/>
    <p:sldId id="283" r:id="rId26"/>
    <p:sldId id="292" r:id="rId27"/>
    <p:sldId id="293" r:id="rId28"/>
    <p:sldId id="294" r:id="rId29"/>
    <p:sldId id="295" r:id="rId30"/>
    <p:sldId id="296" r:id="rId31"/>
    <p:sldId id="297" r:id="rId32"/>
    <p:sldId id="298" r:id="rId33"/>
    <p:sldId id="299" r:id="rId34"/>
    <p:sldId id="310" r:id="rId35"/>
    <p:sldId id="300" r:id="rId36"/>
    <p:sldId id="301" r:id="rId37"/>
    <p:sldId id="302" r:id="rId38"/>
    <p:sldId id="303" r:id="rId39"/>
    <p:sldId id="304" r:id="rId40"/>
    <p:sldId id="305" r:id="rId41"/>
    <p:sldId id="306" r:id="rId42"/>
    <p:sldId id="307" r:id="rId43"/>
    <p:sldId id="308" r:id="rId44"/>
    <p:sldId id="309"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31" autoAdjust="0"/>
    <p:restoredTop sz="94660"/>
  </p:normalViewPr>
  <p:slideViewPr>
    <p:cSldViewPr snapToGrid="0">
      <p:cViewPr varScale="1">
        <p:scale>
          <a:sx n="70" d="100"/>
          <a:sy n="70" d="100"/>
        </p:scale>
        <p:origin x="69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F80A8E-E46F-4F93-BAF3-63D3A892F26A}" type="datetimeFigureOut">
              <a:rPr lang="en-PH" smtClean="0"/>
              <a:t>05/11/2024</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D23F20-C23C-45FE-A846-BAC2DBBE29DD}" type="slidenum">
              <a:rPr lang="en-PH" smtClean="0"/>
              <a:t>‹#›</a:t>
            </a:fld>
            <a:endParaRPr lang="en-PH"/>
          </a:p>
        </p:txBody>
      </p:sp>
    </p:spTree>
    <p:extLst>
      <p:ext uri="{BB962C8B-B14F-4D97-AF65-F5344CB8AC3E}">
        <p14:creationId xmlns:p14="http://schemas.microsoft.com/office/powerpoint/2010/main" val="3647272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p:cNvSpPr>
            <a:spLocks noGrp="1"/>
          </p:cNvSpPr>
          <p:nvPr>
            <p:ph type="dt" sz="half" idx="10"/>
          </p:nvPr>
        </p:nvSpPr>
        <p:spPr/>
        <p:txBody>
          <a:bodyPr/>
          <a:lstStyle/>
          <a:p>
            <a:fld id="{167228A1-4E2F-40D4-A8CF-8591827E7608}" type="datetimeFigureOut">
              <a:rPr lang="en-PH" smtClean="0"/>
              <a:t>05/11/2024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C05A9898-B108-4CB5-A005-144A4175A2D1}" type="slidenum">
              <a:rPr lang="en-PH" smtClean="0"/>
              <a:t>‹#›</a:t>
            </a:fld>
            <a:endParaRPr lang="en-PH"/>
          </a:p>
        </p:txBody>
      </p:sp>
    </p:spTree>
    <p:extLst>
      <p:ext uri="{BB962C8B-B14F-4D97-AF65-F5344CB8AC3E}">
        <p14:creationId xmlns:p14="http://schemas.microsoft.com/office/powerpoint/2010/main" val="1685314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167228A1-4E2F-40D4-A8CF-8591827E7608}" type="datetimeFigureOut">
              <a:rPr lang="en-PH" smtClean="0"/>
              <a:t>05/11/2024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C05A9898-B108-4CB5-A005-144A4175A2D1}" type="slidenum">
              <a:rPr lang="en-PH" smtClean="0"/>
              <a:t>‹#›</a:t>
            </a:fld>
            <a:endParaRPr lang="en-PH"/>
          </a:p>
        </p:txBody>
      </p:sp>
    </p:spTree>
    <p:extLst>
      <p:ext uri="{BB962C8B-B14F-4D97-AF65-F5344CB8AC3E}">
        <p14:creationId xmlns:p14="http://schemas.microsoft.com/office/powerpoint/2010/main" val="2259753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7228A1-4E2F-40D4-A8CF-8591827E7608}" type="datetimeFigureOut">
              <a:rPr lang="en-PH" smtClean="0"/>
              <a:t>05/11/2024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C05A9898-B108-4CB5-A005-144A4175A2D1}" type="slidenum">
              <a:rPr lang="en-PH" smtClean="0"/>
              <a:t>‹#›</a:t>
            </a:fld>
            <a:endParaRPr lang="en-PH"/>
          </a:p>
        </p:txBody>
      </p:sp>
    </p:spTree>
    <p:extLst>
      <p:ext uri="{BB962C8B-B14F-4D97-AF65-F5344CB8AC3E}">
        <p14:creationId xmlns:p14="http://schemas.microsoft.com/office/powerpoint/2010/main" val="1842305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p:cNvSpPr>
            <a:spLocks noGrp="1"/>
          </p:cNvSpPr>
          <p:nvPr>
            <p:ph type="dt" sz="half" idx="10"/>
          </p:nvPr>
        </p:nvSpPr>
        <p:spPr/>
        <p:txBody>
          <a:bodyPr/>
          <a:lstStyle/>
          <a:p>
            <a:fld id="{167228A1-4E2F-40D4-A8CF-8591827E7608}" type="datetimeFigureOut">
              <a:rPr lang="en-PH" smtClean="0"/>
              <a:t>05/11/2024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C05A9898-B108-4CB5-A005-144A4175A2D1}" type="slidenum">
              <a:rPr lang="en-PH" smtClean="0"/>
              <a:t>‹#›</a:t>
            </a:fld>
            <a:endParaRPr lang="en-PH"/>
          </a:p>
        </p:txBody>
      </p:sp>
    </p:spTree>
    <p:extLst>
      <p:ext uri="{BB962C8B-B14F-4D97-AF65-F5344CB8AC3E}">
        <p14:creationId xmlns:p14="http://schemas.microsoft.com/office/powerpoint/2010/main" val="3681016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p:cNvSpPr>
            <a:spLocks noGrp="1"/>
          </p:cNvSpPr>
          <p:nvPr>
            <p:ph type="dt" sz="half" idx="10"/>
          </p:nvPr>
        </p:nvSpPr>
        <p:spPr/>
        <p:txBody>
          <a:bodyPr/>
          <a:lstStyle/>
          <a:p>
            <a:fld id="{167228A1-4E2F-40D4-A8CF-8591827E7608}" type="datetimeFigureOut">
              <a:rPr lang="en-PH" smtClean="0"/>
              <a:t>05/11/2024</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C05A9898-B108-4CB5-A005-144A4175A2D1}" type="slidenum">
              <a:rPr lang="en-PH" smtClean="0"/>
              <a:t>‹#›</a:t>
            </a:fld>
            <a:endParaRPr lang="en-PH"/>
          </a:p>
        </p:txBody>
      </p:sp>
    </p:spTree>
    <p:extLst>
      <p:ext uri="{BB962C8B-B14F-4D97-AF65-F5344CB8AC3E}">
        <p14:creationId xmlns:p14="http://schemas.microsoft.com/office/powerpoint/2010/main" val="773505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Date Placeholder 2"/>
          <p:cNvSpPr>
            <a:spLocks noGrp="1"/>
          </p:cNvSpPr>
          <p:nvPr>
            <p:ph type="dt" sz="half" idx="10"/>
          </p:nvPr>
        </p:nvSpPr>
        <p:spPr/>
        <p:txBody>
          <a:bodyPr/>
          <a:lstStyle/>
          <a:p>
            <a:fld id="{167228A1-4E2F-40D4-A8CF-8591827E7608}" type="datetimeFigureOut">
              <a:rPr lang="en-PH" smtClean="0"/>
              <a:t>05/11/2024</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C05A9898-B108-4CB5-A005-144A4175A2D1}" type="slidenum">
              <a:rPr lang="en-PH" smtClean="0"/>
              <a:t>‹#›</a:t>
            </a:fld>
            <a:endParaRPr lang="en-PH"/>
          </a:p>
        </p:txBody>
      </p:sp>
    </p:spTree>
    <p:extLst>
      <p:ext uri="{BB962C8B-B14F-4D97-AF65-F5344CB8AC3E}">
        <p14:creationId xmlns:p14="http://schemas.microsoft.com/office/powerpoint/2010/main" val="2720518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7228A1-4E2F-40D4-A8CF-8591827E7608}" type="datetimeFigureOut">
              <a:rPr lang="en-PH" smtClean="0"/>
              <a:t>05/11/2024</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C05A9898-B108-4CB5-A005-144A4175A2D1}" type="slidenum">
              <a:rPr lang="en-PH" smtClean="0"/>
              <a:t>‹#›</a:t>
            </a:fld>
            <a:endParaRPr lang="en-PH"/>
          </a:p>
        </p:txBody>
      </p:sp>
    </p:spTree>
    <p:extLst>
      <p:ext uri="{BB962C8B-B14F-4D97-AF65-F5344CB8AC3E}">
        <p14:creationId xmlns:p14="http://schemas.microsoft.com/office/powerpoint/2010/main" val="1696022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7228A1-4E2F-40D4-A8CF-8591827E7608}" type="datetimeFigureOut">
              <a:rPr lang="en-PH" smtClean="0"/>
              <a:t>05/11/2024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C05A9898-B108-4CB5-A005-144A4175A2D1}" type="slidenum">
              <a:rPr lang="en-PH" smtClean="0"/>
              <a:t>‹#›</a:t>
            </a:fld>
            <a:endParaRPr lang="en-PH"/>
          </a:p>
        </p:txBody>
      </p:sp>
    </p:spTree>
    <p:extLst>
      <p:ext uri="{BB962C8B-B14F-4D97-AF65-F5344CB8AC3E}">
        <p14:creationId xmlns:p14="http://schemas.microsoft.com/office/powerpoint/2010/main" val="1713222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67228A1-4E2F-40D4-A8CF-8591827E7608}" type="datetimeFigureOut">
              <a:rPr lang="en-PH" smtClean="0"/>
              <a:t>05/11/2024</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C05A9898-B108-4CB5-A005-144A4175A2D1}" type="slidenum">
              <a:rPr lang="en-PH" smtClean="0"/>
              <a:t>‹#›</a:t>
            </a:fld>
            <a:endParaRPr lang="en-PH"/>
          </a:p>
        </p:txBody>
      </p:sp>
    </p:spTree>
    <p:extLst>
      <p:ext uri="{BB962C8B-B14F-4D97-AF65-F5344CB8AC3E}">
        <p14:creationId xmlns:p14="http://schemas.microsoft.com/office/powerpoint/2010/main" val="3104691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167228A1-4E2F-40D4-A8CF-8591827E7608}" type="datetimeFigureOut">
              <a:rPr lang="en-PH" smtClean="0"/>
              <a:t>05/11/2024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C05A9898-B108-4CB5-A005-144A4175A2D1}" type="slidenum">
              <a:rPr lang="en-PH" smtClean="0"/>
              <a:t>‹#›</a:t>
            </a:fld>
            <a:endParaRPr lang="en-PH"/>
          </a:p>
        </p:txBody>
      </p:sp>
    </p:spTree>
    <p:extLst>
      <p:ext uri="{BB962C8B-B14F-4D97-AF65-F5344CB8AC3E}">
        <p14:creationId xmlns:p14="http://schemas.microsoft.com/office/powerpoint/2010/main" val="903600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167228A1-4E2F-40D4-A8CF-8591827E7608}" type="datetimeFigureOut">
              <a:rPr lang="en-PH" smtClean="0"/>
              <a:t>05/11/2024</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C05A9898-B108-4CB5-A005-144A4175A2D1}" type="slidenum">
              <a:rPr lang="en-PH" smtClean="0"/>
              <a:t>‹#›</a:t>
            </a:fld>
            <a:endParaRPr lang="en-PH"/>
          </a:p>
        </p:txBody>
      </p:sp>
    </p:spTree>
    <p:extLst>
      <p:ext uri="{BB962C8B-B14F-4D97-AF65-F5344CB8AC3E}">
        <p14:creationId xmlns:p14="http://schemas.microsoft.com/office/powerpoint/2010/main" val="3537761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7228A1-4E2F-40D4-A8CF-8591827E7608}" type="datetimeFigureOut">
              <a:rPr lang="en-PH" smtClean="0"/>
              <a:t>05/11/2024</a:t>
            </a:fld>
            <a:endParaRPr lang="en-P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5A9898-B108-4CB5-A005-144A4175A2D1}" type="slidenum">
              <a:rPr lang="en-PH" smtClean="0"/>
              <a:t>‹#›</a:t>
            </a:fld>
            <a:endParaRPr lang="en-PH"/>
          </a:p>
        </p:txBody>
      </p:sp>
    </p:spTree>
    <p:extLst>
      <p:ext uri="{BB962C8B-B14F-4D97-AF65-F5344CB8AC3E}">
        <p14:creationId xmlns:p14="http://schemas.microsoft.com/office/powerpoint/2010/main" val="1429515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4301"/>
            <a:ext cx="10515600" cy="1576388"/>
          </a:xfrm>
        </p:spPr>
        <p:txBody>
          <a:bodyPr>
            <a:normAutofit/>
          </a:bodyPr>
          <a:lstStyle/>
          <a:p>
            <a:pPr algn="ctr"/>
            <a:r>
              <a:rPr lang="en-US" sz="5400" b="1" dirty="0"/>
              <a:t>Basic Measurement Theory </a:t>
            </a:r>
            <a:endParaRPr lang="en-PH" sz="5400" b="1" dirty="0"/>
          </a:p>
        </p:txBody>
      </p:sp>
      <p:sp>
        <p:nvSpPr>
          <p:cNvPr id="3" name="Content Placeholder 2"/>
          <p:cNvSpPr>
            <a:spLocks noGrp="1"/>
          </p:cNvSpPr>
          <p:nvPr>
            <p:ph idx="1"/>
          </p:nvPr>
        </p:nvSpPr>
        <p:spPr>
          <a:xfrm>
            <a:off x="838200" y="1320800"/>
            <a:ext cx="10515600" cy="5283200"/>
          </a:xfrm>
        </p:spPr>
        <p:txBody>
          <a:bodyPr>
            <a:noAutofit/>
          </a:bodyPr>
          <a:lstStyle/>
          <a:p>
            <a:pPr marL="0" indent="0">
              <a:buNone/>
            </a:pPr>
            <a:r>
              <a:rPr lang="en-PH" sz="4000" b="1" dirty="0"/>
              <a:t>Measurement</a:t>
            </a:r>
          </a:p>
          <a:p>
            <a:pPr marL="0" indent="0">
              <a:buNone/>
            </a:pPr>
            <a:r>
              <a:rPr lang="en-PH" sz="4000" dirty="0"/>
              <a:t>	The art or process of determining the amount, quantity, degree, or capacity by comparison with accepted standards of the system of units employed.</a:t>
            </a:r>
          </a:p>
          <a:p>
            <a:pPr marL="0" indent="0">
              <a:buNone/>
            </a:pPr>
            <a:r>
              <a:rPr lang="en-PH" sz="4000" dirty="0"/>
              <a:t>	is defined as the process of comparison of an unknown quantity with a known or standard quantity.</a:t>
            </a:r>
          </a:p>
        </p:txBody>
      </p:sp>
    </p:spTree>
    <p:extLst>
      <p:ext uri="{BB962C8B-B14F-4D97-AF65-F5344CB8AC3E}">
        <p14:creationId xmlns:p14="http://schemas.microsoft.com/office/powerpoint/2010/main" val="3720202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2600"/>
            <a:ext cx="10515600" cy="6121400"/>
          </a:xfrm>
        </p:spPr>
        <p:txBody>
          <a:bodyPr>
            <a:noAutofit/>
          </a:bodyPr>
          <a:lstStyle/>
          <a:p>
            <a:pPr marL="0" indent="0">
              <a:buNone/>
            </a:pPr>
            <a:r>
              <a:rPr lang="en-PH" sz="4400" b="1" dirty="0"/>
              <a:t>NEED OF MEASUREMENT</a:t>
            </a:r>
          </a:p>
          <a:p>
            <a:pPr marL="0" indent="0">
              <a:buNone/>
            </a:pPr>
            <a:r>
              <a:rPr lang="en-PH" sz="4400" dirty="0"/>
              <a:t>Establish standard	</a:t>
            </a:r>
          </a:p>
          <a:p>
            <a:pPr marL="0" indent="0">
              <a:buNone/>
            </a:pPr>
            <a:r>
              <a:rPr lang="en-PH" sz="4400" dirty="0"/>
              <a:t>Interchangeability</a:t>
            </a:r>
          </a:p>
          <a:p>
            <a:pPr marL="0" indent="0">
              <a:buNone/>
            </a:pPr>
            <a:r>
              <a:rPr lang="en-PH" sz="4400" dirty="0"/>
              <a:t>Customer Satisfaction</a:t>
            </a:r>
          </a:p>
          <a:p>
            <a:pPr marL="0" indent="0">
              <a:buNone/>
            </a:pPr>
            <a:r>
              <a:rPr lang="en-PH" sz="4400" dirty="0"/>
              <a:t>Validate the design</a:t>
            </a:r>
          </a:p>
          <a:p>
            <a:pPr marL="0" indent="0">
              <a:buNone/>
            </a:pPr>
            <a:r>
              <a:rPr lang="en-PH" sz="4400" dirty="0"/>
              <a:t>Physical parameter into meaningful number</a:t>
            </a:r>
          </a:p>
          <a:p>
            <a:pPr marL="0" indent="0">
              <a:buNone/>
            </a:pPr>
            <a:r>
              <a:rPr lang="en-PH" sz="4400" dirty="0"/>
              <a:t>True dimension </a:t>
            </a:r>
          </a:p>
          <a:p>
            <a:pPr marL="0" indent="0">
              <a:buNone/>
            </a:pPr>
            <a:r>
              <a:rPr lang="en-PH" sz="4400" dirty="0"/>
              <a:t>Evaluate the Performance</a:t>
            </a:r>
            <a:br>
              <a:rPr lang="en-PH" sz="4000" dirty="0"/>
            </a:br>
            <a:endParaRPr lang="en-PH" sz="4000" dirty="0"/>
          </a:p>
        </p:txBody>
      </p:sp>
    </p:spTree>
    <p:extLst>
      <p:ext uri="{BB962C8B-B14F-4D97-AF65-F5344CB8AC3E}">
        <p14:creationId xmlns:p14="http://schemas.microsoft.com/office/powerpoint/2010/main" val="3429779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buNone/>
            </a:pPr>
            <a:r>
              <a:rPr lang="en-PH" sz="4400" b="1" dirty="0"/>
              <a:t>METHODS OF MEASUREMENT</a:t>
            </a:r>
          </a:p>
          <a:p>
            <a:pPr marL="0" indent="0">
              <a:buNone/>
            </a:pPr>
            <a:r>
              <a:rPr lang="en-PH" sz="4400" dirty="0"/>
              <a:t>Direct method</a:t>
            </a:r>
          </a:p>
          <a:p>
            <a:pPr marL="0" indent="0">
              <a:buNone/>
            </a:pPr>
            <a:r>
              <a:rPr lang="en-PH" sz="4400" dirty="0"/>
              <a:t>Indirect method</a:t>
            </a:r>
          </a:p>
          <a:p>
            <a:pPr marL="0" indent="0">
              <a:buNone/>
            </a:pPr>
            <a:r>
              <a:rPr lang="en-PH" sz="4400" dirty="0"/>
              <a:t>Comparative method</a:t>
            </a:r>
          </a:p>
          <a:p>
            <a:pPr marL="0" indent="0">
              <a:buNone/>
            </a:pPr>
            <a:r>
              <a:rPr lang="en-PH" sz="4400" dirty="0"/>
              <a:t>Coincidence method</a:t>
            </a:r>
          </a:p>
          <a:p>
            <a:pPr marL="0" indent="0">
              <a:buNone/>
            </a:pPr>
            <a:r>
              <a:rPr lang="en-PH" sz="4400" dirty="0"/>
              <a:t>Contact method</a:t>
            </a:r>
          </a:p>
          <a:p>
            <a:pPr marL="0" indent="0">
              <a:buNone/>
            </a:pPr>
            <a:r>
              <a:rPr lang="en-PH" sz="4400" dirty="0"/>
              <a:t>Deflection method</a:t>
            </a:r>
          </a:p>
          <a:p>
            <a:pPr marL="0" indent="0">
              <a:buNone/>
            </a:pPr>
            <a:r>
              <a:rPr lang="en-PH" sz="4400" dirty="0"/>
              <a:t>Complementary method</a:t>
            </a:r>
          </a:p>
        </p:txBody>
      </p:sp>
    </p:spTree>
    <p:extLst>
      <p:ext uri="{BB962C8B-B14F-4D97-AF65-F5344CB8AC3E}">
        <p14:creationId xmlns:p14="http://schemas.microsoft.com/office/powerpoint/2010/main" val="2125584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buNone/>
            </a:pPr>
            <a:r>
              <a:rPr lang="en-PH" sz="4400" b="1" dirty="0"/>
              <a:t>DIRECT METHOD</a:t>
            </a:r>
          </a:p>
          <a:p>
            <a:pPr marL="0" indent="0">
              <a:buNone/>
            </a:pPr>
            <a:r>
              <a:rPr lang="en-PH" sz="4400" dirty="0"/>
              <a:t>Measurements are directly obtained </a:t>
            </a:r>
          </a:p>
          <a:p>
            <a:pPr marL="0" indent="0">
              <a:buNone/>
            </a:pPr>
            <a:r>
              <a:rPr lang="en-PH" sz="4400" dirty="0"/>
              <a:t>Ex: Vernier Caliper, Scales</a:t>
            </a:r>
          </a:p>
          <a:p>
            <a:endParaRPr lang="en-PH" sz="4400" dirty="0"/>
          </a:p>
          <a:p>
            <a:pPr marL="0" indent="0">
              <a:buNone/>
            </a:pPr>
            <a:r>
              <a:rPr lang="en-PH" sz="4400" b="1" dirty="0"/>
              <a:t>INDIRECT METHOD</a:t>
            </a:r>
          </a:p>
          <a:p>
            <a:pPr marL="0" indent="0">
              <a:buNone/>
            </a:pPr>
            <a:r>
              <a:rPr lang="en-PH" sz="4400" dirty="0"/>
              <a:t>Obtained by measuring other quantities</a:t>
            </a:r>
          </a:p>
          <a:p>
            <a:pPr marL="0" indent="0">
              <a:buNone/>
            </a:pPr>
            <a:r>
              <a:rPr lang="en-PH" sz="4400" dirty="0"/>
              <a:t>Ex: Weight = Length x Breadth x Height x 					Density</a:t>
            </a:r>
          </a:p>
        </p:txBody>
      </p:sp>
    </p:spTree>
    <p:extLst>
      <p:ext uri="{BB962C8B-B14F-4D97-AF65-F5344CB8AC3E}">
        <p14:creationId xmlns:p14="http://schemas.microsoft.com/office/powerpoint/2010/main" val="3965320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p:cNvPicPr>
            <a:picLocks noGrp="1" noChangeAspect="1"/>
          </p:cNvPicPr>
          <p:nvPr>
            <p:ph idx="1"/>
          </p:nvPr>
        </p:nvPicPr>
        <p:blipFill>
          <a:blip r:embed="rId2"/>
          <a:stretch>
            <a:fillRect/>
          </a:stretch>
        </p:blipFill>
        <p:spPr>
          <a:xfrm>
            <a:off x="6643687" y="3467167"/>
            <a:ext cx="4281487" cy="2242684"/>
          </a:xfrm>
          <a:prstGeom prst="rect">
            <a:avLst/>
          </a:prstGeom>
        </p:spPr>
      </p:pic>
      <p:pic>
        <p:nvPicPr>
          <p:cNvPr id="4" name="Picture 3"/>
          <p:cNvPicPr>
            <a:picLocks noChangeAspect="1"/>
          </p:cNvPicPr>
          <p:nvPr/>
        </p:nvPicPr>
        <p:blipFill>
          <a:blip r:embed="rId3"/>
          <a:stretch>
            <a:fillRect/>
          </a:stretch>
        </p:blipFill>
        <p:spPr>
          <a:xfrm>
            <a:off x="447675" y="287337"/>
            <a:ext cx="5810250" cy="2419350"/>
          </a:xfrm>
          <a:prstGeom prst="rect">
            <a:avLst/>
          </a:prstGeom>
        </p:spPr>
      </p:pic>
      <p:pic>
        <p:nvPicPr>
          <p:cNvPr id="8" name="Picture 7"/>
          <p:cNvPicPr>
            <a:picLocks noChangeAspect="1"/>
          </p:cNvPicPr>
          <p:nvPr/>
        </p:nvPicPr>
        <p:blipFill>
          <a:blip r:embed="rId4"/>
          <a:stretch>
            <a:fillRect/>
          </a:stretch>
        </p:blipFill>
        <p:spPr>
          <a:xfrm>
            <a:off x="842962" y="2559049"/>
            <a:ext cx="3868145" cy="2847975"/>
          </a:xfrm>
          <a:prstGeom prst="rect">
            <a:avLst/>
          </a:prstGeom>
        </p:spPr>
      </p:pic>
      <p:pic>
        <p:nvPicPr>
          <p:cNvPr id="11" name="Picture 10"/>
          <p:cNvPicPr>
            <a:picLocks noChangeAspect="1"/>
          </p:cNvPicPr>
          <p:nvPr/>
        </p:nvPicPr>
        <p:blipFill>
          <a:blip r:embed="rId5"/>
          <a:stretch>
            <a:fillRect/>
          </a:stretch>
        </p:blipFill>
        <p:spPr>
          <a:xfrm>
            <a:off x="5572125" y="5273675"/>
            <a:ext cx="514350" cy="523875"/>
          </a:xfrm>
          <a:prstGeom prst="rect">
            <a:avLst/>
          </a:prstGeom>
        </p:spPr>
      </p:pic>
      <p:pic>
        <p:nvPicPr>
          <p:cNvPr id="12" name="Picture 11"/>
          <p:cNvPicPr>
            <a:picLocks noChangeAspect="1"/>
          </p:cNvPicPr>
          <p:nvPr/>
        </p:nvPicPr>
        <p:blipFill>
          <a:blip r:embed="rId6"/>
          <a:stretch>
            <a:fillRect/>
          </a:stretch>
        </p:blipFill>
        <p:spPr>
          <a:xfrm>
            <a:off x="6391273" y="479987"/>
            <a:ext cx="4533901" cy="2987180"/>
          </a:xfrm>
          <a:prstGeom prst="rect">
            <a:avLst/>
          </a:prstGeom>
        </p:spPr>
      </p:pic>
      <p:sp>
        <p:nvSpPr>
          <p:cNvPr id="15" name="TextBox 14"/>
          <p:cNvSpPr txBox="1"/>
          <p:nvPr/>
        </p:nvSpPr>
        <p:spPr>
          <a:xfrm>
            <a:off x="842962" y="5535612"/>
            <a:ext cx="4211638" cy="954107"/>
          </a:xfrm>
          <a:prstGeom prst="rect">
            <a:avLst/>
          </a:prstGeom>
          <a:noFill/>
        </p:spPr>
        <p:txBody>
          <a:bodyPr wrap="square" rtlCol="0">
            <a:spAutoFit/>
          </a:bodyPr>
          <a:lstStyle/>
          <a:p>
            <a:pPr algn="ctr"/>
            <a:r>
              <a:rPr lang="en-PH" sz="2800" dirty="0"/>
              <a:t>Analog and Digital </a:t>
            </a:r>
          </a:p>
          <a:p>
            <a:pPr algn="ctr"/>
            <a:r>
              <a:rPr lang="en-PH" sz="2800" dirty="0"/>
              <a:t>Vernier Caliper</a:t>
            </a:r>
          </a:p>
        </p:txBody>
      </p:sp>
      <p:sp>
        <p:nvSpPr>
          <p:cNvPr id="17" name="TextBox 16"/>
          <p:cNvSpPr txBox="1"/>
          <p:nvPr/>
        </p:nvSpPr>
        <p:spPr>
          <a:xfrm>
            <a:off x="6643687" y="5568563"/>
            <a:ext cx="4211638" cy="954107"/>
          </a:xfrm>
          <a:prstGeom prst="rect">
            <a:avLst/>
          </a:prstGeom>
          <a:noFill/>
        </p:spPr>
        <p:txBody>
          <a:bodyPr wrap="square" rtlCol="0">
            <a:spAutoFit/>
          </a:bodyPr>
          <a:lstStyle/>
          <a:p>
            <a:pPr algn="ctr"/>
            <a:r>
              <a:rPr lang="en-PH" sz="2800" dirty="0"/>
              <a:t>Analog and Digital Micrometer</a:t>
            </a:r>
          </a:p>
        </p:txBody>
      </p:sp>
    </p:spTree>
    <p:extLst>
      <p:ext uri="{BB962C8B-B14F-4D97-AF65-F5344CB8AC3E}">
        <p14:creationId xmlns:p14="http://schemas.microsoft.com/office/powerpoint/2010/main" val="2466484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buNone/>
            </a:pPr>
            <a:r>
              <a:rPr lang="en-PH" sz="4400" b="1" dirty="0"/>
              <a:t>COMPARATIVE METHOD</a:t>
            </a:r>
          </a:p>
          <a:p>
            <a:pPr marL="0" indent="0">
              <a:buNone/>
            </a:pPr>
            <a:r>
              <a:rPr lang="en-PH" sz="4400" dirty="0"/>
              <a:t>It’s compared with other known value</a:t>
            </a:r>
          </a:p>
          <a:p>
            <a:pPr marL="0" indent="0">
              <a:buNone/>
            </a:pPr>
            <a:r>
              <a:rPr lang="en-PH" sz="4400" dirty="0"/>
              <a:t>Ex: Comparators</a:t>
            </a:r>
          </a:p>
          <a:p>
            <a:pPr marL="0" indent="0">
              <a:buNone/>
            </a:pPr>
            <a:endParaRPr lang="en-PH" sz="4400" dirty="0"/>
          </a:p>
          <a:p>
            <a:pPr marL="0" indent="0">
              <a:buNone/>
            </a:pPr>
            <a:r>
              <a:rPr lang="en-PH" sz="4400" b="1" dirty="0"/>
              <a:t>COINCIDENCE METHOD</a:t>
            </a:r>
          </a:p>
          <a:p>
            <a:pPr marL="0" indent="0">
              <a:buNone/>
            </a:pPr>
            <a:r>
              <a:rPr lang="en-PH" sz="4400" dirty="0"/>
              <a:t>Measurements coincide with certain lines and signals</a:t>
            </a:r>
            <a:br>
              <a:rPr lang="en-PH" sz="4400" dirty="0"/>
            </a:br>
            <a:endParaRPr lang="en-PH" sz="4400" dirty="0"/>
          </a:p>
        </p:txBody>
      </p:sp>
    </p:spTree>
    <p:extLst>
      <p:ext uri="{BB962C8B-B14F-4D97-AF65-F5344CB8AC3E}">
        <p14:creationId xmlns:p14="http://schemas.microsoft.com/office/powerpoint/2010/main" val="3967888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buNone/>
            </a:pPr>
            <a:r>
              <a:rPr lang="en-PH" sz="4400" b="1" dirty="0"/>
              <a:t>FUNDAMENTAL METHOD</a:t>
            </a:r>
          </a:p>
          <a:p>
            <a:pPr marL="0" indent="0">
              <a:buNone/>
            </a:pPr>
            <a:r>
              <a:rPr lang="en-PH" sz="4400" dirty="0"/>
              <a:t>Measuring a quantity directly in related with the definition of that quantity</a:t>
            </a:r>
          </a:p>
          <a:p>
            <a:pPr marL="0" indent="0">
              <a:buNone/>
            </a:pPr>
            <a:endParaRPr lang="en-PH" sz="4400" dirty="0"/>
          </a:p>
          <a:p>
            <a:pPr marL="0" indent="0">
              <a:buNone/>
            </a:pPr>
            <a:r>
              <a:rPr lang="en-PH" sz="4400" b="1" dirty="0"/>
              <a:t>CONTACT METHOD</a:t>
            </a:r>
          </a:p>
          <a:p>
            <a:pPr marL="0" indent="0">
              <a:buNone/>
            </a:pPr>
            <a:r>
              <a:rPr lang="en-PH" sz="4400" dirty="0"/>
              <a:t>Measuring tip touch the surface area</a:t>
            </a:r>
          </a:p>
          <a:p>
            <a:pPr marL="0" indent="0">
              <a:buNone/>
            </a:pPr>
            <a:r>
              <a:rPr lang="en-PH" sz="4400" dirty="0"/>
              <a:t>Ex: Sensors</a:t>
            </a:r>
            <a:br>
              <a:rPr lang="en-PH" sz="4400" dirty="0"/>
            </a:br>
            <a:endParaRPr lang="en-PH" sz="4400" dirty="0"/>
          </a:p>
        </p:txBody>
      </p:sp>
    </p:spTree>
    <p:extLst>
      <p:ext uri="{BB962C8B-B14F-4D97-AF65-F5344CB8AC3E}">
        <p14:creationId xmlns:p14="http://schemas.microsoft.com/office/powerpoint/2010/main" val="2631163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buNone/>
            </a:pPr>
            <a:r>
              <a:rPr lang="en-PH" sz="4400" b="1" dirty="0"/>
              <a:t>COMPLEMENTARY METHOD</a:t>
            </a:r>
          </a:p>
          <a:p>
            <a:pPr marL="0" indent="0">
              <a:buNone/>
            </a:pPr>
            <a:r>
              <a:rPr lang="en-PH" sz="4400" dirty="0"/>
              <a:t>The value of quantity to be measured is combined with known value of the same quantity</a:t>
            </a:r>
          </a:p>
          <a:p>
            <a:pPr marL="0" indent="0">
              <a:buNone/>
            </a:pPr>
            <a:r>
              <a:rPr lang="en-PH" sz="4400" dirty="0"/>
              <a:t>Ex: Volume determination by liquid displacement</a:t>
            </a:r>
          </a:p>
          <a:p>
            <a:pPr marL="0" indent="0">
              <a:buNone/>
            </a:pPr>
            <a:br>
              <a:rPr lang="en-PH" sz="4400" dirty="0"/>
            </a:br>
            <a:br>
              <a:rPr lang="en-PH" sz="4400" dirty="0"/>
            </a:br>
            <a:endParaRPr lang="en-PH" sz="4400" dirty="0"/>
          </a:p>
        </p:txBody>
      </p:sp>
    </p:spTree>
    <p:extLst>
      <p:ext uri="{BB962C8B-B14F-4D97-AF65-F5344CB8AC3E}">
        <p14:creationId xmlns:p14="http://schemas.microsoft.com/office/powerpoint/2010/main" val="3482770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buNone/>
            </a:pPr>
            <a:r>
              <a:rPr lang="en-PH" sz="4400" b="1" dirty="0"/>
              <a:t>DEFLECTION METHOD</a:t>
            </a:r>
          </a:p>
          <a:p>
            <a:pPr marL="0" indent="0">
              <a:buNone/>
            </a:pPr>
            <a:r>
              <a:rPr lang="en-PH" sz="4400" dirty="0"/>
              <a:t>The value to be measured is directly indicated by a deflection of pointer </a:t>
            </a:r>
          </a:p>
          <a:p>
            <a:pPr marL="0" indent="0">
              <a:buNone/>
            </a:pPr>
            <a:r>
              <a:rPr lang="en-PH" sz="4400" dirty="0"/>
              <a:t>Ex: Pressure Measurement</a:t>
            </a:r>
          </a:p>
          <a:p>
            <a:pPr marL="0" indent="0">
              <a:buNone/>
            </a:pPr>
            <a:br>
              <a:rPr lang="en-PH" sz="4400" dirty="0"/>
            </a:br>
            <a:br>
              <a:rPr lang="en-PH" sz="4400" dirty="0"/>
            </a:br>
            <a:endParaRPr lang="en-PH" sz="4400" dirty="0"/>
          </a:p>
        </p:txBody>
      </p:sp>
      <p:sp>
        <p:nvSpPr>
          <p:cNvPr id="2" name="Rectangle 1"/>
          <p:cNvSpPr>
            <a:spLocks noChangeArrowheads="1"/>
          </p:cNvSpPr>
          <p:nvPr/>
        </p:nvSpPr>
        <p:spPr bwMode="auto">
          <a:xfrm>
            <a:off x="0" y="0"/>
            <a:ext cx="0" cy="0"/>
          </a:xfrm>
          <a:prstGeom prst="rect">
            <a:avLst/>
          </a:prstGeom>
          <a:solidFill>
            <a:srgbClr val="F3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900" b="1" i="0" u="none" strike="noStrike" cap="none" normalizeH="0" baseline="0">
                <a:ln>
                  <a:noFill/>
                </a:ln>
                <a:solidFill>
                  <a:srgbClr val="000000"/>
                </a:solidFill>
                <a:effectLst/>
                <a:latin typeface="ff6"/>
              </a:rPr>
              <a:t>Units and standards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400" b="0" i="0" u="none" strike="noStrike" cap="none" normalizeH="0" baseline="0">
                <a:ln>
                  <a:noFill/>
                </a:ln>
                <a:solidFill>
                  <a:srgbClr val="000000"/>
                </a:solidFill>
                <a:effectLst/>
                <a:latin typeface="ff0"/>
              </a:rPr>
              <a:t>SI: fundamental Units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300" b="0" i="0" u="none" strike="noStrike" cap="none" normalizeH="0" baseline="0">
                <a:ln>
                  <a:noFill/>
                </a:ln>
                <a:solidFill>
                  <a:srgbClr val="FFFF00"/>
                </a:solidFill>
                <a:effectLst/>
                <a:latin typeface="ff12"/>
              </a:rPr>
              <a:t>Physical Quantity Unit Name Symbol</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0" b="0" i="0" u="none" strike="noStrike" cap="none" normalizeH="0" baseline="0">
                <a:ln>
                  <a:noFill/>
                </a:ln>
                <a:solidFill>
                  <a:srgbClr val="FFFFFF"/>
                </a:solidFill>
                <a:effectLst/>
                <a:latin typeface="ff8"/>
              </a:rPr>
              <a:t>Length meter mMass kilogram kgtime second selectric current ampere Atemperature Kelvin Kamount of substance mole molluminous intensity candela cd</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Roboto"/>
              </a:rPr>
              <a:t>  </a:t>
            </a:r>
            <a:r>
              <a:rPr kumimoji="0" lang="en-US" altLang="en-US" sz="1900" b="0" i="0" u="none" strike="noStrike" cap="none" normalizeH="0" baseline="0">
                <a:ln>
                  <a:noFill/>
                </a:ln>
                <a:solidFill>
                  <a:srgbClr val="000000"/>
                </a:solidFill>
                <a:effectLst/>
                <a:latin typeface="Roboto"/>
              </a:rPr>
              <a:t> </a:t>
            </a:r>
            <a:r>
              <a:rPr kumimoji="0" lang="en-US" altLang="en-US" sz="1200" b="0" i="0" u="none" strike="noStrike" cap="none" normalizeH="0" baseline="0">
                <a:ln>
                  <a:noFill/>
                </a:ln>
                <a:solidFill>
                  <a:srgbClr val="000000"/>
                </a:solidFill>
                <a:effectLst/>
                <a:latin typeface="Roboto"/>
              </a:rPr>
              <a:t>      </a:t>
            </a:r>
          </a:p>
        </p:txBody>
      </p:sp>
      <p:sp>
        <p:nvSpPr>
          <p:cNvPr id="4" name="AutoShape 2" descr="https://html.scribdassets.com/4xjm87c3gg827sbm/images/8-c8fcce0a58.jpg"/>
          <p:cNvSpPr>
            <a:spLocks noChangeAspect="1" noChangeArrowheads="1"/>
          </p:cNvSpPr>
          <p:nvPr/>
        </p:nvSpPr>
        <p:spPr bwMode="auto">
          <a:xfrm>
            <a:off x="42863" y="3330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Tree>
    <p:extLst>
      <p:ext uri="{BB962C8B-B14F-4D97-AF65-F5344CB8AC3E}">
        <p14:creationId xmlns:p14="http://schemas.microsoft.com/office/powerpoint/2010/main" val="57489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PH" dirty="0"/>
              <a:t>Units and Standards (SI: Fundamental Units)</a:t>
            </a:r>
            <a:br>
              <a:rPr lang="en-PH" dirty="0"/>
            </a:br>
            <a:r>
              <a:rPr lang="en-PH" sz="900" dirty="0"/>
              <a:t>     </a:t>
            </a:r>
            <a:endParaRPr lang="en-PH" sz="100" dirty="0"/>
          </a:p>
        </p:txBody>
      </p:sp>
      <p:graphicFrame>
        <p:nvGraphicFramePr>
          <p:cNvPr id="5" name="Table 4"/>
          <p:cNvGraphicFramePr>
            <a:graphicFrameLocks noGrp="1"/>
          </p:cNvGraphicFramePr>
          <p:nvPr>
            <p:extLst>
              <p:ext uri="{D42A27DB-BD31-4B8C-83A1-F6EECF244321}">
                <p14:modId xmlns:p14="http://schemas.microsoft.com/office/powerpoint/2010/main" val="1694596653"/>
              </p:ext>
            </p:extLst>
          </p:nvPr>
        </p:nvGraphicFramePr>
        <p:xfrm>
          <a:off x="838200" y="1558924"/>
          <a:ext cx="10058400" cy="4053840"/>
        </p:xfrm>
        <a:graphic>
          <a:graphicData uri="http://schemas.openxmlformats.org/drawingml/2006/table">
            <a:tbl>
              <a:tblPr firstRow="1" bandRow="1">
                <a:tableStyleId>{5C22544A-7EE6-4342-B048-85BDC9FD1C3A}</a:tableStyleId>
              </a:tblPr>
              <a:tblGrid>
                <a:gridCol w="3352800">
                  <a:extLst>
                    <a:ext uri="{9D8B030D-6E8A-4147-A177-3AD203B41FA5}">
                      <a16:colId xmlns:a16="http://schemas.microsoft.com/office/drawing/2014/main" val="20000"/>
                    </a:ext>
                  </a:extLst>
                </a:gridCol>
                <a:gridCol w="3352800">
                  <a:extLst>
                    <a:ext uri="{9D8B030D-6E8A-4147-A177-3AD203B41FA5}">
                      <a16:colId xmlns:a16="http://schemas.microsoft.com/office/drawing/2014/main" val="20001"/>
                    </a:ext>
                  </a:extLst>
                </a:gridCol>
                <a:gridCol w="3352800">
                  <a:extLst>
                    <a:ext uri="{9D8B030D-6E8A-4147-A177-3AD203B41FA5}">
                      <a16:colId xmlns:a16="http://schemas.microsoft.com/office/drawing/2014/main" val="20002"/>
                    </a:ext>
                  </a:extLst>
                </a:gridCol>
              </a:tblGrid>
              <a:tr h="563432">
                <a:tc>
                  <a:txBody>
                    <a:bodyPr/>
                    <a:lstStyle/>
                    <a:p>
                      <a:pPr algn="ctr"/>
                      <a:r>
                        <a:rPr lang="en-PH" sz="3200" dirty="0"/>
                        <a:t>Physical</a:t>
                      </a:r>
                      <a:r>
                        <a:rPr lang="en-PH" sz="3200" baseline="0" dirty="0"/>
                        <a:t> Quantity</a:t>
                      </a:r>
                      <a:endParaRPr lang="en-PH" sz="3200" dirty="0"/>
                    </a:p>
                  </a:txBody>
                  <a:tcPr/>
                </a:tc>
                <a:tc>
                  <a:txBody>
                    <a:bodyPr/>
                    <a:lstStyle/>
                    <a:p>
                      <a:pPr algn="ctr"/>
                      <a:r>
                        <a:rPr lang="en-PH" sz="3200" dirty="0"/>
                        <a:t>Unit Name</a:t>
                      </a:r>
                    </a:p>
                  </a:txBody>
                  <a:tcPr/>
                </a:tc>
                <a:tc>
                  <a:txBody>
                    <a:bodyPr/>
                    <a:lstStyle/>
                    <a:p>
                      <a:pPr algn="ctr"/>
                      <a:r>
                        <a:rPr lang="en-PH" sz="3200" dirty="0"/>
                        <a:t>Symbol</a:t>
                      </a:r>
                    </a:p>
                  </a:txBody>
                  <a:tcPr/>
                </a:tc>
                <a:extLst>
                  <a:ext uri="{0D108BD9-81ED-4DB2-BD59-A6C34878D82A}">
                    <a16:rowId xmlns:a16="http://schemas.microsoft.com/office/drawing/2014/main" val="10000"/>
                  </a:ext>
                </a:extLst>
              </a:tr>
              <a:tr h="571257">
                <a:tc>
                  <a:txBody>
                    <a:bodyPr/>
                    <a:lstStyle/>
                    <a:p>
                      <a:pPr algn="ctr"/>
                      <a:r>
                        <a:rPr lang="en-PH" sz="3200" dirty="0"/>
                        <a:t>Length</a:t>
                      </a:r>
                    </a:p>
                  </a:txBody>
                  <a:tcPr/>
                </a:tc>
                <a:tc>
                  <a:txBody>
                    <a:bodyPr/>
                    <a:lstStyle/>
                    <a:p>
                      <a:pPr algn="ctr"/>
                      <a:r>
                        <a:rPr lang="en-PH" sz="3200" dirty="0"/>
                        <a:t>meter</a:t>
                      </a:r>
                    </a:p>
                  </a:txBody>
                  <a:tcPr/>
                </a:tc>
                <a:tc>
                  <a:txBody>
                    <a:bodyPr/>
                    <a:lstStyle/>
                    <a:p>
                      <a:pPr algn="ctr"/>
                      <a:r>
                        <a:rPr lang="en-PH" sz="3200" dirty="0"/>
                        <a:t>m</a:t>
                      </a:r>
                    </a:p>
                  </a:txBody>
                  <a:tcPr/>
                </a:tc>
                <a:extLst>
                  <a:ext uri="{0D108BD9-81ED-4DB2-BD59-A6C34878D82A}">
                    <a16:rowId xmlns:a16="http://schemas.microsoft.com/office/drawing/2014/main" val="10001"/>
                  </a:ext>
                </a:extLst>
              </a:tr>
              <a:tr h="571257">
                <a:tc>
                  <a:txBody>
                    <a:bodyPr/>
                    <a:lstStyle/>
                    <a:p>
                      <a:pPr algn="ctr"/>
                      <a:r>
                        <a:rPr lang="en-PH" sz="3200" dirty="0"/>
                        <a:t>Mass</a:t>
                      </a:r>
                    </a:p>
                  </a:txBody>
                  <a:tcPr/>
                </a:tc>
                <a:tc>
                  <a:txBody>
                    <a:bodyPr/>
                    <a:lstStyle/>
                    <a:p>
                      <a:pPr algn="ctr"/>
                      <a:r>
                        <a:rPr lang="en-PH" sz="3200" dirty="0"/>
                        <a:t>kilogram</a:t>
                      </a:r>
                    </a:p>
                  </a:txBody>
                  <a:tcPr/>
                </a:tc>
                <a:tc>
                  <a:txBody>
                    <a:bodyPr/>
                    <a:lstStyle/>
                    <a:p>
                      <a:pPr algn="ctr"/>
                      <a:r>
                        <a:rPr lang="en-PH" sz="3200" dirty="0"/>
                        <a:t>kg</a:t>
                      </a:r>
                    </a:p>
                  </a:txBody>
                  <a:tcPr/>
                </a:tc>
                <a:extLst>
                  <a:ext uri="{0D108BD9-81ED-4DB2-BD59-A6C34878D82A}">
                    <a16:rowId xmlns:a16="http://schemas.microsoft.com/office/drawing/2014/main" val="10002"/>
                  </a:ext>
                </a:extLst>
              </a:tr>
              <a:tr h="571257">
                <a:tc>
                  <a:txBody>
                    <a:bodyPr/>
                    <a:lstStyle/>
                    <a:p>
                      <a:pPr algn="ctr"/>
                      <a:r>
                        <a:rPr lang="en-PH" sz="3200" dirty="0"/>
                        <a:t>Time</a:t>
                      </a:r>
                    </a:p>
                  </a:txBody>
                  <a:tcPr/>
                </a:tc>
                <a:tc>
                  <a:txBody>
                    <a:bodyPr/>
                    <a:lstStyle/>
                    <a:p>
                      <a:pPr algn="ctr"/>
                      <a:r>
                        <a:rPr lang="en-PH" sz="3200" dirty="0"/>
                        <a:t>seconds</a:t>
                      </a:r>
                    </a:p>
                  </a:txBody>
                  <a:tcPr/>
                </a:tc>
                <a:tc>
                  <a:txBody>
                    <a:bodyPr/>
                    <a:lstStyle/>
                    <a:p>
                      <a:pPr algn="ctr"/>
                      <a:r>
                        <a:rPr lang="en-PH" sz="3200" dirty="0"/>
                        <a:t>s</a:t>
                      </a:r>
                    </a:p>
                  </a:txBody>
                  <a:tcPr/>
                </a:tc>
                <a:extLst>
                  <a:ext uri="{0D108BD9-81ED-4DB2-BD59-A6C34878D82A}">
                    <a16:rowId xmlns:a16="http://schemas.microsoft.com/office/drawing/2014/main" val="10003"/>
                  </a:ext>
                </a:extLst>
              </a:tr>
              <a:tr h="571257">
                <a:tc>
                  <a:txBody>
                    <a:bodyPr/>
                    <a:lstStyle/>
                    <a:p>
                      <a:pPr algn="ctr"/>
                      <a:r>
                        <a:rPr lang="en-PH" sz="3200" dirty="0"/>
                        <a:t>Electric</a:t>
                      </a:r>
                      <a:r>
                        <a:rPr lang="en-PH" sz="3200" baseline="0" dirty="0"/>
                        <a:t> Current</a:t>
                      </a:r>
                      <a:endParaRPr lang="en-PH" sz="3200" dirty="0"/>
                    </a:p>
                  </a:txBody>
                  <a:tcPr/>
                </a:tc>
                <a:tc>
                  <a:txBody>
                    <a:bodyPr/>
                    <a:lstStyle/>
                    <a:p>
                      <a:pPr algn="ctr"/>
                      <a:r>
                        <a:rPr lang="en-PH" sz="3200" dirty="0"/>
                        <a:t>ampere</a:t>
                      </a:r>
                    </a:p>
                  </a:txBody>
                  <a:tcPr/>
                </a:tc>
                <a:tc>
                  <a:txBody>
                    <a:bodyPr/>
                    <a:lstStyle/>
                    <a:p>
                      <a:pPr algn="ctr"/>
                      <a:r>
                        <a:rPr lang="en-PH" sz="3200" dirty="0"/>
                        <a:t>A</a:t>
                      </a:r>
                    </a:p>
                  </a:txBody>
                  <a:tcPr/>
                </a:tc>
                <a:extLst>
                  <a:ext uri="{0D108BD9-81ED-4DB2-BD59-A6C34878D82A}">
                    <a16:rowId xmlns:a16="http://schemas.microsoft.com/office/drawing/2014/main" val="10004"/>
                  </a:ext>
                </a:extLst>
              </a:tr>
              <a:tr h="571257">
                <a:tc>
                  <a:txBody>
                    <a:bodyPr/>
                    <a:lstStyle/>
                    <a:p>
                      <a:pPr algn="ctr"/>
                      <a:r>
                        <a:rPr lang="en-PH" sz="3200" dirty="0"/>
                        <a:t>Temperature</a:t>
                      </a:r>
                    </a:p>
                  </a:txBody>
                  <a:tcPr/>
                </a:tc>
                <a:tc>
                  <a:txBody>
                    <a:bodyPr/>
                    <a:lstStyle/>
                    <a:p>
                      <a:pPr algn="ctr"/>
                      <a:r>
                        <a:rPr lang="en-PH" sz="3200" dirty="0"/>
                        <a:t>Kelvin</a:t>
                      </a:r>
                    </a:p>
                  </a:txBody>
                  <a:tcPr/>
                </a:tc>
                <a:tc>
                  <a:txBody>
                    <a:bodyPr/>
                    <a:lstStyle/>
                    <a:p>
                      <a:pPr algn="ctr"/>
                      <a:r>
                        <a:rPr lang="en-PH" sz="3200" dirty="0"/>
                        <a:t>K</a:t>
                      </a:r>
                    </a:p>
                  </a:txBody>
                  <a:tcPr/>
                </a:tc>
                <a:extLst>
                  <a:ext uri="{0D108BD9-81ED-4DB2-BD59-A6C34878D82A}">
                    <a16:rowId xmlns:a16="http://schemas.microsoft.com/office/drawing/2014/main" val="10005"/>
                  </a:ext>
                </a:extLst>
              </a:tr>
              <a:tr h="571257">
                <a:tc>
                  <a:txBody>
                    <a:bodyPr/>
                    <a:lstStyle/>
                    <a:p>
                      <a:pPr algn="ctr"/>
                      <a:r>
                        <a:rPr lang="en-PH" sz="3200" dirty="0"/>
                        <a:t>Luminous Intensity</a:t>
                      </a:r>
                    </a:p>
                  </a:txBody>
                  <a:tcPr/>
                </a:tc>
                <a:tc>
                  <a:txBody>
                    <a:bodyPr/>
                    <a:lstStyle/>
                    <a:p>
                      <a:pPr algn="ctr"/>
                      <a:r>
                        <a:rPr lang="en-PH" sz="3200" dirty="0"/>
                        <a:t>candela</a:t>
                      </a:r>
                    </a:p>
                  </a:txBody>
                  <a:tcPr/>
                </a:tc>
                <a:tc>
                  <a:txBody>
                    <a:bodyPr/>
                    <a:lstStyle/>
                    <a:p>
                      <a:pPr algn="ctr"/>
                      <a:r>
                        <a:rPr lang="en-PH" sz="3200" dirty="0"/>
                        <a:t>Cd</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926454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PH" dirty="0"/>
              <a:t>Units and Standards (SI: Derived Units)</a:t>
            </a:r>
            <a:br>
              <a:rPr lang="en-PH" dirty="0"/>
            </a:br>
            <a:r>
              <a:rPr lang="en-PH" sz="900" dirty="0"/>
              <a:t>     </a:t>
            </a:r>
            <a:endParaRPr lang="en-PH" sz="100" dirty="0"/>
          </a:p>
        </p:txBody>
      </p:sp>
      <p:graphicFrame>
        <p:nvGraphicFramePr>
          <p:cNvPr id="5" name="Table 4"/>
          <p:cNvGraphicFramePr>
            <a:graphicFrameLocks noGrp="1"/>
          </p:cNvGraphicFramePr>
          <p:nvPr>
            <p:extLst>
              <p:ext uri="{D42A27DB-BD31-4B8C-83A1-F6EECF244321}">
                <p14:modId xmlns:p14="http://schemas.microsoft.com/office/powerpoint/2010/main" val="1762028676"/>
              </p:ext>
            </p:extLst>
          </p:nvPr>
        </p:nvGraphicFramePr>
        <p:xfrm>
          <a:off x="838200" y="1558924"/>
          <a:ext cx="10058400" cy="4541520"/>
        </p:xfrm>
        <a:graphic>
          <a:graphicData uri="http://schemas.openxmlformats.org/drawingml/2006/table">
            <a:tbl>
              <a:tblPr firstRow="1" bandRow="1">
                <a:tableStyleId>{21E4AEA4-8DFA-4A89-87EB-49C32662AFE0}</a:tableStyleId>
              </a:tblPr>
              <a:tblGrid>
                <a:gridCol w="3352800">
                  <a:extLst>
                    <a:ext uri="{9D8B030D-6E8A-4147-A177-3AD203B41FA5}">
                      <a16:colId xmlns:a16="http://schemas.microsoft.com/office/drawing/2014/main" val="20000"/>
                    </a:ext>
                  </a:extLst>
                </a:gridCol>
                <a:gridCol w="3352800">
                  <a:extLst>
                    <a:ext uri="{9D8B030D-6E8A-4147-A177-3AD203B41FA5}">
                      <a16:colId xmlns:a16="http://schemas.microsoft.com/office/drawing/2014/main" val="20001"/>
                    </a:ext>
                  </a:extLst>
                </a:gridCol>
                <a:gridCol w="3352800">
                  <a:extLst>
                    <a:ext uri="{9D8B030D-6E8A-4147-A177-3AD203B41FA5}">
                      <a16:colId xmlns:a16="http://schemas.microsoft.com/office/drawing/2014/main" val="20002"/>
                    </a:ext>
                  </a:extLst>
                </a:gridCol>
              </a:tblGrid>
              <a:tr h="563432">
                <a:tc>
                  <a:txBody>
                    <a:bodyPr/>
                    <a:lstStyle/>
                    <a:p>
                      <a:pPr algn="ctr"/>
                      <a:r>
                        <a:rPr lang="en-PH" sz="3200" dirty="0"/>
                        <a:t>Physical</a:t>
                      </a:r>
                      <a:r>
                        <a:rPr lang="en-PH" sz="3200" baseline="0" dirty="0"/>
                        <a:t> Quantity</a:t>
                      </a:r>
                      <a:endParaRPr lang="en-PH" sz="3200" dirty="0"/>
                    </a:p>
                  </a:txBody>
                  <a:tcPr/>
                </a:tc>
                <a:tc>
                  <a:txBody>
                    <a:bodyPr/>
                    <a:lstStyle/>
                    <a:p>
                      <a:pPr algn="ctr"/>
                      <a:r>
                        <a:rPr lang="en-PH" sz="3200" dirty="0"/>
                        <a:t>Unit Name</a:t>
                      </a:r>
                    </a:p>
                  </a:txBody>
                  <a:tcPr/>
                </a:tc>
                <a:tc>
                  <a:txBody>
                    <a:bodyPr/>
                    <a:lstStyle/>
                    <a:p>
                      <a:pPr algn="ctr"/>
                      <a:r>
                        <a:rPr lang="en-PH" sz="3200" dirty="0"/>
                        <a:t>Symbol</a:t>
                      </a:r>
                    </a:p>
                  </a:txBody>
                  <a:tcPr/>
                </a:tc>
                <a:extLst>
                  <a:ext uri="{0D108BD9-81ED-4DB2-BD59-A6C34878D82A}">
                    <a16:rowId xmlns:a16="http://schemas.microsoft.com/office/drawing/2014/main" val="10000"/>
                  </a:ext>
                </a:extLst>
              </a:tr>
              <a:tr h="571257">
                <a:tc>
                  <a:txBody>
                    <a:bodyPr/>
                    <a:lstStyle/>
                    <a:p>
                      <a:pPr algn="ctr"/>
                      <a:r>
                        <a:rPr lang="en-PH" sz="3200" dirty="0"/>
                        <a:t>Area</a:t>
                      </a:r>
                    </a:p>
                  </a:txBody>
                  <a:tcPr/>
                </a:tc>
                <a:tc>
                  <a:txBody>
                    <a:bodyPr/>
                    <a:lstStyle/>
                    <a:p>
                      <a:pPr algn="ctr"/>
                      <a:r>
                        <a:rPr lang="en-PH" sz="3200" dirty="0"/>
                        <a:t>square meter</a:t>
                      </a:r>
                    </a:p>
                  </a:txBody>
                  <a:tcPr/>
                </a:tc>
                <a:tc>
                  <a:txBody>
                    <a:bodyPr/>
                    <a:lstStyle/>
                    <a:p>
                      <a:pPr algn="ctr"/>
                      <a:r>
                        <a:rPr lang="en-PH" sz="3200" dirty="0"/>
                        <a:t>m²</a:t>
                      </a:r>
                    </a:p>
                  </a:txBody>
                  <a:tcPr/>
                </a:tc>
                <a:extLst>
                  <a:ext uri="{0D108BD9-81ED-4DB2-BD59-A6C34878D82A}">
                    <a16:rowId xmlns:a16="http://schemas.microsoft.com/office/drawing/2014/main" val="10001"/>
                  </a:ext>
                </a:extLst>
              </a:tr>
              <a:tr h="571257">
                <a:tc>
                  <a:txBody>
                    <a:bodyPr/>
                    <a:lstStyle/>
                    <a:p>
                      <a:pPr algn="ctr"/>
                      <a:r>
                        <a:rPr lang="en-PH" sz="3200" dirty="0"/>
                        <a:t>Volume</a:t>
                      </a:r>
                    </a:p>
                  </a:txBody>
                  <a:tcPr/>
                </a:tc>
                <a:tc>
                  <a:txBody>
                    <a:bodyPr/>
                    <a:lstStyle/>
                    <a:p>
                      <a:pPr algn="ctr"/>
                      <a:r>
                        <a:rPr lang="en-PH" sz="3200" dirty="0"/>
                        <a:t>cubic meter</a:t>
                      </a:r>
                    </a:p>
                  </a:txBody>
                  <a:tcPr/>
                </a:tc>
                <a:tc>
                  <a:txBody>
                    <a:bodyPr/>
                    <a:lstStyle/>
                    <a:p>
                      <a:pPr algn="ctr"/>
                      <a:r>
                        <a:rPr lang="en-PH" sz="3200" dirty="0"/>
                        <a:t>m³</a:t>
                      </a:r>
                    </a:p>
                  </a:txBody>
                  <a:tcPr/>
                </a:tc>
                <a:extLst>
                  <a:ext uri="{0D108BD9-81ED-4DB2-BD59-A6C34878D82A}">
                    <a16:rowId xmlns:a16="http://schemas.microsoft.com/office/drawing/2014/main" val="10002"/>
                  </a:ext>
                </a:extLst>
              </a:tr>
              <a:tr h="571257">
                <a:tc>
                  <a:txBody>
                    <a:bodyPr/>
                    <a:lstStyle/>
                    <a:p>
                      <a:pPr algn="ctr"/>
                      <a:r>
                        <a:rPr lang="en-PH" sz="3200" dirty="0"/>
                        <a:t>Speed</a:t>
                      </a:r>
                    </a:p>
                  </a:txBody>
                  <a:tcPr/>
                </a:tc>
                <a:tc>
                  <a:txBody>
                    <a:bodyPr/>
                    <a:lstStyle/>
                    <a:p>
                      <a:pPr algn="ctr"/>
                      <a:r>
                        <a:rPr lang="en-PH" sz="3200" dirty="0"/>
                        <a:t>meter per second</a:t>
                      </a:r>
                    </a:p>
                  </a:txBody>
                  <a:tcPr/>
                </a:tc>
                <a:tc>
                  <a:txBody>
                    <a:bodyPr/>
                    <a:lstStyle/>
                    <a:p>
                      <a:pPr algn="ctr"/>
                      <a:r>
                        <a:rPr lang="en-PH" sz="3200" dirty="0"/>
                        <a:t>m/s</a:t>
                      </a:r>
                    </a:p>
                  </a:txBody>
                  <a:tcPr/>
                </a:tc>
                <a:extLst>
                  <a:ext uri="{0D108BD9-81ED-4DB2-BD59-A6C34878D82A}">
                    <a16:rowId xmlns:a16="http://schemas.microsoft.com/office/drawing/2014/main" val="10003"/>
                  </a:ext>
                </a:extLst>
              </a:tr>
              <a:tr h="571257">
                <a:tc>
                  <a:txBody>
                    <a:bodyPr/>
                    <a:lstStyle/>
                    <a:p>
                      <a:pPr algn="ctr"/>
                      <a:r>
                        <a:rPr lang="en-PH" sz="3200" dirty="0"/>
                        <a:t>Acceleration</a:t>
                      </a:r>
                    </a:p>
                  </a:txBody>
                  <a:tcPr/>
                </a:tc>
                <a:tc>
                  <a:txBody>
                    <a:bodyPr/>
                    <a:lstStyle/>
                    <a:p>
                      <a:pPr algn="ctr"/>
                      <a:r>
                        <a:rPr lang="en-PH" sz="3200" dirty="0"/>
                        <a:t>meter per second squared</a:t>
                      </a:r>
                      <a:endParaRPr lang="en-PH" sz="4800" dirty="0"/>
                    </a:p>
                  </a:txBody>
                  <a:tcPr/>
                </a:tc>
                <a:tc>
                  <a:txBody>
                    <a:bodyPr/>
                    <a:lstStyle/>
                    <a:p>
                      <a:pPr algn="ctr"/>
                      <a:r>
                        <a:rPr lang="en-PH" sz="3200" dirty="0"/>
                        <a:t>m/s²</a:t>
                      </a:r>
                    </a:p>
                  </a:txBody>
                  <a:tcPr/>
                </a:tc>
                <a:extLst>
                  <a:ext uri="{0D108BD9-81ED-4DB2-BD59-A6C34878D82A}">
                    <a16:rowId xmlns:a16="http://schemas.microsoft.com/office/drawing/2014/main" val="10004"/>
                  </a:ext>
                </a:extLst>
              </a:tr>
              <a:tr h="571257">
                <a:tc>
                  <a:txBody>
                    <a:bodyPr/>
                    <a:lstStyle/>
                    <a:p>
                      <a:pPr algn="ctr"/>
                      <a:r>
                        <a:rPr lang="en-PH" sz="3200" dirty="0"/>
                        <a:t>Force</a:t>
                      </a:r>
                    </a:p>
                  </a:txBody>
                  <a:tcPr/>
                </a:tc>
                <a:tc>
                  <a:txBody>
                    <a:bodyPr/>
                    <a:lstStyle/>
                    <a:p>
                      <a:pPr algn="ctr"/>
                      <a:r>
                        <a:rPr lang="en-PH" sz="3200" dirty="0"/>
                        <a:t>Newton</a:t>
                      </a:r>
                    </a:p>
                  </a:txBody>
                  <a:tcPr/>
                </a:tc>
                <a:tc>
                  <a:txBody>
                    <a:bodyPr/>
                    <a:lstStyle/>
                    <a:p>
                      <a:pPr algn="ctr"/>
                      <a:r>
                        <a:rPr lang="en-PH" sz="3200" dirty="0"/>
                        <a:t>N</a:t>
                      </a:r>
                    </a:p>
                  </a:txBody>
                  <a:tcPr/>
                </a:tc>
                <a:extLst>
                  <a:ext uri="{0D108BD9-81ED-4DB2-BD59-A6C34878D82A}">
                    <a16:rowId xmlns:a16="http://schemas.microsoft.com/office/drawing/2014/main" val="10005"/>
                  </a:ext>
                </a:extLst>
              </a:tr>
              <a:tr h="571257">
                <a:tc>
                  <a:txBody>
                    <a:bodyPr/>
                    <a:lstStyle/>
                    <a:p>
                      <a:pPr algn="ctr"/>
                      <a:r>
                        <a:rPr lang="en-PH" sz="3200" dirty="0"/>
                        <a:t>Pressure</a:t>
                      </a:r>
                    </a:p>
                  </a:txBody>
                  <a:tcPr/>
                </a:tc>
                <a:tc>
                  <a:txBody>
                    <a:bodyPr/>
                    <a:lstStyle/>
                    <a:p>
                      <a:pPr algn="ctr"/>
                      <a:r>
                        <a:rPr lang="en-PH" sz="3200" dirty="0"/>
                        <a:t>Pascal</a:t>
                      </a:r>
                    </a:p>
                  </a:txBody>
                  <a:tcPr/>
                </a:tc>
                <a:tc>
                  <a:txBody>
                    <a:bodyPr/>
                    <a:lstStyle/>
                    <a:p>
                      <a:pPr algn="ctr"/>
                      <a:r>
                        <a:rPr lang="en-PH" sz="3200" dirty="0"/>
                        <a:t>P</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16666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PH" dirty="0"/>
              <a:t>Units and Standards (SI: Derived Units)</a:t>
            </a:r>
            <a:br>
              <a:rPr lang="en-PH" dirty="0"/>
            </a:br>
            <a:r>
              <a:rPr lang="en-PH" sz="900" dirty="0"/>
              <a:t>     </a:t>
            </a:r>
            <a:endParaRPr lang="en-PH" sz="100" dirty="0"/>
          </a:p>
        </p:txBody>
      </p:sp>
      <p:graphicFrame>
        <p:nvGraphicFramePr>
          <p:cNvPr id="5" name="Table 4"/>
          <p:cNvGraphicFramePr>
            <a:graphicFrameLocks noGrp="1"/>
          </p:cNvGraphicFramePr>
          <p:nvPr>
            <p:extLst>
              <p:ext uri="{D42A27DB-BD31-4B8C-83A1-F6EECF244321}">
                <p14:modId xmlns:p14="http://schemas.microsoft.com/office/powerpoint/2010/main" val="1339226949"/>
              </p:ext>
            </p:extLst>
          </p:nvPr>
        </p:nvGraphicFramePr>
        <p:xfrm>
          <a:off x="419101" y="1558924"/>
          <a:ext cx="10934700" cy="4069716"/>
        </p:xfrm>
        <a:graphic>
          <a:graphicData uri="http://schemas.openxmlformats.org/drawingml/2006/table">
            <a:tbl>
              <a:tblPr firstRow="1" bandRow="1">
                <a:tableStyleId>{21E4AEA4-8DFA-4A89-87EB-49C32662AFE0}</a:tableStyleId>
              </a:tblPr>
              <a:tblGrid>
                <a:gridCol w="3597786">
                  <a:extLst>
                    <a:ext uri="{9D8B030D-6E8A-4147-A177-3AD203B41FA5}">
                      <a16:colId xmlns:a16="http://schemas.microsoft.com/office/drawing/2014/main" val="20000"/>
                    </a:ext>
                  </a:extLst>
                </a:gridCol>
                <a:gridCol w="3692014">
                  <a:extLst>
                    <a:ext uri="{9D8B030D-6E8A-4147-A177-3AD203B41FA5}">
                      <a16:colId xmlns:a16="http://schemas.microsoft.com/office/drawing/2014/main" val="20001"/>
                    </a:ext>
                  </a:extLst>
                </a:gridCol>
                <a:gridCol w="3644900">
                  <a:extLst>
                    <a:ext uri="{9D8B030D-6E8A-4147-A177-3AD203B41FA5}">
                      <a16:colId xmlns:a16="http://schemas.microsoft.com/office/drawing/2014/main" val="20002"/>
                    </a:ext>
                  </a:extLst>
                </a:gridCol>
              </a:tblGrid>
              <a:tr h="563432">
                <a:tc>
                  <a:txBody>
                    <a:bodyPr/>
                    <a:lstStyle/>
                    <a:p>
                      <a:pPr algn="ctr"/>
                      <a:r>
                        <a:rPr lang="en-PH" sz="3200" dirty="0"/>
                        <a:t>Physical</a:t>
                      </a:r>
                      <a:r>
                        <a:rPr lang="en-PH" sz="3200" baseline="0" dirty="0"/>
                        <a:t> Quantity</a:t>
                      </a:r>
                      <a:endParaRPr lang="en-PH" sz="3200" dirty="0"/>
                    </a:p>
                  </a:txBody>
                  <a:tcPr/>
                </a:tc>
                <a:tc>
                  <a:txBody>
                    <a:bodyPr/>
                    <a:lstStyle/>
                    <a:p>
                      <a:pPr algn="ctr"/>
                      <a:r>
                        <a:rPr lang="en-PH" sz="3200" dirty="0"/>
                        <a:t>Unit Name</a:t>
                      </a:r>
                    </a:p>
                  </a:txBody>
                  <a:tcPr/>
                </a:tc>
                <a:tc>
                  <a:txBody>
                    <a:bodyPr/>
                    <a:lstStyle/>
                    <a:p>
                      <a:pPr algn="ctr"/>
                      <a:r>
                        <a:rPr lang="en-PH" sz="3200" dirty="0"/>
                        <a:t>Symbol</a:t>
                      </a:r>
                    </a:p>
                  </a:txBody>
                  <a:tcPr/>
                </a:tc>
                <a:extLst>
                  <a:ext uri="{0D108BD9-81ED-4DB2-BD59-A6C34878D82A}">
                    <a16:rowId xmlns:a16="http://schemas.microsoft.com/office/drawing/2014/main" val="10000"/>
                  </a:ext>
                </a:extLst>
              </a:tr>
              <a:tr h="571257">
                <a:tc>
                  <a:txBody>
                    <a:bodyPr/>
                    <a:lstStyle/>
                    <a:p>
                      <a:pPr algn="ctr"/>
                      <a:r>
                        <a:rPr lang="en-PH" sz="3200" dirty="0"/>
                        <a:t>Energy, Work</a:t>
                      </a:r>
                    </a:p>
                  </a:txBody>
                  <a:tcPr/>
                </a:tc>
                <a:tc>
                  <a:txBody>
                    <a:bodyPr/>
                    <a:lstStyle/>
                    <a:p>
                      <a:pPr algn="ctr"/>
                      <a:r>
                        <a:rPr lang="en-PH" sz="3200" dirty="0"/>
                        <a:t>Joule</a:t>
                      </a:r>
                    </a:p>
                  </a:txBody>
                  <a:tcPr/>
                </a:tc>
                <a:tc>
                  <a:txBody>
                    <a:bodyPr/>
                    <a:lstStyle/>
                    <a:p>
                      <a:pPr algn="ctr"/>
                      <a:r>
                        <a:rPr lang="en-PH" sz="3200" dirty="0"/>
                        <a:t>J</a:t>
                      </a:r>
                    </a:p>
                  </a:txBody>
                  <a:tcPr/>
                </a:tc>
                <a:extLst>
                  <a:ext uri="{0D108BD9-81ED-4DB2-BD59-A6C34878D82A}">
                    <a16:rowId xmlns:a16="http://schemas.microsoft.com/office/drawing/2014/main" val="10001"/>
                  </a:ext>
                </a:extLst>
              </a:tr>
              <a:tr h="571257">
                <a:tc>
                  <a:txBody>
                    <a:bodyPr/>
                    <a:lstStyle/>
                    <a:p>
                      <a:pPr algn="ctr"/>
                      <a:r>
                        <a:rPr lang="en-PH" sz="3200" dirty="0"/>
                        <a:t>Electromotive Force</a:t>
                      </a:r>
                    </a:p>
                  </a:txBody>
                  <a:tcPr/>
                </a:tc>
                <a:tc>
                  <a:txBody>
                    <a:bodyPr/>
                    <a:lstStyle/>
                    <a:p>
                      <a:pPr algn="ctr"/>
                      <a:r>
                        <a:rPr lang="en-PH" sz="3200" dirty="0"/>
                        <a:t>Volt</a:t>
                      </a:r>
                    </a:p>
                  </a:txBody>
                  <a:tcPr/>
                </a:tc>
                <a:tc>
                  <a:txBody>
                    <a:bodyPr/>
                    <a:lstStyle/>
                    <a:p>
                      <a:pPr algn="ctr"/>
                      <a:r>
                        <a:rPr lang="en-PH" sz="3200" dirty="0"/>
                        <a:t>V</a:t>
                      </a:r>
                    </a:p>
                  </a:txBody>
                  <a:tcPr/>
                </a:tc>
                <a:extLst>
                  <a:ext uri="{0D108BD9-81ED-4DB2-BD59-A6C34878D82A}">
                    <a16:rowId xmlns:a16="http://schemas.microsoft.com/office/drawing/2014/main" val="10002"/>
                  </a:ext>
                </a:extLst>
              </a:tr>
              <a:tr h="475616">
                <a:tc>
                  <a:txBody>
                    <a:bodyPr/>
                    <a:lstStyle/>
                    <a:p>
                      <a:pPr algn="ctr"/>
                      <a:r>
                        <a:rPr lang="en-PH" sz="3200" dirty="0"/>
                        <a:t>Quantity of charge</a:t>
                      </a:r>
                    </a:p>
                  </a:txBody>
                  <a:tcPr/>
                </a:tc>
                <a:tc>
                  <a:txBody>
                    <a:bodyPr/>
                    <a:lstStyle/>
                    <a:p>
                      <a:pPr algn="ctr"/>
                      <a:r>
                        <a:rPr lang="en-PH" sz="3200" dirty="0"/>
                        <a:t>Coulomb</a:t>
                      </a:r>
                    </a:p>
                  </a:txBody>
                  <a:tcPr/>
                </a:tc>
                <a:tc>
                  <a:txBody>
                    <a:bodyPr/>
                    <a:lstStyle/>
                    <a:p>
                      <a:pPr algn="ctr"/>
                      <a:r>
                        <a:rPr lang="en-PH" sz="3200" dirty="0"/>
                        <a:t>C</a:t>
                      </a:r>
                    </a:p>
                  </a:txBody>
                  <a:tcPr/>
                </a:tc>
                <a:extLst>
                  <a:ext uri="{0D108BD9-81ED-4DB2-BD59-A6C34878D82A}">
                    <a16:rowId xmlns:a16="http://schemas.microsoft.com/office/drawing/2014/main" val="10003"/>
                  </a:ext>
                </a:extLst>
              </a:tr>
              <a:tr h="594996">
                <a:tc>
                  <a:txBody>
                    <a:bodyPr/>
                    <a:lstStyle/>
                    <a:p>
                      <a:pPr algn="ctr"/>
                      <a:r>
                        <a:rPr lang="en-PH" sz="3200" dirty="0"/>
                        <a:t>Electrical Resistance</a:t>
                      </a:r>
                    </a:p>
                  </a:txBody>
                  <a:tcPr/>
                </a:tc>
                <a:tc>
                  <a:txBody>
                    <a:bodyPr/>
                    <a:lstStyle/>
                    <a:p>
                      <a:pPr algn="ctr"/>
                      <a:r>
                        <a:rPr lang="en-PH" sz="3200" dirty="0"/>
                        <a:t>Ohm</a:t>
                      </a:r>
                    </a:p>
                  </a:txBody>
                  <a:tcPr/>
                </a:tc>
                <a:tc>
                  <a:txBody>
                    <a:bodyPr/>
                    <a:lstStyle/>
                    <a:p>
                      <a:pPr algn="ctr"/>
                      <a:r>
                        <a:rPr lang="el-GR" sz="3200" dirty="0"/>
                        <a:t>Ω</a:t>
                      </a:r>
                      <a:endParaRPr lang="en-PH" sz="3200" dirty="0"/>
                    </a:p>
                  </a:txBody>
                  <a:tcPr/>
                </a:tc>
                <a:extLst>
                  <a:ext uri="{0D108BD9-81ED-4DB2-BD59-A6C34878D82A}">
                    <a16:rowId xmlns:a16="http://schemas.microsoft.com/office/drawing/2014/main" val="10004"/>
                  </a:ext>
                </a:extLst>
              </a:tr>
              <a:tr h="571257">
                <a:tc>
                  <a:txBody>
                    <a:bodyPr/>
                    <a:lstStyle/>
                    <a:p>
                      <a:pPr algn="ctr"/>
                      <a:r>
                        <a:rPr lang="en-PH" sz="3200" dirty="0"/>
                        <a:t>Capacitance</a:t>
                      </a:r>
                    </a:p>
                  </a:txBody>
                  <a:tcPr/>
                </a:tc>
                <a:tc>
                  <a:txBody>
                    <a:bodyPr/>
                    <a:lstStyle/>
                    <a:p>
                      <a:pPr algn="ctr"/>
                      <a:r>
                        <a:rPr lang="en-PH" sz="3200" dirty="0"/>
                        <a:t>Farad</a:t>
                      </a:r>
                    </a:p>
                  </a:txBody>
                  <a:tcPr/>
                </a:tc>
                <a:tc>
                  <a:txBody>
                    <a:bodyPr/>
                    <a:lstStyle/>
                    <a:p>
                      <a:pPr algn="ctr"/>
                      <a:r>
                        <a:rPr lang="en-PH" sz="3200" dirty="0"/>
                        <a:t>F</a:t>
                      </a:r>
                    </a:p>
                  </a:txBody>
                  <a:tcPr/>
                </a:tc>
                <a:extLst>
                  <a:ext uri="{0D108BD9-81ED-4DB2-BD59-A6C34878D82A}">
                    <a16:rowId xmlns:a16="http://schemas.microsoft.com/office/drawing/2014/main" val="10005"/>
                  </a:ext>
                </a:extLst>
              </a:tr>
              <a:tr h="571257">
                <a:tc>
                  <a:txBody>
                    <a:bodyPr/>
                    <a:lstStyle/>
                    <a:p>
                      <a:pPr algn="ctr"/>
                      <a:r>
                        <a:rPr lang="en-PH" sz="3200" dirty="0"/>
                        <a:t>Inductance</a:t>
                      </a:r>
                    </a:p>
                  </a:txBody>
                  <a:tcPr/>
                </a:tc>
                <a:tc>
                  <a:txBody>
                    <a:bodyPr/>
                    <a:lstStyle/>
                    <a:p>
                      <a:pPr algn="ctr"/>
                      <a:r>
                        <a:rPr lang="en-PH" sz="3200" dirty="0"/>
                        <a:t>Henry</a:t>
                      </a:r>
                    </a:p>
                  </a:txBody>
                  <a:tcPr/>
                </a:tc>
                <a:tc>
                  <a:txBody>
                    <a:bodyPr/>
                    <a:lstStyle/>
                    <a:p>
                      <a:pPr algn="ctr"/>
                      <a:r>
                        <a:rPr lang="en-PH" sz="3200" dirty="0"/>
                        <a:t>H</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67069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buNone/>
            </a:pPr>
            <a:r>
              <a:rPr lang="en-PH" sz="4400" b="1" dirty="0"/>
              <a:t>MEASUREMENT STANDARDS</a:t>
            </a:r>
          </a:p>
          <a:p>
            <a:pPr marL="0" indent="0">
              <a:buNone/>
            </a:pPr>
            <a:endParaRPr lang="en-PH" sz="4400" dirty="0"/>
          </a:p>
          <a:p>
            <a:pPr marL="0" indent="0">
              <a:buNone/>
            </a:pPr>
            <a:r>
              <a:rPr lang="en-PH" sz="4400" dirty="0"/>
              <a:t>International standards</a:t>
            </a:r>
          </a:p>
          <a:p>
            <a:pPr marL="0" indent="0">
              <a:buNone/>
            </a:pPr>
            <a:r>
              <a:rPr lang="en-PH" sz="4400" dirty="0"/>
              <a:t> Defined by international measurement, </a:t>
            </a:r>
          </a:p>
          <a:p>
            <a:pPr marL="0" indent="0">
              <a:buNone/>
            </a:pPr>
            <a:r>
              <a:rPr lang="en-PH" sz="4400" dirty="0"/>
              <a:t> Paris International Bureau of Weight and </a:t>
            </a:r>
          </a:p>
          <a:p>
            <a:pPr marL="0" indent="0">
              <a:buNone/>
            </a:pPr>
            <a:r>
              <a:rPr lang="en-PH" sz="4400" dirty="0"/>
              <a:t> Measurement.</a:t>
            </a:r>
          </a:p>
          <a:p>
            <a:pPr marL="0" indent="0">
              <a:buNone/>
            </a:pPr>
            <a:br>
              <a:rPr lang="en-PH" sz="4400" dirty="0"/>
            </a:br>
            <a:br>
              <a:rPr lang="en-PH" sz="4400" dirty="0"/>
            </a:br>
            <a:endParaRPr lang="en-PH" sz="4400" dirty="0"/>
          </a:p>
        </p:txBody>
      </p:sp>
      <p:sp>
        <p:nvSpPr>
          <p:cNvPr id="2" name="Rectangle 1"/>
          <p:cNvSpPr>
            <a:spLocks noChangeArrowheads="1"/>
          </p:cNvSpPr>
          <p:nvPr/>
        </p:nvSpPr>
        <p:spPr bwMode="auto">
          <a:xfrm>
            <a:off x="0" y="0"/>
            <a:ext cx="0" cy="0"/>
          </a:xfrm>
          <a:prstGeom prst="rect">
            <a:avLst/>
          </a:prstGeom>
          <a:solidFill>
            <a:srgbClr val="F3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900" b="1" i="0" u="none" strike="noStrike" cap="none" normalizeH="0" baseline="0">
                <a:ln>
                  <a:noFill/>
                </a:ln>
                <a:solidFill>
                  <a:srgbClr val="000000"/>
                </a:solidFill>
                <a:effectLst/>
                <a:latin typeface="ff6"/>
              </a:rPr>
              <a:t>Units and standards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400" b="0" i="0" u="none" strike="noStrike" cap="none" normalizeH="0" baseline="0">
                <a:ln>
                  <a:noFill/>
                </a:ln>
                <a:solidFill>
                  <a:srgbClr val="000000"/>
                </a:solidFill>
                <a:effectLst/>
                <a:latin typeface="ff0"/>
              </a:rPr>
              <a:t>SI: fundamental Units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300" b="0" i="0" u="none" strike="noStrike" cap="none" normalizeH="0" baseline="0">
                <a:ln>
                  <a:noFill/>
                </a:ln>
                <a:solidFill>
                  <a:srgbClr val="FFFF00"/>
                </a:solidFill>
                <a:effectLst/>
                <a:latin typeface="ff12"/>
              </a:rPr>
              <a:t>Physical Quantity Unit Name Symbol</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0" b="0" i="0" u="none" strike="noStrike" cap="none" normalizeH="0" baseline="0">
                <a:ln>
                  <a:noFill/>
                </a:ln>
                <a:solidFill>
                  <a:srgbClr val="FFFFFF"/>
                </a:solidFill>
                <a:effectLst/>
                <a:latin typeface="ff8"/>
              </a:rPr>
              <a:t>Length meter mMass kilogram kgtime second selectric current ampere Atemperature Kelvin Kamount of substance mole molluminous intensity candela cd</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Roboto"/>
              </a:rPr>
              <a:t>  </a:t>
            </a:r>
            <a:r>
              <a:rPr kumimoji="0" lang="en-US" altLang="en-US" sz="1900" b="0" i="0" u="none" strike="noStrike" cap="none" normalizeH="0" baseline="0">
                <a:ln>
                  <a:noFill/>
                </a:ln>
                <a:solidFill>
                  <a:srgbClr val="000000"/>
                </a:solidFill>
                <a:effectLst/>
                <a:latin typeface="Roboto"/>
              </a:rPr>
              <a:t> </a:t>
            </a:r>
            <a:r>
              <a:rPr kumimoji="0" lang="en-US" altLang="en-US" sz="1200" b="0" i="0" u="none" strike="noStrike" cap="none" normalizeH="0" baseline="0">
                <a:ln>
                  <a:noFill/>
                </a:ln>
                <a:solidFill>
                  <a:srgbClr val="000000"/>
                </a:solidFill>
                <a:effectLst/>
                <a:latin typeface="Roboto"/>
              </a:rPr>
              <a:t>      </a:t>
            </a:r>
          </a:p>
        </p:txBody>
      </p:sp>
      <p:sp>
        <p:nvSpPr>
          <p:cNvPr id="4" name="AutoShape 2" descr="https://html.scribdassets.com/4xjm87c3gg827sbm/images/8-c8fcce0a58.jpg"/>
          <p:cNvSpPr>
            <a:spLocks noChangeAspect="1" noChangeArrowheads="1"/>
          </p:cNvSpPr>
          <p:nvPr/>
        </p:nvSpPr>
        <p:spPr bwMode="auto">
          <a:xfrm>
            <a:off x="42863" y="3330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Tree>
    <p:extLst>
      <p:ext uri="{BB962C8B-B14F-4D97-AF65-F5344CB8AC3E}">
        <p14:creationId xmlns:p14="http://schemas.microsoft.com/office/powerpoint/2010/main" val="1269315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buNone/>
            </a:pPr>
            <a:r>
              <a:rPr lang="en-PH" sz="4400" dirty="0"/>
              <a:t>MEASUREMENT STANDARDS</a:t>
            </a:r>
          </a:p>
          <a:p>
            <a:pPr marL="0" indent="0">
              <a:buNone/>
            </a:pPr>
            <a:endParaRPr lang="en-PH" sz="4400" dirty="0"/>
          </a:p>
          <a:p>
            <a:pPr marL="0" indent="0">
              <a:buNone/>
            </a:pPr>
            <a:r>
              <a:rPr lang="en-PH" sz="4400" dirty="0"/>
              <a:t>Primary standards</a:t>
            </a:r>
          </a:p>
          <a:p>
            <a:pPr marL="0" indent="0">
              <a:buNone/>
            </a:pPr>
            <a:r>
              <a:rPr lang="en-PH" sz="4400" dirty="0"/>
              <a:t> Principal functions is the calibration and  </a:t>
            </a:r>
          </a:p>
          <a:p>
            <a:pPr marL="0" indent="0">
              <a:buNone/>
            </a:pPr>
            <a:r>
              <a:rPr lang="en-PH" sz="4400" dirty="0"/>
              <a:t> verification of Secondary standards,</a:t>
            </a:r>
          </a:p>
          <a:p>
            <a:pPr marL="0" indent="0">
              <a:buNone/>
            </a:pPr>
            <a:r>
              <a:rPr lang="en-PH" sz="4400" dirty="0"/>
              <a:t> National Standards Laboratory</a:t>
            </a:r>
            <a:br>
              <a:rPr lang="en-PH" sz="4400" dirty="0"/>
            </a:br>
            <a:br>
              <a:rPr lang="en-PH" sz="4400" dirty="0"/>
            </a:br>
            <a:endParaRPr lang="en-PH" sz="4400" dirty="0"/>
          </a:p>
        </p:txBody>
      </p:sp>
      <p:sp>
        <p:nvSpPr>
          <p:cNvPr id="2" name="Rectangle 1"/>
          <p:cNvSpPr>
            <a:spLocks noChangeArrowheads="1"/>
          </p:cNvSpPr>
          <p:nvPr/>
        </p:nvSpPr>
        <p:spPr bwMode="auto">
          <a:xfrm>
            <a:off x="0" y="0"/>
            <a:ext cx="0" cy="0"/>
          </a:xfrm>
          <a:prstGeom prst="rect">
            <a:avLst/>
          </a:prstGeom>
          <a:solidFill>
            <a:srgbClr val="F3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900" b="1" i="0" u="none" strike="noStrike" cap="none" normalizeH="0" baseline="0">
                <a:ln>
                  <a:noFill/>
                </a:ln>
                <a:solidFill>
                  <a:srgbClr val="000000"/>
                </a:solidFill>
                <a:effectLst/>
                <a:latin typeface="ff6"/>
              </a:rPr>
              <a:t>Units and standards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400" b="0" i="0" u="none" strike="noStrike" cap="none" normalizeH="0" baseline="0">
                <a:ln>
                  <a:noFill/>
                </a:ln>
                <a:solidFill>
                  <a:srgbClr val="000000"/>
                </a:solidFill>
                <a:effectLst/>
                <a:latin typeface="ff0"/>
              </a:rPr>
              <a:t>SI: fundamental Units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300" b="0" i="0" u="none" strike="noStrike" cap="none" normalizeH="0" baseline="0">
                <a:ln>
                  <a:noFill/>
                </a:ln>
                <a:solidFill>
                  <a:srgbClr val="FFFF00"/>
                </a:solidFill>
                <a:effectLst/>
                <a:latin typeface="ff12"/>
              </a:rPr>
              <a:t>Physical Quantity Unit Name Symbol</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0" b="0" i="0" u="none" strike="noStrike" cap="none" normalizeH="0" baseline="0">
                <a:ln>
                  <a:noFill/>
                </a:ln>
                <a:solidFill>
                  <a:srgbClr val="FFFFFF"/>
                </a:solidFill>
                <a:effectLst/>
                <a:latin typeface="ff8"/>
              </a:rPr>
              <a:t>Length meter mMass kilogram kgtime second selectric current ampere Atemperature Kelvin Kamount of substance mole molluminous intensity candela cd</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Roboto"/>
              </a:rPr>
              <a:t>  </a:t>
            </a:r>
            <a:r>
              <a:rPr kumimoji="0" lang="en-US" altLang="en-US" sz="1900" b="0" i="0" u="none" strike="noStrike" cap="none" normalizeH="0" baseline="0">
                <a:ln>
                  <a:noFill/>
                </a:ln>
                <a:solidFill>
                  <a:srgbClr val="000000"/>
                </a:solidFill>
                <a:effectLst/>
                <a:latin typeface="Roboto"/>
              </a:rPr>
              <a:t> </a:t>
            </a:r>
            <a:r>
              <a:rPr kumimoji="0" lang="en-US" altLang="en-US" sz="1200" b="0" i="0" u="none" strike="noStrike" cap="none" normalizeH="0" baseline="0">
                <a:ln>
                  <a:noFill/>
                </a:ln>
                <a:solidFill>
                  <a:srgbClr val="000000"/>
                </a:solidFill>
                <a:effectLst/>
                <a:latin typeface="Roboto"/>
              </a:rPr>
              <a:t>      </a:t>
            </a:r>
          </a:p>
        </p:txBody>
      </p:sp>
      <p:sp>
        <p:nvSpPr>
          <p:cNvPr id="4" name="AutoShape 2" descr="https://html.scribdassets.com/4xjm87c3gg827sbm/images/8-c8fcce0a58.jpg"/>
          <p:cNvSpPr>
            <a:spLocks noChangeAspect="1" noChangeArrowheads="1"/>
          </p:cNvSpPr>
          <p:nvPr/>
        </p:nvSpPr>
        <p:spPr bwMode="auto">
          <a:xfrm>
            <a:off x="42863" y="3330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Tree>
    <p:extLst>
      <p:ext uri="{BB962C8B-B14F-4D97-AF65-F5344CB8AC3E}">
        <p14:creationId xmlns:p14="http://schemas.microsoft.com/office/powerpoint/2010/main" val="3386483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buNone/>
            </a:pPr>
            <a:r>
              <a:rPr lang="en-PH" sz="4400" dirty="0"/>
              <a:t>MEASUREMENT STANDARDS</a:t>
            </a:r>
          </a:p>
          <a:p>
            <a:pPr marL="0" indent="0">
              <a:buNone/>
            </a:pPr>
            <a:endParaRPr lang="en-PH" sz="4400" dirty="0"/>
          </a:p>
          <a:p>
            <a:pPr marL="0" indent="0">
              <a:buNone/>
            </a:pPr>
            <a:r>
              <a:rPr lang="en-PH" sz="4400" dirty="0"/>
              <a:t>Secondary standards</a:t>
            </a:r>
          </a:p>
          <a:p>
            <a:pPr marL="0" indent="0">
              <a:buNone/>
            </a:pPr>
            <a:r>
              <a:rPr lang="en-PH" sz="4400" dirty="0"/>
              <a:t> Basic reference standards,</a:t>
            </a:r>
          </a:p>
          <a:p>
            <a:pPr marL="0" indent="0">
              <a:buNone/>
            </a:pPr>
            <a:r>
              <a:rPr lang="en-PH" sz="4400" dirty="0"/>
              <a:t> Industrial Laboratory</a:t>
            </a:r>
          </a:p>
          <a:p>
            <a:pPr marL="0" indent="0">
              <a:buNone/>
            </a:pPr>
            <a:endParaRPr lang="en-PH" sz="4400" dirty="0"/>
          </a:p>
          <a:p>
            <a:pPr marL="0" indent="0">
              <a:buNone/>
            </a:pPr>
            <a:r>
              <a:rPr lang="en-PH" sz="4400" dirty="0"/>
              <a:t>Working standards</a:t>
            </a:r>
          </a:p>
          <a:p>
            <a:pPr marL="0" indent="0">
              <a:buNone/>
            </a:pPr>
            <a:r>
              <a:rPr lang="en-PH" sz="4400" dirty="0"/>
              <a:t> Principal tools of a measurement laboratory</a:t>
            </a:r>
          </a:p>
        </p:txBody>
      </p:sp>
      <p:sp>
        <p:nvSpPr>
          <p:cNvPr id="2" name="Rectangle 1"/>
          <p:cNvSpPr>
            <a:spLocks noChangeArrowheads="1"/>
          </p:cNvSpPr>
          <p:nvPr/>
        </p:nvSpPr>
        <p:spPr bwMode="auto">
          <a:xfrm>
            <a:off x="0" y="0"/>
            <a:ext cx="0" cy="0"/>
          </a:xfrm>
          <a:prstGeom prst="rect">
            <a:avLst/>
          </a:prstGeom>
          <a:solidFill>
            <a:srgbClr val="F3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900" b="1" i="0" u="none" strike="noStrike" cap="none" normalizeH="0" baseline="0">
                <a:ln>
                  <a:noFill/>
                </a:ln>
                <a:solidFill>
                  <a:srgbClr val="000000"/>
                </a:solidFill>
                <a:effectLst/>
                <a:latin typeface="ff6"/>
              </a:rPr>
              <a:t>Units and standards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400" b="0" i="0" u="none" strike="noStrike" cap="none" normalizeH="0" baseline="0">
                <a:ln>
                  <a:noFill/>
                </a:ln>
                <a:solidFill>
                  <a:srgbClr val="000000"/>
                </a:solidFill>
                <a:effectLst/>
                <a:latin typeface="ff0"/>
              </a:rPr>
              <a:t>SI: fundamental Units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300" b="0" i="0" u="none" strike="noStrike" cap="none" normalizeH="0" baseline="0">
                <a:ln>
                  <a:noFill/>
                </a:ln>
                <a:solidFill>
                  <a:srgbClr val="FFFF00"/>
                </a:solidFill>
                <a:effectLst/>
                <a:latin typeface="ff12"/>
              </a:rPr>
              <a:t>Physical Quantity Unit Name Symbol</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0" b="0" i="0" u="none" strike="noStrike" cap="none" normalizeH="0" baseline="0">
                <a:ln>
                  <a:noFill/>
                </a:ln>
                <a:solidFill>
                  <a:srgbClr val="FFFFFF"/>
                </a:solidFill>
                <a:effectLst/>
                <a:latin typeface="ff8"/>
              </a:rPr>
              <a:t>Length meter mMass kilogram kgtime second selectric current ampere Atemperature Kelvin Kamount of substance mole molluminous intensity candela cd</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Roboto"/>
              </a:rPr>
              <a:t>  </a:t>
            </a:r>
            <a:r>
              <a:rPr kumimoji="0" lang="en-US" altLang="en-US" sz="1900" b="0" i="0" u="none" strike="noStrike" cap="none" normalizeH="0" baseline="0">
                <a:ln>
                  <a:noFill/>
                </a:ln>
                <a:solidFill>
                  <a:srgbClr val="000000"/>
                </a:solidFill>
                <a:effectLst/>
                <a:latin typeface="Roboto"/>
              </a:rPr>
              <a:t> </a:t>
            </a:r>
            <a:r>
              <a:rPr kumimoji="0" lang="en-US" altLang="en-US" sz="1200" b="0" i="0" u="none" strike="noStrike" cap="none" normalizeH="0" baseline="0">
                <a:ln>
                  <a:noFill/>
                </a:ln>
                <a:solidFill>
                  <a:srgbClr val="000000"/>
                </a:solidFill>
                <a:effectLst/>
                <a:latin typeface="Roboto"/>
              </a:rPr>
              <a:t>      </a:t>
            </a:r>
          </a:p>
        </p:txBody>
      </p:sp>
      <p:sp>
        <p:nvSpPr>
          <p:cNvPr id="4" name="AutoShape 2" descr="https://html.scribdassets.com/4xjm87c3gg827sbm/images/8-c8fcce0a58.jpg"/>
          <p:cNvSpPr>
            <a:spLocks noChangeAspect="1" noChangeArrowheads="1"/>
          </p:cNvSpPr>
          <p:nvPr/>
        </p:nvSpPr>
        <p:spPr bwMode="auto">
          <a:xfrm>
            <a:off x="42863" y="3330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Tree>
    <p:extLst>
      <p:ext uri="{BB962C8B-B14F-4D97-AF65-F5344CB8AC3E}">
        <p14:creationId xmlns:p14="http://schemas.microsoft.com/office/powerpoint/2010/main" val="1211454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buNone/>
            </a:pPr>
            <a:r>
              <a:rPr lang="en-PH" sz="4400" b="1" dirty="0"/>
              <a:t>Characteristics of Measuring Instrument</a:t>
            </a:r>
          </a:p>
          <a:p>
            <a:pPr marL="0" indent="0">
              <a:buNone/>
            </a:pPr>
            <a:endParaRPr lang="en-PH" sz="4400" dirty="0"/>
          </a:p>
          <a:p>
            <a:pPr marL="0" indent="0">
              <a:buNone/>
            </a:pPr>
            <a:r>
              <a:rPr lang="en-PH" sz="4400" dirty="0">
                <a:solidFill>
                  <a:srgbClr val="C00000"/>
                </a:solidFill>
              </a:rPr>
              <a:t>Readability</a:t>
            </a:r>
          </a:p>
          <a:p>
            <a:pPr marL="0" indent="0">
              <a:buNone/>
            </a:pPr>
            <a:r>
              <a:rPr lang="en-PH" sz="4400" dirty="0"/>
              <a:t>Is defined as the closeness with which the scale of the analog instrument can be read.</a:t>
            </a:r>
            <a:r>
              <a:rPr lang="en-PH" sz="4400" i="1" dirty="0"/>
              <a:t> </a:t>
            </a:r>
            <a:endParaRPr lang="en-PH" sz="4400" dirty="0"/>
          </a:p>
        </p:txBody>
      </p:sp>
      <p:sp>
        <p:nvSpPr>
          <p:cNvPr id="2" name="Rectangle 1"/>
          <p:cNvSpPr>
            <a:spLocks noChangeArrowheads="1"/>
          </p:cNvSpPr>
          <p:nvPr/>
        </p:nvSpPr>
        <p:spPr bwMode="auto">
          <a:xfrm>
            <a:off x="0" y="0"/>
            <a:ext cx="0" cy="0"/>
          </a:xfrm>
          <a:prstGeom prst="rect">
            <a:avLst/>
          </a:prstGeom>
          <a:solidFill>
            <a:srgbClr val="F3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900" b="1" i="0" u="none" strike="noStrike" cap="none" normalizeH="0" baseline="0">
                <a:ln>
                  <a:noFill/>
                </a:ln>
                <a:solidFill>
                  <a:srgbClr val="000000"/>
                </a:solidFill>
                <a:effectLst/>
                <a:latin typeface="ff6"/>
              </a:rPr>
              <a:t>Units and standards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400" b="0" i="0" u="none" strike="noStrike" cap="none" normalizeH="0" baseline="0">
                <a:ln>
                  <a:noFill/>
                </a:ln>
                <a:solidFill>
                  <a:srgbClr val="000000"/>
                </a:solidFill>
                <a:effectLst/>
                <a:latin typeface="ff0"/>
              </a:rPr>
              <a:t>SI: fundamental Units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300" b="0" i="0" u="none" strike="noStrike" cap="none" normalizeH="0" baseline="0">
                <a:ln>
                  <a:noFill/>
                </a:ln>
                <a:solidFill>
                  <a:srgbClr val="FFFF00"/>
                </a:solidFill>
                <a:effectLst/>
                <a:latin typeface="ff12"/>
              </a:rPr>
              <a:t>Physical Quantity Unit Name Symbol</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0" b="0" i="0" u="none" strike="noStrike" cap="none" normalizeH="0" baseline="0">
                <a:ln>
                  <a:noFill/>
                </a:ln>
                <a:solidFill>
                  <a:srgbClr val="FFFFFF"/>
                </a:solidFill>
                <a:effectLst/>
                <a:latin typeface="ff8"/>
              </a:rPr>
              <a:t>Length meter mMass kilogram kgtime second selectric current ampere Atemperature Kelvin Kamount of substance mole molluminous intensity candela cd</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Roboto"/>
              </a:rPr>
              <a:t>  </a:t>
            </a:r>
            <a:r>
              <a:rPr kumimoji="0" lang="en-US" altLang="en-US" sz="1900" b="0" i="0" u="none" strike="noStrike" cap="none" normalizeH="0" baseline="0">
                <a:ln>
                  <a:noFill/>
                </a:ln>
                <a:solidFill>
                  <a:srgbClr val="000000"/>
                </a:solidFill>
                <a:effectLst/>
                <a:latin typeface="Roboto"/>
              </a:rPr>
              <a:t> </a:t>
            </a:r>
            <a:r>
              <a:rPr kumimoji="0" lang="en-US" altLang="en-US" sz="1200" b="0" i="0" u="none" strike="noStrike" cap="none" normalizeH="0" baseline="0">
                <a:ln>
                  <a:noFill/>
                </a:ln>
                <a:solidFill>
                  <a:srgbClr val="000000"/>
                </a:solidFill>
                <a:effectLst/>
                <a:latin typeface="Roboto"/>
              </a:rPr>
              <a:t>      </a:t>
            </a:r>
          </a:p>
        </p:txBody>
      </p:sp>
      <p:sp>
        <p:nvSpPr>
          <p:cNvPr id="4" name="AutoShape 2" descr="https://html.scribdassets.com/4xjm87c3gg827sbm/images/8-c8fcce0a58.jpg"/>
          <p:cNvSpPr>
            <a:spLocks noChangeAspect="1" noChangeArrowheads="1"/>
          </p:cNvSpPr>
          <p:nvPr/>
        </p:nvSpPr>
        <p:spPr bwMode="auto">
          <a:xfrm>
            <a:off x="42863" y="3330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Tree>
    <p:extLst>
      <p:ext uri="{BB962C8B-B14F-4D97-AF65-F5344CB8AC3E}">
        <p14:creationId xmlns:p14="http://schemas.microsoft.com/office/powerpoint/2010/main" val="42447077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buNone/>
            </a:pPr>
            <a:r>
              <a:rPr lang="en-PH" sz="4400" dirty="0"/>
              <a:t>Characteristics of Measuring Instrument</a:t>
            </a:r>
          </a:p>
          <a:p>
            <a:pPr marL="0" indent="0">
              <a:buNone/>
            </a:pPr>
            <a:endParaRPr lang="en-PH" sz="4400" dirty="0"/>
          </a:p>
          <a:p>
            <a:pPr marL="0" indent="0">
              <a:buNone/>
            </a:pPr>
            <a:r>
              <a:rPr lang="en-PH" sz="4400" dirty="0">
                <a:solidFill>
                  <a:srgbClr val="C00000"/>
                </a:solidFill>
              </a:rPr>
              <a:t>Range of accuracy</a:t>
            </a:r>
          </a:p>
          <a:p>
            <a:pPr marL="0" indent="0">
              <a:buNone/>
            </a:pPr>
            <a:r>
              <a:rPr lang="en-PH" sz="4400" dirty="0">
                <a:solidFill>
                  <a:srgbClr val="C00000"/>
                </a:solidFill>
              </a:rPr>
              <a:t>Accuracy</a:t>
            </a:r>
            <a:r>
              <a:rPr lang="en-PH" sz="4400" dirty="0"/>
              <a:t> of a measuring system is defined as the closeness of the instrument output to the true value of the measured quantity.</a:t>
            </a:r>
          </a:p>
          <a:p>
            <a:pPr marL="0" indent="0">
              <a:buNone/>
            </a:pPr>
            <a:endParaRPr lang="en-PH" sz="4400" dirty="0"/>
          </a:p>
          <a:p>
            <a:pPr marL="0" indent="0">
              <a:buNone/>
            </a:pPr>
            <a:r>
              <a:rPr lang="en-PH" sz="4400" dirty="0"/>
              <a:t>Accuracy is the quality of conformity.</a:t>
            </a:r>
          </a:p>
        </p:txBody>
      </p:sp>
      <p:sp>
        <p:nvSpPr>
          <p:cNvPr id="2" name="Rectangle 1"/>
          <p:cNvSpPr>
            <a:spLocks noChangeArrowheads="1"/>
          </p:cNvSpPr>
          <p:nvPr/>
        </p:nvSpPr>
        <p:spPr bwMode="auto">
          <a:xfrm>
            <a:off x="0" y="0"/>
            <a:ext cx="0" cy="0"/>
          </a:xfrm>
          <a:prstGeom prst="rect">
            <a:avLst/>
          </a:prstGeom>
          <a:solidFill>
            <a:srgbClr val="F3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900" b="1" i="0" u="none" strike="noStrike" cap="none" normalizeH="0" baseline="0">
                <a:ln>
                  <a:noFill/>
                </a:ln>
                <a:solidFill>
                  <a:srgbClr val="000000"/>
                </a:solidFill>
                <a:effectLst/>
                <a:latin typeface="ff6"/>
              </a:rPr>
              <a:t>Units and standards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400" b="0" i="0" u="none" strike="noStrike" cap="none" normalizeH="0" baseline="0">
                <a:ln>
                  <a:noFill/>
                </a:ln>
                <a:solidFill>
                  <a:srgbClr val="000000"/>
                </a:solidFill>
                <a:effectLst/>
                <a:latin typeface="ff0"/>
              </a:rPr>
              <a:t>SI: fundamental Units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300" b="0" i="0" u="none" strike="noStrike" cap="none" normalizeH="0" baseline="0">
                <a:ln>
                  <a:noFill/>
                </a:ln>
                <a:solidFill>
                  <a:srgbClr val="FFFF00"/>
                </a:solidFill>
                <a:effectLst/>
                <a:latin typeface="ff12"/>
              </a:rPr>
              <a:t>Physical Quantity Unit Name Symbol</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0" b="0" i="0" u="none" strike="noStrike" cap="none" normalizeH="0" baseline="0">
                <a:ln>
                  <a:noFill/>
                </a:ln>
                <a:solidFill>
                  <a:srgbClr val="FFFFFF"/>
                </a:solidFill>
                <a:effectLst/>
                <a:latin typeface="ff8"/>
              </a:rPr>
              <a:t>Length meter mMass kilogram kgtime second selectric current ampere Atemperature Kelvin Kamount of substance mole molluminous intensity candela cd</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Roboto"/>
              </a:rPr>
              <a:t>  </a:t>
            </a:r>
            <a:r>
              <a:rPr kumimoji="0" lang="en-US" altLang="en-US" sz="1900" b="0" i="0" u="none" strike="noStrike" cap="none" normalizeH="0" baseline="0">
                <a:ln>
                  <a:noFill/>
                </a:ln>
                <a:solidFill>
                  <a:srgbClr val="000000"/>
                </a:solidFill>
                <a:effectLst/>
                <a:latin typeface="Roboto"/>
              </a:rPr>
              <a:t> </a:t>
            </a:r>
            <a:r>
              <a:rPr kumimoji="0" lang="en-US" altLang="en-US" sz="1200" b="0" i="0" u="none" strike="noStrike" cap="none" normalizeH="0" baseline="0">
                <a:ln>
                  <a:noFill/>
                </a:ln>
                <a:solidFill>
                  <a:srgbClr val="000000"/>
                </a:solidFill>
                <a:effectLst/>
                <a:latin typeface="Roboto"/>
              </a:rPr>
              <a:t>      </a:t>
            </a:r>
          </a:p>
        </p:txBody>
      </p:sp>
      <p:sp>
        <p:nvSpPr>
          <p:cNvPr id="4" name="AutoShape 2" descr="https://html.scribdassets.com/4xjm87c3gg827sbm/images/8-c8fcce0a58.jpg"/>
          <p:cNvSpPr>
            <a:spLocks noChangeAspect="1" noChangeArrowheads="1"/>
          </p:cNvSpPr>
          <p:nvPr/>
        </p:nvSpPr>
        <p:spPr bwMode="auto">
          <a:xfrm>
            <a:off x="42863" y="3330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Tree>
    <p:extLst>
      <p:ext uri="{BB962C8B-B14F-4D97-AF65-F5344CB8AC3E}">
        <p14:creationId xmlns:p14="http://schemas.microsoft.com/office/powerpoint/2010/main" val="2650442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buNone/>
            </a:pPr>
            <a:r>
              <a:rPr lang="en-PH" sz="4400" dirty="0"/>
              <a:t>Characteristics of Measuring Instrument</a:t>
            </a:r>
          </a:p>
          <a:p>
            <a:pPr marL="0" indent="0">
              <a:buNone/>
            </a:pPr>
            <a:endParaRPr lang="en-PH" sz="4400" dirty="0"/>
          </a:p>
          <a:p>
            <a:pPr marL="0" indent="0">
              <a:buNone/>
            </a:pPr>
            <a:r>
              <a:rPr lang="en-PH" sz="4400" dirty="0">
                <a:solidFill>
                  <a:srgbClr val="C00000"/>
                </a:solidFill>
              </a:rPr>
              <a:t>Precision</a:t>
            </a:r>
          </a:p>
          <a:p>
            <a:pPr marL="0" indent="0">
              <a:buNone/>
            </a:pPr>
            <a:r>
              <a:rPr lang="en-PH" sz="4400" dirty="0"/>
              <a:t>Is defined as the ability of the instrument to reproduce a certain set of readings within a given accuracy</a:t>
            </a:r>
          </a:p>
          <a:p>
            <a:pPr marL="0" indent="0">
              <a:buNone/>
            </a:pPr>
            <a:r>
              <a:rPr lang="en-PH" sz="4400" dirty="0"/>
              <a:t>The precision of a measurement depends on the instrument used to measure it.</a:t>
            </a:r>
            <a:br>
              <a:rPr lang="en-PH" sz="4400" dirty="0"/>
            </a:br>
            <a:endParaRPr lang="en-PH" sz="4400" dirty="0"/>
          </a:p>
        </p:txBody>
      </p:sp>
      <p:sp>
        <p:nvSpPr>
          <p:cNvPr id="2" name="Rectangle 1"/>
          <p:cNvSpPr>
            <a:spLocks noChangeArrowheads="1"/>
          </p:cNvSpPr>
          <p:nvPr/>
        </p:nvSpPr>
        <p:spPr bwMode="auto">
          <a:xfrm>
            <a:off x="0" y="0"/>
            <a:ext cx="0" cy="0"/>
          </a:xfrm>
          <a:prstGeom prst="rect">
            <a:avLst/>
          </a:prstGeom>
          <a:solidFill>
            <a:srgbClr val="F3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900" b="1" i="0" u="none" strike="noStrike" cap="none" normalizeH="0" baseline="0">
                <a:ln>
                  <a:noFill/>
                </a:ln>
                <a:solidFill>
                  <a:srgbClr val="000000"/>
                </a:solidFill>
                <a:effectLst/>
                <a:latin typeface="ff6"/>
              </a:rPr>
              <a:t>Units and standards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400" b="0" i="0" u="none" strike="noStrike" cap="none" normalizeH="0" baseline="0">
                <a:ln>
                  <a:noFill/>
                </a:ln>
                <a:solidFill>
                  <a:srgbClr val="000000"/>
                </a:solidFill>
                <a:effectLst/>
                <a:latin typeface="ff0"/>
              </a:rPr>
              <a:t>SI: fundamental Units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300" b="0" i="0" u="none" strike="noStrike" cap="none" normalizeH="0" baseline="0">
                <a:ln>
                  <a:noFill/>
                </a:ln>
                <a:solidFill>
                  <a:srgbClr val="FFFF00"/>
                </a:solidFill>
                <a:effectLst/>
                <a:latin typeface="ff12"/>
              </a:rPr>
              <a:t>Physical Quantity Unit Name Symbol</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0" b="0" i="0" u="none" strike="noStrike" cap="none" normalizeH="0" baseline="0">
                <a:ln>
                  <a:noFill/>
                </a:ln>
                <a:solidFill>
                  <a:srgbClr val="FFFFFF"/>
                </a:solidFill>
                <a:effectLst/>
                <a:latin typeface="ff8"/>
              </a:rPr>
              <a:t>Length meter mMass kilogram kgtime second selectric current ampere Atemperature Kelvin Kamount of substance mole molluminous intensity candela cd</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Roboto"/>
              </a:rPr>
              <a:t>  </a:t>
            </a:r>
            <a:r>
              <a:rPr kumimoji="0" lang="en-US" altLang="en-US" sz="1900" b="0" i="0" u="none" strike="noStrike" cap="none" normalizeH="0" baseline="0">
                <a:ln>
                  <a:noFill/>
                </a:ln>
                <a:solidFill>
                  <a:srgbClr val="000000"/>
                </a:solidFill>
                <a:effectLst/>
                <a:latin typeface="Roboto"/>
              </a:rPr>
              <a:t> </a:t>
            </a:r>
            <a:r>
              <a:rPr kumimoji="0" lang="en-US" altLang="en-US" sz="1200" b="0" i="0" u="none" strike="noStrike" cap="none" normalizeH="0" baseline="0">
                <a:ln>
                  <a:noFill/>
                </a:ln>
                <a:solidFill>
                  <a:srgbClr val="000000"/>
                </a:solidFill>
                <a:effectLst/>
                <a:latin typeface="Roboto"/>
              </a:rPr>
              <a:t>      </a:t>
            </a:r>
          </a:p>
        </p:txBody>
      </p:sp>
      <p:sp>
        <p:nvSpPr>
          <p:cNvPr id="4" name="AutoShape 2" descr="https://html.scribdassets.com/4xjm87c3gg827sbm/images/8-c8fcce0a58.jpg"/>
          <p:cNvSpPr>
            <a:spLocks noChangeAspect="1" noChangeArrowheads="1"/>
          </p:cNvSpPr>
          <p:nvPr/>
        </p:nvSpPr>
        <p:spPr bwMode="auto">
          <a:xfrm>
            <a:off x="42863" y="3330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Tree>
    <p:extLst>
      <p:ext uri="{BB962C8B-B14F-4D97-AF65-F5344CB8AC3E}">
        <p14:creationId xmlns:p14="http://schemas.microsoft.com/office/powerpoint/2010/main" val="1266678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buNone/>
            </a:pPr>
            <a:r>
              <a:rPr lang="en-PH" sz="4400" dirty="0">
                <a:solidFill>
                  <a:srgbClr val="C00000"/>
                </a:solidFill>
              </a:rPr>
              <a:t>Error</a:t>
            </a:r>
          </a:p>
          <a:p>
            <a:pPr marL="0" indent="0">
              <a:buNone/>
            </a:pPr>
            <a:r>
              <a:rPr lang="en-PH" sz="4400" dirty="0"/>
              <a:t>Is the deviation of the true value from the desired value.</a:t>
            </a:r>
          </a:p>
          <a:p>
            <a:pPr marL="0" indent="0">
              <a:buNone/>
            </a:pPr>
            <a:r>
              <a:rPr lang="en-PH" sz="4400" dirty="0"/>
              <a:t>Measurement error can be random or systematic and it affects the quality of measurements and the reliability of statistical analyses.</a:t>
            </a:r>
          </a:p>
        </p:txBody>
      </p:sp>
      <p:sp>
        <p:nvSpPr>
          <p:cNvPr id="2" name="Rectangle 1"/>
          <p:cNvSpPr>
            <a:spLocks noChangeArrowheads="1"/>
          </p:cNvSpPr>
          <p:nvPr/>
        </p:nvSpPr>
        <p:spPr bwMode="auto">
          <a:xfrm>
            <a:off x="0" y="0"/>
            <a:ext cx="0" cy="0"/>
          </a:xfrm>
          <a:prstGeom prst="rect">
            <a:avLst/>
          </a:prstGeom>
          <a:solidFill>
            <a:srgbClr val="F3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900" b="1" i="0" u="none" strike="noStrike" cap="none" normalizeH="0" baseline="0">
                <a:ln>
                  <a:noFill/>
                </a:ln>
                <a:solidFill>
                  <a:srgbClr val="000000"/>
                </a:solidFill>
                <a:effectLst/>
                <a:latin typeface="ff6"/>
              </a:rPr>
              <a:t>Units and standards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400" b="0" i="0" u="none" strike="noStrike" cap="none" normalizeH="0" baseline="0">
                <a:ln>
                  <a:noFill/>
                </a:ln>
                <a:solidFill>
                  <a:srgbClr val="000000"/>
                </a:solidFill>
                <a:effectLst/>
                <a:latin typeface="ff0"/>
              </a:rPr>
              <a:t>SI: fundamental Units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300" b="0" i="0" u="none" strike="noStrike" cap="none" normalizeH="0" baseline="0">
                <a:ln>
                  <a:noFill/>
                </a:ln>
                <a:solidFill>
                  <a:srgbClr val="FFFF00"/>
                </a:solidFill>
                <a:effectLst/>
                <a:latin typeface="ff12"/>
              </a:rPr>
              <a:t>Physical Quantity Unit Name Symbol</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0" b="0" i="0" u="none" strike="noStrike" cap="none" normalizeH="0" baseline="0">
                <a:ln>
                  <a:noFill/>
                </a:ln>
                <a:solidFill>
                  <a:srgbClr val="FFFFFF"/>
                </a:solidFill>
                <a:effectLst/>
                <a:latin typeface="ff8"/>
              </a:rPr>
              <a:t>Length meter mMass kilogram kgtime second selectric current ampere Atemperature Kelvin Kamount of substance mole molluminous intensity candela cd</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Roboto"/>
              </a:rPr>
              <a:t>  </a:t>
            </a:r>
            <a:r>
              <a:rPr kumimoji="0" lang="en-US" altLang="en-US" sz="1900" b="0" i="0" u="none" strike="noStrike" cap="none" normalizeH="0" baseline="0">
                <a:ln>
                  <a:noFill/>
                </a:ln>
                <a:solidFill>
                  <a:srgbClr val="000000"/>
                </a:solidFill>
                <a:effectLst/>
                <a:latin typeface="Roboto"/>
              </a:rPr>
              <a:t> </a:t>
            </a:r>
            <a:r>
              <a:rPr kumimoji="0" lang="en-US" altLang="en-US" sz="1200" b="0" i="0" u="none" strike="noStrike" cap="none" normalizeH="0" baseline="0">
                <a:ln>
                  <a:noFill/>
                </a:ln>
                <a:solidFill>
                  <a:srgbClr val="000000"/>
                </a:solidFill>
                <a:effectLst/>
                <a:latin typeface="Roboto"/>
              </a:rPr>
              <a:t>      </a:t>
            </a:r>
          </a:p>
        </p:txBody>
      </p:sp>
      <p:sp>
        <p:nvSpPr>
          <p:cNvPr id="4" name="AutoShape 2" descr="https://html.scribdassets.com/4xjm87c3gg827sbm/images/8-c8fcce0a58.jpg"/>
          <p:cNvSpPr>
            <a:spLocks noChangeAspect="1" noChangeArrowheads="1"/>
          </p:cNvSpPr>
          <p:nvPr/>
        </p:nvSpPr>
        <p:spPr bwMode="auto">
          <a:xfrm>
            <a:off x="42863" y="3330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Tree>
    <p:extLst>
      <p:ext uri="{BB962C8B-B14F-4D97-AF65-F5344CB8AC3E}">
        <p14:creationId xmlns:p14="http://schemas.microsoft.com/office/powerpoint/2010/main" val="2074847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lgn="ctr">
              <a:buNone/>
            </a:pPr>
            <a:r>
              <a:rPr lang="en-PH" sz="4400" dirty="0"/>
              <a:t>Types of Errors</a:t>
            </a:r>
          </a:p>
          <a:p>
            <a:pPr marL="0" indent="0" algn="ctr">
              <a:buNone/>
            </a:pPr>
            <a:endParaRPr lang="en-PH" sz="4400" dirty="0"/>
          </a:p>
          <a:p>
            <a:pPr marL="0" indent="0" algn="ctr">
              <a:buNone/>
            </a:pPr>
            <a:r>
              <a:rPr lang="en-PH" sz="4400" dirty="0"/>
              <a:t>Error of Measurement</a:t>
            </a:r>
          </a:p>
          <a:p>
            <a:pPr marL="0" indent="0" algn="ctr">
              <a:buNone/>
            </a:pPr>
            <a:r>
              <a:rPr lang="en-PH" sz="4400" dirty="0"/>
              <a:t>Instrumental Error</a:t>
            </a:r>
          </a:p>
          <a:p>
            <a:pPr marL="0" indent="0" algn="ctr">
              <a:buNone/>
            </a:pPr>
            <a:r>
              <a:rPr lang="en-PH" sz="4400" dirty="0"/>
              <a:t>Error of Observation</a:t>
            </a:r>
          </a:p>
          <a:p>
            <a:pPr marL="0" indent="0" algn="ctr">
              <a:buNone/>
            </a:pPr>
            <a:r>
              <a:rPr lang="en-PH" sz="4400" dirty="0"/>
              <a:t>Based on Nature of Errors</a:t>
            </a:r>
          </a:p>
          <a:p>
            <a:pPr marL="0" indent="0" algn="ctr">
              <a:buNone/>
            </a:pPr>
            <a:r>
              <a:rPr lang="en-PH" sz="4400" dirty="0"/>
              <a:t>Based on Control</a:t>
            </a:r>
            <a:br>
              <a:rPr lang="en-PH" sz="4400" dirty="0"/>
            </a:br>
            <a:br>
              <a:rPr lang="en-PH" sz="4400" dirty="0"/>
            </a:br>
            <a:endParaRPr lang="en-PH" sz="4400" dirty="0"/>
          </a:p>
        </p:txBody>
      </p:sp>
      <p:sp>
        <p:nvSpPr>
          <p:cNvPr id="2" name="Rectangle 1"/>
          <p:cNvSpPr>
            <a:spLocks noChangeArrowheads="1"/>
          </p:cNvSpPr>
          <p:nvPr/>
        </p:nvSpPr>
        <p:spPr bwMode="auto">
          <a:xfrm>
            <a:off x="0" y="0"/>
            <a:ext cx="0" cy="0"/>
          </a:xfrm>
          <a:prstGeom prst="rect">
            <a:avLst/>
          </a:prstGeom>
          <a:solidFill>
            <a:srgbClr val="F3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900" b="1" i="0" u="none" strike="noStrike" cap="none" normalizeH="0" baseline="0">
                <a:ln>
                  <a:noFill/>
                </a:ln>
                <a:solidFill>
                  <a:srgbClr val="000000"/>
                </a:solidFill>
                <a:effectLst/>
                <a:latin typeface="ff6"/>
              </a:rPr>
              <a:t>Units and standards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400" b="0" i="0" u="none" strike="noStrike" cap="none" normalizeH="0" baseline="0">
                <a:ln>
                  <a:noFill/>
                </a:ln>
                <a:solidFill>
                  <a:srgbClr val="000000"/>
                </a:solidFill>
                <a:effectLst/>
                <a:latin typeface="ff0"/>
              </a:rPr>
              <a:t>SI: fundamental Units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300" b="0" i="0" u="none" strike="noStrike" cap="none" normalizeH="0" baseline="0">
                <a:ln>
                  <a:noFill/>
                </a:ln>
                <a:solidFill>
                  <a:srgbClr val="FFFF00"/>
                </a:solidFill>
                <a:effectLst/>
                <a:latin typeface="ff12"/>
              </a:rPr>
              <a:t>Physical Quantity Unit Name Symbol</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0" b="0" i="0" u="none" strike="noStrike" cap="none" normalizeH="0" baseline="0">
                <a:ln>
                  <a:noFill/>
                </a:ln>
                <a:solidFill>
                  <a:srgbClr val="FFFFFF"/>
                </a:solidFill>
                <a:effectLst/>
                <a:latin typeface="ff8"/>
              </a:rPr>
              <a:t>Length meter mMass kilogram kgtime second selectric current ampere Atemperature Kelvin Kamount of substance mole molluminous intensity candela cd</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Roboto"/>
              </a:rPr>
              <a:t>  </a:t>
            </a:r>
            <a:r>
              <a:rPr kumimoji="0" lang="en-US" altLang="en-US" sz="1900" b="0" i="0" u="none" strike="noStrike" cap="none" normalizeH="0" baseline="0">
                <a:ln>
                  <a:noFill/>
                </a:ln>
                <a:solidFill>
                  <a:srgbClr val="000000"/>
                </a:solidFill>
                <a:effectLst/>
                <a:latin typeface="Roboto"/>
              </a:rPr>
              <a:t> </a:t>
            </a:r>
            <a:r>
              <a:rPr kumimoji="0" lang="en-US" altLang="en-US" sz="1200" b="0" i="0" u="none" strike="noStrike" cap="none" normalizeH="0" baseline="0">
                <a:ln>
                  <a:noFill/>
                </a:ln>
                <a:solidFill>
                  <a:srgbClr val="000000"/>
                </a:solidFill>
                <a:effectLst/>
                <a:latin typeface="Roboto"/>
              </a:rPr>
              <a:t>      </a:t>
            </a:r>
          </a:p>
        </p:txBody>
      </p:sp>
      <p:sp>
        <p:nvSpPr>
          <p:cNvPr id="4" name="AutoShape 2" descr="https://html.scribdassets.com/4xjm87c3gg827sbm/images/8-c8fcce0a58.jpg"/>
          <p:cNvSpPr>
            <a:spLocks noChangeAspect="1" noChangeArrowheads="1"/>
          </p:cNvSpPr>
          <p:nvPr/>
        </p:nvSpPr>
        <p:spPr bwMode="auto">
          <a:xfrm>
            <a:off x="42863" y="3330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Tree>
    <p:extLst>
      <p:ext uri="{BB962C8B-B14F-4D97-AF65-F5344CB8AC3E}">
        <p14:creationId xmlns:p14="http://schemas.microsoft.com/office/powerpoint/2010/main" val="4226052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lgn="ctr">
              <a:buNone/>
            </a:pPr>
            <a:r>
              <a:rPr lang="en-PH" sz="4400" b="1" dirty="0"/>
              <a:t>3 Types of Measurement Errors</a:t>
            </a:r>
          </a:p>
          <a:p>
            <a:pPr marL="0" indent="0">
              <a:buNone/>
            </a:pPr>
            <a:r>
              <a:rPr lang="en-PH" sz="4400" dirty="0"/>
              <a:t>1. Gross error</a:t>
            </a:r>
          </a:p>
          <a:p>
            <a:pPr marL="0" indent="0">
              <a:buNone/>
            </a:pPr>
            <a:r>
              <a:rPr lang="en-PH" sz="4400" dirty="0"/>
              <a:t> are generally caused by the instrument users. </a:t>
            </a:r>
          </a:p>
          <a:p>
            <a:pPr marL="0" indent="0">
              <a:buNone/>
            </a:pPr>
            <a:r>
              <a:rPr lang="en-PH" sz="4400" dirty="0"/>
              <a:t>Ex:  incorrect reading of instrument</a:t>
            </a:r>
          </a:p>
          <a:p>
            <a:pPr marL="0" indent="0">
              <a:buNone/>
            </a:pPr>
            <a:r>
              <a:rPr lang="en-PH" sz="4400" dirty="0"/>
              <a:t>	incorrect recording of data</a:t>
            </a:r>
          </a:p>
          <a:p>
            <a:pPr marL="0" indent="0">
              <a:buNone/>
            </a:pPr>
            <a:r>
              <a:rPr lang="en-PH" sz="4400" dirty="0"/>
              <a:t>	incorrect use of instruments</a:t>
            </a:r>
          </a:p>
        </p:txBody>
      </p:sp>
      <p:sp>
        <p:nvSpPr>
          <p:cNvPr id="2" name="Rectangle 1"/>
          <p:cNvSpPr>
            <a:spLocks noChangeArrowheads="1"/>
          </p:cNvSpPr>
          <p:nvPr/>
        </p:nvSpPr>
        <p:spPr bwMode="auto">
          <a:xfrm>
            <a:off x="0" y="0"/>
            <a:ext cx="0" cy="0"/>
          </a:xfrm>
          <a:prstGeom prst="rect">
            <a:avLst/>
          </a:prstGeom>
          <a:solidFill>
            <a:srgbClr val="F3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900" b="1" i="0" u="none" strike="noStrike" cap="none" normalizeH="0" baseline="0">
                <a:ln>
                  <a:noFill/>
                </a:ln>
                <a:solidFill>
                  <a:srgbClr val="000000"/>
                </a:solidFill>
                <a:effectLst/>
                <a:latin typeface="ff6"/>
              </a:rPr>
              <a:t>Units and standards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400" b="0" i="0" u="none" strike="noStrike" cap="none" normalizeH="0" baseline="0">
                <a:ln>
                  <a:noFill/>
                </a:ln>
                <a:solidFill>
                  <a:srgbClr val="000000"/>
                </a:solidFill>
                <a:effectLst/>
                <a:latin typeface="ff0"/>
              </a:rPr>
              <a:t>SI: fundamental Units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300" b="0" i="0" u="none" strike="noStrike" cap="none" normalizeH="0" baseline="0">
                <a:ln>
                  <a:noFill/>
                </a:ln>
                <a:solidFill>
                  <a:srgbClr val="FFFF00"/>
                </a:solidFill>
                <a:effectLst/>
                <a:latin typeface="ff12"/>
              </a:rPr>
              <a:t>Physical Quantity Unit Name Symbol</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0" b="0" i="0" u="none" strike="noStrike" cap="none" normalizeH="0" baseline="0">
                <a:ln>
                  <a:noFill/>
                </a:ln>
                <a:solidFill>
                  <a:srgbClr val="FFFFFF"/>
                </a:solidFill>
                <a:effectLst/>
                <a:latin typeface="ff8"/>
              </a:rPr>
              <a:t>Length meter mMass kilogram kgtime second selectric current ampere Atemperature Kelvin Kamount of substance mole molluminous intensity candela cd</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Roboto"/>
              </a:rPr>
              <a:t>  </a:t>
            </a:r>
            <a:r>
              <a:rPr kumimoji="0" lang="en-US" altLang="en-US" sz="1900" b="0" i="0" u="none" strike="noStrike" cap="none" normalizeH="0" baseline="0">
                <a:ln>
                  <a:noFill/>
                </a:ln>
                <a:solidFill>
                  <a:srgbClr val="000000"/>
                </a:solidFill>
                <a:effectLst/>
                <a:latin typeface="Roboto"/>
              </a:rPr>
              <a:t> </a:t>
            </a:r>
            <a:r>
              <a:rPr kumimoji="0" lang="en-US" altLang="en-US" sz="1200" b="0" i="0" u="none" strike="noStrike" cap="none" normalizeH="0" baseline="0">
                <a:ln>
                  <a:noFill/>
                </a:ln>
                <a:solidFill>
                  <a:srgbClr val="000000"/>
                </a:solidFill>
                <a:effectLst/>
                <a:latin typeface="Roboto"/>
              </a:rPr>
              <a:t>      </a:t>
            </a:r>
          </a:p>
        </p:txBody>
      </p:sp>
      <p:sp>
        <p:nvSpPr>
          <p:cNvPr id="4" name="AutoShape 2" descr="https://html.scribdassets.com/4xjm87c3gg827sbm/images/8-c8fcce0a58.jpg"/>
          <p:cNvSpPr>
            <a:spLocks noChangeAspect="1" noChangeArrowheads="1"/>
          </p:cNvSpPr>
          <p:nvPr/>
        </p:nvSpPr>
        <p:spPr bwMode="auto">
          <a:xfrm>
            <a:off x="42863" y="3330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Tree>
    <p:extLst>
      <p:ext uri="{BB962C8B-B14F-4D97-AF65-F5344CB8AC3E}">
        <p14:creationId xmlns:p14="http://schemas.microsoft.com/office/powerpoint/2010/main" val="22613572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lgn="ctr">
              <a:buNone/>
            </a:pPr>
            <a:r>
              <a:rPr lang="en-PH" sz="4400" dirty="0"/>
              <a:t>3 Types of Measurement Errors</a:t>
            </a:r>
          </a:p>
          <a:p>
            <a:pPr marL="0" indent="0">
              <a:buNone/>
            </a:pPr>
            <a:r>
              <a:rPr lang="en-PH" sz="4400" dirty="0"/>
              <a:t>2. Systematic error</a:t>
            </a:r>
          </a:p>
          <a:p>
            <a:pPr marL="0" indent="0">
              <a:buNone/>
            </a:pPr>
            <a:r>
              <a:rPr lang="en-PH" sz="4400" dirty="0"/>
              <a:t>Are due to problems of instruments, environmental errors and observational errors.</a:t>
            </a:r>
          </a:p>
          <a:p>
            <a:pPr marL="0" indent="0">
              <a:buNone/>
            </a:pPr>
            <a:endParaRPr lang="en-PH" sz="4400" dirty="0"/>
          </a:p>
          <a:p>
            <a:pPr marL="0" indent="0">
              <a:buNone/>
            </a:pPr>
            <a:r>
              <a:rPr lang="en-PH" sz="4400" dirty="0"/>
              <a:t>3. Random error</a:t>
            </a:r>
          </a:p>
          <a:p>
            <a:pPr marL="0" indent="0">
              <a:buNone/>
            </a:pPr>
            <a:r>
              <a:rPr lang="en-PH" sz="4400" dirty="0"/>
              <a:t>Neither Gross or Systematic error</a:t>
            </a:r>
          </a:p>
        </p:txBody>
      </p:sp>
      <p:sp>
        <p:nvSpPr>
          <p:cNvPr id="2" name="Rectangle 1"/>
          <p:cNvSpPr>
            <a:spLocks noChangeArrowheads="1"/>
          </p:cNvSpPr>
          <p:nvPr/>
        </p:nvSpPr>
        <p:spPr bwMode="auto">
          <a:xfrm>
            <a:off x="0" y="0"/>
            <a:ext cx="0" cy="0"/>
          </a:xfrm>
          <a:prstGeom prst="rect">
            <a:avLst/>
          </a:prstGeom>
          <a:solidFill>
            <a:srgbClr val="F3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900" b="1" i="0" u="none" strike="noStrike" cap="none" normalizeH="0" baseline="0">
                <a:ln>
                  <a:noFill/>
                </a:ln>
                <a:solidFill>
                  <a:srgbClr val="000000"/>
                </a:solidFill>
                <a:effectLst/>
                <a:latin typeface="ff6"/>
              </a:rPr>
              <a:t>Units and standards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400" b="0" i="0" u="none" strike="noStrike" cap="none" normalizeH="0" baseline="0">
                <a:ln>
                  <a:noFill/>
                </a:ln>
                <a:solidFill>
                  <a:srgbClr val="000000"/>
                </a:solidFill>
                <a:effectLst/>
                <a:latin typeface="ff0"/>
              </a:rPr>
              <a:t>SI: fundamental Units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300" b="0" i="0" u="none" strike="noStrike" cap="none" normalizeH="0" baseline="0">
                <a:ln>
                  <a:noFill/>
                </a:ln>
                <a:solidFill>
                  <a:srgbClr val="FFFF00"/>
                </a:solidFill>
                <a:effectLst/>
                <a:latin typeface="ff12"/>
              </a:rPr>
              <a:t>Physical Quantity Unit Name Symbol</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0" b="0" i="0" u="none" strike="noStrike" cap="none" normalizeH="0" baseline="0">
                <a:ln>
                  <a:noFill/>
                </a:ln>
                <a:solidFill>
                  <a:srgbClr val="FFFFFF"/>
                </a:solidFill>
                <a:effectLst/>
                <a:latin typeface="ff8"/>
              </a:rPr>
              <a:t>Length meter mMass kilogram kgtime second selectric current ampere Atemperature Kelvin Kamount of substance mole molluminous intensity candela cd</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Roboto"/>
              </a:rPr>
              <a:t>  </a:t>
            </a:r>
            <a:r>
              <a:rPr kumimoji="0" lang="en-US" altLang="en-US" sz="1900" b="0" i="0" u="none" strike="noStrike" cap="none" normalizeH="0" baseline="0">
                <a:ln>
                  <a:noFill/>
                </a:ln>
                <a:solidFill>
                  <a:srgbClr val="000000"/>
                </a:solidFill>
                <a:effectLst/>
                <a:latin typeface="Roboto"/>
              </a:rPr>
              <a:t> </a:t>
            </a:r>
            <a:r>
              <a:rPr kumimoji="0" lang="en-US" altLang="en-US" sz="1200" b="0" i="0" u="none" strike="noStrike" cap="none" normalizeH="0" baseline="0">
                <a:ln>
                  <a:noFill/>
                </a:ln>
                <a:solidFill>
                  <a:srgbClr val="000000"/>
                </a:solidFill>
                <a:effectLst/>
                <a:latin typeface="Roboto"/>
              </a:rPr>
              <a:t>      </a:t>
            </a:r>
          </a:p>
        </p:txBody>
      </p:sp>
      <p:sp>
        <p:nvSpPr>
          <p:cNvPr id="4" name="AutoShape 2" descr="https://html.scribdassets.com/4xjm87c3gg827sbm/images/8-c8fcce0a58.jpg"/>
          <p:cNvSpPr>
            <a:spLocks noChangeAspect="1" noChangeArrowheads="1"/>
          </p:cNvSpPr>
          <p:nvPr/>
        </p:nvSpPr>
        <p:spPr bwMode="auto">
          <a:xfrm>
            <a:off x="42863" y="3330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Tree>
    <p:extLst>
      <p:ext uri="{BB962C8B-B14F-4D97-AF65-F5344CB8AC3E}">
        <p14:creationId xmlns:p14="http://schemas.microsoft.com/office/powerpoint/2010/main" val="1859420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buNone/>
            </a:pPr>
            <a:r>
              <a:rPr lang="en-PH" sz="4400" dirty="0"/>
              <a:t>Systematic Errors</a:t>
            </a:r>
          </a:p>
          <a:p>
            <a:pPr marL="0" indent="0">
              <a:buNone/>
            </a:pPr>
            <a:r>
              <a:rPr lang="en-PH" sz="4400" dirty="0"/>
              <a:t>a. Instrument errors – due to friction with 	the bearing of the meter movement, 	incorrect spring tension, improper 	calibration or faulty instruments. It can 	be reduced by proper maintenance, 	proper use and handling of instruments.</a:t>
            </a:r>
          </a:p>
        </p:txBody>
      </p:sp>
      <p:sp>
        <p:nvSpPr>
          <p:cNvPr id="2" name="Rectangle 1"/>
          <p:cNvSpPr>
            <a:spLocks noChangeArrowheads="1"/>
          </p:cNvSpPr>
          <p:nvPr/>
        </p:nvSpPr>
        <p:spPr bwMode="auto">
          <a:xfrm>
            <a:off x="0" y="0"/>
            <a:ext cx="0" cy="0"/>
          </a:xfrm>
          <a:prstGeom prst="rect">
            <a:avLst/>
          </a:prstGeom>
          <a:solidFill>
            <a:srgbClr val="F3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900" b="1" i="0" u="none" strike="noStrike" cap="none" normalizeH="0" baseline="0">
                <a:ln>
                  <a:noFill/>
                </a:ln>
                <a:solidFill>
                  <a:srgbClr val="000000"/>
                </a:solidFill>
                <a:effectLst/>
                <a:latin typeface="ff6"/>
              </a:rPr>
              <a:t>Units and standards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400" b="0" i="0" u="none" strike="noStrike" cap="none" normalizeH="0" baseline="0">
                <a:ln>
                  <a:noFill/>
                </a:ln>
                <a:solidFill>
                  <a:srgbClr val="000000"/>
                </a:solidFill>
                <a:effectLst/>
                <a:latin typeface="ff0"/>
              </a:rPr>
              <a:t>SI: fundamental Units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300" b="0" i="0" u="none" strike="noStrike" cap="none" normalizeH="0" baseline="0">
                <a:ln>
                  <a:noFill/>
                </a:ln>
                <a:solidFill>
                  <a:srgbClr val="FFFF00"/>
                </a:solidFill>
                <a:effectLst/>
                <a:latin typeface="ff12"/>
              </a:rPr>
              <a:t>Physical Quantity Unit Name Symbol</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0" b="0" i="0" u="none" strike="noStrike" cap="none" normalizeH="0" baseline="0">
                <a:ln>
                  <a:noFill/>
                </a:ln>
                <a:solidFill>
                  <a:srgbClr val="FFFFFF"/>
                </a:solidFill>
                <a:effectLst/>
                <a:latin typeface="ff8"/>
              </a:rPr>
              <a:t>Length meter mMass kilogram kgtime second selectric current ampere Atemperature Kelvin Kamount of substance mole molluminous intensity candela cd</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Roboto"/>
              </a:rPr>
              <a:t>  </a:t>
            </a:r>
            <a:r>
              <a:rPr kumimoji="0" lang="en-US" altLang="en-US" sz="1900" b="0" i="0" u="none" strike="noStrike" cap="none" normalizeH="0" baseline="0">
                <a:ln>
                  <a:noFill/>
                </a:ln>
                <a:solidFill>
                  <a:srgbClr val="000000"/>
                </a:solidFill>
                <a:effectLst/>
                <a:latin typeface="Roboto"/>
              </a:rPr>
              <a:t> </a:t>
            </a:r>
            <a:r>
              <a:rPr kumimoji="0" lang="en-US" altLang="en-US" sz="1200" b="0" i="0" u="none" strike="noStrike" cap="none" normalizeH="0" baseline="0">
                <a:ln>
                  <a:noFill/>
                </a:ln>
                <a:solidFill>
                  <a:srgbClr val="000000"/>
                </a:solidFill>
                <a:effectLst/>
                <a:latin typeface="Roboto"/>
              </a:rPr>
              <a:t>      </a:t>
            </a:r>
          </a:p>
        </p:txBody>
      </p:sp>
      <p:sp>
        <p:nvSpPr>
          <p:cNvPr id="4" name="AutoShape 2" descr="https://html.scribdassets.com/4xjm87c3gg827sbm/images/8-c8fcce0a58.jpg"/>
          <p:cNvSpPr>
            <a:spLocks noChangeAspect="1" noChangeArrowheads="1"/>
          </p:cNvSpPr>
          <p:nvPr/>
        </p:nvSpPr>
        <p:spPr bwMode="auto">
          <a:xfrm>
            <a:off x="42863" y="3330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Tree>
    <p:extLst>
      <p:ext uri="{BB962C8B-B14F-4D97-AF65-F5344CB8AC3E}">
        <p14:creationId xmlns:p14="http://schemas.microsoft.com/office/powerpoint/2010/main" val="1991789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buNone/>
            </a:pPr>
            <a:r>
              <a:rPr lang="en-PH" sz="4400" dirty="0"/>
              <a:t>Systematic Errors</a:t>
            </a:r>
          </a:p>
          <a:p>
            <a:pPr marL="0" indent="0">
              <a:buNone/>
            </a:pPr>
            <a:r>
              <a:rPr lang="en-PH" sz="4400" dirty="0"/>
              <a:t>b. Environment errors – instruments are 	subjected to harsh environments such as 	high temperature, pressure, or humidity 	or strong electrostatic or electromagnetic 	fields. May have detrimental effects 	causing errors.</a:t>
            </a:r>
          </a:p>
        </p:txBody>
      </p:sp>
      <p:sp>
        <p:nvSpPr>
          <p:cNvPr id="2" name="Rectangle 1"/>
          <p:cNvSpPr>
            <a:spLocks noChangeArrowheads="1"/>
          </p:cNvSpPr>
          <p:nvPr/>
        </p:nvSpPr>
        <p:spPr bwMode="auto">
          <a:xfrm>
            <a:off x="0" y="0"/>
            <a:ext cx="0" cy="0"/>
          </a:xfrm>
          <a:prstGeom prst="rect">
            <a:avLst/>
          </a:prstGeom>
          <a:solidFill>
            <a:srgbClr val="F3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900" b="1" i="0" u="none" strike="noStrike" cap="none" normalizeH="0" baseline="0">
                <a:ln>
                  <a:noFill/>
                </a:ln>
                <a:solidFill>
                  <a:srgbClr val="000000"/>
                </a:solidFill>
                <a:effectLst/>
                <a:latin typeface="ff6"/>
              </a:rPr>
              <a:t>Units and standards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400" b="0" i="0" u="none" strike="noStrike" cap="none" normalizeH="0" baseline="0">
                <a:ln>
                  <a:noFill/>
                </a:ln>
                <a:solidFill>
                  <a:srgbClr val="000000"/>
                </a:solidFill>
                <a:effectLst/>
                <a:latin typeface="ff0"/>
              </a:rPr>
              <a:t>SI: fundamental Units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300" b="0" i="0" u="none" strike="noStrike" cap="none" normalizeH="0" baseline="0">
                <a:ln>
                  <a:noFill/>
                </a:ln>
                <a:solidFill>
                  <a:srgbClr val="FFFF00"/>
                </a:solidFill>
                <a:effectLst/>
                <a:latin typeface="ff12"/>
              </a:rPr>
              <a:t>Physical Quantity Unit Name Symbol</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0" b="0" i="0" u="none" strike="noStrike" cap="none" normalizeH="0" baseline="0">
                <a:ln>
                  <a:noFill/>
                </a:ln>
                <a:solidFill>
                  <a:srgbClr val="FFFFFF"/>
                </a:solidFill>
                <a:effectLst/>
                <a:latin typeface="ff8"/>
              </a:rPr>
              <a:t>Length meter mMass kilogram kgtime second selectric current ampere Atemperature Kelvin Kamount of substance mole molluminous intensity candela cd</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Roboto"/>
              </a:rPr>
              <a:t>  </a:t>
            </a:r>
            <a:r>
              <a:rPr kumimoji="0" lang="en-US" altLang="en-US" sz="1900" b="0" i="0" u="none" strike="noStrike" cap="none" normalizeH="0" baseline="0">
                <a:ln>
                  <a:noFill/>
                </a:ln>
                <a:solidFill>
                  <a:srgbClr val="000000"/>
                </a:solidFill>
                <a:effectLst/>
                <a:latin typeface="Roboto"/>
              </a:rPr>
              <a:t> </a:t>
            </a:r>
            <a:r>
              <a:rPr kumimoji="0" lang="en-US" altLang="en-US" sz="1200" b="0" i="0" u="none" strike="noStrike" cap="none" normalizeH="0" baseline="0">
                <a:ln>
                  <a:noFill/>
                </a:ln>
                <a:solidFill>
                  <a:srgbClr val="000000"/>
                </a:solidFill>
                <a:effectLst/>
                <a:latin typeface="Roboto"/>
              </a:rPr>
              <a:t>      </a:t>
            </a:r>
          </a:p>
        </p:txBody>
      </p:sp>
      <p:sp>
        <p:nvSpPr>
          <p:cNvPr id="4" name="AutoShape 2" descr="https://html.scribdassets.com/4xjm87c3gg827sbm/images/8-c8fcce0a58.jpg"/>
          <p:cNvSpPr>
            <a:spLocks noChangeAspect="1" noChangeArrowheads="1"/>
          </p:cNvSpPr>
          <p:nvPr/>
        </p:nvSpPr>
        <p:spPr bwMode="auto">
          <a:xfrm>
            <a:off x="42863" y="3330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Tree>
    <p:extLst>
      <p:ext uri="{BB962C8B-B14F-4D97-AF65-F5344CB8AC3E}">
        <p14:creationId xmlns:p14="http://schemas.microsoft.com/office/powerpoint/2010/main" val="42700015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noAutofit/>
          </a:bodyPr>
          <a:lstStyle/>
          <a:p>
            <a:pPr marL="0" indent="0">
              <a:buNone/>
            </a:pPr>
            <a:r>
              <a:rPr lang="en-PH" sz="4400" dirty="0"/>
              <a:t>Systematic Errors</a:t>
            </a:r>
          </a:p>
          <a:p>
            <a:pPr marL="0" indent="0">
              <a:buNone/>
            </a:pPr>
            <a:r>
              <a:rPr lang="en-PH" sz="4400" dirty="0"/>
              <a:t>c. Observational errors – errors introduced 	by the observer. Two most common are 	parallax error – introduced by reading a 	meter scale and the error of estimation – 	when obtaining a reading from a meter 	scale.</a:t>
            </a:r>
          </a:p>
        </p:txBody>
      </p:sp>
      <p:sp>
        <p:nvSpPr>
          <p:cNvPr id="2" name="Rectangle 1"/>
          <p:cNvSpPr>
            <a:spLocks noChangeArrowheads="1"/>
          </p:cNvSpPr>
          <p:nvPr/>
        </p:nvSpPr>
        <p:spPr bwMode="auto">
          <a:xfrm>
            <a:off x="0" y="0"/>
            <a:ext cx="0" cy="0"/>
          </a:xfrm>
          <a:prstGeom prst="rect">
            <a:avLst/>
          </a:prstGeom>
          <a:solidFill>
            <a:srgbClr val="F3F4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900" b="1" i="0" u="none" strike="noStrike" cap="none" normalizeH="0" baseline="0">
                <a:ln>
                  <a:noFill/>
                </a:ln>
                <a:solidFill>
                  <a:srgbClr val="000000"/>
                </a:solidFill>
                <a:effectLst/>
                <a:latin typeface="ff6"/>
              </a:rPr>
              <a:t>Units and standards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400" b="0" i="0" u="none" strike="noStrike" cap="none" normalizeH="0" baseline="0">
                <a:ln>
                  <a:noFill/>
                </a:ln>
                <a:solidFill>
                  <a:srgbClr val="000000"/>
                </a:solidFill>
                <a:effectLst/>
                <a:latin typeface="ff0"/>
              </a:rPr>
              <a:t>SI: fundamental Units</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300" b="0" i="0" u="none" strike="noStrike" cap="none" normalizeH="0" baseline="0">
                <a:ln>
                  <a:noFill/>
                </a:ln>
                <a:solidFill>
                  <a:srgbClr val="FFFF00"/>
                </a:solidFill>
                <a:effectLst/>
                <a:latin typeface="ff12"/>
              </a:rPr>
              <a:t>Physical Quantity Unit Name Symbol</a:t>
            </a:r>
            <a:endParaRPr kumimoji="0" lang="en-US" altLang="en-US" sz="1200" b="0" i="0" u="none" strike="noStrike" cap="none" normalizeH="0" baseline="0">
              <a:ln>
                <a:noFill/>
              </a:ln>
              <a:solidFill>
                <a:srgbClr val="000000"/>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0" b="0" i="0" u="none" strike="noStrike" cap="none" normalizeH="0" baseline="0">
                <a:ln>
                  <a:noFill/>
                </a:ln>
                <a:solidFill>
                  <a:srgbClr val="FFFFFF"/>
                </a:solidFill>
                <a:effectLst/>
                <a:latin typeface="ff8"/>
              </a:rPr>
              <a:t>Length meter mMass kilogram kgtime second selectric current ampere Atemperature Kelvin Kamount of substance mole molluminous intensity candela cd</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Roboto"/>
              </a:rPr>
              <a:t>  </a:t>
            </a:r>
            <a:r>
              <a:rPr kumimoji="0" lang="en-US" altLang="en-US" sz="1900" b="0" i="0" u="none" strike="noStrike" cap="none" normalizeH="0" baseline="0">
                <a:ln>
                  <a:noFill/>
                </a:ln>
                <a:solidFill>
                  <a:srgbClr val="000000"/>
                </a:solidFill>
                <a:effectLst/>
                <a:latin typeface="Roboto"/>
              </a:rPr>
              <a:t> </a:t>
            </a:r>
            <a:r>
              <a:rPr kumimoji="0" lang="en-US" altLang="en-US" sz="1200" b="0" i="0" u="none" strike="noStrike" cap="none" normalizeH="0" baseline="0">
                <a:ln>
                  <a:noFill/>
                </a:ln>
                <a:solidFill>
                  <a:srgbClr val="000000"/>
                </a:solidFill>
                <a:effectLst/>
                <a:latin typeface="Roboto"/>
              </a:rPr>
              <a:t>      </a:t>
            </a:r>
          </a:p>
        </p:txBody>
      </p:sp>
      <p:sp>
        <p:nvSpPr>
          <p:cNvPr id="4" name="AutoShape 2" descr="https://html.scribdassets.com/4xjm87c3gg827sbm/images/8-c8fcce0a58.jpg"/>
          <p:cNvSpPr>
            <a:spLocks noChangeAspect="1" noChangeArrowheads="1"/>
          </p:cNvSpPr>
          <p:nvPr/>
        </p:nvSpPr>
        <p:spPr bwMode="auto">
          <a:xfrm>
            <a:off x="42863" y="33305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Tree>
    <p:extLst>
      <p:ext uri="{BB962C8B-B14F-4D97-AF65-F5344CB8AC3E}">
        <p14:creationId xmlns:p14="http://schemas.microsoft.com/office/powerpoint/2010/main" val="13529983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ERROR IN MEASUREMENT</a:t>
            </a:r>
          </a:p>
        </p:txBody>
      </p:sp>
      <p:sp>
        <p:nvSpPr>
          <p:cNvPr id="3" name="Content Placeholder 2"/>
          <p:cNvSpPr>
            <a:spLocks noGrp="1"/>
          </p:cNvSpPr>
          <p:nvPr>
            <p:ph idx="1"/>
          </p:nvPr>
        </p:nvSpPr>
        <p:spPr>
          <a:xfrm>
            <a:off x="838200" y="1409700"/>
            <a:ext cx="10515600" cy="5245100"/>
          </a:xfrm>
        </p:spPr>
        <p:txBody>
          <a:bodyPr>
            <a:normAutofit lnSpcReduction="10000"/>
          </a:bodyPr>
          <a:lstStyle/>
          <a:p>
            <a:pPr marL="0" indent="0">
              <a:buNone/>
            </a:pPr>
            <a:r>
              <a:rPr lang="en-PH" sz="4400" dirty="0"/>
              <a:t>	Absolute Error</a:t>
            </a:r>
          </a:p>
          <a:p>
            <a:pPr marL="0" indent="0">
              <a:buNone/>
            </a:pPr>
            <a:r>
              <a:rPr lang="en-PH" sz="4400" dirty="0"/>
              <a:t>		e = </a:t>
            </a:r>
            <a:r>
              <a:rPr lang="en-PH" sz="4400" dirty="0" err="1"/>
              <a:t>Y</a:t>
            </a:r>
            <a:r>
              <a:rPr lang="en-PH" dirty="0" err="1"/>
              <a:t>n</a:t>
            </a:r>
            <a:r>
              <a:rPr lang="en-PH" sz="4400" dirty="0"/>
              <a:t> – </a:t>
            </a:r>
            <a:r>
              <a:rPr lang="en-PH" sz="4400" dirty="0" err="1"/>
              <a:t>X</a:t>
            </a:r>
            <a:r>
              <a:rPr lang="en-PH" dirty="0" err="1"/>
              <a:t>n</a:t>
            </a:r>
            <a:endParaRPr lang="en-PH" dirty="0"/>
          </a:p>
          <a:p>
            <a:pPr marL="0" indent="0">
              <a:buNone/>
            </a:pPr>
            <a:r>
              <a:rPr lang="en-PH" dirty="0"/>
              <a:t>		where e = absolute error</a:t>
            </a:r>
          </a:p>
          <a:p>
            <a:pPr marL="0" indent="0">
              <a:buNone/>
            </a:pPr>
            <a:r>
              <a:rPr lang="en-PH" dirty="0"/>
              <a:t>			</a:t>
            </a:r>
            <a:r>
              <a:rPr lang="en-PH" dirty="0" err="1"/>
              <a:t>Yn</a:t>
            </a:r>
            <a:r>
              <a:rPr lang="en-PH" dirty="0"/>
              <a:t> = expected value</a:t>
            </a:r>
          </a:p>
          <a:p>
            <a:pPr marL="0" indent="0">
              <a:buNone/>
            </a:pPr>
            <a:r>
              <a:rPr lang="en-PH" dirty="0"/>
              <a:t>			</a:t>
            </a:r>
            <a:r>
              <a:rPr lang="en-PH" dirty="0" err="1"/>
              <a:t>Xn</a:t>
            </a:r>
            <a:r>
              <a:rPr lang="en-PH" dirty="0"/>
              <a:t> = measured value</a:t>
            </a:r>
          </a:p>
          <a:p>
            <a:pPr marL="0" indent="0">
              <a:buNone/>
            </a:pPr>
            <a:endParaRPr lang="en-PH" dirty="0"/>
          </a:p>
          <a:p>
            <a:pPr marL="0" indent="0">
              <a:buNone/>
            </a:pPr>
            <a:endParaRPr lang="en-PH" dirty="0"/>
          </a:p>
          <a:p>
            <a:pPr marL="0" indent="0">
              <a:buNone/>
            </a:pPr>
            <a:r>
              <a:rPr lang="en-PH" sz="4000" dirty="0"/>
              <a:t>Expected value – quantitative measurement of the so called true value / most probable value.</a:t>
            </a:r>
          </a:p>
          <a:p>
            <a:pPr marL="0" indent="0">
              <a:buNone/>
            </a:pPr>
            <a:r>
              <a:rPr lang="en-PH" dirty="0"/>
              <a:t>	</a:t>
            </a:r>
          </a:p>
        </p:txBody>
      </p:sp>
    </p:spTree>
    <p:extLst>
      <p:ext uri="{BB962C8B-B14F-4D97-AF65-F5344CB8AC3E}">
        <p14:creationId xmlns:p14="http://schemas.microsoft.com/office/powerpoint/2010/main" val="45515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ERROR IN MEASUREMENT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409700"/>
                <a:ext cx="10515600" cy="5245100"/>
              </a:xfrm>
            </p:spPr>
            <p:txBody>
              <a:bodyPr>
                <a:normAutofit/>
              </a:bodyPr>
              <a:lstStyle/>
              <a:p>
                <a:pPr marL="0" indent="0">
                  <a:buNone/>
                </a:pPr>
                <a:r>
                  <a:rPr lang="en-PH" sz="4400" dirty="0"/>
                  <a:t>	Percentage Error</a:t>
                </a:r>
              </a:p>
              <a:p>
                <a:pPr marL="0" indent="0">
                  <a:buNone/>
                </a:pPr>
                <a:r>
                  <a:rPr lang="en-PH" sz="4400" dirty="0"/>
                  <a:t>	</a:t>
                </a:r>
                <a:r>
                  <a:rPr lang="en-PH" dirty="0"/>
                  <a:t>	</a:t>
                </a:r>
                <a:r>
                  <a:rPr lang="en-PH" sz="4400" dirty="0"/>
                  <a:t>% error = </a:t>
                </a:r>
                <a14:m>
                  <m:oMath xmlns:m="http://schemas.openxmlformats.org/officeDocument/2006/math">
                    <m:f>
                      <m:fPr>
                        <m:ctrlPr>
                          <a:rPr lang="en-PH" sz="4400" i="1" smtClean="0">
                            <a:latin typeface="Cambria Math" panose="02040503050406030204" pitchFamily="18" charset="0"/>
                          </a:rPr>
                        </m:ctrlPr>
                      </m:fPr>
                      <m:num>
                        <m:r>
                          <a:rPr lang="en-PH" sz="4400" b="0" i="1" smtClean="0">
                            <a:latin typeface="Cambria Math" panose="02040503050406030204" pitchFamily="18" charset="0"/>
                          </a:rPr>
                          <m:t>𝑒</m:t>
                        </m:r>
                      </m:num>
                      <m:den>
                        <m:r>
                          <a:rPr lang="en-PH" sz="4400" b="0" i="1" smtClean="0">
                            <a:latin typeface="Cambria Math" panose="02040503050406030204" pitchFamily="18" charset="0"/>
                          </a:rPr>
                          <m:t>𝑌𝑛</m:t>
                        </m:r>
                      </m:den>
                    </m:f>
                  </m:oMath>
                </a14:m>
                <a:r>
                  <a:rPr lang="en-PH" dirty="0"/>
                  <a:t> </a:t>
                </a:r>
                <a:r>
                  <a:rPr lang="en-PH" sz="4400" dirty="0"/>
                  <a:t>x</a:t>
                </a:r>
                <a:r>
                  <a:rPr lang="en-PH" dirty="0"/>
                  <a:t> </a:t>
                </a:r>
                <a:r>
                  <a:rPr lang="en-PH" sz="4400" dirty="0"/>
                  <a:t>100</a:t>
                </a:r>
              </a:p>
              <a:p>
                <a:pPr marL="0" indent="0">
                  <a:buNone/>
                </a:pPr>
                <a:r>
                  <a:rPr lang="en-PH" dirty="0"/>
                  <a:t>By substitution:</a:t>
                </a:r>
              </a:p>
              <a:p>
                <a:pPr marL="0" indent="0">
                  <a:buNone/>
                </a:pPr>
                <a:r>
                  <a:rPr lang="en-PH" sz="4400" dirty="0"/>
                  <a:t>		% error = </a:t>
                </a:r>
                <a:r>
                  <a:rPr lang="en-PH" sz="5400" dirty="0"/>
                  <a:t>|</a:t>
                </a:r>
                <a14:m>
                  <m:oMath xmlns:m="http://schemas.openxmlformats.org/officeDocument/2006/math">
                    <m:f>
                      <m:fPr>
                        <m:ctrlPr>
                          <a:rPr lang="en-PH" sz="4400" i="1" smtClean="0">
                            <a:latin typeface="Cambria Math" panose="02040503050406030204" pitchFamily="18" charset="0"/>
                          </a:rPr>
                        </m:ctrlPr>
                      </m:fPr>
                      <m:num>
                        <m:r>
                          <a:rPr lang="en-PH" sz="4400" b="0" i="1" smtClean="0">
                            <a:latin typeface="Cambria Math" panose="02040503050406030204" pitchFamily="18" charset="0"/>
                          </a:rPr>
                          <m:t>𝑌𝑛</m:t>
                        </m:r>
                        <m:r>
                          <a:rPr lang="en-PH" sz="4400" b="0" i="1" smtClean="0">
                            <a:latin typeface="Cambria Math" panose="02040503050406030204" pitchFamily="18" charset="0"/>
                          </a:rPr>
                          <m:t> −</m:t>
                        </m:r>
                        <m:r>
                          <a:rPr lang="en-PH" sz="4400" b="0" i="1" smtClean="0">
                            <a:latin typeface="Cambria Math" panose="02040503050406030204" pitchFamily="18" charset="0"/>
                          </a:rPr>
                          <m:t>𝑋𝑛</m:t>
                        </m:r>
                      </m:num>
                      <m:den>
                        <m:r>
                          <a:rPr lang="en-PH" sz="4400" b="0" i="1" smtClean="0">
                            <a:latin typeface="Cambria Math" panose="02040503050406030204" pitchFamily="18" charset="0"/>
                          </a:rPr>
                          <m:t>𝑌𝑛</m:t>
                        </m:r>
                      </m:den>
                    </m:f>
                  </m:oMath>
                </a14:m>
                <a:r>
                  <a:rPr lang="en-PH" sz="5400" dirty="0"/>
                  <a:t>|</a:t>
                </a:r>
                <a:r>
                  <a:rPr lang="en-PH" sz="4400" dirty="0"/>
                  <a:t> x 100</a:t>
                </a:r>
              </a:p>
              <a:p>
                <a:pPr marL="0" indent="0">
                  <a:buNone/>
                </a:pPr>
                <a:endParaRPr lang="en-PH" sz="4400" dirty="0"/>
              </a:p>
              <a:p>
                <a:pPr marL="0" indent="0">
                  <a:buNone/>
                </a:pPr>
                <a:endParaRPr lang="en-PH" sz="4400" dirty="0"/>
              </a:p>
              <a:p>
                <a:pPr marL="0" indent="0">
                  <a:buNone/>
                </a:pPr>
                <a:endParaRPr lang="en-PH"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409700"/>
                <a:ext cx="10515600" cy="5245100"/>
              </a:xfrm>
              <a:blipFill rotWithShape="0">
                <a:blip r:embed="rId2"/>
                <a:stretch>
                  <a:fillRect l="-1217" t="-3600"/>
                </a:stretch>
              </a:blipFill>
            </p:spPr>
            <p:txBody>
              <a:bodyPr/>
              <a:lstStyle/>
              <a:p>
                <a:r>
                  <a:rPr lang="en-PH">
                    <a:noFill/>
                  </a:rPr>
                  <a:t> </a:t>
                </a:r>
              </a:p>
            </p:txBody>
          </p:sp>
        </mc:Fallback>
      </mc:AlternateContent>
    </p:spTree>
    <p:extLst>
      <p:ext uri="{BB962C8B-B14F-4D97-AF65-F5344CB8AC3E}">
        <p14:creationId xmlns:p14="http://schemas.microsoft.com/office/powerpoint/2010/main" val="19608580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ERROR IN MEASUREMENT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409700"/>
                <a:ext cx="10515600" cy="5245100"/>
              </a:xfrm>
            </p:spPr>
            <p:txBody>
              <a:bodyPr>
                <a:normAutofit/>
              </a:bodyPr>
              <a:lstStyle/>
              <a:p>
                <a:pPr marL="0" indent="0">
                  <a:buNone/>
                </a:pPr>
                <a:r>
                  <a:rPr lang="en-PH" sz="4400" dirty="0"/>
                  <a:t>	Relative Accuracy</a:t>
                </a:r>
              </a:p>
              <a:p>
                <a:pPr marL="0" indent="0">
                  <a:buNone/>
                </a:pPr>
                <a:r>
                  <a:rPr lang="en-PH" sz="4400" dirty="0"/>
                  <a:t>	</a:t>
                </a:r>
                <a:r>
                  <a:rPr lang="en-PH" dirty="0"/>
                  <a:t>	</a:t>
                </a:r>
                <a:r>
                  <a:rPr lang="en-PH" sz="4400" dirty="0"/>
                  <a:t>A = 1 - </a:t>
                </a:r>
                <a:r>
                  <a:rPr lang="en-PH" sz="5400" dirty="0"/>
                  <a:t>|</a:t>
                </a:r>
                <a14:m>
                  <m:oMath xmlns:m="http://schemas.openxmlformats.org/officeDocument/2006/math">
                    <m:f>
                      <m:fPr>
                        <m:ctrlPr>
                          <a:rPr lang="en-PH" sz="4400" i="1" smtClean="0">
                            <a:latin typeface="Cambria Math" panose="02040503050406030204" pitchFamily="18" charset="0"/>
                          </a:rPr>
                        </m:ctrlPr>
                      </m:fPr>
                      <m:num>
                        <m:r>
                          <a:rPr lang="en-PH" sz="4400" b="0" i="1" smtClean="0">
                            <a:latin typeface="Cambria Math" panose="02040503050406030204" pitchFamily="18" charset="0"/>
                          </a:rPr>
                          <m:t>𝑌𝑛</m:t>
                        </m:r>
                        <m:r>
                          <a:rPr lang="en-PH" sz="4400" b="0" i="1" smtClean="0">
                            <a:latin typeface="Cambria Math" panose="02040503050406030204" pitchFamily="18" charset="0"/>
                          </a:rPr>
                          <m:t> −</m:t>
                        </m:r>
                        <m:r>
                          <a:rPr lang="en-PH" sz="4400" b="0" i="1" smtClean="0">
                            <a:latin typeface="Cambria Math" panose="02040503050406030204" pitchFamily="18" charset="0"/>
                          </a:rPr>
                          <m:t>𝑋𝑛</m:t>
                        </m:r>
                      </m:num>
                      <m:den>
                        <m:r>
                          <a:rPr lang="en-PH" sz="4400" b="0" i="1" smtClean="0">
                            <a:latin typeface="Cambria Math" panose="02040503050406030204" pitchFamily="18" charset="0"/>
                          </a:rPr>
                          <m:t>𝑌𝑛</m:t>
                        </m:r>
                      </m:den>
                    </m:f>
                  </m:oMath>
                </a14:m>
                <a:r>
                  <a:rPr lang="en-PH" sz="5400" dirty="0"/>
                  <a:t>|</a:t>
                </a:r>
                <a:endParaRPr lang="en-PH" sz="4400" dirty="0"/>
              </a:p>
              <a:p>
                <a:pPr marL="0" indent="0">
                  <a:buNone/>
                </a:pPr>
                <a:r>
                  <a:rPr lang="en-PH" sz="4400" dirty="0"/>
                  <a:t>		</a:t>
                </a:r>
                <a:r>
                  <a:rPr lang="en-PH" sz="3600" dirty="0"/>
                  <a:t>where A = relative accuracy</a:t>
                </a:r>
                <a:endParaRPr lang="en-PH" sz="4400" dirty="0"/>
              </a:p>
              <a:p>
                <a:pPr marL="0" indent="0">
                  <a:buNone/>
                </a:pPr>
                <a:r>
                  <a:rPr lang="en-PH" sz="4400" dirty="0"/>
                  <a:t>	Percent Accuracy</a:t>
                </a:r>
              </a:p>
              <a:p>
                <a:pPr marL="0" indent="0">
                  <a:buNone/>
                </a:pPr>
                <a:r>
                  <a:rPr lang="en-PH" sz="4400" dirty="0"/>
                  <a:t>		a = 100% - % error </a:t>
                </a:r>
              </a:p>
              <a:p>
                <a:pPr marL="0" indent="0">
                  <a:buNone/>
                </a:pPr>
                <a:r>
                  <a:rPr lang="en-PH" sz="4400" dirty="0"/>
                  <a:t>		a = A x 100</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409700"/>
                <a:ext cx="10515600" cy="5245100"/>
              </a:xfrm>
              <a:blipFill rotWithShape="0">
                <a:blip r:embed="rId2"/>
                <a:stretch>
                  <a:fillRect t="-3600"/>
                </a:stretch>
              </a:blipFill>
            </p:spPr>
            <p:txBody>
              <a:bodyPr/>
              <a:lstStyle/>
              <a:p>
                <a:r>
                  <a:rPr lang="en-PH">
                    <a:noFill/>
                  </a:rPr>
                  <a:t> </a:t>
                </a:r>
              </a:p>
            </p:txBody>
          </p:sp>
        </mc:Fallback>
      </mc:AlternateContent>
    </p:spTree>
    <p:extLst>
      <p:ext uri="{BB962C8B-B14F-4D97-AF65-F5344CB8AC3E}">
        <p14:creationId xmlns:p14="http://schemas.microsoft.com/office/powerpoint/2010/main" val="11751888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42900"/>
            <a:ext cx="10515600" cy="6311900"/>
          </a:xfrm>
        </p:spPr>
        <p:txBody>
          <a:bodyPr>
            <a:normAutofit/>
          </a:bodyPr>
          <a:lstStyle/>
          <a:p>
            <a:pPr marL="0" indent="0">
              <a:buNone/>
            </a:pPr>
            <a:endParaRPr lang="en-PH" sz="4400" dirty="0"/>
          </a:p>
          <a:p>
            <a:pPr marL="0" indent="0">
              <a:buNone/>
            </a:pPr>
            <a:endParaRPr lang="en-PH" sz="4400" dirty="0"/>
          </a:p>
          <a:p>
            <a:pPr marL="0" indent="0">
              <a:buNone/>
            </a:pPr>
            <a:r>
              <a:rPr lang="en-PH" sz="4400" dirty="0"/>
              <a:t>Example: the expected value of the voltage across a resistor is 50 V. Measurement yields a value of 49 V. Calculate the (a) absolute error (b) % error (c ) relative accuracy and </a:t>
            </a:r>
          </a:p>
          <a:p>
            <a:pPr marL="0" indent="0">
              <a:buNone/>
            </a:pPr>
            <a:r>
              <a:rPr lang="en-PH" sz="4400" dirty="0"/>
              <a:t>(d) percentage accuracy.</a:t>
            </a:r>
          </a:p>
        </p:txBody>
      </p:sp>
    </p:spTree>
    <p:extLst>
      <p:ext uri="{BB962C8B-B14F-4D97-AF65-F5344CB8AC3E}">
        <p14:creationId xmlns:p14="http://schemas.microsoft.com/office/powerpoint/2010/main" val="247401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42900"/>
                <a:ext cx="10515600" cy="6311900"/>
              </a:xfrm>
            </p:spPr>
            <p:txBody>
              <a:bodyPr>
                <a:normAutofit lnSpcReduction="10000"/>
              </a:bodyPr>
              <a:lstStyle/>
              <a:p>
                <a:pPr marL="0" indent="0">
                  <a:buNone/>
                </a:pPr>
                <a:r>
                  <a:rPr lang="en-PH" sz="4400" dirty="0"/>
                  <a:t>Solution:</a:t>
                </a:r>
              </a:p>
              <a:p>
                <a:pPr marL="0" indent="0">
                  <a:buNone/>
                </a:pPr>
                <a:r>
                  <a:rPr lang="en-PH" sz="4400" dirty="0"/>
                  <a:t>a) e = </a:t>
                </a:r>
                <a:r>
                  <a:rPr lang="en-PH" sz="4400" dirty="0" err="1"/>
                  <a:t>Yn</a:t>
                </a:r>
                <a:r>
                  <a:rPr lang="en-PH" sz="4400" dirty="0"/>
                  <a:t> – </a:t>
                </a:r>
                <a:r>
                  <a:rPr lang="en-PH" sz="4400" dirty="0" err="1"/>
                  <a:t>Xn</a:t>
                </a:r>
                <a:endParaRPr lang="en-PH" sz="4400" dirty="0"/>
              </a:p>
              <a:p>
                <a:pPr marL="0" indent="0">
                  <a:buNone/>
                </a:pPr>
                <a:r>
                  <a:rPr lang="en-PH" sz="4400" dirty="0"/>
                  <a:t>	 = 50 V – 49 V</a:t>
                </a:r>
              </a:p>
              <a:p>
                <a:pPr marL="0" indent="0">
                  <a:buNone/>
                </a:pPr>
                <a:r>
                  <a:rPr lang="en-PH" sz="4400" dirty="0"/>
                  <a:t>     e = 1 V </a:t>
                </a:r>
              </a:p>
              <a:p>
                <a:pPr marL="0" indent="0">
                  <a:buNone/>
                </a:pPr>
                <a:endParaRPr lang="en-PH" sz="4400" dirty="0"/>
              </a:p>
              <a:p>
                <a:pPr marL="0" indent="0">
                  <a:buNone/>
                </a:pPr>
                <a:r>
                  <a:rPr lang="en-PH" sz="4400" dirty="0"/>
                  <a:t>b) % error =</a:t>
                </a:r>
                <a:r>
                  <a:rPr lang="en-PH" sz="5400" dirty="0"/>
                  <a:t>|</a:t>
                </a:r>
                <a14:m>
                  <m:oMath xmlns:m="http://schemas.openxmlformats.org/officeDocument/2006/math">
                    <m:f>
                      <m:fPr>
                        <m:ctrlPr>
                          <a:rPr lang="en-PH" sz="4400" i="1" smtClean="0">
                            <a:latin typeface="Cambria Math" panose="02040503050406030204" pitchFamily="18" charset="0"/>
                          </a:rPr>
                        </m:ctrlPr>
                      </m:fPr>
                      <m:num>
                        <m:r>
                          <a:rPr lang="en-PH" sz="4400" b="0" i="1" smtClean="0">
                            <a:latin typeface="Cambria Math" panose="02040503050406030204" pitchFamily="18" charset="0"/>
                          </a:rPr>
                          <m:t>𝑌𝑛</m:t>
                        </m:r>
                        <m:r>
                          <a:rPr lang="en-PH" sz="4400" b="0" i="1" smtClean="0">
                            <a:latin typeface="Cambria Math" panose="02040503050406030204" pitchFamily="18" charset="0"/>
                          </a:rPr>
                          <m:t> −</m:t>
                        </m:r>
                        <m:r>
                          <a:rPr lang="en-PH" sz="4400" b="0" i="1" smtClean="0">
                            <a:latin typeface="Cambria Math" panose="02040503050406030204" pitchFamily="18" charset="0"/>
                          </a:rPr>
                          <m:t>𝑋𝑛</m:t>
                        </m:r>
                      </m:num>
                      <m:den>
                        <m:r>
                          <a:rPr lang="en-PH" sz="4400" b="0" i="1" smtClean="0">
                            <a:latin typeface="Cambria Math" panose="02040503050406030204" pitchFamily="18" charset="0"/>
                          </a:rPr>
                          <m:t>𝑌𝑛</m:t>
                        </m:r>
                      </m:den>
                    </m:f>
                  </m:oMath>
                </a14:m>
                <a:r>
                  <a:rPr lang="en-PH" sz="5400" dirty="0"/>
                  <a:t>|</a:t>
                </a:r>
                <a:r>
                  <a:rPr lang="en-PH" sz="4400" dirty="0"/>
                  <a:t>x 100</a:t>
                </a:r>
              </a:p>
              <a:p>
                <a:pPr marL="0" indent="0">
                  <a:buNone/>
                </a:pPr>
                <a:r>
                  <a:rPr lang="en-PH" sz="4400" dirty="0"/>
                  <a:t>		    = </a:t>
                </a:r>
                <a:r>
                  <a:rPr lang="en-PH" sz="5400" dirty="0"/>
                  <a:t>|</a:t>
                </a:r>
                <a14:m>
                  <m:oMath xmlns:m="http://schemas.openxmlformats.org/officeDocument/2006/math">
                    <m:f>
                      <m:fPr>
                        <m:ctrlPr>
                          <a:rPr lang="en-PH" sz="4400" i="1" smtClean="0">
                            <a:latin typeface="Cambria Math" panose="02040503050406030204" pitchFamily="18" charset="0"/>
                          </a:rPr>
                        </m:ctrlPr>
                      </m:fPr>
                      <m:num>
                        <m:r>
                          <a:rPr lang="en-PH" sz="4400" b="0" i="1" smtClean="0">
                            <a:latin typeface="Cambria Math" panose="02040503050406030204" pitchFamily="18" charset="0"/>
                          </a:rPr>
                          <m:t>50 −49</m:t>
                        </m:r>
                      </m:num>
                      <m:den>
                        <m:r>
                          <a:rPr lang="en-PH" sz="4400" b="0" i="1" smtClean="0">
                            <a:latin typeface="Cambria Math" panose="02040503050406030204" pitchFamily="18" charset="0"/>
                          </a:rPr>
                          <m:t>50</m:t>
                        </m:r>
                      </m:den>
                    </m:f>
                  </m:oMath>
                </a14:m>
                <a:r>
                  <a:rPr lang="en-PH" sz="5400" dirty="0"/>
                  <a:t>| </a:t>
                </a:r>
                <a:r>
                  <a:rPr lang="en-PH" sz="4400" dirty="0"/>
                  <a:t>x 100</a:t>
                </a:r>
              </a:p>
              <a:p>
                <a:pPr marL="0" indent="0">
                  <a:buNone/>
                </a:pPr>
                <a:r>
                  <a:rPr lang="en-PH" sz="4400" dirty="0"/>
                  <a:t>    % error = 2 % </a:t>
                </a:r>
              </a:p>
              <a:p>
                <a:pPr marL="0" indent="0">
                  <a:buNone/>
                </a:pPr>
                <a:endParaRPr lang="en-PH" sz="4400" dirty="0"/>
              </a:p>
              <a:p>
                <a:pPr marL="0" indent="0">
                  <a:buNone/>
                </a:pPr>
                <a:endParaRPr lang="en-PH" sz="4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342900"/>
                <a:ext cx="10515600" cy="6311900"/>
              </a:xfrm>
              <a:blipFill rotWithShape="0">
                <a:blip r:embed="rId2"/>
                <a:stretch>
                  <a:fillRect l="-2377" t="-3861"/>
                </a:stretch>
              </a:blipFill>
            </p:spPr>
            <p:txBody>
              <a:bodyPr/>
              <a:lstStyle/>
              <a:p>
                <a:r>
                  <a:rPr lang="en-PH">
                    <a:noFill/>
                  </a:rPr>
                  <a:t> </a:t>
                </a:r>
              </a:p>
            </p:txBody>
          </p:sp>
        </mc:Fallback>
      </mc:AlternateContent>
      <p:sp>
        <p:nvSpPr>
          <p:cNvPr id="2" name="Rectangle 1"/>
          <p:cNvSpPr/>
          <p:nvPr/>
        </p:nvSpPr>
        <p:spPr>
          <a:xfrm>
            <a:off x="1422400" y="2362200"/>
            <a:ext cx="1930400" cy="495300"/>
          </a:xfrm>
          <a:prstGeom prst="rect">
            <a:avLst/>
          </a:prstGeom>
          <a:noFill/>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4" name="Rectangle 3"/>
          <p:cNvSpPr/>
          <p:nvPr/>
        </p:nvSpPr>
        <p:spPr>
          <a:xfrm>
            <a:off x="1422400" y="5473700"/>
            <a:ext cx="3098800" cy="508000"/>
          </a:xfrm>
          <a:prstGeom prst="rect">
            <a:avLst/>
          </a:prstGeom>
          <a:noFill/>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Tree>
    <p:extLst>
      <p:ext uri="{BB962C8B-B14F-4D97-AF65-F5344CB8AC3E}">
        <p14:creationId xmlns:p14="http://schemas.microsoft.com/office/powerpoint/2010/main" val="12709847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42900"/>
                <a:ext cx="10515600" cy="6311900"/>
              </a:xfrm>
            </p:spPr>
            <p:txBody>
              <a:bodyPr>
                <a:normAutofit fontScale="92500" lnSpcReduction="10000"/>
              </a:bodyPr>
              <a:lstStyle/>
              <a:p>
                <a:pPr marL="0" indent="0">
                  <a:buNone/>
                </a:pPr>
                <a:r>
                  <a:rPr lang="en-PH" sz="4400" dirty="0"/>
                  <a:t>Solution:</a:t>
                </a:r>
              </a:p>
              <a:p>
                <a:pPr marL="0" indent="0">
                  <a:buNone/>
                </a:pPr>
                <a:r>
                  <a:rPr lang="en-PH" sz="4400" dirty="0"/>
                  <a:t>c) A = 1 - </a:t>
                </a:r>
                <a:r>
                  <a:rPr lang="en-PH" sz="5400" dirty="0"/>
                  <a:t>|</a:t>
                </a:r>
                <a14:m>
                  <m:oMath xmlns:m="http://schemas.openxmlformats.org/officeDocument/2006/math">
                    <m:f>
                      <m:fPr>
                        <m:ctrlPr>
                          <a:rPr lang="en-PH" sz="4400" i="1">
                            <a:latin typeface="Cambria Math" panose="02040503050406030204" pitchFamily="18" charset="0"/>
                          </a:rPr>
                        </m:ctrlPr>
                      </m:fPr>
                      <m:num>
                        <m:r>
                          <a:rPr lang="en-PH" sz="4400" i="1">
                            <a:latin typeface="Cambria Math" panose="02040503050406030204" pitchFamily="18" charset="0"/>
                          </a:rPr>
                          <m:t>𝑌𝑛</m:t>
                        </m:r>
                        <m:r>
                          <a:rPr lang="en-PH" sz="4400" i="1">
                            <a:latin typeface="Cambria Math" panose="02040503050406030204" pitchFamily="18" charset="0"/>
                          </a:rPr>
                          <m:t> −</m:t>
                        </m:r>
                        <m:r>
                          <a:rPr lang="en-PH" sz="4400" i="1">
                            <a:latin typeface="Cambria Math" panose="02040503050406030204" pitchFamily="18" charset="0"/>
                          </a:rPr>
                          <m:t>𝑋𝑛</m:t>
                        </m:r>
                      </m:num>
                      <m:den>
                        <m:r>
                          <a:rPr lang="en-PH" sz="4400" i="1">
                            <a:latin typeface="Cambria Math" panose="02040503050406030204" pitchFamily="18" charset="0"/>
                          </a:rPr>
                          <m:t>𝑌𝑛</m:t>
                        </m:r>
                      </m:den>
                    </m:f>
                  </m:oMath>
                </a14:m>
                <a:r>
                  <a:rPr lang="en-PH" sz="5400" dirty="0"/>
                  <a:t>|=</a:t>
                </a:r>
                <a:r>
                  <a:rPr lang="en-PH" sz="4400" dirty="0"/>
                  <a:t> 1 - </a:t>
                </a:r>
                <a:r>
                  <a:rPr lang="en-PH" sz="5400" dirty="0"/>
                  <a:t>|</a:t>
                </a:r>
                <a14:m>
                  <m:oMath xmlns:m="http://schemas.openxmlformats.org/officeDocument/2006/math">
                    <m:f>
                      <m:fPr>
                        <m:ctrlPr>
                          <a:rPr lang="en-PH" sz="4400" i="1">
                            <a:latin typeface="Cambria Math" panose="02040503050406030204" pitchFamily="18" charset="0"/>
                          </a:rPr>
                        </m:ctrlPr>
                      </m:fPr>
                      <m:num>
                        <m:r>
                          <a:rPr lang="en-PH" sz="4400" i="1">
                            <a:latin typeface="Cambria Math" panose="02040503050406030204" pitchFamily="18" charset="0"/>
                          </a:rPr>
                          <m:t>50 −49</m:t>
                        </m:r>
                      </m:num>
                      <m:den>
                        <m:r>
                          <a:rPr lang="en-PH" sz="4400" i="1">
                            <a:latin typeface="Cambria Math" panose="02040503050406030204" pitchFamily="18" charset="0"/>
                          </a:rPr>
                          <m:t>50</m:t>
                        </m:r>
                      </m:den>
                    </m:f>
                  </m:oMath>
                </a14:m>
                <a:r>
                  <a:rPr lang="en-PH" sz="5400" dirty="0"/>
                  <a:t>|</a:t>
                </a:r>
              </a:p>
              <a:p>
                <a:pPr marL="0" indent="0">
                  <a:buNone/>
                </a:pPr>
                <a:r>
                  <a:rPr lang="en-PH" sz="4400" dirty="0"/>
                  <a:t>    A = 1 - </a:t>
                </a:r>
                <a:r>
                  <a:rPr lang="en-PH" sz="5400" dirty="0"/>
                  <a:t>|</a:t>
                </a:r>
                <a14:m>
                  <m:oMath xmlns:m="http://schemas.openxmlformats.org/officeDocument/2006/math">
                    <m:f>
                      <m:fPr>
                        <m:ctrlPr>
                          <a:rPr lang="en-PH" sz="4400" i="1">
                            <a:latin typeface="Cambria Math" panose="02040503050406030204" pitchFamily="18" charset="0"/>
                          </a:rPr>
                        </m:ctrlPr>
                      </m:fPr>
                      <m:num>
                        <m:r>
                          <a:rPr lang="en-PH" sz="4400" i="1">
                            <a:latin typeface="Cambria Math" panose="02040503050406030204" pitchFamily="18" charset="0"/>
                          </a:rPr>
                          <m:t>1</m:t>
                        </m:r>
                      </m:num>
                      <m:den>
                        <m:r>
                          <a:rPr lang="en-PH" sz="4400" i="1">
                            <a:latin typeface="Cambria Math" panose="02040503050406030204" pitchFamily="18" charset="0"/>
                          </a:rPr>
                          <m:t>50</m:t>
                        </m:r>
                      </m:den>
                    </m:f>
                  </m:oMath>
                </a14:m>
                <a:r>
                  <a:rPr lang="en-PH" sz="5400" dirty="0"/>
                  <a:t>| </a:t>
                </a:r>
              </a:p>
              <a:p>
                <a:pPr marL="0" indent="0">
                  <a:buNone/>
                </a:pPr>
                <a:r>
                  <a:rPr lang="en-PH" sz="5400" dirty="0"/>
                  <a:t>   A= </a:t>
                </a:r>
                <a:r>
                  <a:rPr lang="en-PH" sz="4400" dirty="0"/>
                  <a:t>0.98</a:t>
                </a:r>
              </a:p>
              <a:p>
                <a:pPr marL="0" indent="0">
                  <a:buNone/>
                </a:pPr>
                <a:endParaRPr lang="en-PH" sz="4400" dirty="0"/>
              </a:p>
              <a:p>
                <a:pPr marL="0" indent="0">
                  <a:buNone/>
                </a:pPr>
                <a:r>
                  <a:rPr lang="en-PH" sz="4400" dirty="0"/>
                  <a:t>d) a = 100% - % error </a:t>
                </a:r>
              </a:p>
              <a:p>
                <a:pPr marL="0" indent="0">
                  <a:buNone/>
                </a:pPr>
                <a:r>
                  <a:rPr lang="en-PH" sz="4400" dirty="0"/>
                  <a:t>     a = 100% - 2%</a:t>
                </a:r>
              </a:p>
              <a:p>
                <a:pPr marL="0" indent="0">
                  <a:buNone/>
                </a:pPr>
                <a:r>
                  <a:rPr lang="en-PH" sz="4400" dirty="0"/>
                  <a:t>     a	 = 98%	</a:t>
                </a:r>
              </a:p>
              <a:p>
                <a:pPr marL="0" indent="0">
                  <a:buNone/>
                </a:pPr>
                <a:r>
                  <a:rPr lang="en-PH" sz="4400" dirty="0"/>
                  <a:t>		</a:t>
                </a:r>
              </a:p>
              <a:p>
                <a:pPr marL="0" indent="0">
                  <a:buNone/>
                </a:pPr>
                <a:endParaRPr lang="en-PH" sz="4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342900"/>
                <a:ext cx="10515600" cy="6311900"/>
              </a:xfrm>
              <a:blipFill rotWithShape="0">
                <a:blip r:embed="rId2"/>
                <a:stretch>
                  <a:fillRect l="-2145" t="-3378"/>
                </a:stretch>
              </a:blipFill>
            </p:spPr>
            <p:txBody>
              <a:bodyPr/>
              <a:lstStyle/>
              <a:p>
                <a:r>
                  <a:rPr lang="en-PH">
                    <a:noFill/>
                  </a:rPr>
                  <a:t> </a:t>
                </a:r>
              </a:p>
            </p:txBody>
          </p:sp>
        </mc:Fallback>
      </mc:AlternateContent>
      <p:sp>
        <p:nvSpPr>
          <p:cNvPr id="4" name="Rectangle 3"/>
          <p:cNvSpPr/>
          <p:nvPr/>
        </p:nvSpPr>
        <p:spPr>
          <a:xfrm>
            <a:off x="1308100" y="2743200"/>
            <a:ext cx="1943100" cy="495300"/>
          </a:xfrm>
          <a:prstGeom prst="rect">
            <a:avLst/>
          </a:prstGeom>
          <a:noFill/>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
        <p:nvSpPr>
          <p:cNvPr id="5" name="Rectangle 4"/>
          <p:cNvSpPr/>
          <p:nvPr/>
        </p:nvSpPr>
        <p:spPr>
          <a:xfrm>
            <a:off x="1460500" y="5283200"/>
            <a:ext cx="1930400" cy="495300"/>
          </a:xfrm>
          <a:prstGeom prst="rect">
            <a:avLst/>
          </a:prstGeom>
          <a:noFill/>
          <a:ln w="19050"/>
        </p:spPr>
        <p:style>
          <a:lnRef idx="2">
            <a:schemeClr val="accent6"/>
          </a:lnRef>
          <a:fillRef idx="1">
            <a:schemeClr val="lt1"/>
          </a:fillRef>
          <a:effectRef idx="0">
            <a:schemeClr val="accent6"/>
          </a:effectRef>
          <a:fontRef idx="minor">
            <a:schemeClr val="dk1"/>
          </a:fontRef>
        </p:style>
        <p:txBody>
          <a:bodyPr rtlCol="0" anchor="ctr"/>
          <a:lstStyle/>
          <a:p>
            <a:pPr algn="ctr"/>
            <a:endParaRPr lang="en-PH"/>
          </a:p>
        </p:txBody>
      </p:sp>
    </p:spTree>
    <p:extLst>
      <p:ext uri="{BB962C8B-B14F-4D97-AF65-F5344CB8AC3E}">
        <p14:creationId xmlns:p14="http://schemas.microsoft.com/office/powerpoint/2010/main" val="24860231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42900"/>
                <a:ext cx="10515600" cy="6311900"/>
              </a:xfrm>
            </p:spPr>
            <p:txBody>
              <a:bodyPr>
                <a:normAutofit lnSpcReduction="10000"/>
              </a:bodyPr>
              <a:lstStyle/>
              <a:p>
                <a:pPr marL="0" indent="0">
                  <a:buNone/>
                </a:pPr>
                <a:r>
                  <a:rPr lang="en-PH" sz="4400" dirty="0"/>
                  <a:t>Precision – a measure of the consistency or repeatability of measurements.</a:t>
                </a:r>
              </a:p>
              <a:p>
                <a:pPr marL="0" indent="0">
                  <a:buNone/>
                </a:pPr>
                <a:endParaRPr lang="en-PH" sz="4400" dirty="0"/>
              </a:p>
              <a:p>
                <a:pPr marL="0" indent="0">
                  <a:buNone/>
                </a:pPr>
                <a:r>
                  <a:rPr lang="en-PH" sz="4400" dirty="0"/>
                  <a:t>	Precision = 1 - </a:t>
                </a:r>
                <a:r>
                  <a:rPr lang="en-PH" sz="5400" dirty="0"/>
                  <a:t>|</a:t>
                </a:r>
                <a14:m>
                  <m:oMath xmlns:m="http://schemas.openxmlformats.org/officeDocument/2006/math">
                    <m:f>
                      <m:fPr>
                        <m:ctrlPr>
                          <a:rPr lang="en-PH" sz="4400" i="1" smtClean="0">
                            <a:latin typeface="Cambria Math" panose="02040503050406030204" pitchFamily="18" charset="0"/>
                          </a:rPr>
                        </m:ctrlPr>
                      </m:fPr>
                      <m:num>
                        <m:r>
                          <a:rPr lang="en-PH" sz="4400" b="0" i="1" smtClean="0">
                            <a:latin typeface="Cambria Math" panose="02040503050406030204" pitchFamily="18" charset="0"/>
                          </a:rPr>
                          <m:t>𝑋𝑛</m:t>
                        </m:r>
                        <m:r>
                          <a:rPr lang="en-PH" sz="4400" b="0" i="1" smtClean="0">
                            <a:latin typeface="Cambria Math" panose="02040503050406030204" pitchFamily="18" charset="0"/>
                          </a:rPr>
                          <m:t> −</m:t>
                        </m:r>
                        <m:r>
                          <a:rPr lang="en-PH" sz="4400" b="0" i="1" smtClean="0">
                            <a:latin typeface="Cambria Math" panose="02040503050406030204" pitchFamily="18" charset="0"/>
                          </a:rPr>
                          <m:t>𝑥𝑛</m:t>
                        </m:r>
                      </m:num>
                      <m:den>
                        <m:r>
                          <a:rPr lang="en-PH" sz="4400" b="0" i="1" smtClean="0">
                            <a:latin typeface="Cambria Math" panose="02040503050406030204" pitchFamily="18" charset="0"/>
                          </a:rPr>
                          <m:t>𝑥𝑛</m:t>
                        </m:r>
                      </m:den>
                    </m:f>
                  </m:oMath>
                </a14:m>
                <a:r>
                  <a:rPr lang="en-PH" sz="5400" dirty="0"/>
                  <a:t>|</a:t>
                </a:r>
                <a:r>
                  <a:rPr lang="en-PH" sz="4400" dirty="0"/>
                  <a:t>	</a:t>
                </a:r>
              </a:p>
              <a:p>
                <a:pPr marL="0" indent="0">
                  <a:buNone/>
                </a:pPr>
                <a:r>
                  <a:rPr lang="en-PH" sz="4400" dirty="0"/>
                  <a:t>		where </a:t>
                </a:r>
                <a:r>
                  <a:rPr lang="en-PH" sz="4400" dirty="0" err="1"/>
                  <a:t>X</a:t>
                </a:r>
                <a:r>
                  <a:rPr lang="en-PH" dirty="0" err="1"/>
                  <a:t>n</a:t>
                </a:r>
                <a:r>
                  <a:rPr lang="en-PH" sz="4400" dirty="0"/>
                  <a:t> = the value of the </a:t>
                </a:r>
                <a:r>
                  <a:rPr lang="en-PH" sz="4400" i="1" dirty="0"/>
                  <a:t>nth</a:t>
                </a:r>
                <a:r>
                  <a:rPr lang="en-PH" sz="4400" dirty="0"/>
                  <a:t> 							measurement</a:t>
                </a:r>
              </a:p>
              <a:p>
                <a:pPr marL="0" indent="0">
                  <a:buNone/>
                </a:pPr>
                <a:r>
                  <a:rPr lang="en-PH" sz="4400" dirty="0"/>
                  <a:t>		             </a:t>
                </a:r>
                <a:r>
                  <a:rPr lang="en-PH" sz="4400" dirty="0" err="1"/>
                  <a:t>x</a:t>
                </a:r>
                <a:r>
                  <a:rPr lang="en-PH" dirty="0" err="1"/>
                  <a:t>n</a:t>
                </a:r>
                <a:r>
                  <a:rPr lang="en-PH" sz="4400" dirty="0"/>
                  <a:t> = the average of the set 						of </a:t>
                </a:r>
                <a:r>
                  <a:rPr lang="en-PH" sz="4400" i="1" dirty="0"/>
                  <a:t>n</a:t>
                </a:r>
                <a:r>
                  <a:rPr lang="en-PH" sz="4400" dirty="0"/>
                  <a:t> measurement</a:t>
                </a:r>
              </a:p>
              <a:p>
                <a:pPr marL="0" indent="0">
                  <a:buNone/>
                </a:pPr>
                <a:r>
                  <a:rPr lang="en-PH" sz="4400" dirty="0"/>
                  <a:t>		</a:t>
                </a:r>
              </a:p>
              <a:p>
                <a:pPr marL="0" indent="0">
                  <a:buNone/>
                </a:pPr>
                <a:endParaRPr lang="en-PH" sz="4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342900"/>
                <a:ext cx="10515600" cy="6311900"/>
              </a:xfrm>
              <a:blipFill rotWithShape="0">
                <a:blip r:embed="rId2"/>
                <a:stretch>
                  <a:fillRect l="-2377" t="-3861"/>
                </a:stretch>
              </a:blipFill>
            </p:spPr>
            <p:txBody>
              <a:bodyPr/>
              <a:lstStyle/>
              <a:p>
                <a:r>
                  <a:rPr lang="en-PH">
                    <a:noFill/>
                  </a:rPr>
                  <a:t> </a:t>
                </a:r>
              </a:p>
            </p:txBody>
          </p:sp>
        </mc:Fallback>
      </mc:AlternateContent>
    </p:spTree>
    <p:extLst>
      <p:ext uri="{BB962C8B-B14F-4D97-AF65-F5344CB8AC3E}">
        <p14:creationId xmlns:p14="http://schemas.microsoft.com/office/powerpoint/2010/main" val="24788903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4200" y="342900"/>
            <a:ext cx="11087100" cy="6311900"/>
          </a:xfrm>
        </p:spPr>
        <p:txBody>
          <a:bodyPr>
            <a:noAutofit/>
          </a:bodyPr>
          <a:lstStyle/>
          <a:p>
            <a:pPr marL="0" indent="0">
              <a:buNone/>
            </a:pPr>
            <a:r>
              <a:rPr lang="en-PH" sz="4400" b="1" dirty="0"/>
              <a:t>Basic Instrument System</a:t>
            </a:r>
          </a:p>
          <a:p>
            <a:pPr marL="0" indent="0">
              <a:buNone/>
            </a:pPr>
            <a:endParaRPr lang="en-PH" sz="4400" dirty="0"/>
          </a:p>
          <a:p>
            <a:pPr marL="0" indent="0">
              <a:buNone/>
            </a:pPr>
            <a:endParaRPr lang="en-PH" sz="4400" dirty="0"/>
          </a:p>
          <a:p>
            <a:pPr marL="0" indent="0">
              <a:buNone/>
            </a:pPr>
            <a:r>
              <a:rPr lang="en-PH" sz="4400" dirty="0"/>
              <a:t>Most modern analog equipment works on the following standard signal ranges:</a:t>
            </a:r>
          </a:p>
          <a:p>
            <a:pPr marL="0" indent="0">
              <a:buNone/>
            </a:pPr>
            <a:r>
              <a:rPr lang="en-PH" sz="4400" dirty="0"/>
              <a:t>	Electric – 4 mA to 20 mA</a:t>
            </a:r>
          </a:p>
          <a:p>
            <a:pPr marL="0" indent="0">
              <a:buNone/>
            </a:pPr>
            <a:r>
              <a:rPr lang="en-PH" sz="4400" dirty="0"/>
              <a:t>	Pneumatic – 0.2 bar to 1.0 bar</a:t>
            </a:r>
          </a:p>
          <a:p>
            <a:pPr marL="0" indent="0">
              <a:buNone/>
            </a:pPr>
            <a:r>
              <a:rPr lang="en-PH" sz="4400" dirty="0"/>
              <a:t>	Older electrical equipment uses 0 to 10 V. </a:t>
            </a:r>
          </a:p>
        </p:txBody>
      </p:sp>
      <p:pic>
        <p:nvPicPr>
          <p:cNvPr id="4" name="Picture 3"/>
          <p:cNvPicPr>
            <a:picLocks noChangeAspect="1"/>
          </p:cNvPicPr>
          <p:nvPr/>
        </p:nvPicPr>
        <p:blipFill>
          <a:blip r:embed="rId2"/>
          <a:stretch>
            <a:fillRect/>
          </a:stretch>
        </p:blipFill>
        <p:spPr>
          <a:xfrm>
            <a:off x="1217611" y="1181100"/>
            <a:ext cx="9220805" cy="1003300"/>
          </a:xfrm>
          <a:prstGeom prst="rect">
            <a:avLst/>
          </a:prstGeom>
        </p:spPr>
      </p:pic>
    </p:spTree>
    <p:extLst>
      <p:ext uri="{BB962C8B-B14F-4D97-AF65-F5344CB8AC3E}">
        <p14:creationId xmlns:p14="http://schemas.microsoft.com/office/powerpoint/2010/main" val="38957980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4200" y="342900"/>
            <a:ext cx="11087100" cy="6311900"/>
          </a:xfrm>
        </p:spPr>
        <p:txBody>
          <a:bodyPr>
            <a:noAutofit/>
          </a:bodyPr>
          <a:lstStyle/>
          <a:p>
            <a:pPr marL="0" indent="0">
              <a:buNone/>
            </a:pPr>
            <a:r>
              <a:rPr lang="en-PH" sz="4400" dirty="0"/>
              <a:t>Basic Instrument System</a:t>
            </a:r>
          </a:p>
          <a:p>
            <a:pPr marL="0" indent="0">
              <a:buNone/>
            </a:pPr>
            <a:endParaRPr lang="en-PH" sz="4400" dirty="0"/>
          </a:p>
          <a:p>
            <a:pPr marL="0" indent="0">
              <a:buNone/>
            </a:pPr>
            <a:r>
              <a:rPr lang="en-PH" sz="4400" dirty="0"/>
              <a:t>As of now, the instruments are digital with a binary digital encoder built in to give a binary digital output. </a:t>
            </a:r>
          </a:p>
          <a:p>
            <a:pPr marL="0" indent="0">
              <a:buNone/>
            </a:pPr>
            <a:r>
              <a:rPr lang="en-PH" sz="4400" dirty="0"/>
              <a:t>Pneumatic signals are commonly used in process industries for safety especially when there is a risk of fire or explosion.</a:t>
            </a:r>
          </a:p>
        </p:txBody>
      </p:sp>
    </p:spTree>
    <p:extLst>
      <p:ext uri="{BB962C8B-B14F-4D97-AF65-F5344CB8AC3E}">
        <p14:creationId xmlns:p14="http://schemas.microsoft.com/office/powerpoint/2010/main" val="22092093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4200" y="342900"/>
            <a:ext cx="11087100" cy="6311900"/>
          </a:xfrm>
        </p:spPr>
        <p:txBody>
          <a:bodyPr>
            <a:normAutofit/>
          </a:bodyPr>
          <a:lstStyle/>
          <a:p>
            <a:pPr marL="0" indent="0">
              <a:buNone/>
            </a:pPr>
            <a:r>
              <a:rPr lang="en-PH" sz="4400" dirty="0"/>
              <a:t>Things that are commonly measured:</a:t>
            </a:r>
          </a:p>
          <a:p>
            <a:pPr marL="0" indent="0">
              <a:buNone/>
            </a:pPr>
            <a:r>
              <a:rPr lang="en-PH" sz="4400" dirty="0"/>
              <a:t>Temperature 		Pressure</a:t>
            </a:r>
          </a:p>
          <a:p>
            <a:pPr marL="0" indent="0">
              <a:buNone/>
            </a:pPr>
            <a:r>
              <a:rPr lang="en-PH" sz="4400" dirty="0"/>
              <a:t>Speed 				Flow rate</a:t>
            </a:r>
          </a:p>
          <a:p>
            <a:pPr marL="0" indent="0">
              <a:buNone/>
            </a:pPr>
            <a:r>
              <a:rPr lang="en-PH" sz="4400" dirty="0"/>
              <a:t>Force 				Movement, Velocity and 					Acceleration</a:t>
            </a:r>
          </a:p>
          <a:p>
            <a:pPr marL="0" indent="0">
              <a:buNone/>
            </a:pPr>
            <a:r>
              <a:rPr lang="en-PH" sz="4400" dirty="0"/>
              <a:t>Stress and Strain 	Level or Depth</a:t>
            </a:r>
          </a:p>
          <a:p>
            <a:pPr marL="0" indent="0">
              <a:buNone/>
            </a:pPr>
            <a:r>
              <a:rPr lang="en-PH" sz="4400" dirty="0"/>
              <a:t>Mass or Weight 	Density</a:t>
            </a:r>
          </a:p>
          <a:p>
            <a:pPr marL="0" indent="0">
              <a:buNone/>
            </a:pPr>
            <a:r>
              <a:rPr lang="en-PH" sz="4400" dirty="0"/>
              <a:t>Size or Volume 		Acidity/Alkalinity</a:t>
            </a:r>
          </a:p>
        </p:txBody>
      </p:sp>
    </p:spTree>
    <p:extLst>
      <p:ext uri="{BB962C8B-B14F-4D97-AF65-F5344CB8AC3E}">
        <p14:creationId xmlns:p14="http://schemas.microsoft.com/office/powerpoint/2010/main" val="37608543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4200" y="342900"/>
            <a:ext cx="11087100" cy="6311900"/>
          </a:xfrm>
        </p:spPr>
        <p:txBody>
          <a:bodyPr>
            <a:normAutofit/>
          </a:bodyPr>
          <a:lstStyle/>
          <a:p>
            <a:pPr marL="0" indent="0">
              <a:buNone/>
            </a:pPr>
            <a:r>
              <a:rPr lang="en-PH" sz="4400" dirty="0"/>
              <a:t>Sensors may operate simple on/off switches to detect the following:</a:t>
            </a:r>
          </a:p>
          <a:p>
            <a:pPr marL="0" indent="0">
              <a:buNone/>
            </a:pPr>
            <a:r>
              <a:rPr lang="en-PH" sz="4400" dirty="0"/>
              <a:t>Objects (Proximity switch) </a:t>
            </a:r>
          </a:p>
          <a:p>
            <a:pPr marL="0" indent="0">
              <a:buNone/>
            </a:pPr>
            <a:r>
              <a:rPr lang="en-PH" sz="4400" dirty="0"/>
              <a:t>Empty or full (level switch)</a:t>
            </a:r>
          </a:p>
          <a:p>
            <a:pPr marL="0" indent="0">
              <a:buNone/>
            </a:pPr>
            <a:r>
              <a:rPr lang="en-PH" sz="4400" dirty="0"/>
              <a:t>Hot or cold (thermostat)</a:t>
            </a:r>
          </a:p>
          <a:p>
            <a:pPr marL="0" indent="0">
              <a:buNone/>
            </a:pPr>
            <a:r>
              <a:rPr lang="en-PH" sz="4400" dirty="0"/>
              <a:t>Pressure high or low (pressure switch)</a:t>
            </a:r>
          </a:p>
        </p:txBody>
      </p:sp>
    </p:spTree>
    <p:extLst>
      <p:ext uri="{BB962C8B-B14F-4D97-AF65-F5344CB8AC3E}">
        <p14:creationId xmlns:p14="http://schemas.microsoft.com/office/powerpoint/2010/main" val="3541790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dirty="0"/>
          </a:p>
        </p:txBody>
      </p:sp>
      <p:pic>
        <p:nvPicPr>
          <p:cNvPr id="5" name="Picture 4"/>
          <p:cNvPicPr>
            <a:picLocks noChangeAspect="1"/>
          </p:cNvPicPr>
          <p:nvPr/>
        </p:nvPicPr>
        <p:blipFill>
          <a:blip r:embed="rId2"/>
          <a:stretch>
            <a:fillRect/>
          </a:stretch>
        </p:blipFill>
        <p:spPr>
          <a:xfrm>
            <a:off x="838200" y="747713"/>
            <a:ext cx="5819775" cy="1885950"/>
          </a:xfrm>
          <a:prstGeom prst="rect">
            <a:avLst/>
          </a:prstGeom>
        </p:spPr>
      </p:pic>
      <p:pic>
        <p:nvPicPr>
          <p:cNvPr id="7" name="Content Placeholder 6"/>
          <p:cNvPicPr>
            <a:picLocks noGrp="1" noChangeAspect="1"/>
          </p:cNvPicPr>
          <p:nvPr>
            <p:ph idx="1"/>
          </p:nvPr>
        </p:nvPicPr>
        <p:blipFill>
          <a:blip r:embed="rId3"/>
          <a:stretch>
            <a:fillRect/>
          </a:stretch>
        </p:blipFill>
        <p:spPr>
          <a:xfrm>
            <a:off x="7148512" y="747713"/>
            <a:ext cx="3714750" cy="2019300"/>
          </a:xfrm>
          <a:prstGeom prst="rect">
            <a:avLst/>
          </a:prstGeom>
        </p:spPr>
      </p:pic>
      <p:pic>
        <p:nvPicPr>
          <p:cNvPr id="8" name="Picture 7"/>
          <p:cNvPicPr>
            <a:picLocks noChangeAspect="1"/>
          </p:cNvPicPr>
          <p:nvPr/>
        </p:nvPicPr>
        <p:blipFill>
          <a:blip r:embed="rId4"/>
          <a:stretch>
            <a:fillRect/>
          </a:stretch>
        </p:blipFill>
        <p:spPr>
          <a:xfrm>
            <a:off x="1459706" y="3016251"/>
            <a:ext cx="3505200" cy="3276600"/>
          </a:xfrm>
          <a:prstGeom prst="rect">
            <a:avLst/>
          </a:prstGeom>
        </p:spPr>
      </p:pic>
      <p:pic>
        <p:nvPicPr>
          <p:cNvPr id="9" name="Picture 8"/>
          <p:cNvPicPr>
            <a:picLocks noChangeAspect="1"/>
          </p:cNvPicPr>
          <p:nvPr/>
        </p:nvPicPr>
        <p:blipFill>
          <a:blip r:embed="rId5"/>
          <a:stretch>
            <a:fillRect/>
          </a:stretch>
        </p:blipFill>
        <p:spPr>
          <a:xfrm>
            <a:off x="6505575" y="3149600"/>
            <a:ext cx="4729328" cy="3441699"/>
          </a:xfrm>
          <a:prstGeom prst="rect">
            <a:avLst/>
          </a:prstGeom>
        </p:spPr>
      </p:pic>
    </p:spTree>
    <p:extLst>
      <p:ext uri="{BB962C8B-B14F-4D97-AF65-F5344CB8AC3E}">
        <p14:creationId xmlns:p14="http://schemas.microsoft.com/office/powerpoint/2010/main" val="18409215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5" name="Content Placeholder 4"/>
          <p:cNvPicPr>
            <a:picLocks noGrp="1" noChangeAspect="1"/>
          </p:cNvPicPr>
          <p:nvPr>
            <p:ph idx="1"/>
          </p:nvPr>
        </p:nvPicPr>
        <p:blipFill>
          <a:blip r:embed="rId2"/>
          <a:stretch>
            <a:fillRect/>
          </a:stretch>
        </p:blipFill>
        <p:spPr>
          <a:xfrm>
            <a:off x="5986462" y="365124"/>
            <a:ext cx="5882254" cy="5159375"/>
          </a:xfrm>
          <a:prstGeom prst="rect">
            <a:avLst/>
          </a:prstGeom>
        </p:spPr>
      </p:pic>
      <p:pic>
        <p:nvPicPr>
          <p:cNvPr id="4" name="Picture 3"/>
          <p:cNvPicPr>
            <a:picLocks noChangeAspect="1"/>
          </p:cNvPicPr>
          <p:nvPr/>
        </p:nvPicPr>
        <p:blipFill>
          <a:blip r:embed="rId3"/>
          <a:stretch>
            <a:fillRect/>
          </a:stretch>
        </p:blipFill>
        <p:spPr>
          <a:xfrm>
            <a:off x="838200" y="365124"/>
            <a:ext cx="4841875" cy="3531996"/>
          </a:xfrm>
          <a:prstGeom prst="rect">
            <a:avLst/>
          </a:prstGeom>
        </p:spPr>
      </p:pic>
      <p:pic>
        <p:nvPicPr>
          <p:cNvPr id="6" name="Picture 5"/>
          <p:cNvPicPr>
            <a:picLocks noChangeAspect="1"/>
          </p:cNvPicPr>
          <p:nvPr/>
        </p:nvPicPr>
        <p:blipFill>
          <a:blip r:embed="rId4"/>
          <a:stretch>
            <a:fillRect/>
          </a:stretch>
        </p:blipFill>
        <p:spPr>
          <a:xfrm>
            <a:off x="1231901" y="3897120"/>
            <a:ext cx="4169568" cy="2936827"/>
          </a:xfrm>
          <a:prstGeom prst="rect">
            <a:avLst/>
          </a:prstGeom>
        </p:spPr>
      </p:pic>
    </p:spTree>
    <p:extLst>
      <p:ext uri="{BB962C8B-B14F-4D97-AF65-F5344CB8AC3E}">
        <p14:creationId xmlns:p14="http://schemas.microsoft.com/office/powerpoint/2010/main" val="41306856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8" name="Content Placeholder 7"/>
          <p:cNvPicPr>
            <a:picLocks noGrp="1" noChangeAspect="1"/>
          </p:cNvPicPr>
          <p:nvPr>
            <p:ph idx="1"/>
          </p:nvPr>
        </p:nvPicPr>
        <p:blipFill>
          <a:blip r:embed="rId2"/>
          <a:stretch>
            <a:fillRect/>
          </a:stretch>
        </p:blipFill>
        <p:spPr>
          <a:xfrm>
            <a:off x="7191375" y="2369344"/>
            <a:ext cx="4438650" cy="3543300"/>
          </a:xfrm>
          <a:prstGeom prst="rect">
            <a:avLst/>
          </a:prstGeom>
        </p:spPr>
      </p:pic>
      <p:pic>
        <p:nvPicPr>
          <p:cNvPr id="7" name="Picture 6"/>
          <p:cNvPicPr>
            <a:picLocks noChangeAspect="1"/>
          </p:cNvPicPr>
          <p:nvPr/>
        </p:nvPicPr>
        <p:blipFill>
          <a:blip r:embed="rId3"/>
          <a:stretch>
            <a:fillRect/>
          </a:stretch>
        </p:blipFill>
        <p:spPr>
          <a:xfrm>
            <a:off x="255748" y="581025"/>
            <a:ext cx="6507002" cy="3902075"/>
          </a:xfrm>
          <a:prstGeom prst="rect">
            <a:avLst/>
          </a:prstGeom>
        </p:spPr>
      </p:pic>
    </p:spTree>
    <p:extLst>
      <p:ext uri="{BB962C8B-B14F-4D97-AF65-F5344CB8AC3E}">
        <p14:creationId xmlns:p14="http://schemas.microsoft.com/office/powerpoint/2010/main" val="8740342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endParaRPr lang="en-PH"/>
          </a:p>
        </p:txBody>
      </p:sp>
      <p:pic>
        <p:nvPicPr>
          <p:cNvPr id="4" name="Picture 3"/>
          <p:cNvPicPr>
            <a:picLocks noChangeAspect="1"/>
          </p:cNvPicPr>
          <p:nvPr/>
        </p:nvPicPr>
        <p:blipFill>
          <a:blip r:embed="rId2"/>
          <a:stretch>
            <a:fillRect/>
          </a:stretch>
        </p:blipFill>
        <p:spPr>
          <a:xfrm>
            <a:off x="596900" y="546100"/>
            <a:ext cx="11374900" cy="6034481"/>
          </a:xfrm>
          <a:prstGeom prst="rect">
            <a:avLst/>
          </a:prstGeom>
        </p:spPr>
      </p:pic>
    </p:spTree>
    <p:extLst>
      <p:ext uri="{BB962C8B-B14F-4D97-AF65-F5344CB8AC3E}">
        <p14:creationId xmlns:p14="http://schemas.microsoft.com/office/powerpoint/2010/main" val="6718090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300" y="417512"/>
            <a:ext cx="10515600" cy="1325563"/>
          </a:xfrm>
        </p:spPr>
        <p:txBody>
          <a:bodyPr/>
          <a:lstStyle/>
          <a:p>
            <a:endParaRPr lang="en-PH"/>
          </a:p>
        </p:txBody>
      </p:sp>
      <p:pic>
        <p:nvPicPr>
          <p:cNvPr id="5" name="Content Placeholder 4"/>
          <p:cNvPicPr>
            <a:picLocks noGrp="1" noChangeAspect="1"/>
          </p:cNvPicPr>
          <p:nvPr>
            <p:ph idx="1"/>
          </p:nvPr>
        </p:nvPicPr>
        <p:blipFill>
          <a:blip r:embed="rId2"/>
          <a:stretch>
            <a:fillRect/>
          </a:stretch>
        </p:blipFill>
        <p:spPr>
          <a:xfrm>
            <a:off x="492124" y="1020762"/>
            <a:ext cx="3102021" cy="4338638"/>
          </a:xfrm>
          <a:prstGeom prst="rect">
            <a:avLst/>
          </a:prstGeom>
        </p:spPr>
      </p:pic>
      <p:pic>
        <p:nvPicPr>
          <p:cNvPr id="8" name="Picture 7"/>
          <p:cNvPicPr>
            <a:picLocks noChangeAspect="1"/>
          </p:cNvPicPr>
          <p:nvPr/>
        </p:nvPicPr>
        <p:blipFill>
          <a:blip r:embed="rId3"/>
          <a:stretch>
            <a:fillRect/>
          </a:stretch>
        </p:blipFill>
        <p:spPr>
          <a:xfrm>
            <a:off x="7014269" y="1368027"/>
            <a:ext cx="4996756" cy="3431382"/>
          </a:xfrm>
          <a:prstGeom prst="rect">
            <a:avLst/>
          </a:prstGeom>
        </p:spPr>
      </p:pic>
      <p:pic>
        <p:nvPicPr>
          <p:cNvPr id="9" name="Picture 8"/>
          <p:cNvPicPr>
            <a:picLocks noChangeAspect="1"/>
          </p:cNvPicPr>
          <p:nvPr/>
        </p:nvPicPr>
        <p:blipFill>
          <a:blip r:embed="rId4"/>
          <a:stretch>
            <a:fillRect/>
          </a:stretch>
        </p:blipFill>
        <p:spPr>
          <a:xfrm>
            <a:off x="3854450" y="1228724"/>
            <a:ext cx="2750508" cy="3709988"/>
          </a:xfrm>
          <a:prstGeom prst="rect">
            <a:avLst/>
          </a:prstGeom>
        </p:spPr>
      </p:pic>
    </p:spTree>
    <p:extLst>
      <p:ext uri="{BB962C8B-B14F-4D97-AF65-F5344CB8AC3E}">
        <p14:creationId xmlns:p14="http://schemas.microsoft.com/office/powerpoint/2010/main" val="11258193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22350" y="581025"/>
            <a:ext cx="3771900" cy="3105150"/>
          </a:xfrm>
          <a:prstGeom prst="rect">
            <a:avLst/>
          </a:prstGeom>
        </p:spPr>
      </p:pic>
      <p:pic>
        <p:nvPicPr>
          <p:cNvPr id="7" name="Picture 6"/>
          <p:cNvPicPr>
            <a:picLocks noChangeAspect="1"/>
          </p:cNvPicPr>
          <p:nvPr/>
        </p:nvPicPr>
        <p:blipFill rotWithShape="1">
          <a:blip r:embed="rId3"/>
          <a:srcRect b="23555"/>
          <a:stretch/>
        </p:blipFill>
        <p:spPr>
          <a:xfrm>
            <a:off x="4974534" y="328216"/>
            <a:ext cx="4754353" cy="2864245"/>
          </a:xfrm>
          <a:prstGeom prst="rect">
            <a:avLst/>
          </a:prstGeom>
        </p:spPr>
      </p:pic>
      <p:pic>
        <p:nvPicPr>
          <p:cNvPr id="10" name="Picture 9"/>
          <p:cNvPicPr>
            <a:picLocks noChangeAspect="1"/>
          </p:cNvPicPr>
          <p:nvPr/>
        </p:nvPicPr>
        <p:blipFill>
          <a:blip r:embed="rId4"/>
          <a:stretch>
            <a:fillRect/>
          </a:stretch>
        </p:blipFill>
        <p:spPr>
          <a:xfrm>
            <a:off x="1022350" y="3778250"/>
            <a:ext cx="3771900" cy="2914650"/>
          </a:xfrm>
          <a:prstGeom prst="rect">
            <a:avLst/>
          </a:prstGeom>
        </p:spPr>
      </p:pic>
      <p:pic>
        <p:nvPicPr>
          <p:cNvPr id="11" name="Picture 10"/>
          <p:cNvPicPr>
            <a:picLocks noChangeAspect="1"/>
          </p:cNvPicPr>
          <p:nvPr/>
        </p:nvPicPr>
        <p:blipFill>
          <a:blip r:embed="rId5"/>
          <a:stretch>
            <a:fillRect/>
          </a:stretch>
        </p:blipFill>
        <p:spPr>
          <a:xfrm>
            <a:off x="5665787" y="3452018"/>
            <a:ext cx="5076825" cy="3067050"/>
          </a:xfrm>
          <a:prstGeom prst="rect">
            <a:avLst/>
          </a:prstGeom>
        </p:spPr>
      </p:pic>
      <p:pic>
        <p:nvPicPr>
          <p:cNvPr id="6" name="Picture 5"/>
          <p:cNvPicPr>
            <a:picLocks noChangeAspect="1"/>
          </p:cNvPicPr>
          <p:nvPr/>
        </p:nvPicPr>
        <p:blipFill>
          <a:blip r:embed="rId6"/>
          <a:stretch>
            <a:fillRect/>
          </a:stretch>
        </p:blipFill>
        <p:spPr>
          <a:xfrm>
            <a:off x="9731374" y="401439"/>
            <a:ext cx="1425841" cy="2717800"/>
          </a:xfrm>
          <a:prstGeom prst="rect">
            <a:avLst/>
          </a:prstGeom>
        </p:spPr>
      </p:pic>
    </p:spTree>
    <p:extLst>
      <p:ext uri="{BB962C8B-B14F-4D97-AF65-F5344CB8AC3E}">
        <p14:creationId xmlns:p14="http://schemas.microsoft.com/office/powerpoint/2010/main" val="3964183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25450" y="927098"/>
            <a:ext cx="3754406" cy="4229101"/>
          </a:xfrm>
          <a:prstGeom prst="rect">
            <a:avLst/>
          </a:prstGeom>
        </p:spPr>
      </p:pic>
      <p:pic>
        <p:nvPicPr>
          <p:cNvPr id="3" name="Picture 2"/>
          <p:cNvPicPr>
            <a:picLocks noChangeAspect="1"/>
          </p:cNvPicPr>
          <p:nvPr/>
        </p:nvPicPr>
        <p:blipFill>
          <a:blip r:embed="rId3"/>
          <a:stretch>
            <a:fillRect/>
          </a:stretch>
        </p:blipFill>
        <p:spPr>
          <a:xfrm>
            <a:off x="4919662" y="373062"/>
            <a:ext cx="5781675" cy="5095875"/>
          </a:xfrm>
          <a:prstGeom prst="rect">
            <a:avLst/>
          </a:prstGeom>
        </p:spPr>
      </p:pic>
    </p:spTree>
    <p:extLst>
      <p:ext uri="{BB962C8B-B14F-4D97-AF65-F5344CB8AC3E}">
        <p14:creationId xmlns:p14="http://schemas.microsoft.com/office/powerpoint/2010/main" val="19222846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299075" y="800099"/>
            <a:ext cx="6496050" cy="4953000"/>
          </a:xfrm>
          <a:prstGeom prst="rect">
            <a:avLst/>
          </a:prstGeom>
        </p:spPr>
      </p:pic>
      <p:pic>
        <p:nvPicPr>
          <p:cNvPr id="5" name="Picture 4"/>
          <p:cNvPicPr>
            <a:picLocks noChangeAspect="1"/>
          </p:cNvPicPr>
          <p:nvPr/>
        </p:nvPicPr>
        <p:blipFill>
          <a:blip r:embed="rId3"/>
          <a:stretch>
            <a:fillRect/>
          </a:stretch>
        </p:blipFill>
        <p:spPr>
          <a:xfrm>
            <a:off x="-307975" y="576261"/>
            <a:ext cx="5314950" cy="5400675"/>
          </a:xfrm>
          <a:prstGeom prst="rect">
            <a:avLst/>
          </a:prstGeom>
        </p:spPr>
      </p:pic>
    </p:spTree>
    <p:extLst>
      <p:ext uri="{BB962C8B-B14F-4D97-AF65-F5344CB8AC3E}">
        <p14:creationId xmlns:p14="http://schemas.microsoft.com/office/powerpoint/2010/main" val="10221778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958</TotalTime>
  <Words>1723</Words>
  <Application>Microsoft Office PowerPoint</Application>
  <PresentationFormat>Widescreen</PresentationFormat>
  <Paragraphs>323</Paragraphs>
  <Slides>44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44</vt:i4>
      </vt:variant>
    </vt:vector>
  </HeadingPairs>
  <TitlesOfParts>
    <vt:vector size="54" baseType="lpstr">
      <vt:lpstr>Arial</vt:lpstr>
      <vt:lpstr>Calibri</vt:lpstr>
      <vt:lpstr>Calibri Light</vt:lpstr>
      <vt:lpstr>Cambria Math</vt:lpstr>
      <vt:lpstr>ff0</vt:lpstr>
      <vt:lpstr>ff12</vt:lpstr>
      <vt:lpstr>ff6</vt:lpstr>
      <vt:lpstr>ff8</vt:lpstr>
      <vt:lpstr>Roboto</vt:lpstr>
      <vt:lpstr>Office Theme</vt:lpstr>
      <vt:lpstr>Basic Measurement Theory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Units and Standards (SI: Fundamental Units)      </vt:lpstr>
      <vt:lpstr>Units and Standards (SI: Derived Units)      </vt:lpstr>
      <vt:lpstr>Units and Standards (SI: Derived Units)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ERROR IN MEASUREMENT</vt:lpstr>
      <vt:lpstr>ERROR IN MEASUREMENT</vt:lpstr>
      <vt:lpstr>ERROR IN MEASUREMENT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CPE 10 FUNDAMENTALS OF MIXED SIGNALS AND SENSORS</dc:title>
  <dc:creator>gb</dc:creator>
  <cp:lastModifiedBy>Ralph Monsour Delima</cp:lastModifiedBy>
  <cp:revision>46</cp:revision>
  <dcterms:created xsi:type="dcterms:W3CDTF">2022-11-08T13:28:16Z</dcterms:created>
  <dcterms:modified xsi:type="dcterms:W3CDTF">2024-11-05T00:50:16Z</dcterms:modified>
</cp:coreProperties>
</file>