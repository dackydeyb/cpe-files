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9ADB9-3E19-417D-A9B7-E9C0B23ABB56}" type="datetimeFigureOut">
              <a:rPr lang="en-PH" smtClean="0"/>
              <a:t>09/12/2024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70491-A4D9-4F0C-B760-06E8964FCD3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0817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8B48-FAC7-4D69-8D17-38212E6F8F5A}" type="datetimeFigureOut">
              <a:rPr lang="en-PH" smtClean="0"/>
              <a:t>09/12/2024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9FA-6987-4DDE-A2D0-B0B93272A66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112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8B48-FAC7-4D69-8D17-38212E6F8F5A}" type="datetimeFigureOut">
              <a:rPr lang="en-PH" smtClean="0"/>
              <a:t>09/12/2024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9FA-6987-4DDE-A2D0-B0B93272A66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45148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8B48-FAC7-4D69-8D17-38212E6F8F5A}" type="datetimeFigureOut">
              <a:rPr lang="en-PH" smtClean="0"/>
              <a:t>09/12/2024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9FA-6987-4DDE-A2D0-B0B93272A66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43426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8B48-FAC7-4D69-8D17-38212E6F8F5A}" type="datetimeFigureOut">
              <a:rPr lang="en-PH" smtClean="0"/>
              <a:t>09/12/2024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9FA-6987-4DDE-A2D0-B0B93272A66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08988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8B48-FAC7-4D69-8D17-38212E6F8F5A}" type="datetimeFigureOut">
              <a:rPr lang="en-PH" smtClean="0"/>
              <a:t>09/12/2024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9FA-6987-4DDE-A2D0-B0B93272A66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5148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8B48-FAC7-4D69-8D17-38212E6F8F5A}" type="datetimeFigureOut">
              <a:rPr lang="en-PH" smtClean="0"/>
              <a:t>09/12/2024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9FA-6987-4DDE-A2D0-B0B93272A66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8823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8B48-FAC7-4D69-8D17-38212E6F8F5A}" type="datetimeFigureOut">
              <a:rPr lang="en-PH" smtClean="0"/>
              <a:t>09/12/2024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9FA-6987-4DDE-A2D0-B0B93272A66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21722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8B48-FAC7-4D69-8D17-38212E6F8F5A}" type="datetimeFigureOut">
              <a:rPr lang="en-PH" smtClean="0"/>
              <a:t>09/12/2024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9FA-6987-4DDE-A2D0-B0B93272A66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1772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8B48-FAC7-4D69-8D17-38212E6F8F5A}" type="datetimeFigureOut">
              <a:rPr lang="en-PH" smtClean="0"/>
              <a:t>09/12/2024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9FA-6987-4DDE-A2D0-B0B93272A66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58584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8B48-FAC7-4D69-8D17-38212E6F8F5A}" type="datetimeFigureOut">
              <a:rPr lang="en-PH" smtClean="0"/>
              <a:t>09/12/2024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9FA-6987-4DDE-A2D0-B0B93272A66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5661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8B48-FAC7-4D69-8D17-38212E6F8F5A}" type="datetimeFigureOut">
              <a:rPr lang="en-PH" smtClean="0"/>
              <a:t>09/12/2024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9FA-6987-4DDE-A2D0-B0B93272A66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43106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58B48-FAC7-4D69-8D17-38212E6F8F5A}" type="datetimeFigureOut">
              <a:rPr lang="en-PH" smtClean="0"/>
              <a:t>09/12/2024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199FA-6987-4DDE-A2D0-B0B93272A66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14987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5400" b="1" dirty="0"/>
              <a:t>SWITCHES AND RELAYS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>
                <a:solidFill>
                  <a:srgbClr val="002060"/>
                </a:solidFill>
              </a:rPr>
              <a:t>Switch – </a:t>
            </a:r>
            <a:r>
              <a:rPr lang="en-PH" sz="4400" dirty="0"/>
              <a:t>is an electronic component or device that can interrupt the electrical current in one or more circuits.</a:t>
            </a:r>
          </a:p>
          <a:p>
            <a:pPr marL="0" indent="0">
              <a:buNone/>
            </a:pPr>
            <a:endParaRPr lang="en-PH" sz="4400" dirty="0"/>
          </a:p>
          <a:p>
            <a:pPr marL="0" indent="0">
              <a:buNone/>
            </a:pPr>
            <a:r>
              <a:rPr lang="en-PH" sz="4400" dirty="0"/>
              <a:t>Also known as make or break device.</a:t>
            </a:r>
          </a:p>
        </p:txBody>
      </p:sp>
    </p:spTree>
    <p:extLst>
      <p:ext uri="{BB962C8B-B14F-4D97-AF65-F5344CB8AC3E}">
        <p14:creationId xmlns:p14="http://schemas.microsoft.com/office/powerpoint/2010/main" val="1128848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736600"/>
            <a:ext cx="10756900" cy="54403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PH" sz="4400" dirty="0"/>
          </a:p>
          <a:p>
            <a:pPr marL="0" indent="0" algn="ctr">
              <a:buNone/>
            </a:pPr>
            <a:r>
              <a:rPr lang="en-PH" sz="4400" b="1" dirty="0"/>
              <a:t>Basic Switch Function</a:t>
            </a:r>
          </a:p>
          <a:p>
            <a:pPr marL="0" indent="0" algn="ctr">
              <a:buNone/>
            </a:pPr>
            <a:r>
              <a:rPr lang="en-PH" sz="4400" dirty="0"/>
              <a:t>To open and close a circuit</a:t>
            </a:r>
          </a:p>
          <a:p>
            <a:pPr marL="0" indent="0" algn="ctr">
              <a:buNone/>
            </a:pPr>
            <a:r>
              <a:rPr lang="en-PH" sz="4400" dirty="0"/>
              <a:t>Acts as control devices</a:t>
            </a:r>
          </a:p>
          <a:p>
            <a:pPr marL="0" indent="0" algn="ctr">
              <a:buNone/>
            </a:pPr>
            <a:r>
              <a:rPr lang="en-PH" sz="4400" dirty="0"/>
              <a:t>Does not consume power</a:t>
            </a:r>
          </a:p>
        </p:txBody>
      </p:sp>
    </p:spTree>
    <p:extLst>
      <p:ext uri="{BB962C8B-B14F-4D97-AF65-F5344CB8AC3E}">
        <p14:creationId xmlns:p14="http://schemas.microsoft.com/office/powerpoint/2010/main" val="2934599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736600"/>
            <a:ext cx="10756900" cy="54403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4400" b="1" dirty="0"/>
              <a:t>Switch Action</a:t>
            </a:r>
          </a:p>
          <a:p>
            <a:pPr marL="0" indent="0">
              <a:buNone/>
            </a:pPr>
            <a:endParaRPr lang="en-PH" sz="1800" dirty="0"/>
          </a:p>
          <a:p>
            <a:pPr marL="0" indent="0">
              <a:buNone/>
            </a:pPr>
            <a:r>
              <a:rPr lang="en-PH" sz="4400" dirty="0"/>
              <a:t>Momentary action – are used to make momentary contact (for a brief period of time or as long the button is pressed).</a:t>
            </a:r>
          </a:p>
          <a:p>
            <a:pPr marL="0" indent="0">
              <a:buNone/>
            </a:pPr>
            <a:endParaRPr lang="en-PH" sz="1800" dirty="0"/>
          </a:p>
          <a:p>
            <a:pPr marL="0" indent="0">
              <a:buNone/>
            </a:pPr>
            <a:r>
              <a:rPr lang="en-PH" sz="4400" dirty="0"/>
              <a:t>Latched action – maintain the contact until it is forced to the other position.</a:t>
            </a:r>
          </a:p>
        </p:txBody>
      </p:sp>
    </p:spTree>
    <p:extLst>
      <p:ext uri="{BB962C8B-B14F-4D97-AF65-F5344CB8AC3E}">
        <p14:creationId xmlns:p14="http://schemas.microsoft.com/office/powerpoint/2010/main" val="3349760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736600"/>
            <a:ext cx="10756900" cy="54403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PH" sz="4400" b="1" dirty="0"/>
              <a:t>Types of Switches</a:t>
            </a:r>
          </a:p>
          <a:p>
            <a:pPr marL="0" indent="0" algn="ctr">
              <a:buNone/>
            </a:pPr>
            <a:r>
              <a:rPr lang="en-PH" sz="1800" b="1" dirty="0"/>
              <a:t> </a:t>
            </a:r>
          </a:p>
          <a:p>
            <a:pPr marL="0" indent="0">
              <a:buNone/>
            </a:pPr>
            <a:r>
              <a:rPr lang="en-PH" sz="4400" dirty="0"/>
              <a:t>Mechanical Switches – are physical switches, which must be activated physically, by moving, pressing, releasing, or touching its contacts.</a:t>
            </a:r>
          </a:p>
          <a:p>
            <a:pPr marL="0" indent="0">
              <a:buNone/>
            </a:pPr>
            <a:r>
              <a:rPr lang="en-PH" sz="1800" dirty="0"/>
              <a:t> </a:t>
            </a:r>
            <a:endParaRPr lang="en-PH" sz="4400" dirty="0"/>
          </a:p>
          <a:p>
            <a:pPr marL="0" indent="0">
              <a:buNone/>
            </a:pPr>
            <a:r>
              <a:rPr lang="en-PH" sz="4400" dirty="0"/>
              <a:t>Electronic Switches – do not require any physical contact in order to control a circuit. These are activated by semiconductor action.</a:t>
            </a:r>
            <a:br>
              <a:rPr lang="en-PH" sz="4400" dirty="0"/>
            </a:br>
            <a:endParaRPr lang="en-PH" sz="4400" dirty="0"/>
          </a:p>
        </p:txBody>
      </p:sp>
    </p:spTree>
    <p:extLst>
      <p:ext uri="{BB962C8B-B14F-4D97-AF65-F5344CB8AC3E}">
        <p14:creationId xmlns:p14="http://schemas.microsoft.com/office/powerpoint/2010/main" val="741239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736600"/>
            <a:ext cx="107569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/>
              <a:t>POLE – what the switch armature is connected 	into.</a:t>
            </a:r>
          </a:p>
          <a:p>
            <a:pPr marL="0" indent="0">
              <a:buNone/>
            </a:pPr>
            <a:endParaRPr lang="en-PH" sz="4400" dirty="0"/>
          </a:p>
          <a:p>
            <a:pPr marL="0" indent="0">
              <a:buNone/>
            </a:pPr>
            <a:r>
              <a:rPr lang="en-PH" sz="4400" dirty="0"/>
              <a:t>THROW – the closed position of the switch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812" y="4192587"/>
            <a:ext cx="452437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65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736600"/>
            <a:ext cx="107569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/>
              <a:t>SINGLE POLE SINGLE THROW (SPST)</a:t>
            </a:r>
          </a:p>
          <a:p>
            <a:pPr marL="0" indent="0">
              <a:buNone/>
            </a:pPr>
            <a:r>
              <a:rPr lang="en-PH" sz="4400" dirty="0"/>
              <a:t>One pole, one throw.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848893" y="2514600"/>
            <a:ext cx="4745990" cy="2349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150" y="2216150"/>
            <a:ext cx="4709272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735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PH" dirty="0"/>
              <a:t>SINGLE POLE SINGLE THROW (SPST)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PH" sz="4000" dirty="0"/>
              <a:t>This is the basic ON and OFF switch consisting of one input contact and one output contact.</a:t>
            </a:r>
          </a:p>
          <a:p>
            <a:pPr marL="0" indent="0" fontAlgn="base">
              <a:buNone/>
            </a:pPr>
            <a:r>
              <a:rPr lang="en-PH" sz="4000" dirty="0"/>
              <a:t>It switches a single circuit and it can either make (ON) or break (OFF) the load.</a:t>
            </a:r>
          </a:p>
          <a:p>
            <a:pPr marL="0" indent="0">
              <a:buNone/>
            </a:pP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4264511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736600"/>
            <a:ext cx="107569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/>
              <a:t>SINGLE POLE DOUBLE THROW (SPDT)</a:t>
            </a:r>
          </a:p>
          <a:p>
            <a:pPr marL="0" indent="0">
              <a:buNone/>
            </a:pPr>
            <a:r>
              <a:rPr lang="en-PH" sz="4400" dirty="0"/>
              <a:t>One pole, two throws.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422400" y="2440198"/>
            <a:ext cx="4245770" cy="25128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087" y="1811005"/>
            <a:ext cx="3516313" cy="325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8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SINGLE POLE DOUBLE THROW (SPDT)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PH" sz="4400" dirty="0"/>
              <a:t>This switch has three terminals: one is input contact and remaining two are output contacts.</a:t>
            </a:r>
          </a:p>
          <a:p>
            <a:pPr marL="0" indent="0" fontAlgn="base">
              <a:buNone/>
            </a:pPr>
            <a:r>
              <a:rPr lang="en-PH" sz="4400" dirty="0"/>
              <a:t>It consist of two ON positions and one OFF position.</a:t>
            </a:r>
          </a:p>
        </p:txBody>
      </p:sp>
    </p:spTree>
    <p:extLst>
      <p:ext uri="{BB962C8B-B14F-4D97-AF65-F5344CB8AC3E}">
        <p14:creationId xmlns:p14="http://schemas.microsoft.com/office/powerpoint/2010/main" val="3616019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SINGLE POLE DOUBLE THROW (SPDT)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PH" sz="4400" dirty="0"/>
              <a:t>These switches are used as changeover to connect the input between two choices of outputs.</a:t>
            </a:r>
          </a:p>
          <a:p>
            <a:pPr marL="0" indent="0" fontAlgn="base">
              <a:buNone/>
            </a:pPr>
            <a:r>
              <a:rPr lang="en-PH" sz="4400" dirty="0"/>
              <a:t>The contact which is connected to the input by default is referred as normally closed contact and contact which will be connected during ON operation is a normally open contact.</a:t>
            </a:r>
          </a:p>
        </p:txBody>
      </p:sp>
    </p:spTree>
    <p:extLst>
      <p:ext uri="{BB962C8B-B14F-4D97-AF65-F5344CB8AC3E}">
        <p14:creationId xmlns:p14="http://schemas.microsoft.com/office/powerpoint/2010/main" val="1474073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736600"/>
            <a:ext cx="107569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/>
              <a:t>DOUBLE POLE SINGLE THROW (DPST)</a:t>
            </a:r>
          </a:p>
          <a:p>
            <a:pPr marL="0" indent="0">
              <a:buNone/>
            </a:pPr>
            <a:r>
              <a:rPr lang="en-PH" sz="4400" dirty="0"/>
              <a:t>Two poles, one throw. Contact is made at the same time.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333501" y="2919471"/>
            <a:ext cx="4221162" cy="29526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4" y="2614605"/>
            <a:ext cx="4351336" cy="35623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5" y="2640717"/>
            <a:ext cx="1138236" cy="85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013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DOUBLE POLE SINGLE THROW (DPST)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PH" sz="4400" dirty="0"/>
              <a:t>This switch consists of four terminals: two input contacts and two output contacts.</a:t>
            </a:r>
          </a:p>
          <a:p>
            <a:pPr marL="0" indent="0" fontAlgn="base">
              <a:buNone/>
            </a:pPr>
            <a:r>
              <a:rPr lang="en-PH" sz="4400" dirty="0"/>
              <a:t>It behaves like a two separate SPST configurations, operating at the same time.</a:t>
            </a:r>
          </a:p>
          <a:p>
            <a:pPr marL="0" indent="0" fontAlgn="base">
              <a:buNone/>
            </a:pPr>
            <a:r>
              <a:rPr lang="en-PH" sz="4400" dirty="0"/>
              <a:t>It has only one ON position, but it can actuate the two contacts simultaneously, </a:t>
            </a:r>
          </a:p>
        </p:txBody>
      </p:sp>
    </p:spTree>
    <p:extLst>
      <p:ext uri="{BB962C8B-B14F-4D97-AF65-F5344CB8AC3E}">
        <p14:creationId xmlns:p14="http://schemas.microsoft.com/office/powerpoint/2010/main" val="4097768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DOUBLE POLE SINGLE THROW (DPST)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PH" sz="4400" dirty="0"/>
              <a:t>such that each input contact will be connected to its corresponding output contact.</a:t>
            </a:r>
          </a:p>
          <a:p>
            <a:pPr marL="0" indent="0" fontAlgn="base">
              <a:buNone/>
            </a:pPr>
            <a:r>
              <a:rPr lang="en-PH" sz="4400" dirty="0"/>
              <a:t>In OFF position both switches are at open state.</a:t>
            </a:r>
          </a:p>
          <a:p>
            <a:pPr marL="0" indent="0" fontAlgn="base">
              <a:buNone/>
            </a:pPr>
            <a:r>
              <a:rPr lang="en-PH" sz="4400" dirty="0"/>
              <a:t>This type of switches is used for controlling two different circuits at a time.</a:t>
            </a:r>
          </a:p>
        </p:txBody>
      </p:sp>
    </p:spTree>
    <p:extLst>
      <p:ext uri="{BB962C8B-B14F-4D97-AF65-F5344CB8AC3E}">
        <p14:creationId xmlns:p14="http://schemas.microsoft.com/office/powerpoint/2010/main" val="1648742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736600"/>
            <a:ext cx="107569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/>
              <a:t>DOUBLE POLE DOUBLE THROW (DPDT)</a:t>
            </a:r>
          </a:p>
          <a:p>
            <a:pPr marL="0" indent="0">
              <a:buNone/>
            </a:pPr>
            <a:r>
              <a:rPr lang="en-PH" sz="4400" dirty="0"/>
              <a:t>Two poles, two throws. </a:t>
            </a:r>
          </a:p>
          <a:p>
            <a:pPr marL="0" indent="0">
              <a:buNone/>
            </a:pPr>
            <a:r>
              <a:rPr lang="en-PH" sz="4400" dirty="0"/>
              <a:t>2 separate closed position.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020762" y="3026174"/>
            <a:ext cx="3652838" cy="31507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1035"/>
          <a:stretch/>
        </p:blipFill>
        <p:spPr>
          <a:xfrm>
            <a:off x="6051550" y="3026174"/>
            <a:ext cx="3841751" cy="277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557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DOUBLE POLE DOUBLE THROW (DPDT)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PH" sz="4400" dirty="0"/>
              <a:t>This is a dual ON/OFF switch consisting of two ON positions.</a:t>
            </a:r>
          </a:p>
          <a:p>
            <a:pPr marL="0" indent="0" fontAlgn="base">
              <a:buNone/>
            </a:pPr>
            <a:r>
              <a:rPr lang="en-PH" sz="4400" dirty="0"/>
              <a:t>It has six terminals, two are input contacts and remaining four are the output contacts.</a:t>
            </a:r>
          </a:p>
          <a:p>
            <a:pPr marL="0" indent="0" fontAlgn="base">
              <a:buNone/>
            </a:pPr>
            <a:r>
              <a:rPr lang="en-PH" sz="4400" dirty="0"/>
              <a:t>It behaves like a two separate SPDT configuration, operating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758054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DOUBLE POLE DOUBLE THROW (DPDT)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PH" sz="4400" dirty="0"/>
              <a:t>Two input contacts are connected to the one set of output contacts in one position and in another position, input contacts are connected to the other set of output contacts.</a:t>
            </a:r>
          </a:p>
          <a:p>
            <a:pPr marL="0" indent="0" fontAlgn="base">
              <a:buNone/>
            </a:pPr>
            <a:endParaRPr lang="en-PH" sz="4400" dirty="0"/>
          </a:p>
        </p:txBody>
      </p:sp>
    </p:spTree>
    <p:extLst>
      <p:ext uri="{BB962C8B-B14F-4D97-AF65-F5344CB8AC3E}">
        <p14:creationId xmlns:p14="http://schemas.microsoft.com/office/powerpoint/2010/main" val="3068949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95300" y="279400"/>
            <a:ext cx="10858500" cy="5897563"/>
          </a:xfrm>
        </p:spPr>
        <p:txBody>
          <a:bodyPr/>
          <a:lstStyle/>
          <a:p>
            <a:pPr marL="0" indent="0">
              <a:buNone/>
            </a:pPr>
            <a:r>
              <a:rPr lang="en-PH" sz="4400" b="1" dirty="0"/>
              <a:t>OTHER TYPE OF SWITCHES </a:t>
            </a:r>
          </a:p>
          <a:p>
            <a:pPr marL="0" indent="0">
              <a:buNone/>
            </a:pPr>
            <a:endParaRPr lang="en-PH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867359" y="1148611"/>
            <a:ext cx="2431678" cy="27559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671096" y="1003299"/>
            <a:ext cx="3136661" cy="304652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>
            <a:biLevel thresh="75000"/>
          </a:blip>
          <a:srcRect b="16161"/>
          <a:stretch/>
        </p:blipFill>
        <p:spPr>
          <a:xfrm>
            <a:off x="2611575" y="4062526"/>
            <a:ext cx="3476625" cy="25541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7867278" y="1411287"/>
            <a:ext cx="2762622" cy="395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59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736600"/>
            <a:ext cx="107569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>
                <a:solidFill>
                  <a:srgbClr val="7030A0"/>
                </a:solidFill>
              </a:rPr>
              <a:t>SWITCH STYLES</a:t>
            </a:r>
          </a:p>
          <a:p>
            <a:pPr marL="0" indent="0">
              <a:buNone/>
            </a:pPr>
            <a:r>
              <a:rPr lang="en-PH" sz="4400" dirty="0"/>
              <a:t>     TOGGLE			SLIDE		ROCKER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62" y="2336800"/>
            <a:ext cx="3209131" cy="2641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277" y="2222500"/>
            <a:ext cx="2216573" cy="2933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0" y="2222500"/>
            <a:ext cx="2551112" cy="29471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5072096" y="5314156"/>
            <a:ext cx="1748933" cy="86280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1320801" y="5314156"/>
            <a:ext cx="2025604" cy="6460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8073254" y="5422510"/>
            <a:ext cx="2025604" cy="64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37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736600"/>
            <a:ext cx="10756900" cy="5440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PH" sz="4400" dirty="0"/>
              <a:t>TOGGLE SWITCH</a:t>
            </a:r>
          </a:p>
          <a:p>
            <a:pPr marL="0" indent="0" fontAlgn="base">
              <a:buNone/>
            </a:pPr>
            <a:r>
              <a:rPr lang="en-PH" sz="4400" dirty="0"/>
              <a:t>A toggle switch is manually actuated (or pushed up or down) by a mechanical handle, lever or rocking mechanism. These are commonly used as light control switches.</a:t>
            </a:r>
          </a:p>
          <a:p>
            <a:pPr marL="0" indent="0">
              <a:buNone/>
            </a:pPr>
            <a:endParaRPr lang="en-PH" sz="4400" dirty="0"/>
          </a:p>
        </p:txBody>
      </p:sp>
    </p:spTree>
    <p:extLst>
      <p:ext uri="{BB962C8B-B14F-4D97-AF65-F5344CB8AC3E}">
        <p14:creationId xmlns:p14="http://schemas.microsoft.com/office/powerpoint/2010/main" val="457779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802865"/>
            <a:ext cx="107569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>
                <a:solidFill>
                  <a:srgbClr val="7030A0"/>
                </a:solidFill>
              </a:rPr>
              <a:t>SWITCH STYLES</a:t>
            </a:r>
          </a:p>
          <a:p>
            <a:pPr marL="0" indent="0">
              <a:buNone/>
            </a:pPr>
            <a:r>
              <a:rPr lang="en-PH" sz="4400" dirty="0"/>
              <a:t>MICRO SWITCH			LIMIT SWITCH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50" y="2313393"/>
            <a:ext cx="3467100" cy="26479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610" y="2262023"/>
            <a:ext cx="3317940" cy="297735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5350" y="2262023"/>
            <a:ext cx="2914650" cy="305213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1473201" y="5466556"/>
            <a:ext cx="2025604" cy="64609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5234828" y="5508428"/>
            <a:ext cx="1247775" cy="62865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7">
            <a:biLevel thresh="75000"/>
          </a:blip>
          <a:stretch>
            <a:fillRect/>
          </a:stretch>
        </p:blipFill>
        <p:spPr>
          <a:xfrm>
            <a:off x="6661771" y="5660515"/>
            <a:ext cx="12382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5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736600"/>
            <a:ext cx="10756900" cy="5440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PH" sz="4400" dirty="0"/>
              <a:t>LIMIT SWITCH</a:t>
            </a:r>
          </a:p>
          <a:p>
            <a:pPr marL="0" indent="0" fontAlgn="base">
              <a:buNone/>
            </a:pPr>
            <a:r>
              <a:rPr lang="en-PH" sz="4400" dirty="0"/>
              <a:t>Limit switches are operated by the presence of an object or by the absence of objects or by the motion of machine instead of human hand operation.</a:t>
            </a:r>
          </a:p>
          <a:p>
            <a:pPr marL="0" indent="0" fontAlgn="base">
              <a:buNone/>
            </a:pPr>
            <a:r>
              <a:rPr lang="en-PH" sz="4400" dirty="0"/>
              <a:t>These switches consist of a bumper type of arm actuated by an object. When this bumper arm is actuated, it causes the switch contacts to change position.</a:t>
            </a:r>
          </a:p>
          <a:p>
            <a:pPr marL="0" indent="0">
              <a:buNone/>
            </a:pPr>
            <a:endParaRPr lang="en-PH" sz="4400" dirty="0"/>
          </a:p>
        </p:txBody>
      </p:sp>
    </p:spTree>
    <p:extLst>
      <p:ext uri="{BB962C8B-B14F-4D97-AF65-F5344CB8AC3E}">
        <p14:creationId xmlns:p14="http://schemas.microsoft.com/office/powerpoint/2010/main" val="1235222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736600"/>
            <a:ext cx="107569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>
                <a:solidFill>
                  <a:srgbClr val="7030A0"/>
                </a:solidFill>
              </a:rPr>
              <a:t>SWITCH STYLES</a:t>
            </a:r>
          </a:p>
          <a:p>
            <a:pPr marL="0" indent="0">
              <a:buNone/>
            </a:pPr>
            <a:r>
              <a:rPr lang="en-PH" sz="4400" dirty="0"/>
              <a:t>PUSH BUTTON NORMALLY OPEN</a:t>
            </a:r>
          </a:p>
          <a:p>
            <a:pPr marL="0" indent="0">
              <a:buNone/>
            </a:pPr>
            <a:r>
              <a:rPr lang="en-PH" sz="4400" dirty="0"/>
              <a:t>PBNO (red in color)</a:t>
            </a:r>
          </a:p>
          <a:p>
            <a:pPr marL="0" indent="0">
              <a:buNone/>
            </a:pPr>
            <a:r>
              <a:rPr lang="en-PH" sz="4400" dirty="0"/>
              <a:t>Momentary contact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987" y="3916723"/>
            <a:ext cx="2666345" cy="193754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b="3534"/>
          <a:stretch/>
        </p:blipFill>
        <p:spPr>
          <a:xfrm>
            <a:off x="1106487" y="4307213"/>
            <a:ext cx="2170113" cy="111568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875" y="2318118"/>
            <a:ext cx="4463033" cy="227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22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762000"/>
            <a:ext cx="107569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>
                <a:solidFill>
                  <a:srgbClr val="7030A0"/>
                </a:solidFill>
              </a:rPr>
              <a:t>SWITCH STYLES</a:t>
            </a:r>
          </a:p>
          <a:p>
            <a:pPr marL="0" indent="0">
              <a:buNone/>
            </a:pPr>
            <a:r>
              <a:rPr lang="en-PH" sz="4400" dirty="0"/>
              <a:t>PUSH BUTTON NORMALLY CLOSED</a:t>
            </a:r>
          </a:p>
          <a:p>
            <a:pPr marL="0" indent="0">
              <a:buNone/>
            </a:pPr>
            <a:r>
              <a:rPr lang="en-PH" sz="4400" dirty="0"/>
              <a:t>PBNC (black in color)</a:t>
            </a:r>
          </a:p>
          <a:p>
            <a:pPr marL="0" indent="0">
              <a:buNone/>
            </a:pPr>
            <a:r>
              <a:rPr lang="en-PH" sz="4400" dirty="0"/>
              <a:t>Momentary contact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1" y="4270858"/>
            <a:ext cx="2221832" cy="77764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369" y="3809447"/>
            <a:ext cx="2914650" cy="1819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739" y="2392472"/>
            <a:ext cx="4587541" cy="217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073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736600"/>
            <a:ext cx="107569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/>
              <a:t>ROTARY SWITCHES</a:t>
            </a:r>
          </a:p>
          <a:p>
            <a:pPr marL="0" indent="0">
              <a:buNone/>
            </a:pPr>
            <a:r>
              <a:rPr lang="en-PH" sz="4400" dirty="0"/>
              <a:t>Used for complex circuits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48" y="2775743"/>
            <a:ext cx="2811796" cy="188674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915" y="1555179"/>
            <a:ext cx="4333875" cy="31073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042" y="3108832"/>
            <a:ext cx="3481363" cy="294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7741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736600"/>
            <a:ext cx="107569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/>
              <a:t>DIP SWITCHES</a:t>
            </a:r>
          </a:p>
          <a:p>
            <a:pPr marL="0" indent="0">
              <a:buNone/>
            </a:pPr>
            <a:r>
              <a:rPr lang="en-PH" sz="4400" dirty="0"/>
              <a:t>The DIP switch is made up of a set of switches in a single unit, usually mounted on a PCB or breadboard. The switch’s very basic operation, in which the switch’s position must be set manually.</a:t>
            </a:r>
          </a:p>
          <a:p>
            <a:pPr marL="0" indent="0">
              <a:buNone/>
            </a:pPr>
            <a:endParaRPr lang="en-PH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550" y="3885448"/>
            <a:ext cx="4162425" cy="2600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425" y="4028323"/>
            <a:ext cx="169545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42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580" y="288759"/>
            <a:ext cx="6256420" cy="58714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PH" sz="5400" dirty="0">
                <a:solidFill>
                  <a:srgbClr val="002060"/>
                </a:solidFill>
              </a:rPr>
              <a:t>RELAYS</a:t>
            </a:r>
            <a:endParaRPr lang="en-PH" sz="5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PH" sz="4400" dirty="0"/>
              <a:t>Electromechanical relay (EMR) is a device that uses an electromagnet to provide the force to close or open switch contacts, hence, it is an electrically powered switch.</a:t>
            </a:r>
          </a:p>
          <a:p>
            <a:pPr marL="0" indent="0">
              <a:buNone/>
            </a:pPr>
            <a:br>
              <a:rPr lang="en-PH" sz="4400" dirty="0"/>
            </a:br>
            <a:endParaRPr lang="en-PH" sz="4400" dirty="0"/>
          </a:p>
          <a:p>
            <a:pPr marL="0" indent="0">
              <a:buNone/>
            </a:pPr>
            <a:endParaRPr lang="en-PH" sz="4400" dirty="0"/>
          </a:p>
          <a:p>
            <a:pPr marL="0" indent="0">
              <a:buNone/>
            </a:pPr>
            <a:endParaRPr lang="en-PH" sz="4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627396"/>
            <a:ext cx="5016579" cy="33791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469" y="4154655"/>
            <a:ext cx="25050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864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579" y="288758"/>
            <a:ext cx="10752221" cy="5888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/>
              <a:t>RELAYS</a:t>
            </a:r>
          </a:p>
          <a:p>
            <a:pPr marL="0" indent="0">
              <a:buNone/>
            </a:pPr>
            <a:br>
              <a:rPr lang="en-PH" sz="4400" dirty="0"/>
            </a:br>
            <a:endParaRPr lang="en-PH" sz="4400" dirty="0"/>
          </a:p>
          <a:p>
            <a:pPr marL="0" indent="0">
              <a:buNone/>
            </a:pPr>
            <a:endParaRPr lang="en-PH" sz="4400" dirty="0"/>
          </a:p>
          <a:p>
            <a:pPr marL="0" indent="0">
              <a:buNone/>
            </a:pPr>
            <a:endParaRPr lang="en-PH" sz="4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88758"/>
            <a:ext cx="4286250" cy="233362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944" y="3347160"/>
            <a:ext cx="2705100" cy="2752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355" y="3232860"/>
            <a:ext cx="2352675" cy="2867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5112" y="2919413"/>
            <a:ext cx="266700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737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579" y="288758"/>
            <a:ext cx="10752221" cy="5888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/>
              <a:t>RELAYS</a:t>
            </a:r>
          </a:p>
          <a:p>
            <a:pPr marL="0" indent="0">
              <a:buNone/>
            </a:pPr>
            <a:r>
              <a:rPr lang="en-PH" sz="4400" dirty="0"/>
              <a:t>Switch is NO</a:t>
            </a:r>
          </a:p>
          <a:p>
            <a:pPr marL="0" indent="0">
              <a:buNone/>
            </a:pPr>
            <a:r>
              <a:rPr lang="en-PH" sz="4400" dirty="0"/>
              <a:t>Coil is not energized</a:t>
            </a:r>
          </a:p>
          <a:p>
            <a:pPr marL="0" indent="0">
              <a:buNone/>
            </a:pPr>
            <a:r>
              <a:rPr lang="en-PH" sz="4400" dirty="0"/>
              <a:t>Bulb is off</a:t>
            </a:r>
          </a:p>
          <a:p>
            <a:pPr marL="0" indent="0">
              <a:buNone/>
            </a:pPr>
            <a:r>
              <a:rPr lang="en-PH" sz="4400" dirty="0"/>
              <a:t>Relay is open</a:t>
            </a:r>
          </a:p>
          <a:p>
            <a:pPr marL="0" indent="0">
              <a:buNone/>
            </a:pPr>
            <a:endParaRPr lang="en-PH" sz="4400" dirty="0"/>
          </a:p>
          <a:p>
            <a:pPr marL="0" indent="0">
              <a:buNone/>
            </a:pPr>
            <a:br>
              <a:rPr lang="en-PH" sz="4400" dirty="0"/>
            </a:br>
            <a:endParaRPr lang="en-PH" sz="4400" dirty="0"/>
          </a:p>
          <a:p>
            <a:pPr marL="0" indent="0">
              <a:buNone/>
            </a:pPr>
            <a:endParaRPr lang="en-PH" sz="4400" dirty="0"/>
          </a:p>
          <a:p>
            <a:pPr marL="0" indent="0">
              <a:buNone/>
            </a:pPr>
            <a:endParaRPr lang="en-PH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798846"/>
            <a:ext cx="601980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89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579" y="288758"/>
            <a:ext cx="10752221" cy="5888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400" dirty="0"/>
              <a:t>RELAYS</a:t>
            </a:r>
          </a:p>
          <a:p>
            <a:pPr marL="0" indent="0">
              <a:buNone/>
            </a:pPr>
            <a:r>
              <a:rPr lang="en-PH" sz="4400" dirty="0"/>
              <a:t>Switch is NC</a:t>
            </a:r>
          </a:p>
          <a:p>
            <a:pPr marL="0" indent="0">
              <a:buNone/>
            </a:pPr>
            <a:r>
              <a:rPr lang="en-PH" sz="4400" dirty="0"/>
              <a:t>Coil is energized</a:t>
            </a:r>
          </a:p>
          <a:p>
            <a:pPr marL="0" indent="0">
              <a:buNone/>
            </a:pPr>
            <a:r>
              <a:rPr lang="en-PH" sz="4400" dirty="0"/>
              <a:t>Bulb is on</a:t>
            </a:r>
          </a:p>
          <a:p>
            <a:pPr marL="0" indent="0">
              <a:buNone/>
            </a:pPr>
            <a:r>
              <a:rPr lang="en-PH" sz="4400" dirty="0"/>
              <a:t>Relay is closed</a:t>
            </a:r>
          </a:p>
          <a:p>
            <a:pPr marL="0" indent="0">
              <a:buNone/>
            </a:pPr>
            <a:br>
              <a:rPr lang="en-PH" sz="4400" dirty="0"/>
            </a:br>
            <a:endParaRPr lang="en-PH" sz="4400" dirty="0"/>
          </a:p>
          <a:p>
            <a:pPr marL="0" indent="0">
              <a:buNone/>
            </a:pPr>
            <a:endParaRPr lang="en-PH" sz="4400" dirty="0"/>
          </a:p>
          <a:p>
            <a:pPr marL="0" indent="0">
              <a:buNone/>
            </a:pPr>
            <a:endParaRPr lang="en-PH" sz="4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328" y="1623261"/>
            <a:ext cx="589597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7586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7440" y="215900"/>
            <a:ext cx="8492160" cy="631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15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812</Words>
  <Application>Microsoft Office PowerPoint</Application>
  <PresentationFormat>Widescreen</PresentationFormat>
  <Paragraphs>94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SWITCHES AND RELAYS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SINGLE POLE SINGLE THROW (SPST)</vt:lpstr>
      <vt:lpstr>PowerPoint Presentation</vt:lpstr>
      <vt:lpstr>SINGLE POLE DOUBLE THROW (SPDT)</vt:lpstr>
      <vt:lpstr>SINGLE POLE DOUBLE THROW (SPDT)</vt:lpstr>
      <vt:lpstr>PowerPoint Presentation</vt:lpstr>
      <vt:lpstr>DOUBLE POLE SINGLE THROW (DPST)</vt:lpstr>
      <vt:lpstr>DOUBLE POLE SINGLE THROW (DPST)</vt:lpstr>
      <vt:lpstr>PowerPoint Presentation</vt:lpstr>
      <vt:lpstr>DOUBLE POLE DOUBLE THROW (DPDT)</vt:lpstr>
      <vt:lpstr>DOUBLE POLE DOUBLE THROW (DPDT)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 10 FUNDAMENTALS OF MIXED SIGNALS AND SENSORS</dc:title>
  <dc:creator>gb</dc:creator>
  <cp:lastModifiedBy>Ralph Monsour Delima</cp:lastModifiedBy>
  <cp:revision>4</cp:revision>
  <dcterms:created xsi:type="dcterms:W3CDTF">2023-12-04T00:06:58Z</dcterms:created>
  <dcterms:modified xsi:type="dcterms:W3CDTF">2024-12-09T01:07:09Z</dcterms:modified>
</cp:coreProperties>
</file>