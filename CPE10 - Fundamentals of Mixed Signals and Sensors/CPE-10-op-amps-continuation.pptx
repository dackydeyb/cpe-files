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74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3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7" r:id="rId28"/>
    <p:sldId id="288" r:id="rId29"/>
    <p:sldId id="285" r:id="rId30"/>
    <p:sldId id="289" r:id="rId31"/>
    <p:sldId id="286" r:id="rId32"/>
    <p:sldId id="290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1113FD-86B6-49C1-805D-47870A39EE6F}" type="datetimeFigureOut">
              <a:rPr lang="en-PH" smtClean="0"/>
              <a:t>10/9/2023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29F695-99A3-4BEF-A28C-1D2C6375EDB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53031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0808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EFE34-5F2E-4184-ACCC-7421C5854BD9}" type="datetimeFigureOut">
              <a:rPr lang="en-PH" smtClean="0"/>
              <a:t>10/9/2023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C490-E135-4740-9375-B747EA2AFCE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31310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EFE34-5F2E-4184-ACCC-7421C5854BD9}" type="datetimeFigureOut">
              <a:rPr lang="en-PH" smtClean="0"/>
              <a:t>10/9/2023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C490-E135-4740-9375-B747EA2AFCE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16869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EFE34-5F2E-4184-ACCC-7421C5854BD9}" type="datetimeFigureOut">
              <a:rPr lang="en-PH" smtClean="0"/>
              <a:t>10/9/2023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C490-E135-4740-9375-B747EA2AFCE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1355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EFE34-5F2E-4184-ACCC-7421C5854BD9}" type="datetimeFigureOut">
              <a:rPr lang="en-PH" smtClean="0"/>
              <a:t>10/9/2023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C490-E135-4740-9375-B747EA2AFCE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1369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EFE34-5F2E-4184-ACCC-7421C5854BD9}" type="datetimeFigureOut">
              <a:rPr lang="en-PH" smtClean="0"/>
              <a:t>10/9/2023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C490-E135-4740-9375-B747EA2AFCE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66089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EFE34-5F2E-4184-ACCC-7421C5854BD9}" type="datetimeFigureOut">
              <a:rPr lang="en-PH" smtClean="0"/>
              <a:t>10/9/2023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C490-E135-4740-9375-B747EA2AFCE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92596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EFE34-5F2E-4184-ACCC-7421C5854BD9}" type="datetimeFigureOut">
              <a:rPr lang="en-PH" smtClean="0"/>
              <a:t>10/9/2023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C490-E135-4740-9375-B747EA2AFCE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71772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EFE34-5F2E-4184-ACCC-7421C5854BD9}" type="datetimeFigureOut">
              <a:rPr lang="en-PH" smtClean="0"/>
              <a:t>10/9/2023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C490-E135-4740-9375-B747EA2AFCE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96431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EFE34-5F2E-4184-ACCC-7421C5854BD9}" type="datetimeFigureOut">
              <a:rPr lang="en-PH" smtClean="0"/>
              <a:t>10/9/2023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C490-E135-4740-9375-B747EA2AFCE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2930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EFE34-5F2E-4184-ACCC-7421C5854BD9}" type="datetimeFigureOut">
              <a:rPr lang="en-PH" smtClean="0"/>
              <a:t>10/9/2023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C490-E135-4740-9375-B747EA2AFCE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15149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EFE34-5F2E-4184-ACCC-7421C5854BD9}" type="datetimeFigureOut">
              <a:rPr lang="en-PH" smtClean="0"/>
              <a:t>10/9/2023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C490-E135-4740-9375-B747EA2AFCE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6855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0EFE34-5F2E-4184-ACCC-7421C5854BD9}" type="datetimeFigureOut">
              <a:rPr lang="en-PH" smtClean="0"/>
              <a:t>10/9/2023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4C490-E135-4740-9375-B747EA2AFCE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66781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611678" cy="3173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5400"/>
            </a:pPr>
            <a:r>
              <a:rPr lang="en-US" sz="6600" b="1" dirty="0">
                <a:solidFill>
                  <a:srgbClr val="C00000"/>
                </a:solidFill>
                <a:latin typeface="+mj-lt"/>
              </a:rPr>
              <a:t>CPE 10 FUNDAMENTALS OF MIXED SIGNALS AND SENSORS</a:t>
            </a:r>
            <a:endParaRPr sz="66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85" name="Google Shape;85;p2"/>
          <p:cNvSpPr txBox="1">
            <a:spLocks noGrp="1"/>
          </p:cNvSpPr>
          <p:nvPr>
            <p:ph type="body" idx="1"/>
          </p:nvPr>
        </p:nvSpPr>
        <p:spPr>
          <a:xfrm>
            <a:off x="940904" y="3657600"/>
            <a:ext cx="10508974" cy="2915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indent="0" algn="ctr">
              <a:spcBef>
                <a:spcPts val="0"/>
              </a:spcBef>
              <a:spcAft>
                <a:spcPts val="1600"/>
              </a:spcAft>
              <a:buSzPts val="4800"/>
              <a:buNone/>
            </a:pPr>
            <a:r>
              <a:rPr lang="en-US" sz="4300" b="1" dirty="0">
                <a:solidFill>
                  <a:srgbClr val="C00000"/>
                </a:solidFill>
                <a:latin typeface="+mn-lt"/>
              </a:rPr>
              <a:t>BSCPE III GE – MW 7:30 – 9:00</a:t>
            </a:r>
            <a:br>
              <a:rPr lang="en-US" sz="4300" b="1" dirty="0">
                <a:solidFill>
                  <a:srgbClr val="C00000"/>
                </a:solidFill>
                <a:latin typeface="+mn-lt"/>
              </a:rPr>
            </a:br>
            <a:r>
              <a:rPr lang="en-US" sz="4300" b="1" dirty="0">
                <a:solidFill>
                  <a:srgbClr val="C00000"/>
                </a:solidFill>
                <a:latin typeface="+mn-lt"/>
              </a:rPr>
              <a:t>BSCPE III GF – TTH 7:30 – </a:t>
            </a:r>
            <a:r>
              <a:rPr lang="en-US" sz="4300" b="1" dirty="0" smtClean="0">
                <a:solidFill>
                  <a:srgbClr val="C00000"/>
                </a:solidFill>
                <a:latin typeface="+mn-lt"/>
              </a:rPr>
              <a:t>9:00</a:t>
            </a:r>
          </a:p>
          <a:p>
            <a:pPr marL="0" indent="0" algn="ctr">
              <a:spcBef>
                <a:spcPts val="0"/>
              </a:spcBef>
              <a:spcAft>
                <a:spcPts val="1600"/>
              </a:spcAft>
              <a:buSzPts val="4800"/>
              <a:buNone/>
            </a:pPr>
            <a:endParaRPr lang="en-US" sz="3600" b="1" dirty="0" smtClean="0">
              <a:solidFill>
                <a:srgbClr val="C00000"/>
              </a:solidFill>
              <a:latin typeface="+mn-lt"/>
            </a:endParaRPr>
          </a:p>
          <a:p>
            <a:pPr marL="0" indent="0" algn="ctr">
              <a:spcBef>
                <a:spcPts val="0"/>
              </a:spcBef>
              <a:spcAft>
                <a:spcPts val="1600"/>
              </a:spcAft>
              <a:buSzPts val="4800"/>
              <a:buNone/>
            </a:pPr>
            <a:r>
              <a:rPr lang="en-US" sz="3600" b="1" dirty="0" smtClean="0">
                <a:solidFill>
                  <a:srgbClr val="C00000"/>
                </a:solidFill>
                <a:latin typeface="+mn-lt"/>
              </a:rPr>
              <a:t>ENGR. JOEL ANTHONY L. SEVILLA</a:t>
            </a:r>
          </a:p>
          <a:p>
            <a:pPr marL="0" indent="0" algn="ctr">
              <a:spcBef>
                <a:spcPts val="0"/>
              </a:spcBef>
              <a:spcAft>
                <a:spcPts val="1600"/>
              </a:spcAft>
              <a:buSzPts val="4800"/>
              <a:buNone/>
            </a:pPr>
            <a:r>
              <a:rPr lang="en-US" sz="3600" b="1" dirty="0" smtClean="0">
                <a:solidFill>
                  <a:srgbClr val="C00000"/>
                </a:solidFill>
                <a:latin typeface="+mn-lt"/>
              </a:rPr>
              <a:t>SEPTEMBER 2023</a:t>
            </a:r>
            <a:endParaRPr lang="en-US" sz="3600" b="1" dirty="0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43717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087" y="1398588"/>
            <a:ext cx="7615196" cy="23788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5400" dirty="0" smtClean="0"/>
              <a:t>Basic Op-amp</a:t>
            </a:r>
            <a:endParaRPr lang="en-PH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900" y="1828800"/>
            <a:ext cx="11176000" cy="472440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PH" sz="4400" dirty="0" smtClean="0"/>
          </a:p>
          <a:p>
            <a:pPr marL="0" indent="0">
              <a:buNone/>
            </a:pPr>
            <a:endParaRPr lang="en-PH" sz="4400" dirty="0" smtClean="0"/>
          </a:p>
          <a:p>
            <a:pPr marL="0" indent="0">
              <a:buNone/>
            </a:pPr>
            <a:endParaRPr lang="en-PH" sz="4400" dirty="0"/>
          </a:p>
          <a:p>
            <a:pPr marL="0" indent="0">
              <a:buNone/>
            </a:pPr>
            <a:r>
              <a:rPr lang="en-PH" sz="4400" dirty="0"/>
              <a:t>T</a:t>
            </a:r>
            <a:r>
              <a:rPr lang="en-PH" sz="4400" dirty="0" smtClean="0"/>
              <a:t>he </a:t>
            </a:r>
            <a:r>
              <a:rPr lang="en-PH" sz="4400" dirty="0"/>
              <a:t>plus </a:t>
            </a:r>
            <a:r>
              <a:rPr lang="en-PH" sz="4400" dirty="0" smtClean="0"/>
              <a:t>(+) </a:t>
            </a:r>
            <a:r>
              <a:rPr lang="en-PH" sz="4400" dirty="0"/>
              <a:t>input produces an output that is in phase with the signal </a:t>
            </a:r>
            <a:r>
              <a:rPr lang="en-PH" sz="4400" dirty="0" smtClean="0"/>
              <a:t>applied.</a:t>
            </a:r>
          </a:p>
          <a:p>
            <a:pPr marL="0" indent="0">
              <a:buNone/>
            </a:pPr>
            <a:r>
              <a:rPr lang="en-PH" sz="4400" dirty="0" smtClean="0"/>
              <a:t>The </a:t>
            </a:r>
            <a:r>
              <a:rPr lang="en-PH" sz="4400" dirty="0"/>
              <a:t>minus </a:t>
            </a:r>
            <a:r>
              <a:rPr lang="en-PH" sz="4400" dirty="0" smtClean="0"/>
              <a:t>(-) </a:t>
            </a:r>
            <a:r>
              <a:rPr lang="en-PH" sz="4400" dirty="0"/>
              <a:t>input results in an opposite polarity output.</a:t>
            </a:r>
          </a:p>
        </p:txBody>
      </p:sp>
    </p:spTree>
    <p:extLst>
      <p:ext uri="{BB962C8B-B14F-4D97-AF65-F5344CB8AC3E}">
        <p14:creationId xmlns:p14="http://schemas.microsoft.com/office/powerpoint/2010/main" val="3094506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500" y="393700"/>
            <a:ext cx="5687933" cy="332911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500" y="393700"/>
            <a:ext cx="10909300" cy="57832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PH" sz="5200" dirty="0">
                <a:solidFill>
                  <a:srgbClr val="C00000"/>
                </a:solidFill>
              </a:rPr>
              <a:t>O</a:t>
            </a:r>
            <a:r>
              <a:rPr lang="en-PH" sz="5200" dirty="0" smtClean="0">
                <a:solidFill>
                  <a:srgbClr val="C00000"/>
                </a:solidFill>
              </a:rPr>
              <a:t>p-amp ac equivalent circuit</a:t>
            </a:r>
          </a:p>
          <a:p>
            <a:pPr marL="0" indent="0">
              <a:buNone/>
            </a:pPr>
            <a:r>
              <a:rPr lang="en-PH" sz="4400" dirty="0" smtClean="0"/>
              <a:t>The </a:t>
            </a:r>
            <a:r>
              <a:rPr lang="en-PH" sz="4400" dirty="0"/>
              <a:t>input </a:t>
            </a:r>
            <a:r>
              <a:rPr lang="en-PH" sz="4400" dirty="0" smtClean="0"/>
              <a:t>signal applied</a:t>
            </a:r>
          </a:p>
          <a:p>
            <a:pPr marL="0" indent="0">
              <a:buNone/>
            </a:pPr>
            <a:r>
              <a:rPr lang="en-PH" sz="4400" dirty="0"/>
              <a:t>b</a:t>
            </a:r>
            <a:r>
              <a:rPr lang="en-PH" sz="4400" dirty="0" smtClean="0"/>
              <a:t>etween input terminals</a:t>
            </a:r>
          </a:p>
          <a:p>
            <a:pPr marL="0" indent="0">
              <a:buNone/>
            </a:pPr>
            <a:r>
              <a:rPr lang="en-PH" sz="4400" dirty="0" smtClean="0"/>
              <a:t>sees </a:t>
            </a:r>
            <a:r>
              <a:rPr lang="en-PH" sz="4400" dirty="0"/>
              <a:t>an input impedance, </a:t>
            </a:r>
            <a:endParaRPr lang="en-PH" sz="4400" dirty="0" smtClean="0"/>
          </a:p>
          <a:p>
            <a:pPr marL="0" indent="0">
              <a:buNone/>
            </a:pPr>
            <a:r>
              <a:rPr lang="en-PH" sz="4400" i="1" dirty="0" err="1" smtClean="0"/>
              <a:t>Ri</a:t>
            </a:r>
            <a:r>
              <a:rPr lang="en-PH" sz="4400" dirty="0"/>
              <a:t>, typically very high. </a:t>
            </a:r>
            <a:endParaRPr lang="en-PH" sz="4400" dirty="0" smtClean="0"/>
          </a:p>
          <a:p>
            <a:pPr marL="0" indent="0">
              <a:buNone/>
            </a:pPr>
            <a:r>
              <a:rPr lang="en-PH" sz="4400" dirty="0" smtClean="0"/>
              <a:t>The output </a:t>
            </a:r>
            <a:r>
              <a:rPr lang="en-PH" sz="4400" dirty="0"/>
              <a:t>voltage </a:t>
            </a:r>
            <a:r>
              <a:rPr lang="en-PH" sz="4400" dirty="0" smtClean="0"/>
              <a:t>is shown </a:t>
            </a:r>
            <a:r>
              <a:rPr lang="en-PH" sz="4400" dirty="0"/>
              <a:t>to be </a:t>
            </a:r>
            <a:r>
              <a:rPr lang="en-PH" sz="4400" dirty="0" smtClean="0"/>
              <a:t>the </a:t>
            </a:r>
          </a:p>
          <a:p>
            <a:pPr marL="0" indent="0">
              <a:buNone/>
            </a:pPr>
            <a:r>
              <a:rPr lang="en-PH" sz="4400" dirty="0" smtClean="0"/>
              <a:t>amplifier </a:t>
            </a:r>
            <a:r>
              <a:rPr lang="en-PH" sz="4400" dirty="0"/>
              <a:t>gain times </a:t>
            </a:r>
            <a:r>
              <a:rPr lang="en-PH" sz="4400" dirty="0" smtClean="0"/>
              <a:t>the input </a:t>
            </a:r>
            <a:r>
              <a:rPr lang="en-PH" sz="4400" dirty="0"/>
              <a:t>signal </a:t>
            </a:r>
            <a:r>
              <a:rPr lang="en-PH" sz="4400" dirty="0" smtClean="0"/>
              <a:t>taken </a:t>
            </a:r>
          </a:p>
          <a:p>
            <a:pPr marL="0" indent="0">
              <a:buNone/>
            </a:pPr>
            <a:r>
              <a:rPr lang="en-PH" sz="4400" dirty="0" smtClean="0"/>
              <a:t>through an </a:t>
            </a:r>
            <a:r>
              <a:rPr lang="en-PH" sz="4400" dirty="0"/>
              <a:t>output impedance, </a:t>
            </a:r>
            <a:r>
              <a:rPr lang="en-PH" sz="4400" i="1" dirty="0"/>
              <a:t>Ro</a:t>
            </a:r>
            <a:r>
              <a:rPr lang="en-PH" sz="4400" dirty="0"/>
              <a:t>, which </a:t>
            </a:r>
            <a:r>
              <a:rPr lang="en-PH" sz="4400" dirty="0" smtClean="0"/>
              <a:t>is </a:t>
            </a:r>
          </a:p>
          <a:p>
            <a:pPr marL="0" indent="0">
              <a:buNone/>
            </a:pPr>
            <a:r>
              <a:rPr lang="en-PH" sz="4400" dirty="0" smtClean="0"/>
              <a:t>typically </a:t>
            </a:r>
            <a:r>
              <a:rPr lang="en-PH" sz="4400" dirty="0"/>
              <a:t>very low. 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941858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500" y="393700"/>
            <a:ext cx="10909300" cy="5783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800" dirty="0">
                <a:solidFill>
                  <a:srgbClr val="C00000"/>
                </a:solidFill>
              </a:rPr>
              <a:t>O</a:t>
            </a:r>
            <a:r>
              <a:rPr lang="en-PH" sz="4800" dirty="0" smtClean="0">
                <a:solidFill>
                  <a:srgbClr val="C00000"/>
                </a:solidFill>
              </a:rPr>
              <a:t>p-amp </a:t>
            </a:r>
            <a:r>
              <a:rPr lang="en-PH" sz="4800" dirty="0">
                <a:solidFill>
                  <a:srgbClr val="C00000"/>
                </a:solidFill>
              </a:rPr>
              <a:t>i</a:t>
            </a:r>
            <a:r>
              <a:rPr lang="en-PH" sz="4800" dirty="0" smtClean="0">
                <a:solidFill>
                  <a:srgbClr val="C00000"/>
                </a:solidFill>
              </a:rPr>
              <a:t>deal circuit</a:t>
            </a:r>
          </a:p>
          <a:p>
            <a:pPr marL="0" indent="0">
              <a:buNone/>
            </a:pPr>
            <a:r>
              <a:rPr lang="en-PH" sz="4400" dirty="0" smtClean="0"/>
              <a:t>An </a:t>
            </a:r>
            <a:r>
              <a:rPr lang="en-PH" sz="4400" dirty="0"/>
              <a:t>ideal op-amp circuit, </a:t>
            </a:r>
            <a:r>
              <a:rPr lang="en-PH" sz="4400" dirty="0" smtClean="0"/>
              <a:t>would have infinite input </a:t>
            </a:r>
            <a:r>
              <a:rPr lang="en-PH" sz="4400" dirty="0"/>
              <a:t>impedance, zero </a:t>
            </a:r>
            <a:r>
              <a:rPr lang="en-PH" sz="4400" dirty="0" smtClean="0"/>
              <a:t>output impedance, and </a:t>
            </a:r>
            <a:r>
              <a:rPr lang="en-PH" sz="4400" dirty="0"/>
              <a:t>an infinite voltage gain.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807" y="3205162"/>
            <a:ext cx="4986686" cy="33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401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1564" b="3515"/>
          <a:stretch/>
        </p:blipFill>
        <p:spPr>
          <a:xfrm>
            <a:off x="5791202" y="749300"/>
            <a:ext cx="5909698" cy="30861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292100"/>
            <a:ext cx="10871200" cy="63373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PH" sz="4400" dirty="0" smtClean="0">
                <a:solidFill>
                  <a:srgbClr val="C00000"/>
                </a:solidFill>
              </a:rPr>
              <a:t>Basic circuit connection using an Op-amp</a:t>
            </a:r>
          </a:p>
          <a:p>
            <a:pPr marL="0" indent="0">
              <a:buNone/>
            </a:pPr>
            <a:r>
              <a:rPr lang="en-PH" sz="4400" dirty="0"/>
              <a:t>The </a:t>
            </a:r>
            <a:r>
              <a:rPr lang="en-PH" sz="4400" dirty="0" smtClean="0"/>
              <a:t>circuit shown is a </a:t>
            </a:r>
          </a:p>
          <a:p>
            <a:pPr marL="0" indent="0">
              <a:buNone/>
            </a:pPr>
            <a:r>
              <a:rPr lang="en-PH" sz="4400" dirty="0" smtClean="0"/>
              <a:t>constant-gain multiplier.</a:t>
            </a:r>
          </a:p>
          <a:p>
            <a:pPr marL="0" indent="0">
              <a:buNone/>
            </a:pPr>
            <a:r>
              <a:rPr lang="en-PH" sz="4400" dirty="0" smtClean="0"/>
              <a:t>An </a:t>
            </a:r>
            <a:r>
              <a:rPr lang="en-PH" sz="4400" dirty="0"/>
              <a:t>input signal, </a:t>
            </a:r>
            <a:r>
              <a:rPr lang="en-PH" sz="4400" i="1" dirty="0"/>
              <a:t>V</a:t>
            </a:r>
            <a:r>
              <a:rPr lang="en-PH" sz="3300" dirty="0"/>
              <a:t>1</a:t>
            </a:r>
            <a:r>
              <a:rPr lang="en-PH" sz="4400" dirty="0"/>
              <a:t>, is </a:t>
            </a:r>
            <a:endParaRPr lang="en-PH" sz="4400" dirty="0" smtClean="0"/>
          </a:p>
          <a:p>
            <a:pPr marL="0" indent="0">
              <a:buNone/>
            </a:pPr>
            <a:r>
              <a:rPr lang="en-PH" sz="4400" dirty="0"/>
              <a:t>a</a:t>
            </a:r>
            <a:r>
              <a:rPr lang="en-PH" sz="4400" dirty="0" smtClean="0"/>
              <a:t>pplied through </a:t>
            </a:r>
            <a:r>
              <a:rPr lang="en-PH" sz="4400" dirty="0"/>
              <a:t>resistor </a:t>
            </a:r>
            <a:endParaRPr lang="en-PH" sz="4400" dirty="0" smtClean="0"/>
          </a:p>
          <a:p>
            <a:pPr marL="0" indent="0">
              <a:buNone/>
            </a:pPr>
            <a:r>
              <a:rPr lang="en-PH" sz="4400" i="1" dirty="0" smtClean="0"/>
              <a:t>R</a:t>
            </a:r>
            <a:r>
              <a:rPr lang="en-PH" sz="3300" dirty="0" smtClean="0"/>
              <a:t>1</a:t>
            </a:r>
            <a:r>
              <a:rPr lang="en-PH" sz="4400" dirty="0" smtClean="0"/>
              <a:t> </a:t>
            </a:r>
            <a:r>
              <a:rPr lang="en-PH" sz="4400" dirty="0"/>
              <a:t>to the minus input. </a:t>
            </a:r>
            <a:r>
              <a:rPr lang="en-PH" sz="4400" dirty="0" smtClean="0"/>
              <a:t>The</a:t>
            </a:r>
          </a:p>
          <a:p>
            <a:pPr marL="0" indent="0">
              <a:buNone/>
            </a:pPr>
            <a:r>
              <a:rPr lang="en-PH" sz="4400" dirty="0" smtClean="0"/>
              <a:t>output </a:t>
            </a:r>
            <a:r>
              <a:rPr lang="en-PH" sz="4400" dirty="0"/>
              <a:t>is then </a:t>
            </a:r>
            <a:r>
              <a:rPr lang="en-PH" sz="4400" dirty="0" smtClean="0"/>
              <a:t>connected</a:t>
            </a:r>
          </a:p>
          <a:p>
            <a:pPr marL="0" indent="0">
              <a:buNone/>
            </a:pPr>
            <a:r>
              <a:rPr lang="en-PH" sz="4400" dirty="0" smtClean="0"/>
              <a:t>back </a:t>
            </a:r>
            <a:r>
              <a:rPr lang="en-PH" sz="4400" dirty="0"/>
              <a:t>to the </a:t>
            </a:r>
            <a:r>
              <a:rPr lang="en-PH" sz="4400" dirty="0" smtClean="0"/>
              <a:t>same minus </a:t>
            </a:r>
            <a:r>
              <a:rPr lang="en-PH" sz="4400" dirty="0"/>
              <a:t>input through resistor </a:t>
            </a:r>
            <a:r>
              <a:rPr lang="en-PH" sz="4400" i="1" dirty="0"/>
              <a:t>R</a:t>
            </a:r>
            <a:r>
              <a:rPr lang="en-PH" sz="3300" i="1" dirty="0"/>
              <a:t>f</a:t>
            </a:r>
            <a:r>
              <a:rPr lang="en-PH" sz="4400" dirty="0"/>
              <a:t>. </a:t>
            </a:r>
            <a:r>
              <a:rPr lang="en-PH" sz="4400" dirty="0" smtClean="0"/>
              <a:t>The</a:t>
            </a:r>
          </a:p>
          <a:p>
            <a:pPr marL="0" indent="0">
              <a:buNone/>
            </a:pPr>
            <a:r>
              <a:rPr lang="en-PH" sz="4400" dirty="0" smtClean="0"/>
              <a:t>plus </a:t>
            </a:r>
            <a:r>
              <a:rPr lang="en-PH" sz="4400" dirty="0"/>
              <a:t>input is connected to ground. Since the signal</a:t>
            </a:r>
          </a:p>
          <a:p>
            <a:pPr marL="0" indent="0">
              <a:buNone/>
            </a:pPr>
            <a:r>
              <a:rPr lang="en-PH" sz="4400" i="1" dirty="0"/>
              <a:t>V</a:t>
            </a:r>
            <a:r>
              <a:rPr lang="en-PH" sz="3300" dirty="0"/>
              <a:t>1</a:t>
            </a:r>
            <a:r>
              <a:rPr lang="en-PH" sz="4400" dirty="0"/>
              <a:t> is essentially applied to the minus input, the </a:t>
            </a:r>
            <a:endParaRPr lang="en-PH" sz="4400" dirty="0" smtClean="0"/>
          </a:p>
          <a:p>
            <a:pPr marL="0" indent="0">
              <a:buNone/>
            </a:pPr>
            <a:r>
              <a:rPr lang="en-PH" sz="4400" dirty="0" smtClean="0"/>
              <a:t>resulting </a:t>
            </a:r>
            <a:r>
              <a:rPr lang="en-PH" sz="4400" dirty="0"/>
              <a:t>output is opposite </a:t>
            </a:r>
            <a:r>
              <a:rPr lang="en-PH" sz="4400" dirty="0" smtClean="0"/>
              <a:t>in phase </a:t>
            </a:r>
            <a:r>
              <a:rPr lang="en-PH" sz="4400" dirty="0"/>
              <a:t>to the input signal.</a:t>
            </a:r>
          </a:p>
        </p:txBody>
      </p:sp>
    </p:spTree>
    <p:extLst>
      <p:ext uri="{BB962C8B-B14F-4D97-AF65-F5344CB8AC3E}">
        <p14:creationId xmlns:p14="http://schemas.microsoft.com/office/powerpoint/2010/main" val="1374566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500" y="188912"/>
            <a:ext cx="11480800" cy="66690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3500" dirty="0" smtClean="0"/>
              <a:t>Operation </a:t>
            </a:r>
            <a:r>
              <a:rPr lang="en-PH" sz="3500" dirty="0"/>
              <a:t>of op-amp as constant-gain multiplier: </a:t>
            </a:r>
            <a:endParaRPr lang="en-PH" sz="3500" dirty="0" smtClean="0"/>
          </a:p>
          <a:p>
            <a:pPr marL="514350" indent="-514350">
              <a:buAutoNum type="alphaLcParenBoth"/>
            </a:pPr>
            <a:r>
              <a:rPr lang="en-PH" sz="3500" dirty="0" smtClean="0"/>
              <a:t>op-amp ac equivalent </a:t>
            </a:r>
            <a:r>
              <a:rPr lang="en-PH" sz="3500" dirty="0"/>
              <a:t>circuit; </a:t>
            </a:r>
            <a:endParaRPr lang="en-PH" sz="3500" dirty="0" smtClean="0"/>
          </a:p>
          <a:p>
            <a:pPr marL="0" indent="0">
              <a:buNone/>
            </a:pPr>
            <a:r>
              <a:rPr lang="en-PH" sz="3500" dirty="0" smtClean="0"/>
              <a:t>(</a:t>
            </a:r>
            <a:r>
              <a:rPr lang="en-PH" sz="3500" dirty="0"/>
              <a:t>b) ideal op-amp equivalent circuit; </a:t>
            </a:r>
            <a:endParaRPr lang="en-PH" sz="3500" dirty="0" smtClean="0"/>
          </a:p>
          <a:p>
            <a:pPr marL="0" indent="0">
              <a:buNone/>
            </a:pPr>
            <a:r>
              <a:rPr lang="en-PH" sz="3500" dirty="0" smtClean="0"/>
              <a:t>(</a:t>
            </a:r>
            <a:r>
              <a:rPr lang="en-PH" sz="3500" dirty="0"/>
              <a:t>c) redrawn </a:t>
            </a:r>
            <a:r>
              <a:rPr lang="en-PH" sz="3500" dirty="0" smtClean="0"/>
              <a:t>equivalent</a:t>
            </a:r>
          </a:p>
          <a:p>
            <a:pPr marL="0" indent="0">
              <a:buNone/>
            </a:pPr>
            <a:r>
              <a:rPr lang="en-PH" sz="3500" dirty="0" smtClean="0"/>
              <a:t>circuit</a:t>
            </a:r>
            <a:endParaRPr lang="en-PH" sz="35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637" y="751680"/>
            <a:ext cx="4705350" cy="27717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93" y="3859211"/>
            <a:ext cx="4563417" cy="26725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403" y="3859211"/>
            <a:ext cx="3952278" cy="266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50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5400" dirty="0" smtClean="0">
                <a:solidFill>
                  <a:srgbClr val="C00000"/>
                </a:solidFill>
              </a:rPr>
              <a:t>Practical Op-amp circuits</a:t>
            </a:r>
            <a:endParaRPr lang="en-PH" sz="54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9700"/>
            <a:ext cx="10515600" cy="52323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PH" sz="5700" dirty="0" smtClean="0">
                <a:solidFill>
                  <a:srgbClr val="C00000"/>
                </a:solidFill>
              </a:rPr>
              <a:t>Inverting Amplifier</a:t>
            </a:r>
          </a:p>
          <a:p>
            <a:pPr marL="0" indent="0">
              <a:buNone/>
            </a:pPr>
            <a:endParaRPr lang="en-PH" sz="2400" b="0" i="1" dirty="0" smtClean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en-PH" sz="2400" i="1" dirty="0" smtClean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en-PH" sz="2400" b="0" i="1" dirty="0">
              <a:latin typeface="Cambria Math" panose="020405030504060302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PH" sz="44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en-PH" sz="4400" dirty="0" smtClean="0"/>
              <a:t>It is the most </a:t>
            </a:r>
            <a:r>
              <a:rPr lang="en-PH" sz="4400" dirty="0"/>
              <a:t>widely </a:t>
            </a:r>
            <a:endParaRPr lang="en-PH" sz="44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en-PH" sz="4400" dirty="0" smtClean="0"/>
              <a:t>used </a:t>
            </a:r>
            <a:r>
              <a:rPr lang="en-PH" sz="4400" dirty="0"/>
              <a:t>constant-gain amplifier </a:t>
            </a:r>
            <a:r>
              <a:rPr lang="en-PH" sz="4400" dirty="0" smtClean="0"/>
              <a:t>circuit. The </a:t>
            </a:r>
            <a:r>
              <a:rPr lang="en-PH" sz="4400" dirty="0"/>
              <a:t>output is obtained by multiplying the input by a fixed </a:t>
            </a:r>
            <a:r>
              <a:rPr lang="en-PH" sz="4400" dirty="0" smtClean="0"/>
              <a:t>or constant </a:t>
            </a:r>
            <a:r>
              <a:rPr lang="en-PH" sz="4400" dirty="0"/>
              <a:t>gain, set by the input resistor (</a:t>
            </a:r>
            <a:r>
              <a:rPr lang="en-PH" sz="4400" i="1" dirty="0"/>
              <a:t>R</a:t>
            </a:r>
            <a:r>
              <a:rPr lang="en-PH" sz="3000" dirty="0"/>
              <a:t>1</a:t>
            </a:r>
            <a:r>
              <a:rPr lang="en-PH" sz="4400" dirty="0"/>
              <a:t>) and feedback resistor (</a:t>
            </a:r>
            <a:r>
              <a:rPr lang="en-PH" sz="4400" i="1" dirty="0" smtClean="0"/>
              <a:t>R</a:t>
            </a:r>
            <a:r>
              <a:rPr lang="en-PH" sz="3000" i="1" dirty="0" smtClean="0"/>
              <a:t>f</a:t>
            </a:r>
            <a:r>
              <a:rPr lang="en-PH" sz="4400" dirty="0" smtClean="0"/>
              <a:t>). The output is also </a:t>
            </a:r>
            <a:r>
              <a:rPr lang="en-PH" sz="4400" dirty="0"/>
              <a:t>being inverted from the input.</a:t>
            </a:r>
            <a:endParaRPr lang="en-PH" sz="4400" b="0" i="1" dirty="0" smtClean="0">
              <a:latin typeface="Cambria Math" panose="020405030504060302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409700"/>
            <a:ext cx="4914900" cy="24955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300" y="2311815"/>
            <a:ext cx="2146300" cy="106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714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5400" dirty="0" smtClean="0">
                <a:solidFill>
                  <a:srgbClr val="C00000"/>
                </a:solidFill>
              </a:rPr>
              <a:t>Practical Op-amp circuits</a:t>
            </a:r>
            <a:endParaRPr lang="en-PH" sz="54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1834"/>
            <a:ext cx="10515600" cy="53402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400" dirty="0" smtClean="0">
                <a:solidFill>
                  <a:srgbClr val="C00000"/>
                </a:solidFill>
              </a:rPr>
              <a:t>Noninverting Amplifier</a:t>
            </a:r>
          </a:p>
          <a:p>
            <a:pPr marL="0" indent="0">
              <a:buNone/>
            </a:pPr>
            <a:endParaRPr lang="en-PH" sz="2400" b="0" i="1" dirty="0" smtClean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en-PH" sz="2400" i="1" dirty="0" smtClean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en-PH" sz="3600" dirty="0" smtClean="0"/>
          </a:p>
          <a:p>
            <a:pPr marL="0" indent="0">
              <a:buNone/>
            </a:pPr>
            <a:r>
              <a:rPr lang="en-PH" sz="3600" dirty="0" smtClean="0"/>
              <a:t>The </a:t>
            </a:r>
            <a:r>
              <a:rPr lang="en-PH" sz="3600" dirty="0"/>
              <a:t>inverting </a:t>
            </a:r>
            <a:r>
              <a:rPr lang="en-PH" sz="3600" dirty="0" smtClean="0"/>
              <a:t>amplifier </a:t>
            </a:r>
          </a:p>
          <a:p>
            <a:pPr marL="0" indent="0">
              <a:buNone/>
            </a:pPr>
            <a:r>
              <a:rPr lang="en-PH" sz="3600" dirty="0" smtClean="0"/>
              <a:t>connection </a:t>
            </a:r>
            <a:r>
              <a:rPr lang="en-PH" sz="3600" dirty="0"/>
              <a:t>is more widely </a:t>
            </a:r>
            <a:endParaRPr lang="en-PH" sz="3600" dirty="0" smtClean="0"/>
          </a:p>
          <a:p>
            <a:pPr marL="0" indent="0">
              <a:buNone/>
            </a:pPr>
            <a:r>
              <a:rPr lang="en-PH" sz="3600" dirty="0" smtClean="0"/>
              <a:t>used </a:t>
            </a:r>
            <a:r>
              <a:rPr lang="en-PH" sz="3600" dirty="0"/>
              <a:t>because it has better frequency </a:t>
            </a:r>
            <a:r>
              <a:rPr lang="en-PH" sz="3600" dirty="0" smtClean="0"/>
              <a:t>stability</a:t>
            </a:r>
            <a:r>
              <a:rPr lang="en-PH" sz="3600" i="1" dirty="0" smtClean="0">
                <a:latin typeface="Cambria Math" panose="02040503050406030204" pitchFamily="18" charset="0"/>
              </a:rPr>
              <a:t>.</a:t>
            </a:r>
            <a:endParaRPr lang="en-PH" sz="3600" b="0" i="1" dirty="0">
              <a:latin typeface="Cambria Math" panose="0204050305040603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187" y="1301833"/>
            <a:ext cx="4619625" cy="3086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428" y="2181977"/>
            <a:ext cx="2197266" cy="109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654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5400" dirty="0" smtClean="0">
                <a:solidFill>
                  <a:srgbClr val="C00000"/>
                </a:solidFill>
              </a:rPr>
              <a:t>Practical Op-amp circuits</a:t>
            </a:r>
            <a:endParaRPr lang="en-PH" sz="54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511809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PH" sz="4400" dirty="0" smtClean="0">
                <a:solidFill>
                  <a:srgbClr val="C00000"/>
                </a:solidFill>
              </a:rPr>
              <a:t>Unity Follower</a:t>
            </a:r>
          </a:p>
          <a:p>
            <a:pPr marL="0" indent="0">
              <a:buNone/>
            </a:pPr>
            <a:r>
              <a:rPr lang="en-PH" sz="3200" i="1" dirty="0" smtClean="0">
                <a:latin typeface="Cambria Math" panose="02040503050406030204" pitchFamily="18" charset="0"/>
              </a:rPr>
              <a:t>	</a:t>
            </a:r>
            <a:r>
              <a:rPr lang="en-PH" sz="3600" i="1" dirty="0" smtClean="0">
                <a:latin typeface="Cambria Math" panose="02040503050406030204" pitchFamily="18" charset="0"/>
              </a:rPr>
              <a:t>V</a:t>
            </a:r>
            <a:r>
              <a:rPr lang="en-PH" i="1" dirty="0" smtClean="0">
                <a:latin typeface="Cambria Math" panose="02040503050406030204" pitchFamily="18" charset="0"/>
              </a:rPr>
              <a:t>o</a:t>
            </a:r>
            <a:r>
              <a:rPr lang="en-PH" sz="3600" i="1" dirty="0" smtClean="0">
                <a:latin typeface="Cambria Math" panose="02040503050406030204" pitchFamily="18" charset="0"/>
              </a:rPr>
              <a:t> = V</a:t>
            </a:r>
            <a:r>
              <a:rPr lang="en-PH" i="1" dirty="0" smtClean="0">
                <a:latin typeface="Cambria Math" panose="02040503050406030204" pitchFamily="18" charset="0"/>
              </a:rPr>
              <a:t>i</a:t>
            </a:r>
          </a:p>
          <a:p>
            <a:pPr marL="0" indent="0">
              <a:buNone/>
            </a:pPr>
            <a:r>
              <a:rPr lang="en-PH" sz="4000" dirty="0"/>
              <a:t>The unity-follower </a:t>
            </a:r>
            <a:r>
              <a:rPr lang="en-PH" sz="4000" dirty="0" smtClean="0"/>
              <a:t>circuit </a:t>
            </a:r>
          </a:p>
          <a:p>
            <a:pPr marL="0" indent="0">
              <a:buNone/>
            </a:pPr>
            <a:r>
              <a:rPr lang="en-PH" sz="4000" dirty="0" smtClean="0"/>
              <a:t>provides </a:t>
            </a:r>
            <a:r>
              <a:rPr lang="en-PH" sz="4000" dirty="0"/>
              <a:t>a gain of unity (1) </a:t>
            </a:r>
            <a:endParaRPr lang="en-PH" sz="4000" dirty="0" smtClean="0"/>
          </a:p>
          <a:p>
            <a:pPr marL="0" indent="0">
              <a:buNone/>
            </a:pPr>
            <a:r>
              <a:rPr lang="en-PH" sz="4000" dirty="0"/>
              <a:t>w</a:t>
            </a:r>
            <a:r>
              <a:rPr lang="en-PH" sz="4000" dirty="0" smtClean="0"/>
              <a:t>ith no </a:t>
            </a:r>
            <a:r>
              <a:rPr lang="en-PH" sz="4000" dirty="0"/>
              <a:t>polarity or phase reversal</a:t>
            </a:r>
            <a:r>
              <a:rPr lang="en-PH" sz="4000" i="1" dirty="0" smtClean="0">
                <a:latin typeface="Cambria Math" panose="02040503050406030204" pitchFamily="18" charset="0"/>
              </a:rPr>
              <a:t>. </a:t>
            </a:r>
            <a:r>
              <a:rPr lang="en-PH" sz="4000" dirty="0" smtClean="0"/>
              <a:t>The </a:t>
            </a:r>
            <a:r>
              <a:rPr lang="en-PH" sz="4000" dirty="0"/>
              <a:t>output is the </a:t>
            </a:r>
            <a:endParaRPr lang="en-PH" sz="4000" dirty="0" smtClean="0"/>
          </a:p>
          <a:p>
            <a:pPr marL="0" indent="0">
              <a:buNone/>
            </a:pPr>
            <a:r>
              <a:rPr lang="en-PH" sz="4000" dirty="0" smtClean="0"/>
              <a:t>same </a:t>
            </a:r>
            <a:r>
              <a:rPr lang="en-PH" sz="4000" dirty="0"/>
              <a:t>polarity and magnitude as the input. The circuit </a:t>
            </a:r>
            <a:endParaRPr lang="en-PH" sz="4000" dirty="0" smtClean="0"/>
          </a:p>
          <a:p>
            <a:pPr marL="0" indent="0">
              <a:buNone/>
            </a:pPr>
            <a:r>
              <a:rPr lang="en-PH" sz="4000" dirty="0" smtClean="0"/>
              <a:t>operates like </a:t>
            </a:r>
            <a:r>
              <a:rPr lang="en-PH" sz="4000" dirty="0"/>
              <a:t>an emitter- or source-follower circuit </a:t>
            </a:r>
            <a:endParaRPr lang="en-PH" sz="4000" dirty="0" smtClean="0"/>
          </a:p>
          <a:p>
            <a:pPr marL="0" indent="0">
              <a:buNone/>
            </a:pPr>
            <a:r>
              <a:rPr lang="en-PH" sz="4000" dirty="0" smtClean="0"/>
              <a:t>except </a:t>
            </a:r>
            <a:r>
              <a:rPr lang="en-PH" sz="4000" dirty="0"/>
              <a:t>that the gain is exactly unity.</a:t>
            </a:r>
            <a:endParaRPr lang="en-PH" sz="4000" b="0" i="1" dirty="0">
              <a:latin typeface="Cambria Math" panose="020405030504060302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3318"/>
          <a:stretch/>
        </p:blipFill>
        <p:spPr>
          <a:xfrm>
            <a:off x="6784975" y="1320800"/>
            <a:ext cx="3829050" cy="284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747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5400" dirty="0" smtClean="0">
                <a:solidFill>
                  <a:srgbClr val="C00000"/>
                </a:solidFill>
              </a:rPr>
              <a:t>Practical Op-amp circuits</a:t>
            </a:r>
            <a:endParaRPr lang="en-PH" sz="54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51180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PH" sz="4400" dirty="0" smtClean="0">
                <a:solidFill>
                  <a:srgbClr val="C00000"/>
                </a:solidFill>
              </a:rPr>
              <a:t>Summing Amplifier</a:t>
            </a:r>
          </a:p>
          <a:p>
            <a:pPr marL="0" indent="0">
              <a:buNone/>
            </a:pPr>
            <a:r>
              <a:rPr lang="en-PH" sz="3200" i="1" dirty="0" smtClean="0">
                <a:latin typeface="Cambria Math" panose="02040503050406030204" pitchFamily="18" charset="0"/>
              </a:rPr>
              <a:t>	</a:t>
            </a:r>
          </a:p>
          <a:p>
            <a:pPr marL="0" indent="0">
              <a:buNone/>
            </a:pPr>
            <a:endParaRPr lang="en-PH" sz="3200" i="1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PH" sz="4000" dirty="0"/>
              <a:t>T</a:t>
            </a:r>
            <a:r>
              <a:rPr lang="en-PH" sz="4000" dirty="0" smtClean="0"/>
              <a:t>he </a:t>
            </a:r>
            <a:r>
              <a:rPr lang="en-PH" sz="4000" dirty="0"/>
              <a:t>most used of the </a:t>
            </a:r>
            <a:endParaRPr lang="en-PH" sz="4000" dirty="0" smtClean="0"/>
          </a:p>
          <a:p>
            <a:pPr marL="0" indent="0">
              <a:buNone/>
            </a:pPr>
            <a:r>
              <a:rPr lang="en-PH" sz="4000" dirty="0" smtClean="0"/>
              <a:t>op-amp </a:t>
            </a:r>
            <a:r>
              <a:rPr lang="en-PH" sz="4000" dirty="0"/>
              <a:t>circuits is the </a:t>
            </a:r>
            <a:endParaRPr lang="en-PH" sz="4000" dirty="0" smtClean="0"/>
          </a:p>
          <a:p>
            <a:pPr marL="0" indent="0">
              <a:buNone/>
            </a:pPr>
            <a:r>
              <a:rPr lang="en-PH" sz="4000" dirty="0" smtClean="0"/>
              <a:t>summing </a:t>
            </a:r>
            <a:r>
              <a:rPr lang="en-PH" sz="4000" dirty="0"/>
              <a:t>amplifier </a:t>
            </a:r>
            <a:r>
              <a:rPr lang="en-PH" sz="4000" dirty="0" smtClean="0"/>
              <a:t>circuit. </a:t>
            </a:r>
          </a:p>
          <a:p>
            <a:pPr marL="0" indent="0">
              <a:buNone/>
            </a:pPr>
            <a:r>
              <a:rPr lang="en-PH" sz="4000" dirty="0" smtClean="0"/>
              <a:t>The </a:t>
            </a:r>
            <a:r>
              <a:rPr lang="en-PH" sz="4000" dirty="0"/>
              <a:t>circuit shows a three-input summing </a:t>
            </a:r>
            <a:r>
              <a:rPr lang="en-PH" sz="4000" dirty="0" smtClean="0"/>
              <a:t>amplifier</a:t>
            </a:r>
          </a:p>
          <a:p>
            <a:pPr marL="0" indent="0">
              <a:buNone/>
            </a:pPr>
            <a:r>
              <a:rPr lang="en-PH" sz="4000" dirty="0" smtClean="0"/>
              <a:t>circuit</a:t>
            </a:r>
            <a:r>
              <a:rPr lang="en-PH" sz="4000" dirty="0"/>
              <a:t>, which </a:t>
            </a:r>
            <a:r>
              <a:rPr lang="en-PH" sz="4000" dirty="0" smtClean="0"/>
              <a:t>provides a </a:t>
            </a:r>
            <a:r>
              <a:rPr lang="en-PH" sz="4000" dirty="0"/>
              <a:t>means of </a:t>
            </a:r>
            <a:r>
              <a:rPr lang="en-PH" sz="4000" dirty="0" smtClean="0"/>
              <a:t>algebraically</a:t>
            </a:r>
          </a:p>
          <a:p>
            <a:pPr marL="0" indent="0">
              <a:buNone/>
            </a:pPr>
            <a:r>
              <a:rPr lang="en-PH" sz="4000" dirty="0" smtClean="0"/>
              <a:t>summing </a:t>
            </a:r>
            <a:r>
              <a:rPr lang="en-PH" sz="4000" dirty="0"/>
              <a:t>(adding) three voltages, each multiplied by</a:t>
            </a:r>
          </a:p>
          <a:p>
            <a:pPr marL="0" indent="0">
              <a:buNone/>
            </a:pPr>
            <a:r>
              <a:rPr lang="en-PH" sz="4000" dirty="0"/>
              <a:t>a constant-gain </a:t>
            </a:r>
            <a:r>
              <a:rPr lang="en-PH" sz="4000" dirty="0" smtClean="0"/>
              <a:t>factor.</a:t>
            </a:r>
            <a:endParaRPr lang="en-PH" sz="4000" b="0" i="1" dirty="0">
              <a:latin typeface="Cambria Math" panose="0204050305040603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328" y="2209800"/>
            <a:ext cx="3756025" cy="7778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987" y="1317624"/>
            <a:ext cx="4602701" cy="288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293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341" y="2097882"/>
            <a:ext cx="1363707" cy="67548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224" y="1974852"/>
            <a:ext cx="654739" cy="10594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5400" dirty="0" smtClean="0">
                <a:solidFill>
                  <a:srgbClr val="C00000"/>
                </a:solidFill>
              </a:rPr>
              <a:t>Practical Op-amp circuits</a:t>
            </a:r>
            <a:endParaRPr lang="en-PH" sz="54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100"/>
            <a:ext cx="10515600" cy="51180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400" dirty="0" smtClean="0">
                <a:solidFill>
                  <a:srgbClr val="C00000"/>
                </a:solidFill>
              </a:rPr>
              <a:t>Integrator</a:t>
            </a:r>
          </a:p>
          <a:p>
            <a:pPr marL="0" indent="0">
              <a:buNone/>
            </a:pPr>
            <a:r>
              <a:rPr lang="en-PH" sz="5400" i="1" dirty="0" smtClean="0">
                <a:latin typeface="Cambria Math" panose="02040503050406030204" pitchFamily="18" charset="0"/>
              </a:rPr>
              <a:t>               </a:t>
            </a:r>
            <a:r>
              <a:rPr lang="en-PH" sz="3200" i="1" dirty="0" smtClean="0">
                <a:latin typeface="Cambria Math" panose="02040503050406030204" pitchFamily="18" charset="0"/>
              </a:rPr>
              <a:t>	</a:t>
            </a:r>
          </a:p>
          <a:p>
            <a:pPr marL="0" indent="0">
              <a:buNone/>
            </a:pPr>
            <a:r>
              <a:rPr lang="en-PH" sz="4000" dirty="0" smtClean="0"/>
              <a:t>If </a:t>
            </a:r>
            <a:r>
              <a:rPr lang="en-PH" sz="4000" dirty="0"/>
              <a:t>the feedback component</a:t>
            </a:r>
          </a:p>
          <a:p>
            <a:pPr marL="0" indent="0">
              <a:buNone/>
            </a:pPr>
            <a:r>
              <a:rPr lang="en-PH" sz="4000" dirty="0"/>
              <a:t>used is a capacitor, </a:t>
            </a:r>
            <a:r>
              <a:rPr lang="en-PH" sz="4000" dirty="0" smtClean="0"/>
              <a:t>the result</a:t>
            </a:r>
            <a:endParaRPr lang="en-PH" sz="4000" dirty="0"/>
          </a:p>
          <a:p>
            <a:pPr marL="0" indent="0">
              <a:buNone/>
            </a:pPr>
            <a:r>
              <a:rPr lang="en-PH" sz="4000" dirty="0"/>
              <a:t>i</a:t>
            </a:r>
            <a:r>
              <a:rPr lang="en-PH" sz="4000" dirty="0" smtClean="0"/>
              <a:t>s an integrator circuit. </a:t>
            </a:r>
            <a:r>
              <a:rPr lang="en-PH" sz="4000" dirty="0"/>
              <a:t> T</a:t>
            </a:r>
            <a:r>
              <a:rPr lang="en-PH" sz="4000" dirty="0" smtClean="0"/>
              <a:t>he</a:t>
            </a:r>
            <a:r>
              <a:rPr lang="en-PH" sz="4000" dirty="0"/>
              <a:t> </a:t>
            </a:r>
            <a:r>
              <a:rPr lang="en-PH" sz="4000" i="1" dirty="0"/>
              <a:t>integrator</a:t>
            </a:r>
            <a:r>
              <a:rPr lang="en-PH" sz="4000" dirty="0"/>
              <a:t> produces </a:t>
            </a:r>
            <a:r>
              <a:rPr lang="en-PH" sz="4000" dirty="0" smtClean="0"/>
              <a:t>a </a:t>
            </a:r>
          </a:p>
          <a:p>
            <a:pPr marL="0" indent="0">
              <a:buNone/>
            </a:pPr>
            <a:r>
              <a:rPr lang="en-PH" sz="4000" dirty="0" smtClean="0"/>
              <a:t>voltage </a:t>
            </a:r>
            <a:r>
              <a:rPr lang="en-PH" sz="4000" dirty="0"/>
              <a:t>output proportional to the product </a:t>
            </a:r>
            <a:endParaRPr lang="en-PH" sz="4000" dirty="0" smtClean="0"/>
          </a:p>
          <a:p>
            <a:pPr marL="0" indent="0">
              <a:buNone/>
            </a:pPr>
            <a:r>
              <a:rPr lang="en-PH" sz="4000" dirty="0" smtClean="0"/>
              <a:t>(</a:t>
            </a:r>
            <a:r>
              <a:rPr lang="en-PH" sz="4000" dirty="0"/>
              <a:t>multiplication) of the input voltage and </a:t>
            </a:r>
            <a:r>
              <a:rPr lang="en-PH" sz="4000" dirty="0" smtClean="0"/>
              <a:t>time.</a:t>
            </a:r>
            <a:endParaRPr lang="en-PH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0364" y="1272381"/>
            <a:ext cx="4734714" cy="300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008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5400" dirty="0" smtClean="0">
                <a:solidFill>
                  <a:srgbClr val="C00000"/>
                </a:solidFill>
              </a:rPr>
              <a:t>Practical Op-amp circuits</a:t>
            </a:r>
            <a:endParaRPr lang="en-PH" sz="54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3500"/>
            <a:ext cx="10515600" cy="51180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400" dirty="0">
                <a:solidFill>
                  <a:srgbClr val="C00000"/>
                </a:solidFill>
              </a:rPr>
              <a:t>Differentiator</a:t>
            </a:r>
            <a:r>
              <a:rPr lang="en-PH" sz="5400" i="1" dirty="0" smtClean="0">
                <a:solidFill>
                  <a:srgbClr val="C00000"/>
                </a:solidFill>
                <a:latin typeface="Cambria Math" panose="02040503050406030204" pitchFamily="18" charset="0"/>
              </a:rPr>
              <a:t> </a:t>
            </a:r>
          </a:p>
          <a:p>
            <a:pPr marL="0" indent="0">
              <a:buNone/>
            </a:pPr>
            <a:r>
              <a:rPr lang="en-PH" sz="5400" i="1" dirty="0" smtClean="0">
                <a:latin typeface="Cambria Math" panose="02040503050406030204" pitchFamily="18" charset="0"/>
              </a:rPr>
              <a:t> </a:t>
            </a:r>
            <a:r>
              <a:rPr lang="en-PH" sz="4000" i="1" dirty="0" smtClean="0">
                <a:latin typeface="Cambria Math" panose="02040503050406030204" pitchFamily="18" charset="0"/>
              </a:rPr>
              <a:t> </a:t>
            </a:r>
            <a:r>
              <a:rPr lang="en-PH" sz="5400" i="1" dirty="0" smtClean="0">
                <a:latin typeface="Cambria Math" panose="02040503050406030204" pitchFamily="18" charset="0"/>
              </a:rPr>
              <a:t>     </a:t>
            </a:r>
            <a:r>
              <a:rPr lang="en-PH" sz="4400" i="1" dirty="0" smtClean="0">
                <a:latin typeface="Cambria Math" panose="02040503050406030204" pitchFamily="18" charset="0"/>
              </a:rPr>
              <a:t>V</a:t>
            </a:r>
            <a:r>
              <a:rPr lang="en-PH" i="1" dirty="0" smtClean="0">
                <a:latin typeface="Cambria Math" panose="02040503050406030204" pitchFamily="18" charset="0"/>
              </a:rPr>
              <a:t>o</a:t>
            </a:r>
            <a:r>
              <a:rPr lang="en-PH" sz="4400" i="1" dirty="0" smtClean="0">
                <a:latin typeface="Cambria Math" panose="02040503050406030204" pitchFamily="18" charset="0"/>
              </a:rPr>
              <a:t> = -RCV</a:t>
            </a:r>
            <a:r>
              <a:rPr lang="en-PH" i="1" dirty="0" smtClean="0">
                <a:latin typeface="Cambria Math" panose="02040503050406030204" pitchFamily="18" charset="0"/>
              </a:rPr>
              <a:t>i</a:t>
            </a:r>
            <a:r>
              <a:rPr lang="en-PH" sz="4400" i="1" dirty="0" smtClean="0">
                <a:latin typeface="Cambria Math" panose="02040503050406030204" pitchFamily="18" charset="0"/>
              </a:rPr>
              <a:t>  </a:t>
            </a:r>
          </a:p>
          <a:p>
            <a:pPr marL="0" indent="0">
              <a:buNone/>
            </a:pPr>
            <a:r>
              <a:rPr lang="en-PH" sz="4400" dirty="0"/>
              <a:t>the </a:t>
            </a:r>
            <a:r>
              <a:rPr lang="en-PH" sz="4400" i="1" dirty="0"/>
              <a:t>differentiator </a:t>
            </a:r>
            <a:endParaRPr lang="en-PH" sz="4400" i="1" dirty="0" smtClean="0"/>
          </a:p>
          <a:p>
            <a:pPr marL="0" indent="0">
              <a:buNone/>
            </a:pPr>
            <a:r>
              <a:rPr lang="en-PH" sz="4400" dirty="0" smtClean="0"/>
              <a:t>produces </a:t>
            </a:r>
            <a:r>
              <a:rPr lang="en-PH" sz="4400" dirty="0"/>
              <a:t>a voltage output proportional to the input voltage’s rate of change.</a:t>
            </a:r>
            <a:r>
              <a:rPr lang="en-PH" sz="4400" i="1" dirty="0" smtClean="0">
                <a:latin typeface="Cambria Math" panose="02040503050406030204" pitchFamily="18" charset="0"/>
              </a:rPr>
              <a:t>     </a:t>
            </a:r>
            <a:r>
              <a:rPr lang="en-PH" sz="3200" i="1" dirty="0" smtClean="0">
                <a:latin typeface="Cambria Math" panose="02040503050406030204" pitchFamily="18" charset="0"/>
              </a:rPr>
              <a:t>	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037" y="1377949"/>
            <a:ext cx="442912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558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2100"/>
            <a:ext cx="10515600" cy="58848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5400" b="1" dirty="0"/>
              <a:t>OP AMP </a:t>
            </a:r>
            <a:r>
              <a:rPr lang="en-PH" sz="5400" b="1" dirty="0" smtClean="0"/>
              <a:t>APPLICATIONS</a:t>
            </a:r>
          </a:p>
          <a:p>
            <a:pPr marL="0" indent="0">
              <a:buNone/>
            </a:pPr>
            <a:r>
              <a:rPr lang="en-PH" sz="4400" dirty="0" smtClean="0"/>
              <a:t>CONSTANT GAIN MULTIPLIER</a:t>
            </a:r>
          </a:p>
          <a:p>
            <a:pPr marL="0" indent="0">
              <a:buNone/>
            </a:pPr>
            <a:r>
              <a:rPr lang="en-PH" sz="4000" dirty="0" smtClean="0">
                <a:solidFill>
                  <a:srgbClr val="C00000"/>
                </a:solidFill>
              </a:rPr>
              <a:t>Inverting Fixed Gain Amplifier</a:t>
            </a:r>
          </a:p>
          <a:p>
            <a:pPr marL="0" indent="0">
              <a:buNone/>
            </a:pPr>
            <a:r>
              <a:rPr lang="en-PH" sz="4000" dirty="0" smtClean="0"/>
              <a:t>One </a:t>
            </a:r>
            <a:r>
              <a:rPr lang="en-PH" sz="4000" dirty="0"/>
              <a:t>of the most </a:t>
            </a:r>
            <a:r>
              <a:rPr lang="en-PH" sz="4000" dirty="0" smtClean="0"/>
              <a:t>common</a:t>
            </a:r>
          </a:p>
          <a:p>
            <a:pPr marL="0" indent="0">
              <a:buNone/>
            </a:pPr>
            <a:r>
              <a:rPr lang="en-PH" sz="4000" dirty="0" smtClean="0"/>
              <a:t>op-amp </a:t>
            </a:r>
            <a:r>
              <a:rPr lang="en-PH" sz="4000" dirty="0"/>
              <a:t>circuits is the </a:t>
            </a:r>
            <a:r>
              <a:rPr lang="en-PH" sz="4000" dirty="0" smtClean="0"/>
              <a:t>inverting</a:t>
            </a:r>
          </a:p>
          <a:p>
            <a:pPr marL="0" indent="0">
              <a:buNone/>
            </a:pPr>
            <a:r>
              <a:rPr lang="en-PH" sz="4000" dirty="0" smtClean="0"/>
              <a:t>constant-gain </a:t>
            </a:r>
            <a:r>
              <a:rPr lang="en-PH" sz="4000" dirty="0"/>
              <a:t>multiplier</a:t>
            </a:r>
            <a:r>
              <a:rPr lang="en-PH" sz="4000" dirty="0" smtClean="0"/>
              <a:t>, which</a:t>
            </a:r>
          </a:p>
          <a:p>
            <a:pPr marL="0" indent="0">
              <a:buNone/>
            </a:pPr>
            <a:r>
              <a:rPr lang="en-PH" sz="4000" dirty="0" smtClean="0"/>
              <a:t>provides </a:t>
            </a:r>
            <a:r>
              <a:rPr lang="en-PH" sz="4000" dirty="0"/>
              <a:t>a precise </a:t>
            </a:r>
            <a:r>
              <a:rPr lang="en-PH" sz="4000" dirty="0" smtClean="0"/>
              <a:t>gain</a:t>
            </a:r>
          </a:p>
          <a:p>
            <a:pPr marL="0" indent="0">
              <a:buNone/>
            </a:pPr>
            <a:r>
              <a:rPr lang="en-PH" sz="4000" dirty="0" smtClean="0"/>
              <a:t>or amplification</a:t>
            </a:r>
            <a:r>
              <a:rPr lang="en-PH" sz="4000" dirty="0"/>
              <a:t>.</a:t>
            </a:r>
            <a:endParaRPr lang="en-P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125" y="5150433"/>
            <a:ext cx="1815475" cy="9629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212" y="2356911"/>
            <a:ext cx="4304025" cy="32750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1600" y="4085696"/>
            <a:ext cx="940751" cy="54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818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2100"/>
            <a:ext cx="10515600" cy="5884863"/>
          </a:xfrm>
        </p:spPr>
        <p:txBody>
          <a:bodyPr/>
          <a:lstStyle/>
          <a:p>
            <a:pPr marL="0" indent="0">
              <a:buNone/>
            </a:pPr>
            <a:r>
              <a:rPr lang="en-PH" sz="5400" b="1" dirty="0"/>
              <a:t>OP AMP APPLICATIONS</a:t>
            </a:r>
            <a:endParaRPr lang="en-PH" sz="5400" b="1" dirty="0" smtClean="0"/>
          </a:p>
          <a:p>
            <a:pPr marL="0" indent="0">
              <a:buNone/>
            </a:pPr>
            <a:r>
              <a:rPr lang="en-PH" sz="4000" dirty="0" smtClean="0">
                <a:solidFill>
                  <a:srgbClr val="C00000"/>
                </a:solidFill>
              </a:rPr>
              <a:t>Noninverting Fixed Gain Amplifier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8100" y="3628496"/>
            <a:ext cx="940751" cy="54231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933" y="2704571"/>
            <a:ext cx="1884892" cy="8699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4" y="2050520"/>
            <a:ext cx="5114926" cy="374780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722" y="4056510"/>
            <a:ext cx="1224676" cy="70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195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3501" y="3903531"/>
            <a:ext cx="1414462" cy="81941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5135" y="3340100"/>
            <a:ext cx="1936444" cy="97313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2100"/>
            <a:ext cx="10515600" cy="5884863"/>
          </a:xfrm>
        </p:spPr>
        <p:txBody>
          <a:bodyPr/>
          <a:lstStyle/>
          <a:p>
            <a:pPr marL="0" indent="0">
              <a:buNone/>
            </a:pPr>
            <a:r>
              <a:rPr lang="en-PH" sz="5400" b="1" dirty="0"/>
              <a:t>OP AMP APPLICATIONS</a:t>
            </a:r>
            <a:endParaRPr lang="en-PH" sz="5400" b="1" dirty="0" smtClean="0"/>
          </a:p>
          <a:p>
            <a:pPr marL="0" indent="0">
              <a:buNone/>
            </a:pPr>
            <a:r>
              <a:rPr lang="en-PH" sz="4000" dirty="0">
                <a:solidFill>
                  <a:srgbClr val="C00000"/>
                </a:solidFill>
              </a:rPr>
              <a:t>Multiple-Stage </a:t>
            </a:r>
            <a:r>
              <a:rPr lang="en-PH" sz="4000" dirty="0" smtClean="0">
                <a:solidFill>
                  <a:srgbClr val="C00000"/>
                </a:solidFill>
              </a:rPr>
              <a:t>Gains</a:t>
            </a:r>
          </a:p>
          <a:p>
            <a:pPr marL="0" indent="0">
              <a:buNone/>
            </a:pPr>
            <a:r>
              <a:rPr lang="en-PH" sz="4000" dirty="0"/>
              <a:t>When a number of stages are connected in series, the overall gain is the product of </a:t>
            </a:r>
            <a:r>
              <a:rPr lang="en-PH" sz="4000" dirty="0" smtClean="0"/>
              <a:t>the individual </a:t>
            </a:r>
            <a:r>
              <a:rPr lang="en-PH" sz="4000" dirty="0"/>
              <a:t>stage </a:t>
            </a:r>
            <a:r>
              <a:rPr lang="en-PH" sz="4000" dirty="0" smtClean="0"/>
              <a:t>gains. The </a:t>
            </a:r>
            <a:r>
              <a:rPr lang="en-PH" sz="4000" dirty="0"/>
              <a:t>first </a:t>
            </a:r>
            <a:r>
              <a:rPr lang="en-PH" sz="4000" dirty="0" smtClean="0"/>
              <a:t>stage is </a:t>
            </a:r>
            <a:r>
              <a:rPr lang="en-PH" sz="4000" dirty="0"/>
              <a:t>connected to provide noninverting </a:t>
            </a:r>
            <a:r>
              <a:rPr lang="en-PH" sz="4000" dirty="0" smtClean="0"/>
              <a:t>gain as given by                . </a:t>
            </a:r>
            <a:r>
              <a:rPr lang="en-PH" sz="4000" dirty="0"/>
              <a:t>The next two </a:t>
            </a:r>
            <a:r>
              <a:rPr lang="en-PH" sz="4000" dirty="0" smtClean="0"/>
              <a:t>stages provide </a:t>
            </a:r>
            <a:r>
              <a:rPr lang="en-PH" sz="4000" dirty="0"/>
              <a:t>an inverting gain </a:t>
            </a:r>
            <a:r>
              <a:rPr lang="en-PH" sz="4000" dirty="0" smtClean="0"/>
              <a:t>given by</a:t>
            </a:r>
          </a:p>
          <a:p>
            <a:pPr marL="0" indent="0">
              <a:buNone/>
            </a:pPr>
            <a:r>
              <a:rPr lang="en-PH" sz="4000" dirty="0"/>
              <a:t>	</a:t>
            </a:r>
            <a:r>
              <a:rPr lang="en-PH" sz="4000" dirty="0" smtClean="0"/>
              <a:t>		</a:t>
            </a:r>
            <a:r>
              <a:rPr lang="en-PH" sz="4000" dirty="0"/>
              <a:t>A </a:t>
            </a:r>
            <a:r>
              <a:rPr lang="en-PH" sz="4000" dirty="0" smtClean="0"/>
              <a:t>= A</a:t>
            </a:r>
            <a:r>
              <a:rPr lang="en-PH" sz="2400" dirty="0" smtClean="0"/>
              <a:t>1</a:t>
            </a:r>
            <a:r>
              <a:rPr lang="en-PH" sz="4000" dirty="0" smtClean="0"/>
              <a:t>A</a:t>
            </a:r>
            <a:r>
              <a:rPr lang="en-PH" sz="2400" dirty="0"/>
              <a:t>2</a:t>
            </a:r>
            <a:r>
              <a:rPr lang="en-PH" sz="4000" dirty="0" smtClean="0"/>
              <a:t>A</a:t>
            </a:r>
            <a:r>
              <a:rPr lang="en-PH" sz="2400" dirty="0"/>
              <a:t>3</a:t>
            </a:r>
            <a:r>
              <a:rPr lang="en-PH" sz="4000" dirty="0" smtClean="0"/>
              <a:t> </a:t>
            </a:r>
          </a:p>
          <a:p>
            <a:pPr marL="0" indent="0">
              <a:buNone/>
            </a:pPr>
            <a:r>
              <a:rPr lang="pt-BR" sz="3600" dirty="0"/>
              <a:t>where A</a:t>
            </a:r>
            <a:r>
              <a:rPr lang="pt-BR" sz="2400" dirty="0"/>
              <a:t>1</a:t>
            </a:r>
            <a:r>
              <a:rPr lang="pt-BR" sz="3600" dirty="0"/>
              <a:t> </a:t>
            </a:r>
            <a:r>
              <a:rPr lang="pt-BR" sz="3600" dirty="0" smtClean="0"/>
              <a:t>= </a:t>
            </a:r>
            <a:r>
              <a:rPr lang="pt-BR" sz="3600" dirty="0"/>
              <a:t>1 </a:t>
            </a:r>
            <a:r>
              <a:rPr lang="pt-BR" sz="3600" dirty="0" smtClean="0"/>
              <a:t>+ R</a:t>
            </a:r>
            <a:r>
              <a:rPr lang="pt-BR" sz="2400" dirty="0" smtClean="0"/>
              <a:t>f</a:t>
            </a:r>
            <a:r>
              <a:rPr lang="pt-BR" sz="3600" dirty="0" smtClean="0"/>
              <a:t>/R</a:t>
            </a:r>
            <a:r>
              <a:rPr lang="pt-BR" sz="2400" dirty="0" smtClean="0"/>
              <a:t>1</a:t>
            </a:r>
            <a:r>
              <a:rPr lang="pt-BR" sz="3600" dirty="0"/>
              <a:t>, </a:t>
            </a:r>
            <a:r>
              <a:rPr lang="pt-BR" sz="3600" dirty="0" smtClean="0"/>
              <a:t>A</a:t>
            </a:r>
            <a:r>
              <a:rPr lang="pt-BR" sz="2400" dirty="0" smtClean="0"/>
              <a:t>2</a:t>
            </a:r>
            <a:r>
              <a:rPr lang="pt-BR" sz="3600" dirty="0" smtClean="0"/>
              <a:t> = -R</a:t>
            </a:r>
            <a:r>
              <a:rPr lang="pt-BR" sz="2400" dirty="0" smtClean="0"/>
              <a:t>f</a:t>
            </a:r>
            <a:r>
              <a:rPr lang="pt-BR" sz="3600" dirty="0" smtClean="0"/>
              <a:t>/R</a:t>
            </a:r>
            <a:r>
              <a:rPr lang="pt-BR" sz="2400" dirty="0" smtClean="0"/>
              <a:t>2</a:t>
            </a:r>
            <a:r>
              <a:rPr lang="pt-BR" sz="3600" dirty="0"/>
              <a:t>, and </a:t>
            </a:r>
            <a:r>
              <a:rPr lang="pt-BR" sz="3600" dirty="0" smtClean="0"/>
              <a:t>A</a:t>
            </a:r>
            <a:r>
              <a:rPr lang="pt-BR" sz="2400" dirty="0" smtClean="0"/>
              <a:t>3 </a:t>
            </a:r>
            <a:r>
              <a:rPr lang="pt-BR" sz="3600" dirty="0" smtClean="0"/>
              <a:t>= -R</a:t>
            </a:r>
            <a:r>
              <a:rPr lang="pt-BR" sz="2400" dirty="0" smtClean="0"/>
              <a:t>f</a:t>
            </a:r>
            <a:r>
              <a:rPr lang="pt-BR" sz="3600" dirty="0" smtClean="0"/>
              <a:t>/R</a:t>
            </a:r>
            <a:r>
              <a:rPr lang="pt-BR" sz="2400" dirty="0" smtClean="0"/>
              <a:t>3</a:t>
            </a:r>
            <a:r>
              <a:rPr lang="pt-BR" sz="3600" dirty="0"/>
              <a:t>.</a:t>
            </a: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366018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1945" y="1306563"/>
            <a:ext cx="10808108" cy="334163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12900" y="4899074"/>
            <a:ext cx="7975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PH" sz="2800" dirty="0"/>
              <a:t>Constant-gain connection with multiple stages</a:t>
            </a:r>
          </a:p>
        </p:txBody>
      </p:sp>
    </p:spTree>
    <p:extLst>
      <p:ext uri="{BB962C8B-B14F-4D97-AF65-F5344CB8AC3E}">
        <p14:creationId xmlns:p14="http://schemas.microsoft.com/office/powerpoint/2010/main" val="3179430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330200"/>
            <a:ext cx="11036300" cy="6096000"/>
          </a:xfrm>
        </p:spPr>
        <p:txBody>
          <a:bodyPr/>
          <a:lstStyle/>
          <a:p>
            <a:pPr marL="0" indent="0">
              <a:buNone/>
            </a:pPr>
            <a:r>
              <a:rPr lang="en-PH" sz="4400" dirty="0">
                <a:solidFill>
                  <a:srgbClr val="C00000"/>
                </a:solidFill>
              </a:rPr>
              <a:t>Voltage </a:t>
            </a:r>
            <a:r>
              <a:rPr lang="en-PH" sz="4400" dirty="0" smtClean="0">
                <a:solidFill>
                  <a:srgbClr val="C00000"/>
                </a:solidFill>
              </a:rPr>
              <a:t>Subtraction</a:t>
            </a:r>
          </a:p>
          <a:p>
            <a:pPr marL="0" indent="0">
              <a:buNone/>
            </a:pPr>
            <a:r>
              <a:rPr lang="en-PH" sz="4400" dirty="0"/>
              <a:t>Two signals can be subtracted, one from the other, in a number of ways. </a:t>
            </a:r>
            <a:r>
              <a:rPr lang="en-PH" sz="4400" dirty="0" smtClean="0"/>
              <a:t>The figure shows </a:t>
            </a:r>
            <a:r>
              <a:rPr lang="en-PH" sz="4400" dirty="0"/>
              <a:t>two op-amp stages used to provide subtraction of input </a:t>
            </a:r>
            <a:r>
              <a:rPr lang="en-PH" sz="4400" dirty="0" smtClean="0"/>
              <a:t>signals.</a:t>
            </a:r>
          </a:p>
          <a:p>
            <a:pPr marL="0" indent="0">
              <a:buNone/>
            </a:pPr>
            <a:endParaRPr lang="en-P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850" y="3133725"/>
            <a:ext cx="7315200" cy="2857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15" y="3873500"/>
            <a:ext cx="4279135" cy="200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412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330200"/>
            <a:ext cx="11036300" cy="6096000"/>
          </a:xfrm>
        </p:spPr>
        <p:txBody>
          <a:bodyPr/>
          <a:lstStyle/>
          <a:p>
            <a:pPr marL="0" indent="0">
              <a:buNone/>
            </a:pPr>
            <a:r>
              <a:rPr lang="en-PH" sz="4400" dirty="0">
                <a:solidFill>
                  <a:srgbClr val="C00000"/>
                </a:solidFill>
              </a:rPr>
              <a:t>Voltage </a:t>
            </a:r>
            <a:r>
              <a:rPr lang="en-PH" sz="4400" dirty="0" smtClean="0">
                <a:solidFill>
                  <a:srgbClr val="C00000"/>
                </a:solidFill>
              </a:rPr>
              <a:t>Subtraction</a:t>
            </a:r>
          </a:p>
          <a:p>
            <a:pPr marL="0" indent="0">
              <a:buNone/>
            </a:pPr>
            <a:r>
              <a:rPr lang="en-PH" sz="4400" dirty="0"/>
              <a:t>Another connection to provide subtraction of two signals </a:t>
            </a:r>
            <a:r>
              <a:rPr lang="en-PH" sz="4400" dirty="0" smtClean="0"/>
              <a:t>uses </a:t>
            </a:r>
            <a:r>
              <a:rPr lang="en-PH" sz="4400" dirty="0"/>
              <a:t>only one op-amp stage to provide subtracting two input </a:t>
            </a:r>
            <a:r>
              <a:rPr lang="en-PH" sz="4400" dirty="0" smtClean="0"/>
              <a:t>signals. Using </a:t>
            </a:r>
          </a:p>
          <a:p>
            <a:pPr marL="0" indent="0">
              <a:buNone/>
            </a:pPr>
            <a:r>
              <a:rPr lang="en-PH" sz="4400" dirty="0" smtClean="0"/>
              <a:t>superposition </a:t>
            </a:r>
            <a:r>
              <a:rPr lang="en-PH" sz="4400" dirty="0"/>
              <a:t>the output </a:t>
            </a:r>
            <a:endParaRPr lang="en-PH" sz="4400" dirty="0" smtClean="0"/>
          </a:p>
          <a:p>
            <a:pPr marL="0" indent="0">
              <a:buNone/>
            </a:pPr>
            <a:r>
              <a:rPr lang="en-PH" sz="4400" dirty="0" smtClean="0"/>
              <a:t>can </a:t>
            </a:r>
            <a:r>
              <a:rPr lang="en-PH" sz="4400" dirty="0"/>
              <a:t>be shown to </a:t>
            </a:r>
            <a:r>
              <a:rPr lang="en-PH" sz="4400" dirty="0" smtClean="0"/>
              <a:t>be</a:t>
            </a:r>
            <a:r>
              <a:rPr lang="en-PH" sz="4400" dirty="0"/>
              <a:t>:</a:t>
            </a:r>
            <a:endParaRPr lang="en-PH" sz="4400" dirty="0" smtClean="0"/>
          </a:p>
          <a:p>
            <a:pPr marL="0" indent="0">
              <a:buNone/>
            </a:pPr>
            <a:endParaRPr lang="en-PH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162" y="2949871"/>
            <a:ext cx="4579938" cy="31715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" y="4535635"/>
            <a:ext cx="6076517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18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2900"/>
            <a:ext cx="10515600" cy="5834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400" dirty="0" smtClean="0">
                <a:solidFill>
                  <a:srgbClr val="C00000"/>
                </a:solidFill>
              </a:rPr>
              <a:t>VOLTAGE BUFFER</a:t>
            </a:r>
          </a:p>
          <a:p>
            <a:pPr marL="0" indent="0">
              <a:buNone/>
            </a:pPr>
            <a:r>
              <a:rPr lang="en-PH" sz="4400" dirty="0"/>
              <a:t>A voltage buffer circuit provides a means of isolating an input signal from a load </a:t>
            </a:r>
            <a:r>
              <a:rPr lang="en-PH" sz="4400" dirty="0" smtClean="0"/>
              <a:t>by using </a:t>
            </a:r>
            <a:r>
              <a:rPr lang="en-PH" sz="4400" dirty="0"/>
              <a:t>a stage having unity voltage gain, with no phase or polarity inversion, and </a:t>
            </a:r>
            <a:r>
              <a:rPr lang="en-PH" sz="4400" dirty="0" smtClean="0"/>
              <a:t>acting as </a:t>
            </a:r>
            <a:r>
              <a:rPr lang="en-PH" sz="4400" dirty="0"/>
              <a:t>an ideal circuit with very high input impedance and low output impedance.</a:t>
            </a:r>
            <a:endParaRPr lang="en-PH" sz="4400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624" y="5022761"/>
            <a:ext cx="2314575" cy="97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50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2900"/>
            <a:ext cx="10515600" cy="5834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400" dirty="0" smtClean="0"/>
              <a:t>The advantage </a:t>
            </a:r>
            <a:r>
              <a:rPr lang="en-PH" sz="4400" dirty="0"/>
              <a:t>of </a:t>
            </a:r>
            <a:r>
              <a:rPr lang="en-PH" sz="4400" dirty="0" smtClean="0"/>
              <a:t>this </a:t>
            </a:r>
          </a:p>
          <a:p>
            <a:pPr marL="0" indent="0">
              <a:buNone/>
            </a:pPr>
            <a:r>
              <a:rPr lang="en-PH" sz="4400" dirty="0" smtClean="0"/>
              <a:t>connection </a:t>
            </a:r>
            <a:r>
              <a:rPr lang="en-PH" sz="4400" dirty="0"/>
              <a:t>is that the </a:t>
            </a:r>
            <a:r>
              <a:rPr lang="en-PH" sz="4400" dirty="0" smtClean="0"/>
              <a:t>load </a:t>
            </a:r>
          </a:p>
          <a:p>
            <a:pPr marL="0" indent="0">
              <a:buNone/>
            </a:pPr>
            <a:r>
              <a:rPr lang="en-PH" sz="4400" dirty="0" smtClean="0"/>
              <a:t>connected across one </a:t>
            </a:r>
          </a:p>
          <a:p>
            <a:pPr marL="0" indent="0">
              <a:buNone/>
            </a:pPr>
            <a:r>
              <a:rPr lang="en-PH" sz="4400" dirty="0" smtClean="0"/>
              <a:t>output </a:t>
            </a:r>
            <a:r>
              <a:rPr lang="en-PH" sz="4400" dirty="0"/>
              <a:t>has no </a:t>
            </a:r>
            <a:r>
              <a:rPr lang="en-PH" sz="4400" dirty="0" smtClean="0"/>
              <a:t>or little</a:t>
            </a:r>
          </a:p>
          <a:p>
            <a:pPr marL="0" indent="0">
              <a:buNone/>
            </a:pPr>
            <a:r>
              <a:rPr lang="en-PH" sz="4400" dirty="0" smtClean="0"/>
              <a:t>effect </a:t>
            </a:r>
            <a:r>
              <a:rPr lang="en-PH" sz="4400" dirty="0"/>
              <a:t>on the other output. </a:t>
            </a:r>
            <a:endParaRPr lang="en-PH" sz="4400" dirty="0" smtClean="0"/>
          </a:p>
          <a:p>
            <a:pPr marL="0" indent="0">
              <a:buNone/>
            </a:pPr>
            <a:r>
              <a:rPr lang="en-PH" sz="4400" dirty="0"/>
              <a:t>T</a:t>
            </a:r>
            <a:r>
              <a:rPr lang="en-PH" sz="4400" dirty="0" smtClean="0"/>
              <a:t>he </a:t>
            </a:r>
            <a:r>
              <a:rPr lang="en-PH" sz="4400" dirty="0"/>
              <a:t>outputs are </a:t>
            </a:r>
            <a:r>
              <a:rPr lang="en-PH" sz="4400" dirty="0" smtClean="0"/>
              <a:t>buffered</a:t>
            </a:r>
          </a:p>
          <a:p>
            <a:pPr marL="0" indent="0">
              <a:buNone/>
            </a:pPr>
            <a:r>
              <a:rPr lang="en-PH" sz="4400" dirty="0" smtClean="0"/>
              <a:t>or </a:t>
            </a:r>
            <a:r>
              <a:rPr lang="en-PH" sz="4400" dirty="0"/>
              <a:t>isolated </a:t>
            </a:r>
            <a:r>
              <a:rPr lang="en-PH" sz="4400" dirty="0" smtClean="0"/>
              <a:t>from each </a:t>
            </a:r>
            <a:r>
              <a:rPr lang="en-PH" sz="4400" dirty="0"/>
              <a:t>other.</a:t>
            </a:r>
            <a:endParaRPr lang="en-PH" sz="4400" dirty="0">
              <a:solidFill>
                <a:srgbClr val="C00000"/>
              </a:solidFill>
            </a:endParaRPr>
          </a:p>
        </p:txBody>
      </p:sp>
      <p:pic>
        <p:nvPicPr>
          <p:cNvPr id="5" name="Content Placeholder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087" y="769143"/>
            <a:ext cx="3933825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24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b="8414"/>
          <a:stretch/>
        </p:blipFill>
        <p:spPr>
          <a:xfrm>
            <a:off x="7171315" y="1534074"/>
            <a:ext cx="4634991" cy="2902987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95300" y="482600"/>
            <a:ext cx="11196706" cy="56943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PH" sz="4400" b="1" dirty="0" smtClean="0"/>
              <a:t>CONTROLLED SOURCES</a:t>
            </a:r>
          </a:p>
          <a:p>
            <a:pPr marL="0" indent="0">
              <a:buNone/>
            </a:pPr>
            <a:r>
              <a:rPr lang="en-PH" sz="4400" dirty="0">
                <a:solidFill>
                  <a:srgbClr val="C00000"/>
                </a:solidFill>
              </a:rPr>
              <a:t>Voltage-Controlled Voltage </a:t>
            </a:r>
            <a:r>
              <a:rPr lang="en-PH" sz="4400" dirty="0" smtClean="0">
                <a:solidFill>
                  <a:srgbClr val="C00000"/>
                </a:solidFill>
              </a:rPr>
              <a:t>Source</a:t>
            </a:r>
          </a:p>
          <a:p>
            <a:pPr marL="0" indent="0">
              <a:buNone/>
            </a:pPr>
            <a:r>
              <a:rPr lang="en-PH" sz="4400" dirty="0"/>
              <a:t>Two versions of the circuit are</a:t>
            </a:r>
          </a:p>
          <a:p>
            <a:pPr marL="0" indent="0">
              <a:buNone/>
            </a:pPr>
            <a:r>
              <a:rPr lang="en-PH" sz="4400" dirty="0"/>
              <a:t>shown, one using the inverting</a:t>
            </a:r>
          </a:p>
          <a:p>
            <a:pPr marL="0" indent="0">
              <a:buNone/>
            </a:pPr>
            <a:r>
              <a:rPr lang="en-PH" sz="4400" dirty="0"/>
              <a:t>input, the other the </a:t>
            </a:r>
            <a:r>
              <a:rPr lang="en-PH" sz="4400" dirty="0" smtClean="0"/>
              <a:t>non-</a:t>
            </a:r>
            <a:endParaRPr lang="en-PH" sz="4400" dirty="0"/>
          </a:p>
          <a:p>
            <a:pPr marL="0" indent="0">
              <a:buNone/>
            </a:pPr>
            <a:r>
              <a:rPr lang="en-PH" sz="4400" dirty="0"/>
              <a:t>inverting input</a:t>
            </a:r>
            <a:r>
              <a:rPr lang="en-PH" sz="4400" dirty="0" smtClean="0"/>
              <a:t>. An </a:t>
            </a:r>
            <a:r>
              <a:rPr lang="en-PH" sz="4400" dirty="0"/>
              <a:t>ideal form </a:t>
            </a:r>
            <a:endParaRPr lang="en-PH" sz="4400" dirty="0" smtClean="0"/>
          </a:p>
          <a:p>
            <a:pPr marL="0" indent="0">
              <a:buNone/>
            </a:pPr>
            <a:r>
              <a:rPr lang="en-PH" sz="4400" dirty="0" smtClean="0"/>
              <a:t>of </a:t>
            </a:r>
            <a:r>
              <a:rPr lang="en-PH" sz="4400" dirty="0"/>
              <a:t>a </a:t>
            </a:r>
            <a:r>
              <a:rPr lang="en-PH" sz="4400" dirty="0" smtClean="0"/>
              <a:t>voltage source </a:t>
            </a:r>
            <a:r>
              <a:rPr lang="en-PH" sz="4400" dirty="0"/>
              <a:t>whose </a:t>
            </a:r>
            <a:endParaRPr lang="en-PH" sz="4400" dirty="0" smtClean="0"/>
          </a:p>
          <a:p>
            <a:pPr marL="0" indent="0">
              <a:buNone/>
            </a:pPr>
            <a:r>
              <a:rPr lang="en-PH" sz="4400" dirty="0" smtClean="0"/>
              <a:t>output </a:t>
            </a:r>
            <a:r>
              <a:rPr lang="en-PH" sz="4400" i="1" dirty="0"/>
              <a:t>V</a:t>
            </a:r>
            <a:r>
              <a:rPr lang="en-PH" sz="3600" i="1" dirty="0"/>
              <a:t>o</a:t>
            </a:r>
            <a:r>
              <a:rPr lang="en-PH" sz="4400" i="1" dirty="0"/>
              <a:t> </a:t>
            </a:r>
            <a:r>
              <a:rPr lang="en-PH" sz="4400" dirty="0" smtClean="0"/>
              <a:t>is controlled </a:t>
            </a:r>
            <a:r>
              <a:rPr lang="en-PH" sz="4400" dirty="0"/>
              <a:t>by </a:t>
            </a:r>
            <a:r>
              <a:rPr lang="en-PH" sz="4400" dirty="0" smtClean="0"/>
              <a:t>an</a:t>
            </a:r>
          </a:p>
          <a:p>
            <a:pPr marL="0" indent="0">
              <a:buNone/>
            </a:pPr>
            <a:r>
              <a:rPr lang="en-PH" sz="4400" dirty="0"/>
              <a:t>i</a:t>
            </a:r>
            <a:r>
              <a:rPr lang="en-PH" sz="4400" dirty="0" smtClean="0"/>
              <a:t>nput voltage </a:t>
            </a:r>
            <a:r>
              <a:rPr lang="en-PH" sz="4400" i="1" dirty="0" smtClean="0"/>
              <a:t>V</a:t>
            </a:r>
            <a:r>
              <a:rPr lang="en-PH" sz="3600" dirty="0" smtClean="0"/>
              <a:t>1</a:t>
            </a:r>
            <a:r>
              <a:rPr lang="en-PH" sz="4400" dirty="0" smtClean="0"/>
              <a:t>. </a:t>
            </a:r>
            <a:endParaRPr lang="en-PH" sz="4400" b="1" dirty="0">
              <a:solidFill>
                <a:srgbClr val="C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100" y="4803774"/>
            <a:ext cx="3249158" cy="113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031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82600" y="482600"/>
            <a:ext cx="11112500" cy="5694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400" b="1" dirty="0" smtClean="0"/>
              <a:t>CONTROLLED SOURCES</a:t>
            </a:r>
          </a:p>
          <a:p>
            <a:pPr marL="0" indent="0">
              <a:buNone/>
            </a:pPr>
            <a:r>
              <a:rPr lang="en-PH" sz="4400" dirty="0">
                <a:solidFill>
                  <a:srgbClr val="C00000"/>
                </a:solidFill>
              </a:rPr>
              <a:t>Voltage-Controlled Voltage </a:t>
            </a:r>
            <a:r>
              <a:rPr lang="en-PH" sz="4400" dirty="0" smtClean="0">
                <a:solidFill>
                  <a:srgbClr val="C00000"/>
                </a:solidFill>
              </a:rPr>
              <a:t>Source</a:t>
            </a:r>
          </a:p>
          <a:p>
            <a:pPr marL="0" indent="0">
              <a:buNone/>
            </a:pPr>
            <a:r>
              <a:rPr lang="en-PH" sz="4400" dirty="0"/>
              <a:t>The output </a:t>
            </a:r>
            <a:r>
              <a:rPr lang="en-PH" sz="4400" dirty="0" smtClean="0"/>
              <a:t>voltage </a:t>
            </a:r>
            <a:r>
              <a:rPr lang="en-PH" sz="4400" dirty="0"/>
              <a:t>is </a:t>
            </a:r>
            <a:endParaRPr lang="en-PH" sz="4400" dirty="0" smtClean="0"/>
          </a:p>
          <a:p>
            <a:pPr marL="0" indent="0">
              <a:buNone/>
            </a:pPr>
            <a:r>
              <a:rPr lang="en-PH" sz="4400" dirty="0" smtClean="0"/>
              <a:t>seen </a:t>
            </a:r>
            <a:r>
              <a:rPr lang="en-PH" sz="4400" dirty="0"/>
              <a:t>to </a:t>
            </a:r>
            <a:r>
              <a:rPr lang="en-PH" sz="4400" dirty="0" smtClean="0"/>
              <a:t>be </a:t>
            </a:r>
            <a:r>
              <a:rPr lang="en-PH" sz="4400" dirty="0"/>
              <a:t>dependent </a:t>
            </a:r>
            <a:endParaRPr lang="en-PH" sz="4400" dirty="0" smtClean="0"/>
          </a:p>
          <a:p>
            <a:pPr marL="0" indent="0">
              <a:buNone/>
            </a:pPr>
            <a:r>
              <a:rPr lang="en-PH" sz="4400" dirty="0"/>
              <a:t>o</a:t>
            </a:r>
            <a:r>
              <a:rPr lang="en-PH" sz="4400" dirty="0" smtClean="0"/>
              <a:t>n the </a:t>
            </a:r>
            <a:r>
              <a:rPr lang="en-PH" sz="4400" dirty="0"/>
              <a:t>input </a:t>
            </a:r>
            <a:r>
              <a:rPr lang="en-PH" sz="4400" dirty="0" smtClean="0"/>
              <a:t>voltage</a:t>
            </a:r>
          </a:p>
          <a:p>
            <a:pPr marL="0" indent="0">
              <a:buNone/>
            </a:pPr>
            <a:r>
              <a:rPr lang="en-PH" sz="4400" dirty="0" smtClean="0"/>
              <a:t>(</a:t>
            </a:r>
            <a:r>
              <a:rPr lang="en-PH" sz="4400" dirty="0" smtClean="0"/>
              <a:t>times </a:t>
            </a:r>
            <a:r>
              <a:rPr lang="en-PH" sz="4400" dirty="0"/>
              <a:t>a scale factor </a:t>
            </a:r>
            <a:r>
              <a:rPr lang="en-PH" sz="4400" i="1" dirty="0"/>
              <a:t>k</a:t>
            </a:r>
            <a:r>
              <a:rPr lang="en-PH" sz="4400" dirty="0"/>
              <a:t>).</a:t>
            </a:r>
            <a:endParaRPr lang="en-PH" sz="44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PH" sz="4400" dirty="0" smtClean="0">
              <a:solidFill>
                <a:srgbClr val="C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100" y="4918472"/>
            <a:ext cx="4025680" cy="121609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972" y="1933574"/>
            <a:ext cx="5122803" cy="282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48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2900"/>
            <a:ext cx="10515600" cy="5834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400" dirty="0">
                <a:solidFill>
                  <a:srgbClr val="C00000"/>
                </a:solidFill>
              </a:rPr>
              <a:t>Voltage-Controlled Current </a:t>
            </a:r>
            <a:r>
              <a:rPr lang="en-PH" sz="4400" dirty="0" smtClean="0">
                <a:solidFill>
                  <a:srgbClr val="C00000"/>
                </a:solidFill>
              </a:rPr>
              <a:t>Source</a:t>
            </a:r>
          </a:p>
          <a:p>
            <a:pPr marL="0" indent="0">
              <a:buNone/>
            </a:pPr>
            <a:r>
              <a:rPr lang="en-PH" sz="4400" dirty="0"/>
              <a:t>An ideal form of circuit providing an output current controlled by an input </a:t>
            </a:r>
            <a:r>
              <a:rPr lang="en-PH" sz="4400" dirty="0" smtClean="0"/>
              <a:t>voltage. </a:t>
            </a:r>
            <a:r>
              <a:rPr lang="en-PH" sz="4400" dirty="0"/>
              <a:t>The output current is dependent on the input </a:t>
            </a:r>
            <a:r>
              <a:rPr lang="en-PH" sz="4400" dirty="0" smtClean="0"/>
              <a:t>voltage.</a:t>
            </a:r>
          </a:p>
          <a:p>
            <a:pPr marL="0" indent="0">
              <a:buNone/>
            </a:pPr>
            <a:endParaRPr lang="en-PH" sz="4400" dirty="0">
              <a:solidFill>
                <a:srgbClr val="C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3018761"/>
            <a:ext cx="5699863" cy="31582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1037" y="3987801"/>
            <a:ext cx="2378805" cy="109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023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2900"/>
            <a:ext cx="10515600" cy="5834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400" dirty="0">
                <a:solidFill>
                  <a:srgbClr val="C00000"/>
                </a:solidFill>
              </a:rPr>
              <a:t>Current-Controlled Voltage </a:t>
            </a:r>
            <a:r>
              <a:rPr lang="en-PH" sz="4400" dirty="0" smtClean="0">
                <a:solidFill>
                  <a:srgbClr val="C00000"/>
                </a:solidFill>
              </a:rPr>
              <a:t>Source</a:t>
            </a:r>
          </a:p>
          <a:p>
            <a:pPr marL="0" indent="0">
              <a:buNone/>
            </a:pPr>
            <a:r>
              <a:rPr lang="en-PH" sz="4400" dirty="0"/>
              <a:t>The output voltage is dependent on the input </a:t>
            </a:r>
            <a:r>
              <a:rPr lang="en-PH" sz="4400" dirty="0" smtClean="0"/>
              <a:t>current.</a:t>
            </a:r>
            <a:endParaRPr lang="en-PH" sz="4400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466" y="2282025"/>
            <a:ext cx="5039454" cy="28106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437" y="3175000"/>
            <a:ext cx="2606150" cy="62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601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2900"/>
            <a:ext cx="10515600" cy="5834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400" dirty="0">
                <a:solidFill>
                  <a:srgbClr val="C00000"/>
                </a:solidFill>
              </a:rPr>
              <a:t>Current-Controlled Current </a:t>
            </a:r>
            <a:r>
              <a:rPr lang="en-PH" sz="4400" dirty="0" smtClean="0">
                <a:solidFill>
                  <a:srgbClr val="C00000"/>
                </a:solidFill>
              </a:rPr>
              <a:t>Source</a:t>
            </a:r>
          </a:p>
          <a:p>
            <a:pPr marL="0" indent="0">
              <a:buNone/>
            </a:pPr>
            <a:r>
              <a:rPr lang="en-PH" sz="4400" dirty="0" smtClean="0"/>
              <a:t>An output </a:t>
            </a:r>
            <a:r>
              <a:rPr lang="en-PH" sz="4400" dirty="0"/>
              <a:t>current is provided </a:t>
            </a:r>
            <a:r>
              <a:rPr lang="en-PH" sz="4400" dirty="0" smtClean="0"/>
              <a:t>dependent on </a:t>
            </a:r>
            <a:r>
              <a:rPr lang="en-PH" sz="4400" dirty="0"/>
              <a:t>the input current.</a:t>
            </a:r>
            <a:endParaRPr lang="en-PH" sz="4400" dirty="0">
              <a:solidFill>
                <a:srgbClr val="C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556" y="2291953"/>
            <a:ext cx="4561331" cy="36464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43" y="3731816"/>
            <a:ext cx="5624286" cy="98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169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dirty="0"/>
              <a:t>1. An inverting amplifier have a gain = - 8 &amp; a 10 </a:t>
            </a:r>
            <a:r>
              <a:rPr lang="en-PH" dirty="0" err="1" smtClean="0"/>
              <a:t>kΩ</a:t>
            </a:r>
            <a:r>
              <a:rPr lang="en-PH" dirty="0" smtClean="0"/>
              <a:t> </a:t>
            </a:r>
            <a:r>
              <a:rPr lang="en-PH" dirty="0"/>
              <a:t>input impedance. </a:t>
            </a:r>
            <a:r>
              <a:rPr lang="en-PH" dirty="0" smtClean="0"/>
              <a:t>What </a:t>
            </a:r>
            <a:r>
              <a:rPr lang="en-PH" dirty="0"/>
              <a:t>is the value of the feedback resistor for the circuit?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sz="4000" dirty="0" smtClean="0">
                <a:latin typeface="+mj-lt"/>
                <a:ea typeface="+mj-ea"/>
                <a:cs typeface="+mj-cs"/>
              </a:rPr>
              <a:t>2. Calculate the output voltage.</a:t>
            </a:r>
          </a:p>
          <a:p>
            <a:pPr marL="0" indent="0">
              <a:buNone/>
            </a:pPr>
            <a:endParaRPr lang="en-PH" sz="4800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2423467"/>
            <a:ext cx="6730999" cy="42206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2400" y="2872431"/>
            <a:ext cx="17272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PH" sz="2400" dirty="0" smtClean="0"/>
              <a:t>R</a:t>
            </a:r>
            <a:r>
              <a:rPr lang="en-PH" dirty="0" smtClean="0"/>
              <a:t>f </a:t>
            </a:r>
            <a:r>
              <a:rPr lang="en-PH" sz="2400" dirty="0" smtClean="0"/>
              <a:t>= 330 </a:t>
            </a:r>
            <a:r>
              <a:rPr lang="en-PH" sz="2400" dirty="0" err="1" smtClean="0"/>
              <a:t>kΩ</a:t>
            </a:r>
            <a:endParaRPr lang="en-PH" dirty="0"/>
          </a:p>
        </p:txBody>
      </p:sp>
      <p:sp>
        <p:nvSpPr>
          <p:cNvPr id="9" name="TextBox 8"/>
          <p:cNvSpPr txBox="1"/>
          <p:nvPr/>
        </p:nvSpPr>
        <p:spPr>
          <a:xfrm>
            <a:off x="736602" y="3190879"/>
            <a:ext cx="17272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PH" sz="2400" dirty="0" smtClean="0"/>
              <a:t>V</a:t>
            </a:r>
            <a:r>
              <a:rPr lang="en-PH" dirty="0" smtClean="0"/>
              <a:t>1 </a:t>
            </a:r>
            <a:r>
              <a:rPr lang="en-PH" sz="2400" dirty="0" smtClean="0"/>
              <a:t>= - 0.2 V</a:t>
            </a:r>
            <a:endParaRPr lang="en-PH" dirty="0"/>
          </a:p>
        </p:txBody>
      </p:sp>
      <p:sp>
        <p:nvSpPr>
          <p:cNvPr id="10" name="TextBox 9"/>
          <p:cNvSpPr txBox="1"/>
          <p:nvPr/>
        </p:nvSpPr>
        <p:spPr>
          <a:xfrm>
            <a:off x="2463802" y="2806698"/>
            <a:ext cx="147319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PH" sz="2400" dirty="0" smtClean="0"/>
              <a:t>R</a:t>
            </a:r>
            <a:r>
              <a:rPr lang="en-PH" dirty="0"/>
              <a:t>1</a:t>
            </a:r>
            <a:r>
              <a:rPr lang="en-PH" dirty="0" smtClean="0"/>
              <a:t> </a:t>
            </a:r>
            <a:r>
              <a:rPr lang="en-PH" sz="2400" dirty="0" smtClean="0"/>
              <a:t>= 33 </a:t>
            </a:r>
            <a:r>
              <a:rPr lang="en-PH" sz="2400" dirty="0" err="1" smtClean="0"/>
              <a:t>kΩ</a:t>
            </a:r>
            <a:endParaRPr lang="en-PH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700" y="4302488"/>
            <a:ext cx="2171699" cy="9953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 flipH="1">
            <a:off x="2686050" y="4190868"/>
            <a:ext cx="14605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PH" sz="2400" dirty="0" smtClean="0"/>
              <a:t>R</a:t>
            </a:r>
            <a:r>
              <a:rPr lang="en-PH" dirty="0" smtClean="0"/>
              <a:t>2 </a:t>
            </a:r>
            <a:r>
              <a:rPr lang="en-PH" sz="2400" dirty="0" smtClean="0"/>
              <a:t>= 10 </a:t>
            </a:r>
            <a:r>
              <a:rPr lang="en-PH" sz="2400" dirty="0" err="1" smtClean="0"/>
              <a:t>kΩ</a:t>
            </a:r>
            <a:endParaRPr lang="en-PH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098" y="3600533"/>
            <a:ext cx="1612901" cy="2656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3748" y="3870686"/>
            <a:ext cx="17272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PH" sz="2400" dirty="0" smtClean="0"/>
              <a:t>V</a:t>
            </a:r>
            <a:r>
              <a:rPr lang="en-PH" dirty="0"/>
              <a:t>2</a:t>
            </a:r>
            <a:r>
              <a:rPr lang="en-PH" dirty="0" smtClean="0"/>
              <a:t> </a:t>
            </a:r>
            <a:r>
              <a:rPr lang="en-PH" sz="2400" dirty="0" smtClean="0"/>
              <a:t>= - 0.1 V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096448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22400" y="5499100"/>
            <a:ext cx="2565400" cy="660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46100" y="355600"/>
                <a:ext cx="10807700" cy="58213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PH" dirty="0" smtClean="0"/>
                  <a:t>SOLUTION</a:t>
                </a:r>
              </a:p>
              <a:p>
                <a:pPr marL="514350" indent="-514350">
                  <a:buAutoNum type="arabicPeriod"/>
                </a:pPr>
                <a:r>
                  <a:rPr lang="en-PH" dirty="0" smtClean="0"/>
                  <a:t>GIVEN: inverting amplifier </a:t>
                </a:r>
              </a:p>
              <a:p>
                <a:pPr marL="0" indent="0">
                  <a:buNone/>
                </a:pPr>
                <a:r>
                  <a:rPr lang="en-PH" dirty="0"/>
                  <a:t>	</a:t>
                </a:r>
                <a:r>
                  <a:rPr lang="en-PH" dirty="0" smtClean="0"/>
                  <a:t>A = -8</a:t>
                </a:r>
              </a:p>
              <a:p>
                <a:pPr marL="0" indent="0">
                  <a:buNone/>
                </a:pPr>
                <a:r>
                  <a:rPr lang="en-PH" dirty="0"/>
                  <a:t>	</a:t>
                </a:r>
                <a:r>
                  <a:rPr lang="en-PH" dirty="0" smtClean="0"/>
                  <a:t>R</a:t>
                </a:r>
                <a:r>
                  <a:rPr lang="en-PH" sz="2000" dirty="0" smtClean="0"/>
                  <a:t>1</a:t>
                </a:r>
                <a:r>
                  <a:rPr lang="en-PH" dirty="0" smtClean="0"/>
                  <a:t> = 10 </a:t>
                </a:r>
                <a:r>
                  <a:rPr lang="en-PH" dirty="0" err="1" smtClean="0"/>
                  <a:t>kΩ</a:t>
                </a:r>
                <a:endParaRPr lang="en-PH" dirty="0" smtClean="0"/>
              </a:p>
              <a:p>
                <a:pPr marL="0" indent="0">
                  <a:buNone/>
                </a:pPr>
                <a:r>
                  <a:rPr lang="en-PH" dirty="0" smtClean="0"/>
                  <a:t>REQD: R</a:t>
                </a:r>
                <a:r>
                  <a:rPr lang="en-PH" sz="2000" dirty="0" smtClean="0"/>
                  <a:t>f</a:t>
                </a:r>
              </a:p>
              <a:p>
                <a:pPr marL="0" indent="0">
                  <a:buNone/>
                </a:pPr>
                <a:r>
                  <a:rPr lang="en-PH" sz="3200" dirty="0" smtClean="0"/>
                  <a:t>SOLN:</a:t>
                </a:r>
              </a:p>
              <a:p>
                <a:pPr marL="0" indent="0">
                  <a:buNone/>
                </a:pPr>
                <a:r>
                  <a:rPr lang="en-PH" sz="3600" dirty="0" smtClean="0"/>
                  <a:t>	</a:t>
                </a:r>
                <a14:m>
                  <m:oMath xmlns:m="http://schemas.openxmlformats.org/officeDocument/2006/math">
                    <m:r>
                      <a:rPr lang="en-PH" sz="3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PH" sz="3600" b="0" i="1" smtClean="0">
                        <a:latin typeface="Cambria Math" panose="02040503050406030204" pitchFamily="18" charset="0"/>
                      </a:rPr>
                      <m:t>=− </m:t>
                    </m:r>
                    <m:f>
                      <m:fPr>
                        <m:ctrlPr>
                          <a:rPr lang="en-PH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PH" sz="3600" b="0" i="1" smtClean="0">
                            <a:latin typeface="Cambria Math" panose="02040503050406030204" pitchFamily="18" charset="0"/>
                          </a:rPr>
                          <m:t>𝑅𝑓</m:t>
                        </m:r>
                      </m:num>
                      <m:den>
                        <m:r>
                          <a:rPr lang="en-PH" sz="3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PH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PH" sz="3600" dirty="0" smtClean="0"/>
              </a:p>
              <a:p>
                <a:pPr marL="0" indent="0">
                  <a:buNone/>
                </a:pPr>
                <a:r>
                  <a:rPr lang="en-PH" sz="3600" dirty="0"/>
                  <a:t>	</a:t>
                </a:r>
                <a14:m>
                  <m:oMath xmlns:m="http://schemas.openxmlformats.org/officeDocument/2006/math">
                    <m:r>
                      <a:rPr lang="en-PH" sz="3600" b="0" i="1" smtClean="0">
                        <a:latin typeface="Cambria Math" panose="02040503050406030204" pitchFamily="18" charset="0"/>
                      </a:rPr>
                      <m:t>𝑅𝑓</m:t>
                    </m:r>
                    <m:r>
                      <a:rPr lang="en-PH" sz="36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PH" sz="3600" b="0" i="1" smtClean="0">
                        <a:latin typeface="Cambria Math" panose="02040503050406030204" pitchFamily="18" charset="0"/>
                      </a:rPr>
                      <m:t>𝐴𝑅</m:t>
                    </m:r>
                    <m:r>
                      <a:rPr lang="en-PH" sz="36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PH" sz="3600" b="0" dirty="0" smtClean="0"/>
              </a:p>
              <a:p>
                <a:pPr marL="0" indent="0">
                  <a:buNone/>
                </a:pPr>
                <a:r>
                  <a:rPr lang="en-PH" sz="3600" dirty="0" smtClean="0"/>
                  <a:t>	</a:t>
                </a:r>
                <a14:m>
                  <m:oMath xmlns:m="http://schemas.openxmlformats.org/officeDocument/2006/math">
                    <m:r>
                      <a:rPr lang="en-PH" sz="3600" b="0" i="1" smtClean="0">
                        <a:latin typeface="Cambria Math" panose="02040503050406030204" pitchFamily="18" charset="0"/>
                      </a:rPr>
                      <m:t>𝑅𝑓</m:t>
                    </m:r>
                    <m:r>
                      <a:rPr lang="en-PH" sz="3600" b="0" i="1" smtClean="0">
                        <a:latin typeface="Cambria Math" panose="02040503050406030204" pitchFamily="18" charset="0"/>
                      </a:rPr>
                      <m:t>=−(−8)(10</m:t>
                    </m:r>
                    <m:r>
                      <a:rPr lang="en-PH" sz="36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PH" sz="3600" dirty="0" smtClean="0"/>
                  <a:t>Ω)</a:t>
                </a:r>
              </a:p>
              <a:p>
                <a:pPr marL="0" indent="0">
                  <a:buNone/>
                </a:pPr>
                <a:r>
                  <a:rPr lang="en-PH" sz="3600" dirty="0"/>
                  <a:t>	</a:t>
                </a:r>
                <a14:m>
                  <m:oMath xmlns:m="http://schemas.openxmlformats.org/officeDocument/2006/math">
                    <m:r>
                      <a:rPr lang="en-PH" sz="3600" b="0" i="1" smtClean="0">
                        <a:latin typeface="Cambria Math" panose="02040503050406030204" pitchFamily="18" charset="0"/>
                      </a:rPr>
                      <m:t>𝑅𝑓</m:t>
                    </m:r>
                    <m:r>
                      <a:rPr lang="en-PH" sz="3600" b="0" i="1" smtClean="0">
                        <a:latin typeface="Cambria Math" panose="02040503050406030204" pitchFamily="18" charset="0"/>
                      </a:rPr>
                      <m:t>=80</m:t>
                    </m:r>
                    <m:r>
                      <a:rPr lang="en-PH" sz="3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PH" sz="3600" b="0" i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PH" sz="3600" dirty="0" smtClean="0"/>
                  <a:t>Ω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100" y="355600"/>
                <a:ext cx="10807700" cy="5821363"/>
              </a:xfrm>
              <a:blipFill rotWithShape="0">
                <a:blip r:embed="rId2"/>
                <a:stretch>
                  <a:fillRect l="-1466" t="-1675" b="-345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72358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162" y="552450"/>
            <a:ext cx="6162675" cy="3162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46100" y="338137"/>
                <a:ext cx="10744200" cy="575786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PH" dirty="0" smtClean="0"/>
                  <a:t>SOLUTION</a:t>
                </a:r>
              </a:p>
              <a:p>
                <a:pPr marL="0" indent="0">
                  <a:buNone/>
                </a:pPr>
                <a:r>
                  <a:rPr lang="en-PH" dirty="0" smtClean="0"/>
                  <a:t>2. GIVEN: summing amplifier </a:t>
                </a:r>
              </a:p>
              <a:p>
                <a:pPr marL="0" indent="0">
                  <a:buNone/>
                </a:pPr>
                <a:r>
                  <a:rPr lang="en-PH" dirty="0" smtClean="0"/>
                  <a:t>      REQD: Vo</a:t>
                </a:r>
              </a:p>
              <a:p>
                <a:pPr marL="0" indent="0">
                  <a:buNone/>
                </a:pPr>
                <a:r>
                  <a:rPr lang="en-PH" sz="3200" dirty="0" smtClean="0"/>
                  <a:t>     SOLN:</a:t>
                </a:r>
              </a:p>
              <a:p>
                <a:pPr marL="0" indent="0">
                  <a:buNone/>
                </a:pPr>
                <a:r>
                  <a:rPr lang="en-PH" sz="3600" dirty="0" smtClean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PH" sz="3600" dirty="0" smtClean="0"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PH" sz="3600" b="0" i="0" dirty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PH" sz="3600" b="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PH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PH" sz="3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PH" sz="3600" b="0" i="1" smtClean="0">
                                <a:latin typeface="Cambria Math" panose="02040503050406030204" pitchFamily="18" charset="0"/>
                              </a:rPr>
                              <m:t>𝑅𝑓</m:t>
                            </m:r>
                          </m:num>
                          <m:den>
                            <m:r>
                              <a:rPr lang="en-PH" sz="3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PH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PH" sz="3600" b="0" i="0" smtClean="0"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en-PH" sz="3600" b="0" i="0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PH" sz="3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PH" sz="3600" b="0" i="1" smtClean="0">
                                <a:latin typeface="Cambria Math" panose="02040503050406030204" pitchFamily="18" charset="0"/>
                              </a:rPr>
                              <m:t>𝑅𝑓</m:t>
                            </m:r>
                          </m:num>
                          <m:den>
                            <m:r>
                              <a:rPr lang="en-PH" sz="3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PH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PH" sz="3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PH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PH" sz="3600" b="0" dirty="0" smtClean="0"/>
              </a:p>
              <a:p>
                <a:pPr marL="0" indent="0">
                  <a:buNone/>
                </a:pPr>
                <a:r>
                  <a:rPr lang="en-PH" sz="3600" dirty="0" smtClean="0"/>
                  <a:t>          </a:t>
                </a:r>
              </a:p>
              <a:p>
                <a:pPr marL="0" indent="0">
                  <a:buNone/>
                </a:pPr>
                <a:r>
                  <a:rPr lang="en-PH" sz="3600" dirty="0"/>
                  <a:t>	</a:t>
                </a:r>
                <a14:m>
                  <m:oMath xmlns:m="http://schemas.openxmlformats.org/officeDocument/2006/math">
                    <m:r>
                      <a:rPr lang="en-PH" sz="3600" b="0" i="1" smtClean="0">
                        <a:latin typeface="Cambria Math" panose="02040503050406030204" pitchFamily="18" charset="0"/>
                      </a:rPr>
                      <m:t>𝑉𝑜</m:t>
                    </m:r>
                    <m:r>
                      <a:rPr lang="en-PH" sz="3600" b="0" i="1" smtClean="0">
                        <a:latin typeface="Cambria Math" panose="02040503050406030204" pitchFamily="18" charset="0"/>
                      </a:rPr>
                      <m:t>=−((</m:t>
                    </m:r>
                    <m:f>
                      <m:fPr>
                        <m:ctrlPr>
                          <a:rPr lang="en-PH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PH" sz="3600" b="0" i="1" smtClean="0">
                            <a:latin typeface="Cambria Math" panose="02040503050406030204" pitchFamily="18" charset="0"/>
                          </a:rPr>
                          <m:t>330 </m:t>
                        </m:r>
                        <m:r>
                          <a:rPr lang="en-PH" sz="3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l-GR" sz="3600" b="0" i="1" smtClean="0">
                            <a:latin typeface="Cambria Math" panose="02040503050406030204" pitchFamily="18" charset="0"/>
                          </a:rPr>
                          <m:t>Ω</m:t>
                        </m:r>
                      </m:num>
                      <m:den>
                        <m:r>
                          <a:rPr lang="en-PH" sz="3600" b="0" i="1" smtClean="0">
                            <a:latin typeface="Cambria Math" panose="02040503050406030204" pitchFamily="18" charset="0"/>
                          </a:rPr>
                          <m:t>33 </m:t>
                        </m:r>
                        <m:r>
                          <a:rPr lang="en-PH" sz="3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l-GR" sz="3600" b="0" i="1" smtClean="0">
                            <a:latin typeface="Cambria Math" panose="02040503050406030204" pitchFamily="18" charset="0"/>
                          </a:rPr>
                          <m:t>Ω</m:t>
                        </m:r>
                      </m:den>
                    </m:f>
                    <m:d>
                      <m:dPr>
                        <m:ctrlPr>
                          <a:rPr lang="en-PH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sz="3600" b="0" i="1" smtClean="0">
                            <a:latin typeface="Cambria Math" panose="02040503050406030204" pitchFamily="18" charset="0"/>
                          </a:rPr>
                          <m:t>−0.2</m:t>
                        </m:r>
                        <m:r>
                          <a:rPr lang="en-PH" sz="3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PH" sz="3600" b="0" i="1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PH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PH" sz="3600" b="0" i="1" smtClean="0">
                            <a:latin typeface="Cambria Math" panose="02040503050406030204" pitchFamily="18" charset="0"/>
                          </a:rPr>
                          <m:t>330 </m:t>
                        </m:r>
                        <m:r>
                          <a:rPr lang="en-PH" sz="3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l-GR" sz="3600" b="0" i="1" smtClean="0">
                            <a:latin typeface="Cambria Math" panose="02040503050406030204" pitchFamily="18" charset="0"/>
                          </a:rPr>
                          <m:t>Ω</m:t>
                        </m:r>
                      </m:num>
                      <m:den>
                        <m:r>
                          <a:rPr lang="en-PH" sz="3600" b="0" i="1" smtClean="0">
                            <a:latin typeface="Cambria Math" panose="02040503050406030204" pitchFamily="18" charset="0"/>
                          </a:rPr>
                          <m:t>10 </m:t>
                        </m:r>
                        <m:r>
                          <a:rPr lang="en-PH" sz="3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l-GR" sz="3600" b="0" i="1" smtClean="0">
                            <a:latin typeface="Cambria Math" panose="02040503050406030204" pitchFamily="18" charset="0"/>
                          </a:rPr>
                          <m:t>Ω</m:t>
                        </m:r>
                      </m:den>
                    </m:f>
                    <m:r>
                      <a:rPr lang="en-PH" sz="36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PH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sz="3600" b="0" i="1" smtClean="0">
                            <a:latin typeface="Cambria Math" panose="02040503050406030204" pitchFamily="18" charset="0"/>
                          </a:rPr>
                          <m:t>−0.1</m:t>
                        </m:r>
                        <m:r>
                          <a:rPr lang="en-PH" sz="3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PH" sz="3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PH" sz="3600" b="0" dirty="0" smtClean="0"/>
              </a:p>
              <a:p>
                <a:pPr marL="0" indent="0">
                  <a:buNone/>
                </a:pPr>
                <a:r>
                  <a:rPr lang="en-PH" sz="3600" dirty="0" smtClean="0"/>
                  <a:t>	</a:t>
                </a:r>
              </a:p>
              <a:p>
                <a:pPr marL="0" indent="0">
                  <a:buNone/>
                </a:pPr>
                <a:r>
                  <a:rPr lang="en-PH" sz="3600" dirty="0"/>
                  <a:t>	 </a:t>
                </a:r>
                <a14:m>
                  <m:oMath xmlns:m="http://schemas.openxmlformats.org/officeDocument/2006/math">
                    <m:r>
                      <a:rPr lang="en-PH" sz="3600" i="1">
                        <a:latin typeface="Cambria Math" panose="02040503050406030204" pitchFamily="18" charset="0"/>
                      </a:rPr>
                      <m:t>𝑉𝑜</m:t>
                    </m:r>
                    <m:r>
                      <a:rPr lang="en-PH" sz="36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PH" sz="3600" dirty="0" smtClean="0"/>
                  <a:t> 5.3 V</a:t>
                </a:r>
              </a:p>
              <a:p>
                <a:pPr marL="0" indent="0">
                  <a:buNone/>
                </a:pPr>
                <a:r>
                  <a:rPr lang="en-PH" sz="3600" dirty="0"/>
                  <a:t>	</a:t>
                </a:r>
                <a:endParaRPr lang="en-PH" sz="36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100" y="338137"/>
                <a:ext cx="10744200" cy="5757863"/>
              </a:xfrm>
              <a:blipFill rotWithShape="0">
                <a:blip r:embed="rId3"/>
                <a:stretch>
                  <a:fillRect l="-1192" t="-232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1447800" y="4762500"/>
            <a:ext cx="2540000" cy="7747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083589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381000"/>
            <a:ext cx="11239500" cy="60325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PH" sz="4000" dirty="0" smtClean="0"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en-PH" sz="4000" dirty="0"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en-PH" sz="4000" dirty="0" smtClean="0"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en-PH" sz="4000" dirty="0"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en-PH" sz="4000" dirty="0" smtClean="0"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en-PH" sz="4000" dirty="0"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PH" sz="4000" dirty="0" smtClean="0">
                <a:latin typeface="+mj-lt"/>
                <a:ea typeface="+mj-ea"/>
                <a:cs typeface="+mj-cs"/>
              </a:rPr>
              <a:t>3. Calculate the input voltage.</a:t>
            </a:r>
          </a:p>
          <a:p>
            <a:pPr marL="0" indent="0">
              <a:buNone/>
            </a:pPr>
            <a:endParaRPr lang="en-PH" sz="4800" dirty="0">
              <a:latin typeface="+mj-lt"/>
              <a:ea typeface="+mj-ea"/>
              <a:cs typeface="+mj-c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098" y="3600533"/>
            <a:ext cx="1612901" cy="2656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437" y="381000"/>
            <a:ext cx="7535863" cy="63279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67900" y="5692779"/>
            <a:ext cx="17272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PH" sz="2400" dirty="0" smtClean="0"/>
              <a:t>V</a:t>
            </a:r>
            <a:r>
              <a:rPr lang="en-PH" dirty="0" smtClean="0"/>
              <a:t>O </a:t>
            </a:r>
            <a:r>
              <a:rPr lang="en-PH" sz="2400" dirty="0" smtClean="0"/>
              <a:t>= 10 V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746722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936" y="381000"/>
            <a:ext cx="4968164" cy="401955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381000"/>
            <a:ext cx="11239500" cy="6032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000" dirty="0" smtClean="0">
                <a:latin typeface="+mj-lt"/>
                <a:ea typeface="+mj-ea"/>
                <a:cs typeface="+mj-cs"/>
              </a:rPr>
              <a:t>3. REQD: V</a:t>
            </a:r>
            <a:r>
              <a:rPr lang="en-PH" sz="3200" dirty="0" smtClean="0">
                <a:latin typeface="+mj-lt"/>
                <a:ea typeface="+mj-ea"/>
                <a:cs typeface="+mj-cs"/>
              </a:rPr>
              <a:t>i</a:t>
            </a:r>
          </a:p>
          <a:p>
            <a:pPr marL="0" indent="0">
              <a:buNone/>
            </a:pPr>
            <a:r>
              <a:rPr lang="en-PH" sz="3200" dirty="0">
                <a:latin typeface="+mj-lt"/>
                <a:ea typeface="+mj-ea"/>
                <a:cs typeface="+mj-cs"/>
              </a:rPr>
              <a:t> </a:t>
            </a:r>
            <a:r>
              <a:rPr lang="en-PH" sz="4000" dirty="0" smtClean="0">
                <a:latin typeface="+mj-lt"/>
                <a:ea typeface="+mj-ea"/>
                <a:cs typeface="+mj-cs"/>
              </a:rPr>
              <a:t>SOLN:</a:t>
            </a:r>
          </a:p>
          <a:p>
            <a:pPr marL="0" indent="0">
              <a:buNone/>
            </a:pPr>
            <a:r>
              <a:rPr lang="en-PH" sz="4000" dirty="0"/>
              <a:t>A = A</a:t>
            </a:r>
            <a:r>
              <a:rPr lang="en-PH" sz="2400" dirty="0"/>
              <a:t>1</a:t>
            </a:r>
            <a:r>
              <a:rPr lang="en-PH" sz="4000" dirty="0"/>
              <a:t>A</a:t>
            </a:r>
            <a:r>
              <a:rPr lang="en-PH" sz="2400" dirty="0"/>
              <a:t>2</a:t>
            </a:r>
            <a:r>
              <a:rPr lang="en-PH" sz="4000" dirty="0"/>
              <a:t>A</a:t>
            </a:r>
            <a:r>
              <a:rPr lang="en-PH" sz="2400" dirty="0"/>
              <a:t>3</a:t>
            </a:r>
            <a:endParaRPr lang="en-PH" sz="4000" dirty="0" smtClean="0"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PH" sz="4800" dirty="0" smtClean="0">
                <a:latin typeface="+mj-lt"/>
                <a:ea typeface="+mj-ea"/>
                <a:cs typeface="+mj-cs"/>
              </a:rPr>
              <a:t>A = (</a:t>
            </a:r>
            <a:r>
              <a:rPr lang="pt-BR" sz="4000" dirty="0" smtClean="0"/>
              <a:t>1 </a:t>
            </a:r>
            <a:r>
              <a:rPr lang="pt-BR" sz="4000" dirty="0"/>
              <a:t>+ </a:t>
            </a:r>
            <a:r>
              <a:rPr lang="pt-BR" sz="4000" dirty="0" smtClean="0"/>
              <a:t>R</a:t>
            </a:r>
            <a:r>
              <a:rPr lang="pt-BR" sz="3200" dirty="0" smtClean="0"/>
              <a:t>f</a:t>
            </a:r>
            <a:r>
              <a:rPr lang="pt-BR" sz="4000" dirty="0" smtClean="0"/>
              <a:t>/R</a:t>
            </a:r>
            <a:r>
              <a:rPr lang="pt-BR" sz="3200" dirty="0"/>
              <a:t>1</a:t>
            </a:r>
            <a:r>
              <a:rPr lang="pt-BR" sz="4000" dirty="0" smtClean="0"/>
              <a:t>)		    Vo = Avi</a:t>
            </a:r>
          </a:p>
          <a:p>
            <a:pPr marL="0" indent="0">
              <a:buNone/>
            </a:pPr>
            <a:r>
              <a:rPr lang="pt-BR" sz="4000" dirty="0">
                <a:latin typeface="+mj-lt"/>
                <a:ea typeface="+mj-ea"/>
                <a:cs typeface="+mj-cs"/>
              </a:rPr>
              <a:t>	</a:t>
            </a:r>
            <a:r>
              <a:rPr lang="pt-BR" sz="4000" dirty="0" smtClean="0">
                <a:latin typeface="+mj-lt"/>
                <a:ea typeface="+mj-ea"/>
                <a:cs typeface="+mj-cs"/>
              </a:rPr>
              <a:t>(</a:t>
            </a:r>
            <a:r>
              <a:rPr lang="pt-BR" sz="4000" dirty="0"/>
              <a:t>-</a:t>
            </a:r>
            <a:r>
              <a:rPr lang="pt-BR" sz="4000" dirty="0" smtClean="0"/>
              <a:t>R</a:t>
            </a:r>
            <a:r>
              <a:rPr lang="pt-BR" sz="3200" dirty="0"/>
              <a:t>f</a:t>
            </a:r>
            <a:r>
              <a:rPr lang="pt-BR" sz="4000" dirty="0" smtClean="0"/>
              <a:t>/R</a:t>
            </a:r>
            <a:r>
              <a:rPr lang="pt-BR" sz="3200" dirty="0"/>
              <a:t>2</a:t>
            </a:r>
            <a:r>
              <a:rPr lang="pt-BR" sz="4000" dirty="0" smtClean="0"/>
              <a:t>)(</a:t>
            </a:r>
            <a:r>
              <a:rPr lang="pt-BR" sz="4000" dirty="0"/>
              <a:t>-</a:t>
            </a:r>
            <a:r>
              <a:rPr lang="pt-BR" sz="4000" dirty="0" smtClean="0"/>
              <a:t>R</a:t>
            </a:r>
            <a:r>
              <a:rPr lang="pt-BR" sz="3200" dirty="0"/>
              <a:t>f</a:t>
            </a:r>
            <a:r>
              <a:rPr lang="pt-BR" sz="4000" dirty="0" smtClean="0"/>
              <a:t>/R</a:t>
            </a:r>
            <a:r>
              <a:rPr lang="pt-BR" sz="3200" dirty="0"/>
              <a:t>3</a:t>
            </a:r>
            <a:r>
              <a:rPr lang="pt-BR" sz="4000" dirty="0" smtClean="0"/>
              <a:t>)         Vi = Vo/A</a:t>
            </a:r>
          </a:p>
          <a:p>
            <a:pPr marL="0" indent="0">
              <a:buNone/>
            </a:pPr>
            <a:r>
              <a:rPr lang="pt-BR" sz="4000" dirty="0" smtClean="0">
                <a:latin typeface="+mj-lt"/>
                <a:ea typeface="+mj-ea"/>
                <a:cs typeface="+mj-cs"/>
              </a:rPr>
              <a:t>A = (1 + 10k</a:t>
            </a:r>
            <a:r>
              <a:rPr lang="el-GR" sz="4000" dirty="0" smtClean="0">
                <a:latin typeface="+mj-lt"/>
                <a:ea typeface="+mj-ea"/>
                <a:cs typeface="+mj-cs"/>
              </a:rPr>
              <a:t>Ω</a:t>
            </a:r>
            <a:r>
              <a:rPr lang="en-PH" sz="4000" dirty="0" smtClean="0">
                <a:latin typeface="+mj-lt"/>
                <a:ea typeface="+mj-ea"/>
                <a:cs typeface="+mj-cs"/>
              </a:rPr>
              <a:t>/5k</a:t>
            </a:r>
            <a:r>
              <a:rPr lang="el-GR" sz="4000" dirty="0" smtClean="0"/>
              <a:t>Ω</a:t>
            </a:r>
            <a:r>
              <a:rPr lang="en-PH" sz="4000" dirty="0" smtClean="0"/>
              <a:t>)          Vi = 10V/60</a:t>
            </a:r>
          </a:p>
          <a:p>
            <a:pPr marL="0" indent="0">
              <a:buNone/>
            </a:pPr>
            <a:r>
              <a:rPr lang="en-PH" sz="4000" dirty="0" smtClean="0">
                <a:latin typeface="+mj-lt"/>
                <a:ea typeface="+mj-ea"/>
                <a:cs typeface="+mj-cs"/>
              </a:rPr>
              <a:t>(-5k</a:t>
            </a:r>
            <a:r>
              <a:rPr lang="el-GR" sz="4000" dirty="0" smtClean="0"/>
              <a:t>Ω</a:t>
            </a:r>
            <a:r>
              <a:rPr lang="en-PH" sz="4000" dirty="0" smtClean="0"/>
              <a:t>/5k</a:t>
            </a:r>
            <a:r>
              <a:rPr lang="el-GR" sz="4000" dirty="0" smtClean="0"/>
              <a:t>Ω</a:t>
            </a:r>
            <a:r>
              <a:rPr lang="en-PH" sz="4000" dirty="0" smtClean="0"/>
              <a:t>)(-100k</a:t>
            </a:r>
            <a:r>
              <a:rPr lang="el-GR" sz="4000" dirty="0" smtClean="0"/>
              <a:t>Ω</a:t>
            </a:r>
            <a:r>
              <a:rPr lang="en-PH" sz="4000" dirty="0" smtClean="0"/>
              <a:t>/5k</a:t>
            </a:r>
            <a:r>
              <a:rPr lang="el-GR" sz="4000" dirty="0" smtClean="0"/>
              <a:t>Ω</a:t>
            </a:r>
            <a:r>
              <a:rPr lang="en-PH" sz="4000" dirty="0" smtClean="0"/>
              <a:t>)     Vi = 167 mV</a:t>
            </a:r>
          </a:p>
          <a:p>
            <a:pPr marL="0" indent="0">
              <a:buNone/>
            </a:pPr>
            <a:r>
              <a:rPr lang="en-PH" sz="4000" dirty="0" smtClean="0">
                <a:latin typeface="+mj-lt"/>
                <a:ea typeface="+mj-ea"/>
                <a:cs typeface="+mj-cs"/>
              </a:rPr>
              <a:t>A = 60</a:t>
            </a:r>
          </a:p>
        </p:txBody>
      </p:sp>
      <p:sp>
        <p:nvSpPr>
          <p:cNvPr id="7" name="Rectangle 6"/>
          <p:cNvSpPr/>
          <p:nvPr/>
        </p:nvSpPr>
        <p:spPr>
          <a:xfrm>
            <a:off x="6026150" y="4451350"/>
            <a:ext cx="2717800" cy="77470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72358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381000"/>
            <a:ext cx="11239500" cy="6032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000" dirty="0" smtClean="0">
                <a:latin typeface="+mj-lt"/>
                <a:ea typeface="+mj-ea"/>
                <a:cs typeface="+mj-cs"/>
              </a:rPr>
              <a:t>4. Calculate </a:t>
            </a:r>
            <a:r>
              <a:rPr lang="en-PH" sz="4000" smtClean="0">
                <a:latin typeface="+mj-lt"/>
                <a:ea typeface="+mj-ea"/>
                <a:cs typeface="+mj-cs"/>
              </a:rPr>
              <a:t>the output voltage</a:t>
            </a:r>
            <a:r>
              <a:rPr lang="en-PH" sz="4000" dirty="0" smtClean="0">
                <a:latin typeface="+mj-lt"/>
                <a:ea typeface="+mj-ea"/>
                <a:cs typeface="+mj-cs"/>
              </a:rPr>
              <a:t>.</a:t>
            </a:r>
          </a:p>
          <a:p>
            <a:pPr marL="0" indent="0">
              <a:buNone/>
            </a:pPr>
            <a:endParaRPr lang="en-PH" sz="4800" dirty="0">
              <a:latin typeface="+mj-lt"/>
              <a:ea typeface="+mj-ea"/>
              <a:cs typeface="+mj-c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098" y="3600533"/>
            <a:ext cx="1612901" cy="26567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098" y="1029661"/>
            <a:ext cx="7671316" cy="549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2404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600" y="381000"/>
                <a:ext cx="11239500" cy="60325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PH" sz="4000" dirty="0" smtClean="0">
                    <a:latin typeface="+mj-lt"/>
                    <a:ea typeface="+mj-ea"/>
                    <a:cs typeface="+mj-cs"/>
                  </a:rPr>
                  <a:t>4. REQD: Vo</a:t>
                </a:r>
              </a:p>
              <a:p>
                <a:pPr marL="0" indent="0">
                  <a:buNone/>
                </a:pPr>
                <a:r>
                  <a:rPr lang="en-PH" sz="4000" dirty="0" smtClean="0">
                    <a:latin typeface="+mj-lt"/>
                    <a:ea typeface="+mj-ea"/>
                    <a:cs typeface="+mj-cs"/>
                  </a:rPr>
                  <a:t>SOLN:</a:t>
                </a:r>
              </a:p>
              <a:p>
                <a:pPr marL="0" indent="0">
                  <a:buNone/>
                </a:pPr>
                <a:endParaRPr lang="en-PH" sz="4000" dirty="0" smtClean="0">
                  <a:latin typeface="+mj-lt"/>
                  <a:ea typeface="+mj-ea"/>
                  <a:cs typeface="+mj-cs"/>
                </a:endParaRPr>
              </a:p>
              <a:p>
                <a:pPr marL="0" indent="0">
                  <a:buNone/>
                </a:pPr>
                <a:endParaRPr lang="en-PH" sz="4000" dirty="0">
                  <a:latin typeface="+mj-lt"/>
                  <a:ea typeface="+mj-ea"/>
                  <a:cs typeface="+mj-cs"/>
                </a:endParaRPr>
              </a:p>
              <a:p>
                <a:pPr marL="0" indent="0">
                  <a:buNone/>
                </a:pPr>
                <a:endParaRPr lang="en-PH" sz="4000" dirty="0">
                  <a:latin typeface="+mj-lt"/>
                  <a:ea typeface="+mj-ea"/>
                  <a:cs typeface="+mj-cs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PH" sz="3600" b="0" i="1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𝑉𝑜</m:t>
                    </m:r>
                    <m:r>
                      <a:rPr lang="en-PH" sz="3600" b="0" i="1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= </m:t>
                    </m:r>
                    <m:f>
                      <m:fPr>
                        <m:ctrlPr>
                          <a:rPr lang="en-PH" sz="3600" b="0" i="1" smtClean="0"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</m:ctrlPr>
                      </m:fPr>
                      <m:num>
                        <m:r>
                          <a:rPr lang="en-PH" sz="3600" b="0" i="1" smtClean="0"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10</m:t>
                        </m:r>
                        <m:r>
                          <a:rPr lang="en-PH" sz="3600" b="0" i="1" smtClean="0"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l-GR" sz="3600" b="0" i="1" smtClean="0"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Ω</m:t>
                        </m:r>
                      </m:num>
                      <m:den>
                        <m:r>
                          <a:rPr lang="en-PH" sz="3600" b="0" i="1" smtClean="0"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10</m:t>
                        </m:r>
                        <m:r>
                          <a:rPr lang="en-PH" sz="3600" b="0" i="1" smtClean="0"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l-GR" sz="3600" i="1"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PH" sz="3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PH" sz="3600" i="1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PH" sz="36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l-GR" sz="3600" i="1">
                            <a:latin typeface="Cambria Math" panose="02040503050406030204" pitchFamily="18" charset="0"/>
                          </a:rPr>
                          <m:t>Ω</m:t>
                        </m:r>
                      </m:den>
                    </m:f>
                  </m:oMath>
                </a14:m>
                <a:r>
                  <a:rPr lang="en-PH" sz="4800" dirty="0" smtClean="0">
                    <a:latin typeface="+mj-lt"/>
                    <a:ea typeface="+mj-ea"/>
                    <a:cs typeface="+mj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3600" i="1" dirty="0" smtClean="0"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</m:ctrlPr>
                      </m:fPr>
                      <m:num>
                        <m:r>
                          <a:rPr lang="en-PH" sz="3600" b="0" i="1" dirty="0" smtClean="0"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150</m:t>
                        </m:r>
                        <m:r>
                          <a:rPr lang="en-PH" sz="36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l-GR" sz="3600" i="1"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PH" sz="3600" b="0" i="1" dirty="0" smtClean="0"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+300</m:t>
                        </m:r>
                        <m:r>
                          <a:rPr lang="en-PH" sz="36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l-GR" sz="3600" i="1">
                            <a:latin typeface="Cambria Math" panose="02040503050406030204" pitchFamily="18" charset="0"/>
                          </a:rPr>
                          <m:t>Ω</m:t>
                        </m:r>
                      </m:num>
                      <m:den>
                        <m:r>
                          <a:rPr lang="en-PH" sz="3600" b="0" i="1" dirty="0" smtClean="0"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150</m:t>
                        </m:r>
                        <m:r>
                          <a:rPr lang="en-PH" sz="36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l-GR" sz="3600" i="1">
                            <a:latin typeface="Cambria Math" panose="02040503050406030204" pitchFamily="18" charset="0"/>
                          </a:rPr>
                          <m:t>Ω</m:t>
                        </m:r>
                      </m:den>
                    </m:f>
                    <m:r>
                      <a:rPr lang="en-PH" sz="3600" b="0" i="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 1</m:t>
                    </m:r>
                    <m:r>
                      <m:rPr>
                        <m:sty m:val="p"/>
                      </m:rPr>
                      <a:rPr lang="en-PH" sz="3600" b="0" i="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V</m:t>
                    </m:r>
                    <m:r>
                      <a:rPr lang="en-PH" sz="3600" b="0" i="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 − </m:t>
                    </m:r>
                    <m:f>
                      <m:fPr>
                        <m:ctrlPr>
                          <a:rPr lang="en-PH" sz="3600" b="0" i="1" dirty="0" smtClean="0"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</m:ctrlPr>
                      </m:fPr>
                      <m:num>
                        <m:r>
                          <a:rPr lang="en-PH" sz="3600" b="0" i="1" dirty="0" smtClean="0"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300</m:t>
                        </m:r>
                        <m:r>
                          <a:rPr lang="en-PH" sz="36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l-GR" sz="3600" i="1">
                            <a:latin typeface="Cambria Math" panose="02040503050406030204" pitchFamily="18" charset="0"/>
                          </a:rPr>
                          <m:t>Ω</m:t>
                        </m:r>
                      </m:num>
                      <m:den>
                        <m:r>
                          <a:rPr lang="en-PH" sz="3600" b="0" i="1" dirty="0" smtClean="0"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150</m:t>
                        </m:r>
                        <m:r>
                          <a:rPr lang="en-PH" sz="36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l-GR" sz="3600" i="1">
                            <a:latin typeface="Cambria Math" panose="02040503050406030204" pitchFamily="18" charset="0"/>
                          </a:rPr>
                          <m:t>Ω</m:t>
                        </m:r>
                      </m:den>
                    </m:f>
                    <m:r>
                      <a:rPr lang="en-PH" sz="3600" b="0" i="1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 2</m:t>
                    </m:r>
                    <m:r>
                      <a:rPr lang="en-PH" sz="3600" b="0" i="1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𝑉</m:t>
                    </m:r>
                  </m:oMath>
                </a14:m>
                <a:endParaRPr lang="en-PH" sz="3600" b="0" dirty="0" smtClean="0">
                  <a:latin typeface="+mj-lt"/>
                  <a:ea typeface="+mj-ea"/>
                  <a:cs typeface="+mj-cs"/>
                </a:endParaRPr>
              </a:p>
              <a:p>
                <a:pPr marL="0" indent="0">
                  <a:buNone/>
                </a:pPr>
                <a:endParaRPr lang="en-PH" sz="3600" dirty="0">
                  <a:latin typeface="+mj-lt"/>
                  <a:ea typeface="+mj-ea"/>
                  <a:cs typeface="+mj-cs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PH" sz="3600" b="0" i="1" smtClean="0"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𝑉𝑜</m:t>
                      </m:r>
                      <m:r>
                        <a:rPr lang="en-PH" sz="3600" b="0" i="1" smtClean="0"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=−2.5 </m:t>
                      </m:r>
                      <m:r>
                        <a:rPr lang="en-PH" sz="3600" b="0" i="1" smtClean="0"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𝑉</m:t>
                      </m:r>
                    </m:oMath>
                  </m:oMathPara>
                </a14:m>
                <a:endParaRPr lang="en-PH" sz="3600" b="0" dirty="0" smtClean="0">
                  <a:latin typeface="+mj-lt"/>
                  <a:ea typeface="+mj-ea"/>
                  <a:cs typeface="+mj-cs"/>
                </a:endParaRPr>
              </a:p>
              <a:p>
                <a:pPr marL="0" indent="0">
                  <a:buNone/>
                </a:pPr>
                <a:endParaRPr lang="en-PH" sz="4800" dirty="0" smtClean="0">
                  <a:latin typeface="+mj-lt"/>
                  <a:ea typeface="+mj-ea"/>
                  <a:cs typeface="+mj-cs"/>
                </a:endParaRPr>
              </a:p>
              <a:p>
                <a:pPr marL="0" indent="0">
                  <a:buNone/>
                </a:pPr>
                <a:endParaRPr lang="en-PH" sz="4800" dirty="0">
                  <a:latin typeface="+mj-lt"/>
                  <a:ea typeface="+mj-ea"/>
                  <a:cs typeface="+mj-cs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00" y="381000"/>
                <a:ext cx="11239500" cy="6032500"/>
              </a:xfrm>
              <a:blipFill rotWithShape="0">
                <a:blip r:embed="rId2"/>
                <a:stretch>
                  <a:fillRect l="-1898" t="-283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700" y="190160"/>
            <a:ext cx="4704790" cy="33710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" y="2095888"/>
            <a:ext cx="5118100" cy="112317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55600" y="4933950"/>
            <a:ext cx="2717800" cy="77470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/>
          <p:cNvSpPr txBox="1"/>
          <p:nvPr/>
        </p:nvSpPr>
        <p:spPr>
          <a:xfrm>
            <a:off x="6883400" y="800903"/>
            <a:ext cx="44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smtClean="0"/>
              <a:t>R2</a:t>
            </a:r>
            <a:endParaRPr lang="en-PH" dirty="0"/>
          </a:p>
        </p:txBody>
      </p:sp>
      <p:sp>
        <p:nvSpPr>
          <p:cNvPr id="12" name="TextBox 11"/>
          <p:cNvSpPr txBox="1"/>
          <p:nvPr/>
        </p:nvSpPr>
        <p:spPr>
          <a:xfrm>
            <a:off x="6940550" y="1875693"/>
            <a:ext cx="44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smtClean="0"/>
              <a:t>R1</a:t>
            </a:r>
            <a:endParaRPr lang="en-PH" dirty="0"/>
          </a:p>
        </p:txBody>
      </p:sp>
      <p:sp>
        <p:nvSpPr>
          <p:cNvPr id="14" name="TextBox 13"/>
          <p:cNvSpPr txBox="1"/>
          <p:nvPr/>
        </p:nvSpPr>
        <p:spPr>
          <a:xfrm>
            <a:off x="8365845" y="288409"/>
            <a:ext cx="44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smtClean="0"/>
              <a:t>R4</a:t>
            </a:r>
            <a:endParaRPr lang="en-PH" dirty="0"/>
          </a:p>
        </p:txBody>
      </p:sp>
      <p:sp>
        <p:nvSpPr>
          <p:cNvPr id="15" name="TextBox 14"/>
          <p:cNvSpPr txBox="1"/>
          <p:nvPr/>
        </p:nvSpPr>
        <p:spPr>
          <a:xfrm>
            <a:off x="7607300" y="2644775"/>
            <a:ext cx="44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smtClean="0"/>
              <a:t>R3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319239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1615</TotalTime>
  <Words>811</Words>
  <Application>Microsoft Office PowerPoint</Application>
  <PresentationFormat>Widescreen</PresentationFormat>
  <Paragraphs>195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Office Theme</vt:lpstr>
      <vt:lpstr>CPE 10 FUNDAMENTALS OF MIXED SIGNALS AND SENSORS</vt:lpstr>
      <vt:lpstr>Basic Op-amp</vt:lpstr>
      <vt:lpstr>PowerPoint Presentation</vt:lpstr>
      <vt:lpstr>PowerPoint Presentation</vt:lpstr>
      <vt:lpstr>PowerPoint Presentation</vt:lpstr>
      <vt:lpstr>PowerPoint Presentation</vt:lpstr>
      <vt:lpstr>Practical Op-amp circuits</vt:lpstr>
      <vt:lpstr>Practical Op-amp circuits</vt:lpstr>
      <vt:lpstr>Practical Op-amp circuits</vt:lpstr>
      <vt:lpstr>Practical Op-amp circuits</vt:lpstr>
      <vt:lpstr>Practical Op-amp circuits</vt:lpstr>
      <vt:lpstr>Practical Op-amp circuits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 An inverting amplifier have a gain = - 8 &amp; a 10 kΩ input impedance. What is the value of the feedback resistor for the circuit?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CPE 10 FUNDAMENTALS OF MIXED SIGNALS AND SENSORS</dc:title>
  <dc:creator>gb</dc:creator>
  <cp:lastModifiedBy>gb</cp:lastModifiedBy>
  <cp:revision>53</cp:revision>
  <dcterms:created xsi:type="dcterms:W3CDTF">2022-10-01T08:23:24Z</dcterms:created>
  <dcterms:modified xsi:type="dcterms:W3CDTF">2023-10-09T07:34:19Z</dcterms:modified>
</cp:coreProperties>
</file>