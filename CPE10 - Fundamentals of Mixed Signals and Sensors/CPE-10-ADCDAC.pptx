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7" r:id="rId2"/>
    <p:sldId id="265" r:id="rId3"/>
    <p:sldId id="266" r:id="rId4"/>
    <p:sldId id="278" r:id="rId5"/>
    <p:sldId id="279" r:id="rId6"/>
    <p:sldId id="281" r:id="rId7"/>
    <p:sldId id="280" r:id="rId8"/>
    <p:sldId id="274" r:id="rId9"/>
    <p:sldId id="275" r:id="rId10"/>
    <p:sldId id="276" r:id="rId11"/>
    <p:sldId id="267" r:id="rId12"/>
    <p:sldId id="282" r:id="rId13"/>
    <p:sldId id="260" r:id="rId14"/>
    <p:sldId id="261" r:id="rId15"/>
    <p:sldId id="262" r:id="rId16"/>
    <p:sldId id="263" r:id="rId17"/>
    <p:sldId id="264" r:id="rId18"/>
    <p:sldId id="268" r:id="rId19"/>
    <p:sldId id="269" r:id="rId20"/>
    <p:sldId id="270" r:id="rId21"/>
    <p:sldId id="271" r:id="rId22"/>
    <p:sldId id="272" r:id="rId23"/>
    <p:sldId id="27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2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3EE804-949F-403F-81F1-366437026F5F}" type="datetimeFigureOut">
              <a:rPr lang="en-PH" smtClean="0"/>
              <a:t>05/11/2024</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2A63F4-E5F1-4FEC-9412-1FA74A66CB56}" type="slidenum">
              <a:rPr lang="en-PH" smtClean="0"/>
              <a:t>‹#›</a:t>
            </a:fld>
            <a:endParaRPr lang="en-PH"/>
          </a:p>
        </p:txBody>
      </p:sp>
    </p:spTree>
    <p:extLst>
      <p:ext uri="{BB962C8B-B14F-4D97-AF65-F5344CB8AC3E}">
        <p14:creationId xmlns:p14="http://schemas.microsoft.com/office/powerpoint/2010/main" val="561645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F837D2ED-A281-4DC5-9139-D6A25F4DF496}"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0AF6BCEB-24BA-4904-8188-A7BD42B8054C}" type="slidenum">
              <a:rPr lang="en-PH" smtClean="0"/>
              <a:t>‹#›</a:t>
            </a:fld>
            <a:endParaRPr lang="en-PH"/>
          </a:p>
        </p:txBody>
      </p:sp>
    </p:spTree>
    <p:extLst>
      <p:ext uri="{BB962C8B-B14F-4D97-AF65-F5344CB8AC3E}">
        <p14:creationId xmlns:p14="http://schemas.microsoft.com/office/powerpoint/2010/main" val="2000888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F837D2ED-A281-4DC5-9139-D6A25F4DF496}"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0AF6BCEB-24BA-4904-8188-A7BD42B8054C}" type="slidenum">
              <a:rPr lang="en-PH" smtClean="0"/>
              <a:t>‹#›</a:t>
            </a:fld>
            <a:endParaRPr lang="en-PH"/>
          </a:p>
        </p:txBody>
      </p:sp>
    </p:spTree>
    <p:extLst>
      <p:ext uri="{BB962C8B-B14F-4D97-AF65-F5344CB8AC3E}">
        <p14:creationId xmlns:p14="http://schemas.microsoft.com/office/powerpoint/2010/main" val="2415755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37D2ED-A281-4DC5-9139-D6A25F4DF496}"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0AF6BCEB-24BA-4904-8188-A7BD42B8054C}" type="slidenum">
              <a:rPr lang="en-PH" smtClean="0"/>
              <a:t>‹#›</a:t>
            </a:fld>
            <a:endParaRPr lang="en-PH"/>
          </a:p>
        </p:txBody>
      </p:sp>
    </p:spTree>
    <p:extLst>
      <p:ext uri="{BB962C8B-B14F-4D97-AF65-F5344CB8AC3E}">
        <p14:creationId xmlns:p14="http://schemas.microsoft.com/office/powerpoint/2010/main" val="615102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p:txBody>
          <a:bodyPr/>
          <a:lstStyle/>
          <a:p>
            <a:fld id="{F837D2ED-A281-4DC5-9139-D6A25F4DF496}" type="datetimeFigureOut">
              <a:rPr lang="en-PH" smtClean="0"/>
              <a:t>05/11/2024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0AF6BCEB-24BA-4904-8188-A7BD42B8054C}" type="slidenum">
              <a:rPr lang="en-PH" smtClean="0"/>
              <a:t>‹#›</a:t>
            </a:fld>
            <a:endParaRPr lang="en-PH"/>
          </a:p>
        </p:txBody>
      </p:sp>
    </p:spTree>
    <p:extLst>
      <p:ext uri="{BB962C8B-B14F-4D97-AF65-F5344CB8AC3E}">
        <p14:creationId xmlns:p14="http://schemas.microsoft.com/office/powerpoint/2010/main" val="772148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p:txBody>
          <a:bodyPr/>
          <a:lstStyle/>
          <a:p>
            <a:fld id="{F837D2ED-A281-4DC5-9139-D6A25F4DF496}" type="datetimeFigureOut">
              <a:rPr lang="en-PH" smtClean="0"/>
              <a:t>05/11/2024</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0AF6BCEB-24BA-4904-8188-A7BD42B8054C}" type="slidenum">
              <a:rPr lang="en-PH" smtClean="0"/>
              <a:t>‹#›</a:t>
            </a:fld>
            <a:endParaRPr lang="en-PH"/>
          </a:p>
        </p:txBody>
      </p:sp>
    </p:spTree>
    <p:extLst>
      <p:ext uri="{BB962C8B-B14F-4D97-AF65-F5344CB8AC3E}">
        <p14:creationId xmlns:p14="http://schemas.microsoft.com/office/powerpoint/2010/main" val="2261290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F837D2ED-A281-4DC5-9139-D6A25F4DF496}" type="datetimeFigureOut">
              <a:rPr lang="en-PH" smtClean="0"/>
              <a:t>05/11/2024</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0AF6BCEB-24BA-4904-8188-A7BD42B8054C}" type="slidenum">
              <a:rPr lang="en-PH" smtClean="0"/>
              <a:t>‹#›</a:t>
            </a:fld>
            <a:endParaRPr lang="en-PH"/>
          </a:p>
        </p:txBody>
      </p:sp>
    </p:spTree>
    <p:extLst>
      <p:ext uri="{BB962C8B-B14F-4D97-AF65-F5344CB8AC3E}">
        <p14:creationId xmlns:p14="http://schemas.microsoft.com/office/powerpoint/2010/main" val="3622698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37D2ED-A281-4DC5-9139-D6A25F4DF496}" type="datetimeFigureOut">
              <a:rPr lang="en-PH" smtClean="0"/>
              <a:t>05/11/2024</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0AF6BCEB-24BA-4904-8188-A7BD42B8054C}" type="slidenum">
              <a:rPr lang="en-PH" smtClean="0"/>
              <a:t>‹#›</a:t>
            </a:fld>
            <a:endParaRPr lang="en-PH"/>
          </a:p>
        </p:txBody>
      </p:sp>
    </p:spTree>
    <p:extLst>
      <p:ext uri="{BB962C8B-B14F-4D97-AF65-F5344CB8AC3E}">
        <p14:creationId xmlns:p14="http://schemas.microsoft.com/office/powerpoint/2010/main" val="1458508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37D2ED-A281-4DC5-9139-D6A25F4DF496}" type="datetimeFigureOut">
              <a:rPr lang="en-PH" smtClean="0"/>
              <a:t>05/11/2024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0AF6BCEB-24BA-4904-8188-A7BD42B8054C}" type="slidenum">
              <a:rPr lang="en-PH" smtClean="0"/>
              <a:t>‹#›</a:t>
            </a:fld>
            <a:endParaRPr lang="en-PH"/>
          </a:p>
        </p:txBody>
      </p:sp>
    </p:spTree>
    <p:extLst>
      <p:ext uri="{BB962C8B-B14F-4D97-AF65-F5344CB8AC3E}">
        <p14:creationId xmlns:p14="http://schemas.microsoft.com/office/powerpoint/2010/main" val="3355006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37D2ED-A281-4DC5-9139-D6A25F4DF496}" type="datetimeFigureOut">
              <a:rPr lang="en-PH" smtClean="0"/>
              <a:t>05/11/2024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0AF6BCEB-24BA-4904-8188-A7BD42B8054C}" type="slidenum">
              <a:rPr lang="en-PH" smtClean="0"/>
              <a:t>‹#›</a:t>
            </a:fld>
            <a:endParaRPr lang="en-PH"/>
          </a:p>
        </p:txBody>
      </p:sp>
    </p:spTree>
    <p:extLst>
      <p:ext uri="{BB962C8B-B14F-4D97-AF65-F5344CB8AC3E}">
        <p14:creationId xmlns:p14="http://schemas.microsoft.com/office/powerpoint/2010/main" val="2021973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F837D2ED-A281-4DC5-9139-D6A25F4DF496}"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0AF6BCEB-24BA-4904-8188-A7BD42B8054C}" type="slidenum">
              <a:rPr lang="en-PH" smtClean="0"/>
              <a:t>‹#›</a:t>
            </a:fld>
            <a:endParaRPr lang="en-PH"/>
          </a:p>
        </p:txBody>
      </p:sp>
    </p:spTree>
    <p:extLst>
      <p:ext uri="{BB962C8B-B14F-4D97-AF65-F5344CB8AC3E}">
        <p14:creationId xmlns:p14="http://schemas.microsoft.com/office/powerpoint/2010/main" val="2124208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F837D2ED-A281-4DC5-9139-D6A25F4DF496}"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0AF6BCEB-24BA-4904-8188-A7BD42B8054C}" type="slidenum">
              <a:rPr lang="en-PH" smtClean="0"/>
              <a:t>‹#›</a:t>
            </a:fld>
            <a:endParaRPr lang="en-PH"/>
          </a:p>
        </p:txBody>
      </p:sp>
    </p:spTree>
    <p:extLst>
      <p:ext uri="{BB962C8B-B14F-4D97-AF65-F5344CB8AC3E}">
        <p14:creationId xmlns:p14="http://schemas.microsoft.com/office/powerpoint/2010/main" val="139450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37D2ED-A281-4DC5-9139-D6A25F4DF496}" type="datetimeFigureOut">
              <a:rPr lang="en-PH" smtClean="0"/>
              <a:t>05/11/2024</a:t>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F6BCEB-24BA-4904-8188-A7BD42B8054C}" type="slidenum">
              <a:rPr lang="en-PH" smtClean="0"/>
              <a:t>‹#›</a:t>
            </a:fld>
            <a:endParaRPr lang="en-PH"/>
          </a:p>
        </p:txBody>
      </p:sp>
    </p:spTree>
    <p:extLst>
      <p:ext uri="{BB962C8B-B14F-4D97-AF65-F5344CB8AC3E}">
        <p14:creationId xmlns:p14="http://schemas.microsoft.com/office/powerpoint/2010/main" val="2570576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317501"/>
            <a:ext cx="10706100" cy="825500"/>
          </a:xfrm>
        </p:spPr>
        <p:txBody>
          <a:bodyPr/>
          <a:lstStyle/>
          <a:p>
            <a:r>
              <a:rPr lang="en-PH" b="1" dirty="0">
                <a:solidFill>
                  <a:schemeClr val="tx2"/>
                </a:solidFill>
              </a:rPr>
              <a:t>DIGITAL – ANALOG CONVERTERS</a:t>
            </a:r>
          </a:p>
        </p:txBody>
      </p:sp>
      <p:sp>
        <p:nvSpPr>
          <p:cNvPr id="3" name="Content Placeholder 2"/>
          <p:cNvSpPr>
            <a:spLocks noGrp="1"/>
          </p:cNvSpPr>
          <p:nvPr>
            <p:ph idx="1"/>
          </p:nvPr>
        </p:nvSpPr>
        <p:spPr>
          <a:xfrm>
            <a:off x="647700" y="977900"/>
            <a:ext cx="10934700" cy="5486400"/>
          </a:xfrm>
        </p:spPr>
        <p:txBody>
          <a:bodyPr>
            <a:noAutofit/>
          </a:bodyPr>
          <a:lstStyle/>
          <a:p>
            <a:pPr marL="0" indent="0">
              <a:buNone/>
            </a:pPr>
            <a:r>
              <a:rPr lang="en-PH" sz="4400" dirty="0"/>
              <a:t>Many voltages and currents vary continuously over some range of values. The signals are either one of two levels, representing the binary values of 1 or 0. </a:t>
            </a:r>
          </a:p>
          <a:p>
            <a:pPr marL="0" indent="0">
              <a:buNone/>
            </a:pPr>
            <a:r>
              <a:rPr lang="en-PH" sz="4400" dirty="0"/>
              <a:t>An analog to digital converter (ADC) obtains a digital value representing an input analog voltage, while a digital to analog converter (DAC) changes a digital value back into an analog voltage.</a:t>
            </a:r>
          </a:p>
        </p:txBody>
      </p:sp>
    </p:spTree>
    <p:extLst>
      <p:ext uri="{BB962C8B-B14F-4D97-AF65-F5344CB8AC3E}">
        <p14:creationId xmlns:p14="http://schemas.microsoft.com/office/powerpoint/2010/main" val="1422100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09600" y="381000"/>
            <a:ext cx="10909300" cy="6019800"/>
          </a:xfrm>
        </p:spPr>
        <p:txBody>
          <a:bodyPr>
            <a:normAutofit/>
          </a:bodyPr>
          <a:lstStyle/>
          <a:p>
            <a:pPr marL="0" indent="0">
              <a:buNone/>
            </a:pPr>
            <a:r>
              <a:rPr lang="en-PH" sz="4400" dirty="0"/>
              <a:t>ADC and DAC interface</a:t>
            </a:r>
          </a:p>
          <a:p>
            <a:pPr marL="0" indent="0">
              <a:buNone/>
            </a:pPr>
            <a:endParaRPr lang="en-PH" dirty="0"/>
          </a:p>
          <a:p>
            <a:pPr marL="0" indent="0">
              <a:buNone/>
            </a:pPr>
            <a:endParaRPr lang="en-PH" dirty="0"/>
          </a:p>
          <a:p>
            <a:pPr marL="0" indent="0">
              <a:buNone/>
            </a:pPr>
            <a:endParaRPr lang="en-PH" dirty="0"/>
          </a:p>
          <a:p>
            <a:pPr marL="0" indent="0">
              <a:buNone/>
            </a:pPr>
            <a:endParaRPr lang="en-PH" dirty="0"/>
          </a:p>
          <a:p>
            <a:pPr marL="0" indent="0">
              <a:buNone/>
            </a:pPr>
            <a:endParaRPr lang="en-PH" dirty="0"/>
          </a:p>
          <a:p>
            <a:pPr marL="0" indent="0">
              <a:buNone/>
            </a:pPr>
            <a:endParaRPr lang="en-PH" dirty="0"/>
          </a:p>
          <a:p>
            <a:pPr marL="0" indent="0">
              <a:buNone/>
            </a:pPr>
            <a:endParaRPr lang="en-PH" dirty="0"/>
          </a:p>
          <a:p>
            <a:pPr marL="0" indent="0">
              <a:buNone/>
            </a:pPr>
            <a:endParaRPr lang="en-PH" dirty="0"/>
          </a:p>
        </p:txBody>
      </p:sp>
      <p:pic>
        <p:nvPicPr>
          <p:cNvPr id="7" name="Picture 6"/>
          <p:cNvPicPr>
            <a:picLocks noChangeAspect="1"/>
          </p:cNvPicPr>
          <p:nvPr/>
        </p:nvPicPr>
        <p:blipFill>
          <a:blip r:embed="rId2"/>
          <a:stretch>
            <a:fillRect/>
          </a:stretch>
        </p:blipFill>
        <p:spPr>
          <a:xfrm>
            <a:off x="609600" y="1320800"/>
            <a:ext cx="10997820" cy="3530600"/>
          </a:xfrm>
          <a:prstGeom prst="rect">
            <a:avLst/>
          </a:prstGeom>
        </p:spPr>
      </p:pic>
    </p:spTree>
    <p:extLst>
      <p:ext uri="{BB962C8B-B14F-4D97-AF65-F5344CB8AC3E}">
        <p14:creationId xmlns:p14="http://schemas.microsoft.com/office/powerpoint/2010/main" val="1124951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09600" y="381000"/>
            <a:ext cx="10909300" cy="6019800"/>
          </a:xfrm>
        </p:spPr>
        <p:txBody>
          <a:bodyPr>
            <a:noAutofit/>
          </a:bodyPr>
          <a:lstStyle/>
          <a:p>
            <a:pPr marL="0" indent="0">
              <a:buNone/>
            </a:pPr>
            <a:r>
              <a:rPr lang="en-PH" sz="4400" dirty="0">
                <a:solidFill>
                  <a:schemeClr val="tx2"/>
                </a:solidFill>
              </a:rPr>
              <a:t>Transducer </a:t>
            </a:r>
          </a:p>
          <a:p>
            <a:pPr marL="0" indent="0">
              <a:buNone/>
            </a:pPr>
            <a:r>
              <a:rPr lang="en-PH" sz="4400" dirty="0"/>
              <a:t>A device that converts the physical variable to an electrical variable. The electrical output of the transducer is an analog current or voltage that is proportional to the physical variable it is monitoring. Some common transducers: thermistors, photocells, photo diodes, flow meters, pressure transducers, and tachometers.</a:t>
            </a:r>
          </a:p>
        </p:txBody>
      </p:sp>
    </p:spTree>
    <p:extLst>
      <p:ext uri="{BB962C8B-B14F-4D97-AF65-F5344CB8AC3E}">
        <p14:creationId xmlns:p14="http://schemas.microsoft.com/office/powerpoint/2010/main" val="361302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br>
              <a:rPr lang="en-PH" dirty="0"/>
            </a:br>
            <a:r>
              <a:rPr lang="en-PH" dirty="0"/>
              <a:t>THERMISTOR</a:t>
            </a:r>
          </a:p>
        </p:txBody>
      </p:sp>
      <p:pic>
        <p:nvPicPr>
          <p:cNvPr id="4" name="Content Placeholder 3"/>
          <p:cNvPicPr>
            <a:picLocks noGrp="1" noChangeAspect="1"/>
          </p:cNvPicPr>
          <p:nvPr>
            <p:ph idx="1"/>
          </p:nvPr>
        </p:nvPicPr>
        <p:blipFill>
          <a:blip r:embed="rId2"/>
          <a:stretch>
            <a:fillRect/>
          </a:stretch>
        </p:blipFill>
        <p:spPr>
          <a:xfrm>
            <a:off x="1911350" y="2543571"/>
            <a:ext cx="1172146" cy="1627981"/>
          </a:xfrm>
          <a:prstGeom prst="rect">
            <a:avLst/>
          </a:prstGeom>
        </p:spPr>
      </p:pic>
      <p:pic>
        <p:nvPicPr>
          <p:cNvPr id="7" name="Picture 6"/>
          <p:cNvPicPr>
            <a:picLocks noChangeAspect="1"/>
          </p:cNvPicPr>
          <p:nvPr/>
        </p:nvPicPr>
        <p:blipFill>
          <a:blip r:embed="rId3"/>
          <a:stretch>
            <a:fillRect/>
          </a:stretch>
        </p:blipFill>
        <p:spPr>
          <a:xfrm>
            <a:off x="5102225" y="646398"/>
            <a:ext cx="5149850" cy="2711164"/>
          </a:xfrm>
          <a:prstGeom prst="rect">
            <a:avLst/>
          </a:prstGeom>
        </p:spPr>
      </p:pic>
      <p:pic>
        <p:nvPicPr>
          <p:cNvPr id="8" name="Picture 7"/>
          <p:cNvPicPr>
            <a:picLocks noChangeAspect="1"/>
          </p:cNvPicPr>
          <p:nvPr/>
        </p:nvPicPr>
        <p:blipFill>
          <a:blip r:embed="rId4"/>
          <a:stretch>
            <a:fillRect/>
          </a:stretch>
        </p:blipFill>
        <p:spPr>
          <a:xfrm>
            <a:off x="5102225" y="3357562"/>
            <a:ext cx="5189197" cy="2992437"/>
          </a:xfrm>
          <a:prstGeom prst="rect">
            <a:avLst/>
          </a:prstGeom>
        </p:spPr>
      </p:pic>
    </p:spTree>
    <p:extLst>
      <p:ext uri="{BB962C8B-B14F-4D97-AF65-F5344CB8AC3E}">
        <p14:creationId xmlns:p14="http://schemas.microsoft.com/office/powerpoint/2010/main" val="1966722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900"/>
            <a:ext cx="10515600" cy="1325563"/>
          </a:xfrm>
        </p:spPr>
        <p:txBody>
          <a:bodyPr/>
          <a:lstStyle/>
          <a:p>
            <a:r>
              <a:rPr lang="en-PH" dirty="0"/>
              <a:t>PHOTOCELL &amp; PHOTO DIODES</a:t>
            </a:r>
          </a:p>
        </p:txBody>
      </p:sp>
      <p:sp>
        <p:nvSpPr>
          <p:cNvPr id="3" name="Content Placeholder 2"/>
          <p:cNvSpPr>
            <a:spLocks noGrp="1"/>
          </p:cNvSpPr>
          <p:nvPr>
            <p:ph idx="1"/>
          </p:nvPr>
        </p:nvSpPr>
        <p:spPr>
          <a:xfrm>
            <a:off x="838200" y="1295400"/>
            <a:ext cx="10515600" cy="4881563"/>
          </a:xfrm>
        </p:spPr>
        <p:txBody>
          <a:bodyPr/>
          <a:lstStyle/>
          <a:p>
            <a:pPr marL="0" indent="0">
              <a:buNone/>
            </a:pPr>
            <a:r>
              <a:rPr lang="en-PH" dirty="0"/>
              <a:t>PHOTOCELL						PHOTO DIODES</a:t>
            </a:r>
          </a:p>
        </p:txBody>
      </p:sp>
      <p:pic>
        <p:nvPicPr>
          <p:cNvPr id="5" name="Picture 4"/>
          <p:cNvPicPr>
            <a:picLocks noChangeAspect="1"/>
          </p:cNvPicPr>
          <p:nvPr/>
        </p:nvPicPr>
        <p:blipFill>
          <a:blip r:embed="rId2"/>
          <a:stretch>
            <a:fillRect/>
          </a:stretch>
        </p:blipFill>
        <p:spPr>
          <a:xfrm>
            <a:off x="769936" y="2228851"/>
            <a:ext cx="1285875" cy="1485900"/>
          </a:xfrm>
          <a:prstGeom prst="rect">
            <a:avLst/>
          </a:prstGeom>
        </p:spPr>
      </p:pic>
      <p:pic>
        <p:nvPicPr>
          <p:cNvPr id="6" name="Picture 5"/>
          <p:cNvPicPr>
            <a:picLocks noChangeAspect="1"/>
          </p:cNvPicPr>
          <p:nvPr/>
        </p:nvPicPr>
        <p:blipFill>
          <a:blip r:embed="rId3"/>
          <a:stretch>
            <a:fillRect/>
          </a:stretch>
        </p:blipFill>
        <p:spPr>
          <a:xfrm>
            <a:off x="2336800" y="2093914"/>
            <a:ext cx="3759200" cy="2615096"/>
          </a:xfrm>
          <a:prstGeom prst="rect">
            <a:avLst/>
          </a:prstGeom>
        </p:spPr>
      </p:pic>
      <p:pic>
        <p:nvPicPr>
          <p:cNvPr id="7" name="Picture 6"/>
          <p:cNvPicPr>
            <a:picLocks noChangeAspect="1"/>
          </p:cNvPicPr>
          <p:nvPr/>
        </p:nvPicPr>
        <p:blipFill>
          <a:blip r:embed="rId4"/>
          <a:stretch>
            <a:fillRect/>
          </a:stretch>
        </p:blipFill>
        <p:spPr>
          <a:xfrm>
            <a:off x="1803399" y="4899510"/>
            <a:ext cx="2374901" cy="1755851"/>
          </a:xfrm>
          <a:prstGeom prst="rect">
            <a:avLst/>
          </a:prstGeom>
        </p:spPr>
      </p:pic>
      <p:pic>
        <p:nvPicPr>
          <p:cNvPr id="8" name="Picture 7"/>
          <p:cNvPicPr>
            <a:picLocks noChangeAspect="1"/>
          </p:cNvPicPr>
          <p:nvPr/>
        </p:nvPicPr>
        <p:blipFill>
          <a:blip r:embed="rId5"/>
          <a:stretch>
            <a:fillRect/>
          </a:stretch>
        </p:blipFill>
        <p:spPr>
          <a:xfrm>
            <a:off x="7723187" y="4706937"/>
            <a:ext cx="3381375" cy="1724025"/>
          </a:xfrm>
          <a:prstGeom prst="rect">
            <a:avLst/>
          </a:prstGeom>
        </p:spPr>
      </p:pic>
      <p:pic>
        <p:nvPicPr>
          <p:cNvPr id="9" name="Picture 8"/>
          <p:cNvPicPr>
            <a:picLocks noChangeAspect="1"/>
          </p:cNvPicPr>
          <p:nvPr/>
        </p:nvPicPr>
        <p:blipFill>
          <a:blip r:embed="rId6"/>
          <a:stretch>
            <a:fillRect/>
          </a:stretch>
        </p:blipFill>
        <p:spPr>
          <a:xfrm>
            <a:off x="6878636" y="2051051"/>
            <a:ext cx="4791075" cy="2581275"/>
          </a:xfrm>
          <a:prstGeom prst="rect">
            <a:avLst/>
          </a:prstGeom>
        </p:spPr>
      </p:pic>
    </p:spTree>
    <p:extLst>
      <p:ext uri="{BB962C8B-B14F-4D97-AF65-F5344CB8AC3E}">
        <p14:creationId xmlns:p14="http://schemas.microsoft.com/office/powerpoint/2010/main" val="792109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FLOW METERS &amp; PRESSURE TRANSDUCERS</a:t>
            </a:r>
          </a:p>
        </p:txBody>
      </p:sp>
      <p:sp>
        <p:nvSpPr>
          <p:cNvPr id="3" name="Content Placeholder 2"/>
          <p:cNvSpPr>
            <a:spLocks noGrp="1"/>
          </p:cNvSpPr>
          <p:nvPr>
            <p:ph idx="1"/>
          </p:nvPr>
        </p:nvSpPr>
        <p:spPr>
          <a:xfrm>
            <a:off x="838200" y="1498600"/>
            <a:ext cx="10515600" cy="4678363"/>
          </a:xfrm>
        </p:spPr>
        <p:txBody>
          <a:bodyPr/>
          <a:lstStyle/>
          <a:p>
            <a:pPr marL="0" indent="0">
              <a:buNone/>
            </a:pPr>
            <a:r>
              <a:rPr lang="en-PH" dirty="0"/>
              <a:t>FLOW METERS				PRESSURE TRANSDUCERS</a:t>
            </a:r>
          </a:p>
        </p:txBody>
      </p:sp>
      <p:pic>
        <p:nvPicPr>
          <p:cNvPr id="5" name="Picture 4"/>
          <p:cNvPicPr>
            <a:picLocks noChangeAspect="1"/>
          </p:cNvPicPr>
          <p:nvPr/>
        </p:nvPicPr>
        <p:blipFill rotWithShape="1">
          <a:blip r:embed="rId2"/>
          <a:srcRect l="2419" r="739"/>
          <a:stretch/>
        </p:blipFill>
        <p:spPr>
          <a:xfrm>
            <a:off x="541229" y="2235201"/>
            <a:ext cx="4576872" cy="3611562"/>
          </a:xfrm>
          <a:prstGeom prst="rect">
            <a:avLst/>
          </a:prstGeom>
        </p:spPr>
      </p:pic>
      <p:pic>
        <p:nvPicPr>
          <p:cNvPr id="6" name="Picture 5"/>
          <p:cNvPicPr>
            <a:picLocks noChangeAspect="1"/>
          </p:cNvPicPr>
          <p:nvPr/>
        </p:nvPicPr>
        <p:blipFill>
          <a:blip r:embed="rId3"/>
          <a:stretch>
            <a:fillRect/>
          </a:stretch>
        </p:blipFill>
        <p:spPr>
          <a:xfrm>
            <a:off x="6446837" y="1981200"/>
            <a:ext cx="4937574" cy="4080486"/>
          </a:xfrm>
          <a:prstGeom prst="rect">
            <a:avLst/>
          </a:prstGeom>
        </p:spPr>
      </p:pic>
    </p:spTree>
    <p:extLst>
      <p:ext uri="{BB962C8B-B14F-4D97-AF65-F5344CB8AC3E}">
        <p14:creationId xmlns:p14="http://schemas.microsoft.com/office/powerpoint/2010/main" val="2915113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TACHOMETERS</a:t>
            </a:r>
          </a:p>
        </p:txBody>
      </p:sp>
      <p:pic>
        <p:nvPicPr>
          <p:cNvPr id="7" name="Content Placeholder 6"/>
          <p:cNvPicPr>
            <a:picLocks noGrp="1" noChangeAspect="1"/>
          </p:cNvPicPr>
          <p:nvPr>
            <p:ph idx="1"/>
          </p:nvPr>
        </p:nvPicPr>
        <p:blipFill>
          <a:blip r:embed="rId2"/>
          <a:stretch>
            <a:fillRect/>
          </a:stretch>
        </p:blipFill>
        <p:spPr>
          <a:xfrm>
            <a:off x="1612900" y="1851819"/>
            <a:ext cx="3304006" cy="3583781"/>
          </a:xfrm>
          <a:prstGeom prst="rect">
            <a:avLst/>
          </a:prstGeom>
        </p:spPr>
      </p:pic>
      <p:pic>
        <p:nvPicPr>
          <p:cNvPr id="8" name="Picture 7"/>
          <p:cNvPicPr>
            <a:picLocks noChangeAspect="1"/>
          </p:cNvPicPr>
          <p:nvPr/>
        </p:nvPicPr>
        <p:blipFill>
          <a:blip r:embed="rId3"/>
          <a:stretch>
            <a:fillRect/>
          </a:stretch>
        </p:blipFill>
        <p:spPr>
          <a:xfrm>
            <a:off x="5649912" y="1851819"/>
            <a:ext cx="4526152" cy="3685381"/>
          </a:xfrm>
          <a:prstGeom prst="rect">
            <a:avLst/>
          </a:prstGeom>
        </p:spPr>
      </p:pic>
    </p:spTree>
    <p:extLst>
      <p:ext uri="{BB962C8B-B14F-4D97-AF65-F5344CB8AC3E}">
        <p14:creationId xmlns:p14="http://schemas.microsoft.com/office/powerpoint/2010/main" val="3116002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09600" y="381000"/>
            <a:ext cx="10909300" cy="6019800"/>
          </a:xfrm>
        </p:spPr>
        <p:txBody>
          <a:bodyPr>
            <a:noAutofit/>
          </a:bodyPr>
          <a:lstStyle/>
          <a:p>
            <a:pPr marL="0" indent="0">
              <a:buNone/>
            </a:pPr>
            <a:r>
              <a:rPr lang="en-PH" sz="4400" dirty="0">
                <a:solidFill>
                  <a:schemeClr val="tx2"/>
                </a:solidFill>
              </a:rPr>
              <a:t>Analog to Digital Converter (ADC)</a:t>
            </a:r>
          </a:p>
          <a:p>
            <a:pPr marL="0" indent="0">
              <a:buNone/>
            </a:pPr>
            <a:r>
              <a:rPr lang="en-PH" sz="4400" dirty="0"/>
              <a:t>The transducer’s electrical analog output serves as the analog input to the ADC. The ADC converts this analog input to a digital output. This digital output consists of a number of bits that represent the value of the analog input.</a:t>
            </a:r>
          </a:p>
        </p:txBody>
      </p:sp>
    </p:spTree>
    <p:extLst>
      <p:ext uri="{BB962C8B-B14F-4D97-AF65-F5344CB8AC3E}">
        <p14:creationId xmlns:p14="http://schemas.microsoft.com/office/powerpoint/2010/main" val="2583741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09600" y="381000"/>
            <a:ext cx="10909300" cy="6019800"/>
          </a:xfrm>
        </p:spPr>
        <p:txBody>
          <a:bodyPr>
            <a:noAutofit/>
          </a:bodyPr>
          <a:lstStyle/>
          <a:p>
            <a:pPr marL="0" indent="0">
              <a:buNone/>
            </a:pPr>
            <a:r>
              <a:rPr lang="en-PH" sz="4400" dirty="0">
                <a:solidFill>
                  <a:schemeClr val="tx2"/>
                </a:solidFill>
              </a:rPr>
              <a:t>Digital System</a:t>
            </a:r>
          </a:p>
          <a:p>
            <a:pPr marL="0" indent="0">
              <a:buNone/>
            </a:pPr>
            <a:r>
              <a:rPr lang="en-PH" sz="4400" dirty="0"/>
              <a:t>The digital representation of the process variable is transmitted from the ADC to the digital computer, which stores the digital value and processes it according to a program of instructions that it is executing. The program might perform calculations or other operations on this digital representation.</a:t>
            </a:r>
          </a:p>
        </p:txBody>
      </p:sp>
    </p:spTree>
    <p:extLst>
      <p:ext uri="{BB962C8B-B14F-4D97-AF65-F5344CB8AC3E}">
        <p14:creationId xmlns:p14="http://schemas.microsoft.com/office/powerpoint/2010/main" val="1585793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09600" y="381000"/>
            <a:ext cx="10909300" cy="6019800"/>
          </a:xfrm>
        </p:spPr>
        <p:txBody>
          <a:bodyPr>
            <a:noAutofit/>
          </a:bodyPr>
          <a:lstStyle/>
          <a:p>
            <a:pPr marL="0" indent="0">
              <a:buNone/>
            </a:pPr>
            <a:r>
              <a:rPr lang="en-PH" sz="4400" dirty="0">
                <a:solidFill>
                  <a:schemeClr val="tx2"/>
                </a:solidFill>
              </a:rPr>
              <a:t>Digital to Analog Converter (DAC)</a:t>
            </a:r>
          </a:p>
          <a:p>
            <a:pPr marL="0" indent="0">
              <a:buNone/>
            </a:pPr>
            <a:r>
              <a:rPr lang="en-PH" sz="4400" dirty="0"/>
              <a:t>This digital output from the computer is connected to a DAC, which converts it to a proportional analog voltage or current.</a:t>
            </a:r>
          </a:p>
        </p:txBody>
      </p:sp>
    </p:spTree>
    <p:extLst>
      <p:ext uri="{BB962C8B-B14F-4D97-AF65-F5344CB8AC3E}">
        <p14:creationId xmlns:p14="http://schemas.microsoft.com/office/powerpoint/2010/main" val="3934311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609600" y="381000"/>
            <a:ext cx="10909300" cy="6019800"/>
          </a:xfrm>
        </p:spPr>
        <p:txBody>
          <a:bodyPr>
            <a:noAutofit/>
          </a:bodyPr>
          <a:lstStyle/>
          <a:p>
            <a:pPr marL="0" indent="0">
              <a:buNone/>
            </a:pPr>
            <a:r>
              <a:rPr lang="en-PH" sz="4400" dirty="0">
                <a:solidFill>
                  <a:schemeClr val="tx2"/>
                </a:solidFill>
              </a:rPr>
              <a:t>Actuator </a:t>
            </a:r>
          </a:p>
          <a:p>
            <a:pPr marL="0" indent="0">
              <a:buNone/>
            </a:pPr>
            <a:r>
              <a:rPr lang="en-PH" sz="4400" dirty="0"/>
              <a:t>The analog signal from the DAC is often connected to some device or circuit that serves as an actuator to control the physical variable. </a:t>
            </a:r>
          </a:p>
          <a:p>
            <a:pPr marL="0" indent="0">
              <a:buNone/>
            </a:pPr>
            <a:endParaRPr lang="en-PH" sz="4400" dirty="0"/>
          </a:p>
          <a:p>
            <a:pPr marL="0" indent="0">
              <a:buNone/>
            </a:pPr>
            <a:r>
              <a:rPr lang="en-PH" sz="4400" dirty="0"/>
              <a:t>A device that causes a machine or other device to operate.</a:t>
            </a:r>
          </a:p>
        </p:txBody>
      </p:sp>
    </p:spTree>
    <p:extLst>
      <p:ext uri="{BB962C8B-B14F-4D97-AF65-F5344CB8AC3E}">
        <p14:creationId xmlns:p14="http://schemas.microsoft.com/office/powerpoint/2010/main" val="1105920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ACTUATORS</a:t>
            </a:r>
          </a:p>
        </p:txBody>
      </p:sp>
      <p:pic>
        <p:nvPicPr>
          <p:cNvPr id="4" name="Content Placeholder 3"/>
          <p:cNvPicPr>
            <a:picLocks noGrp="1" noChangeAspect="1"/>
          </p:cNvPicPr>
          <p:nvPr>
            <p:ph idx="1"/>
          </p:nvPr>
        </p:nvPicPr>
        <p:blipFill>
          <a:blip r:embed="rId2"/>
          <a:stretch>
            <a:fillRect/>
          </a:stretch>
        </p:blipFill>
        <p:spPr>
          <a:xfrm>
            <a:off x="596486" y="1425940"/>
            <a:ext cx="6741112" cy="3488960"/>
          </a:xfrm>
          <a:prstGeom prst="rect">
            <a:avLst/>
          </a:prstGeom>
        </p:spPr>
      </p:pic>
      <p:pic>
        <p:nvPicPr>
          <p:cNvPr id="5" name="Picture 4"/>
          <p:cNvPicPr>
            <a:picLocks noChangeAspect="1"/>
          </p:cNvPicPr>
          <p:nvPr/>
        </p:nvPicPr>
        <p:blipFill>
          <a:blip r:embed="rId3"/>
          <a:stretch>
            <a:fillRect/>
          </a:stretch>
        </p:blipFill>
        <p:spPr>
          <a:xfrm>
            <a:off x="342900" y="4324350"/>
            <a:ext cx="990600" cy="590550"/>
          </a:xfrm>
          <a:prstGeom prst="rect">
            <a:avLst/>
          </a:prstGeom>
        </p:spPr>
      </p:pic>
      <p:pic>
        <p:nvPicPr>
          <p:cNvPr id="6" name="Picture 5"/>
          <p:cNvPicPr>
            <a:picLocks noChangeAspect="1"/>
          </p:cNvPicPr>
          <p:nvPr/>
        </p:nvPicPr>
        <p:blipFill>
          <a:blip r:embed="rId4"/>
          <a:stretch>
            <a:fillRect/>
          </a:stretch>
        </p:blipFill>
        <p:spPr>
          <a:xfrm>
            <a:off x="7218337" y="1311640"/>
            <a:ext cx="4591050" cy="2324100"/>
          </a:xfrm>
          <a:prstGeom prst="rect">
            <a:avLst/>
          </a:prstGeom>
        </p:spPr>
      </p:pic>
      <p:pic>
        <p:nvPicPr>
          <p:cNvPr id="7" name="Picture 6"/>
          <p:cNvPicPr>
            <a:picLocks noChangeAspect="1"/>
          </p:cNvPicPr>
          <p:nvPr/>
        </p:nvPicPr>
        <p:blipFill>
          <a:blip r:embed="rId3"/>
          <a:stretch>
            <a:fillRect/>
          </a:stretch>
        </p:blipFill>
        <p:spPr>
          <a:xfrm>
            <a:off x="7037990" y="3045190"/>
            <a:ext cx="990600" cy="590550"/>
          </a:xfrm>
          <a:prstGeom prst="rect">
            <a:avLst/>
          </a:prstGeom>
        </p:spPr>
      </p:pic>
      <p:pic>
        <p:nvPicPr>
          <p:cNvPr id="8" name="Picture 7"/>
          <p:cNvPicPr>
            <a:picLocks noChangeAspect="1"/>
          </p:cNvPicPr>
          <p:nvPr/>
        </p:nvPicPr>
        <p:blipFill>
          <a:blip r:embed="rId3"/>
          <a:stretch>
            <a:fillRect/>
          </a:stretch>
        </p:blipFill>
        <p:spPr>
          <a:xfrm>
            <a:off x="10798327" y="3045190"/>
            <a:ext cx="990600" cy="590550"/>
          </a:xfrm>
          <a:prstGeom prst="rect">
            <a:avLst/>
          </a:prstGeom>
        </p:spPr>
      </p:pic>
    </p:spTree>
    <p:extLst>
      <p:ext uri="{BB962C8B-B14F-4D97-AF65-F5344CB8AC3E}">
        <p14:creationId xmlns:p14="http://schemas.microsoft.com/office/powerpoint/2010/main" val="2601531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7700" y="317501"/>
            <a:ext cx="10706100" cy="825500"/>
          </a:xfrm>
        </p:spPr>
        <p:txBody>
          <a:bodyPr>
            <a:noAutofit/>
          </a:bodyPr>
          <a:lstStyle/>
          <a:p>
            <a:r>
              <a:rPr lang="en-PH" sz="5400" b="1" dirty="0">
                <a:solidFill>
                  <a:schemeClr val="tx2"/>
                </a:solidFill>
              </a:rPr>
              <a:t>Digital to Analog Conversion</a:t>
            </a:r>
          </a:p>
        </p:txBody>
      </p:sp>
      <p:sp>
        <p:nvSpPr>
          <p:cNvPr id="3" name="Content Placeholder 2"/>
          <p:cNvSpPr>
            <a:spLocks noGrp="1"/>
          </p:cNvSpPr>
          <p:nvPr>
            <p:ph idx="1"/>
          </p:nvPr>
        </p:nvSpPr>
        <p:spPr>
          <a:xfrm>
            <a:off x="647700" y="977900"/>
            <a:ext cx="10934700" cy="5486400"/>
          </a:xfrm>
        </p:spPr>
        <p:txBody>
          <a:bodyPr>
            <a:noAutofit/>
          </a:bodyPr>
          <a:lstStyle/>
          <a:p>
            <a:pPr marL="0" indent="0">
              <a:buNone/>
            </a:pPr>
            <a:r>
              <a:rPr lang="en-PH" sz="4400" dirty="0">
                <a:solidFill>
                  <a:schemeClr val="tx2"/>
                </a:solidFill>
              </a:rPr>
              <a:t>Ladder Network Conversion</a:t>
            </a:r>
          </a:p>
          <a:p>
            <a:pPr marL="0" indent="0">
              <a:buNone/>
            </a:pPr>
            <a:r>
              <a:rPr lang="en-PH" sz="4400" dirty="0"/>
              <a:t>A ladder network accepts inputs of binary values at, typically, 0 V or </a:t>
            </a:r>
            <a:r>
              <a:rPr lang="en-PH" sz="4400" i="1" dirty="0"/>
              <a:t>V</a:t>
            </a:r>
            <a:r>
              <a:rPr lang="en-PH" sz="3600" dirty="0"/>
              <a:t>ref</a:t>
            </a:r>
            <a:r>
              <a:rPr lang="en-PH" sz="4400" dirty="0"/>
              <a:t> and provides an output voltage proportional to the binary input value.</a:t>
            </a:r>
          </a:p>
          <a:p>
            <a:pPr marL="0" indent="0">
              <a:buNone/>
            </a:pPr>
            <a:endParaRPr lang="en-PH" sz="4400" dirty="0">
              <a:solidFill>
                <a:srgbClr val="C00000"/>
              </a:solidFill>
            </a:endParaRPr>
          </a:p>
        </p:txBody>
      </p:sp>
      <p:pic>
        <p:nvPicPr>
          <p:cNvPr id="4" name="Picture 3"/>
          <p:cNvPicPr>
            <a:picLocks noChangeAspect="1"/>
          </p:cNvPicPr>
          <p:nvPr/>
        </p:nvPicPr>
        <p:blipFill>
          <a:blip r:embed="rId2"/>
          <a:stretch>
            <a:fillRect/>
          </a:stretch>
        </p:blipFill>
        <p:spPr>
          <a:xfrm>
            <a:off x="2921000" y="3749277"/>
            <a:ext cx="6460623" cy="2600724"/>
          </a:xfrm>
          <a:prstGeom prst="rect">
            <a:avLst/>
          </a:prstGeom>
        </p:spPr>
      </p:pic>
    </p:spTree>
    <p:extLst>
      <p:ext uri="{BB962C8B-B14F-4D97-AF65-F5344CB8AC3E}">
        <p14:creationId xmlns:p14="http://schemas.microsoft.com/office/powerpoint/2010/main" val="427446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700" y="279400"/>
            <a:ext cx="10934700" cy="6184900"/>
          </a:xfrm>
        </p:spPr>
        <p:txBody>
          <a:bodyPr>
            <a:noAutofit/>
          </a:bodyPr>
          <a:lstStyle/>
          <a:p>
            <a:pPr marL="0" indent="0">
              <a:buNone/>
            </a:pPr>
            <a:r>
              <a:rPr lang="en-PH" sz="4400" dirty="0">
                <a:solidFill>
                  <a:schemeClr val="tx2"/>
                </a:solidFill>
              </a:rPr>
              <a:t>Ladder Network Conversion</a:t>
            </a:r>
          </a:p>
          <a:p>
            <a:pPr marL="0" indent="0">
              <a:buNone/>
            </a:pPr>
            <a:r>
              <a:rPr lang="en-PH" sz="4400" dirty="0"/>
              <a:t>A ladder network with four input voltages, representing 4 bits of digital data and a dc voltage output. The output voltage is proportional to the digital input value as given by</a:t>
            </a:r>
            <a:endParaRPr lang="en-PH" sz="4400" dirty="0">
              <a:solidFill>
                <a:srgbClr val="C00000"/>
              </a:solidFill>
            </a:endParaRPr>
          </a:p>
        </p:txBody>
      </p:sp>
      <p:pic>
        <p:nvPicPr>
          <p:cNvPr id="6" name="Picture 5"/>
          <p:cNvPicPr>
            <a:picLocks noChangeAspect="1"/>
          </p:cNvPicPr>
          <p:nvPr/>
        </p:nvPicPr>
        <p:blipFill>
          <a:blip r:embed="rId2"/>
          <a:stretch>
            <a:fillRect/>
          </a:stretch>
        </p:blipFill>
        <p:spPr>
          <a:xfrm>
            <a:off x="1606153" y="4114800"/>
            <a:ext cx="9017794" cy="1600200"/>
          </a:xfrm>
          <a:prstGeom prst="rect">
            <a:avLst/>
          </a:prstGeom>
        </p:spPr>
      </p:pic>
    </p:spTree>
    <p:extLst>
      <p:ext uri="{BB962C8B-B14F-4D97-AF65-F5344CB8AC3E}">
        <p14:creationId xmlns:p14="http://schemas.microsoft.com/office/powerpoint/2010/main" val="4021481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700" y="279400"/>
            <a:ext cx="10934700" cy="6184900"/>
          </a:xfrm>
        </p:spPr>
        <p:txBody>
          <a:bodyPr>
            <a:noAutofit/>
          </a:bodyPr>
          <a:lstStyle/>
          <a:p>
            <a:pPr marL="0" indent="0">
              <a:buNone/>
            </a:pPr>
            <a:r>
              <a:rPr lang="en-PH" sz="4400" dirty="0"/>
              <a:t>The function of the ladder network is to convert the 16 possible binary values from 0000 to 1111 into one of 16 voltage levels in steps of </a:t>
            </a:r>
            <a:r>
              <a:rPr lang="en-PH" sz="4400" i="1" dirty="0"/>
              <a:t>V</a:t>
            </a:r>
            <a:r>
              <a:rPr lang="en-PH" sz="3600" dirty="0"/>
              <a:t>ref</a:t>
            </a:r>
            <a:r>
              <a:rPr lang="en-PH" sz="4400" dirty="0"/>
              <a:t>/16. Using more sections of ladder allows having more binary inputs and greater quantization for each step. For example, a 10-stage ladder network could extend the number of voltage steps or the voltage resolution to </a:t>
            </a:r>
            <a:r>
              <a:rPr lang="en-PH" sz="4400" i="1" dirty="0"/>
              <a:t>V</a:t>
            </a:r>
            <a:r>
              <a:rPr lang="en-PH" sz="3600" dirty="0"/>
              <a:t>ref</a:t>
            </a:r>
            <a:r>
              <a:rPr lang="en-PH" sz="4400" dirty="0"/>
              <a:t>/2¹⁰ or </a:t>
            </a:r>
            <a:r>
              <a:rPr lang="en-PH" sz="4400" i="1" dirty="0"/>
              <a:t>V</a:t>
            </a:r>
            <a:r>
              <a:rPr lang="en-PH" sz="3600" dirty="0"/>
              <a:t>ref</a:t>
            </a:r>
            <a:r>
              <a:rPr lang="en-PH" sz="4400" dirty="0"/>
              <a:t>/1024. A reference voltage of</a:t>
            </a:r>
            <a:endParaRPr lang="en-PH" sz="4400" dirty="0">
              <a:solidFill>
                <a:srgbClr val="C00000"/>
              </a:solidFill>
            </a:endParaRPr>
          </a:p>
        </p:txBody>
      </p:sp>
    </p:spTree>
    <p:extLst>
      <p:ext uri="{BB962C8B-B14F-4D97-AF65-F5344CB8AC3E}">
        <p14:creationId xmlns:p14="http://schemas.microsoft.com/office/powerpoint/2010/main" val="3016845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700" y="279400"/>
            <a:ext cx="10934700" cy="6184900"/>
          </a:xfrm>
        </p:spPr>
        <p:txBody>
          <a:bodyPr>
            <a:noAutofit/>
          </a:bodyPr>
          <a:lstStyle/>
          <a:p>
            <a:pPr marL="0" indent="0">
              <a:buNone/>
            </a:pPr>
            <a:r>
              <a:rPr lang="en-PH" sz="4400" i="1" dirty="0"/>
              <a:t>V</a:t>
            </a:r>
            <a:r>
              <a:rPr lang="en-PH" sz="3600" dirty="0"/>
              <a:t>ref </a:t>
            </a:r>
            <a:r>
              <a:rPr lang="en-PH" sz="4400" dirty="0"/>
              <a:t>=</a:t>
            </a:r>
            <a:r>
              <a:rPr lang="en-PH" sz="3600" dirty="0"/>
              <a:t> </a:t>
            </a:r>
            <a:r>
              <a:rPr lang="en-PH" sz="4400" dirty="0"/>
              <a:t>10 V would then provide output voltage steps of 10 V/1024 or approximately 10 mV. More ladder stages provide greater voltage resolution. In general, the voltage resolution for </a:t>
            </a:r>
            <a:r>
              <a:rPr lang="en-PH" sz="4400" i="1" dirty="0"/>
              <a:t>n </a:t>
            </a:r>
            <a:r>
              <a:rPr lang="en-PH" sz="4400" dirty="0"/>
              <a:t>ladder stages is</a:t>
            </a:r>
            <a:endParaRPr lang="en-PH" sz="4400" dirty="0">
              <a:solidFill>
                <a:srgbClr val="C00000"/>
              </a:solidFill>
            </a:endParaRPr>
          </a:p>
        </p:txBody>
      </p:sp>
      <p:pic>
        <p:nvPicPr>
          <p:cNvPr id="2" name="Picture 1"/>
          <p:cNvPicPr>
            <a:picLocks noChangeAspect="1"/>
          </p:cNvPicPr>
          <p:nvPr/>
        </p:nvPicPr>
        <p:blipFill>
          <a:blip r:embed="rId2">
            <a:biLevel thresh="75000"/>
          </a:blip>
          <a:stretch>
            <a:fillRect/>
          </a:stretch>
        </p:blipFill>
        <p:spPr>
          <a:xfrm>
            <a:off x="4392517" y="3562350"/>
            <a:ext cx="1862234" cy="1530350"/>
          </a:xfrm>
          <a:prstGeom prst="rect">
            <a:avLst/>
          </a:prstGeom>
        </p:spPr>
      </p:pic>
    </p:spTree>
    <p:extLst>
      <p:ext uri="{BB962C8B-B14F-4D97-AF65-F5344CB8AC3E}">
        <p14:creationId xmlns:p14="http://schemas.microsoft.com/office/powerpoint/2010/main" val="2666855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700" y="279400"/>
            <a:ext cx="10934700" cy="6184900"/>
          </a:xfrm>
        </p:spPr>
        <p:txBody>
          <a:bodyPr>
            <a:noAutofit/>
          </a:bodyPr>
          <a:lstStyle/>
          <a:p>
            <a:pPr marL="0" indent="0">
              <a:buNone/>
            </a:pPr>
            <a:r>
              <a:rPr lang="en-PH" sz="4400" dirty="0"/>
              <a:t>The digital inputs D</a:t>
            </a:r>
            <a:r>
              <a:rPr lang="en-PH" dirty="0"/>
              <a:t>0</a:t>
            </a:r>
            <a:r>
              <a:rPr lang="en-PH" sz="4400" dirty="0"/>
              <a:t>, D</a:t>
            </a:r>
            <a:r>
              <a:rPr lang="en-PH" dirty="0"/>
              <a:t>1</a:t>
            </a:r>
            <a:r>
              <a:rPr lang="en-PH" sz="4400" dirty="0"/>
              <a:t>, D</a:t>
            </a:r>
            <a:r>
              <a:rPr lang="en-PH" dirty="0"/>
              <a:t>2</a:t>
            </a:r>
            <a:r>
              <a:rPr lang="en-PH" sz="4400" dirty="0"/>
              <a:t>, and D</a:t>
            </a:r>
            <a:r>
              <a:rPr lang="en-PH" dirty="0"/>
              <a:t>3</a:t>
            </a:r>
            <a:r>
              <a:rPr lang="en-PH" sz="4400" dirty="0"/>
              <a:t> are usually derived from the output register of a digital system. The 2⁴ = 16 different binary numbers represented by these 4 bits for each input number, the D/A converter output voltage is a unique value. In this case, the analog output voltage V</a:t>
            </a:r>
            <a:r>
              <a:rPr lang="en-PH" sz="3200" dirty="0"/>
              <a:t>o</a:t>
            </a:r>
            <a:r>
              <a:rPr lang="en-PH" sz="4400" dirty="0"/>
              <a:t> is equal in volts to the binary number.</a:t>
            </a:r>
          </a:p>
        </p:txBody>
      </p:sp>
    </p:spTree>
    <p:extLst>
      <p:ext uri="{BB962C8B-B14F-4D97-AF65-F5344CB8AC3E}">
        <p14:creationId xmlns:p14="http://schemas.microsoft.com/office/powerpoint/2010/main" val="1077462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700" y="279400"/>
            <a:ext cx="10934700" cy="6184900"/>
          </a:xfrm>
        </p:spPr>
        <p:txBody>
          <a:bodyPr>
            <a:noAutofit/>
          </a:bodyPr>
          <a:lstStyle/>
          <a:p>
            <a:pPr marL="0" indent="0">
              <a:buNone/>
            </a:pPr>
            <a:r>
              <a:rPr lang="en-PH" sz="4400" dirty="0"/>
              <a:t>In general,</a:t>
            </a:r>
          </a:p>
          <a:p>
            <a:pPr marL="0" indent="0">
              <a:buNone/>
            </a:pPr>
            <a:r>
              <a:rPr lang="nn-NO" sz="4400" dirty="0"/>
              <a:t>Analog output = K × digital input</a:t>
            </a:r>
          </a:p>
          <a:p>
            <a:endParaRPr lang="en-PH" sz="4400" dirty="0"/>
          </a:p>
          <a:p>
            <a:pPr marL="0" indent="0">
              <a:buNone/>
            </a:pPr>
            <a:r>
              <a:rPr lang="en-PH" sz="4400" dirty="0"/>
              <a:t>where K is the proportionality factor and it is constant value for a given DAC. The analog output can be a voltage or current. When it is a voltage, K will be in voltage units, and when the output is current, K will be in current units. </a:t>
            </a:r>
            <a:endParaRPr lang="en-PH" sz="4400" dirty="0">
              <a:solidFill>
                <a:srgbClr val="C00000"/>
              </a:solidFill>
            </a:endParaRPr>
          </a:p>
        </p:txBody>
      </p:sp>
    </p:spTree>
    <p:extLst>
      <p:ext uri="{BB962C8B-B14F-4D97-AF65-F5344CB8AC3E}">
        <p14:creationId xmlns:p14="http://schemas.microsoft.com/office/powerpoint/2010/main" val="1438662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700" y="279400"/>
            <a:ext cx="10934700" cy="6184900"/>
          </a:xfrm>
        </p:spPr>
        <p:txBody>
          <a:bodyPr>
            <a:noAutofit/>
          </a:bodyPr>
          <a:lstStyle/>
          <a:p>
            <a:pPr marL="0" indent="0">
              <a:buNone/>
            </a:pPr>
            <a:r>
              <a:rPr lang="en-PH" sz="4400" dirty="0"/>
              <a:t>For the DAC of K = 1 V, so that</a:t>
            </a:r>
          </a:p>
          <a:p>
            <a:pPr marL="0" indent="0">
              <a:buNone/>
            </a:pPr>
            <a:r>
              <a:rPr lang="en-PH" sz="1800" dirty="0"/>
              <a:t> </a:t>
            </a:r>
          </a:p>
          <a:p>
            <a:pPr marL="0" indent="0">
              <a:buNone/>
            </a:pPr>
            <a:r>
              <a:rPr lang="en-PH" sz="4400" dirty="0"/>
              <a:t>V</a:t>
            </a:r>
            <a:r>
              <a:rPr lang="en-PH" sz="3600" dirty="0"/>
              <a:t>o</a:t>
            </a:r>
            <a:r>
              <a:rPr lang="en-PH" sz="4400" dirty="0"/>
              <a:t> = (1 V) × digital input</a:t>
            </a:r>
          </a:p>
          <a:p>
            <a:pPr marL="0" indent="0">
              <a:buNone/>
            </a:pPr>
            <a:endParaRPr lang="en-PH" sz="4400" dirty="0"/>
          </a:p>
          <a:p>
            <a:pPr marL="0" indent="0">
              <a:buNone/>
            </a:pPr>
            <a:r>
              <a:rPr lang="en-PH" sz="4400" dirty="0"/>
              <a:t>We can use this to calculate V</a:t>
            </a:r>
            <a:r>
              <a:rPr lang="en-PH" sz="3600" dirty="0"/>
              <a:t>o</a:t>
            </a:r>
            <a:r>
              <a:rPr lang="en-PH" sz="4400" dirty="0"/>
              <a:t> for any value of digital input.</a:t>
            </a:r>
          </a:p>
          <a:p>
            <a:pPr marL="0" indent="0">
              <a:buNone/>
            </a:pPr>
            <a:r>
              <a:rPr lang="en-PH" sz="1800" dirty="0"/>
              <a:t> </a:t>
            </a:r>
          </a:p>
          <a:p>
            <a:pPr marL="0" indent="0">
              <a:buNone/>
            </a:pPr>
            <a:r>
              <a:rPr lang="en-PH" sz="4400" dirty="0"/>
              <a:t>Example, with a digital input of 1100</a:t>
            </a:r>
            <a:r>
              <a:rPr lang="en-PH" dirty="0"/>
              <a:t>2</a:t>
            </a:r>
            <a:r>
              <a:rPr lang="en-PH" sz="4400" dirty="0"/>
              <a:t> = 12</a:t>
            </a:r>
            <a:r>
              <a:rPr lang="en-PH" dirty="0"/>
              <a:t>10</a:t>
            </a:r>
            <a:r>
              <a:rPr lang="en-PH" sz="4400" dirty="0"/>
              <a:t>, we obtain</a:t>
            </a:r>
          </a:p>
          <a:p>
            <a:pPr marL="0" indent="0">
              <a:buNone/>
            </a:pPr>
            <a:r>
              <a:rPr lang="en-PH" sz="1800" dirty="0"/>
              <a:t> </a:t>
            </a:r>
            <a:r>
              <a:rPr lang="en-PH" sz="4400" dirty="0"/>
              <a:t>	 V</a:t>
            </a:r>
            <a:r>
              <a:rPr lang="en-PH" sz="3600" dirty="0"/>
              <a:t>o</a:t>
            </a:r>
            <a:r>
              <a:rPr lang="en-PH" sz="4400" dirty="0"/>
              <a:t> = 1V × 12 = 12V</a:t>
            </a:r>
            <a:endParaRPr lang="en-PH" sz="4400" dirty="0">
              <a:solidFill>
                <a:srgbClr val="C00000"/>
              </a:solidFill>
            </a:endParaRPr>
          </a:p>
        </p:txBody>
      </p:sp>
    </p:spTree>
    <p:extLst>
      <p:ext uri="{BB962C8B-B14F-4D97-AF65-F5344CB8AC3E}">
        <p14:creationId xmlns:p14="http://schemas.microsoft.com/office/powerpoint/2010/main" val="2307527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700" y="279400"/>
            <a:ext cx="10934700" cy="6184900"/>
          </a:xfrm>
        </p:spPr>
        <p:txBody>
          <a:bodyPr>
            <a:noAutofit/>
          </a:bodyPr>
          <a:lstStyle/>
          <a:p>
            <a:pPr marL="0" indent="0">
              <a:buNone/>
            </a:pPr>
            <a:r>
              <a:rPr lang="en-PH" sz="4400" dirty="0"/>
              <a:t>Example</a:t>
            </a:r>
          </a:p>
          <a:p>
            <a:pPr marL="742950" indent="-742950">
              <a:buAutoNum type="arabicPeriod"/>
            </a:pPr>
            <a:r>
              <a:rPr lang="en-PH" sz="4400" dirty="0"/>
              <a:t>For a 5-bit DAC digital input of 10100, an output current of 10mA is produced. What will I</a:t>
            </a:r>
            <a:r>
              <a:rPr lang="en-PH" sz="3200" dirty="0"/>
              <a:t>o</a:t>
            </a:r>
            <a:r>
              <a:rPr lang="en-PH" sz="4400" dirty="0"/>
              <a:t> be for a digital input of 11101?</a:t>
            </a:r>
          </a:p>
          <a:p>
            <a:pPr marL="742950" indent="-742950">
              <a:buFont typeface="Arial" panose="020B0604020202020204" pitchFamily="34" charset="0"/>
              <a:buAutoNum type="arabicPeriod"/>
            </a:pPr>
            <a:r>
              <a:rPr lang="en-PH" sz="4400" dirty="0"/>
              <a:t>What is the largest value of output voltage from an 8-bit DAC that produces 1.0V for a digital input of 00110010?</a:t>
            </a:r>
          </a:p>
        </p:txBody>
      </p:sp>
    </p:spTree>
    <p:extLst>
      <p:ext uri="{BB962C8B-B14F-4D97-AF65-F5344CB8AC3E}">
        <p14:creationId xmlns:p14="http://schemas.microsoft.com/office/powerpoint/2010/main" val="419471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700" y="279400"/>
            <a:ext cx="10934700" cy="6184900"/>
          </a:xfrm>
        </p:spPr>
        <p:txBody>
          <a:bodyPr>
            <a:noAutofit/>
          </a:bodyPr>
          <a:lstStyle/>
          <a:p>
            <a:pPr marL="0" indent="0">
              <a:buNone/>
            </a:pPr>
            <a:r>
              <a:rPr lang="en-PH" sz="4400" dirty="0"/>
              <a:t>Solution</a:t>
            </a:r>
          </a:p>
          <a:p>
            <a:pPr marL="742950" indent="-742950">
              <a:buAutoNum type="arabicPeriod"/>
            </a:pPr>
            <a:r>
              <a:rPr lang="en-PH" sz="4400" dirty="0"/>
              <a:t>Convert 10100</a:t>
            </a:r>
            <a:r>
              <a:rPr lang="en-PH" dirty="0"/>
              <a:t>2 </a:t>
            </a:r>
            <a:r>
              <a:rPr lang="en-PH" sz="4400" dirty="0"/>
              <a:t>to 20</a:t>
            </a:r>
            <a:r>
              <a:rPr lang="en-PH" dirty="0"/>
              <a:t>10 </a:t>
            </a:r>
            <a:r>
              <a:rPr lang="en-PH" sz="4400" dirty="0"/>
              <a:t>&amp; 11101</a:t>
            </a:r>
            <a:r>
              <a:rPr lang="en-PH" dirty="0"/>
              <a:t>2 </a:t>
            </a:r>
            <a:r>
              <a:rPr lang="en-PH" sz="4400" dirty="0"/>
              <a:t>to</a:t>
            </a:r>
            <a:r>
              <a:rPr lang="en-PH" dirty="0"/>
              <a:t> </a:t>
            </a:r>
            <a:r>
              <a:rPr lang="en-PH" sz="4400" dirty="0"/>
              <a:t>29</a:t>
            </a:r>
            <a:r>
              <a:rPr lang="en-PH" dirty="0"/>
              <a:t>10</a:t>
            </a:r>
          </a:p>
          <a:p>
            <a:pPr marL="0" indent="0">
              <a:buNone/>
            </a:pPr>
            <a:r>
              <a:rPr lang="en-PH" dirty="0"/>
              <a:t>	</a:t>
            </a:r>
            <a:r>
              <a:rPr lang="en-PH" sz="4400" dirty="0"/>
              <a:t>find K and </a:t>
            </a:r>
            <a:r>
              <a:rPr lang="en-PH" sz="3600" dirty="0"/>
              <a:t> </a:t>
            </a:r>
            <a:r>
              <a:rPr lang="en-PH" sz="4400" dirty="0"/>
              <a:t>I</a:t>
            </a:r>
            <a:r>
              <a:rPr lang="en-PH" sz="3200" dirty="0"/>
              <a:t>o</a:t>
            </a:r>
            <a:r>
              <a:rPr lang="en-PH" sz="4400" dirty="0"/>
              <a:t> </a:t>
            </a:r>
          </a:p>
          <a:p>
            <a:pPr marL="0" indent="0">
              <a:buNone/>
            </a:pPr>
            <a:r>
              <a:rPr lang="en-PH" sz="4400" dirty="0"/>
              <a:t>	</a:t>
            </a:r>
            <a:r>
              <a:rPr lang="nn-NO" sz="4400" dirty="0"/>
              <a:t>Analog output = K × digital input</a:t>
            </a:r>
          </a:p>
          <a:p>
            <a:pPr marL="0" indent="0">
              <a:buNone/>
            </a:pPr>
            <a:r>
              <a:rPr lang="en-PH" sz="4400" dirty="0"/>
              <a:t>			 10mA = K x 20</a:t>
            </a:r>
          </a:p>
          <a:p>
            <a:pPr marL="0" indent="0">
              <a:buNone/>
            </a:pPr>
            <a:r>
              <a:rPr lang="en-PH" sz="4400" dirty="0"/>
              <a:t>				  K = 0.5 mA</a:t>
            </a:r>
          </a:p>
          <a:p>
            <a:pPr marL="0" indent="0">
              <a:buNone/>
            </a:pPr>
            <a:endParaRPr lang="en-PH" sz="1800" dirty="0"/>
          </a:p>
          <a:p>
            <a:pPr marL="0" indent="0">
              <a:buNone/>
            </a:pPr>
            <a:r>
              <a:rPr lang="en-PH" dirty="0"/>
              <a:t>			</a:t>
            </a:r>
            <a:r>
              <a:rPr lang="en-PH" sz="3600" dirty="0"/>
              <a:t> </a:t>
            </a:r>
            <a:r>
              <a:rPr lang="en-PH" sz="4400" dirty="0"/>
              <a:t>I</a:t>
            </a:r>
            <a:r>
              <a:rPr lang="en-PH" sz="3200" dirty="0"/>
              <a:t>o</a:t>
            </a:r>
            <a:r>
              <a:rPr lang="en-PH" sz="4400" dirty="0"/>
              <a:t> = 0.5 mA × 29</a:t>
            </a:r>
          </a:p>
          <a:p>
            <a:pPr marL="0" indent="0">
              <a:buNone/>
            </a:pPr>
            <a:r>
              <a:rPr lang="en-PH" sz="4400" dirty="0"/>
              <a:t>			 I</a:t>
            </a:r>
            <a:r>
              <a:rPr lang="en-PH" sz="3200" dirty="0"/>
              <a:t>o</a:t>
            </a:r>
            <a:r>
              <a:rPr lang="en-PH" sz="4400" dirty="0"/>
              <a:t> = 14.5 mA </a:t>
            </a:r>
          </a:p>
        </p:txBody>
      </p:sp>
      <p:sp>
        <p:nvSpPr>
          <p:cNvPr id="2" name="Rectangle 1"/>
          <p:cNvSpPr/>
          <p:nvPr/>
        </p:nvSpPr>
        <p:spPr>
          <a:xfrm>
            <a:off x="4406900" y="3924300"/>
            <a:ext cx="2895600" cy="736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4" name="Rectangle 3"/>
          <p:cNvSpPr/>
          <p:nvPr/>
        </p:nvSpPr>
        <p:spPr>
          <a:xfrm>
            <a:off x="3543300" y="5740400"/>
            <a:ext cx="2959100" cy="736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503366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700" y="279400"/>
            <a:ext cx="10934700" cy="6184900"/>
          </a:xfrm>
        </p:spPr>
        <p:txBody>
          <a:bodyPr>
            <a:noAutofit/>
          </a:bodyPr>
          <a:lstStyle/>
          <a:p>
            <a:pPr marL="0" indent="0">
              <a:buNone/>
            </a:pPr>
            <a:r>
              <a:rPr lang="en-PH" sz="4400" dirty="0"/>
              <a:t>Solution</a:t>
            </a:r>
          </a:p>
          <a:p>
            <a:pPr marL="0" indent="0">
              <a:buNone/>
            </a:pPr>
            <a:r>
              <a:rPr lang="en-PH" sz="4400" dirty="0"/>
              <a:t>2. Convert 00110010</a:t>
            </a:r>
            <a:r>
              <a:rPr lang="en-PH" dirty="0"/>
              <a:t>2 </a:t>
            </a:r>
            <a:r>
              <a:rPr lang="en-PH" sz="4400" dirty="0"/>
              <a:t>to 50</a:t>
            </a:r>
            <a:r>
              <a:rPr lang="en-PH" dirty="0"/>
              <a:t>10</a:t>
            </a:r>
          </a:p>
          <a:p>
            <a:pPr marL="0" indent="0">
              <a:buNone/>
            </a:pPr>
            <a:r>
              <a:rPr lang="en-PH" dirty="0"/>
              <a:t>	</a:t>
            </a:r>
            <a:r>
              <a:rPr lang="en-PH" sz="4400" dirty="0"/>
              <a:t>find K and </a:t>
            </a:r>
            <a:r>
              <a:rPr lang="en-PH" sz="3600" dirty="0"/>
              <a:t> </a:t>
            </a:r>
            <a:r>
              <a:rPr lang="en-PH" sz="4400" dirty="0"/>
              <a:t>V</a:t>
            </a:r>
            <a:r>
              <a:rPr lang="en-PH" sz="3200" dirty="0"/>
              <a:t>o</a:t>
            </a:r>
            <a:r>
              <a:rPr lang="en-PH" sz="4400" dirty="0"/>
              <a:t> </a:t>
            </a:r>
          </a:p>
          <a:p>
            <a:pPr marL="0" indent="0">
              <a:buNone/>
            </a:pPr>
            <a:r>
              <a:rPr lang="en-PH" sz="4400" dirty="0"/>
              <a:t>	</a:t>
            </a:r>
            <a:r>
              <a:rPr lang="nn-NO" sz="4400" dirty="0"/>
              <a:t>Analog output = K × digital input</a:t>
            </a:r>
          </a:p>
          <a:p>
            <a:pPr marL="0" indent="0">
              <a:buNone/>
            </a:pPr>
            <a:r>
              <a:rPr lang="en-PH" sz="4400" dirty="0"/>
              <a:t>			1 V = K x 50</a:t>
            </a:r>
          </a:p>
          <a:p>
            <a:pPr marL="0" indent="0">
              <a:buNone/>
            </a:pPr>
            <a:r>
              <a:rPr lang="en-PH" sz="4400" dirty="0"/>
              <a:t>	       	  	    K = 20 mV</a:t>
            </a:r>
          </a:p>
          <a:p>
            <a:pPr marL="0" indent="0">
              <a:buNone/>
            </a:pPr>
            <a:r>
              <a:rPr lang="en-PH" sz="4400" dirty="0"/>
              <a:t>The largest output will be 11111111</a:t>
            </a:r>
            <a:r>
              <a:rPr lang="en-PH" dirty="0"/>
              <a:t>2 </a:t>
            </a:r>
            <a:r>
              <a:rPr lang="en-PH" sz="4400" dirty="0"/>
              <a:t>= 255</a:t>
            </a:r>
            <a:r>
              <a:rPr lang="en-PH" dirty="0"/>
              <a:t>10</a:t>
            </a:r>
          </a:p>
          <a:p>
            <a:pPr marL="0" indent="0">
              <a:buNone/>
            </a:pPr>
            <a:r>
              <a:rPr lang="en-PH" sz="4400" dirty="0"/>
              <a:t>			V</a:t>
            </a:r>
            <a:r>
              <a:rPr lang="en-PH" sz="3200" dirty="0"/>
              <a:t>o</a:t>
            </a:r>
            <a:r>
              <a:rPr lang="en-PH" sz="4400" dirty="0"/>
              <a:t> (max) = 20 mV x 255</a:t>
            </a:r>
          </a:p>
          <a:p>
            <a:pPr marL="0" indent="0">
              <a:buNone/>
            </a:pPr>
            <a:r>
              <a:rPr lang="en-PH" sz="4400" dirty="0"/>
              <a:t>			V</a:t>
            </a:r>
            <a:r>
              <a:rPr lang="en-PH" sz="3200" dirty="0"/>
              <a:t>o</a:t>
            </a:r>
            <a:r>
              <a:rPr lang="en-PH" sz="4400" dirty="0"/>
              <a:t> (max) = 5.1 V </a:t>
            </a:r>
          </a:p>
          <a:p>
            <a:pPr marL="0" indent="0">
              <a:buNone/>
            </a:pPr>
            <a:endParaRPr lang="en-PH" sz="4400" dirty="0"/>
          </a:p>
          <a:p>
            <a:pPr marL="0" indent="0">
              <a:buNone/>
            </a:pPr>
            <a:r>
              <a:rPr lang="en-PH" dirty="0"/>
              <a:t>			</a:t>
            </a:r>
            <a:endParaRPr lang="en-PH" sz="4400" dirty="0"/>
          </a:p>
        </p:txBody>
      </p:sp>
      <p:sp>
        <p:nvSpPr>
          <p:cNvPr id="4" name="Rectangle 3"/>
          <p:cNvSpPr/>
          <p:nvPr/>
        </p:nvSpPr>
        <p:spPr>
          <a:xfrm>
            <a:off x="3784600" y="3886200"/>
            <a:ext cx="2895600" cy="736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
        <p:nvSpPr>
          <p:cNvPr id="5" name="Rectangle 4"/>
          <p:cNvSpPr/>
          <p:nvPr/>
        </p:nvSpPr>
        <p:spPr>
          <a:xfrm>
            <a:off x="3454400" y="6083300"/>
            <a:ext cx="3975100" cy="736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H"/>
          </a:p>
        </p:txBody>
      </p:sp>
    </p:spTree>
    <p:extLst>
      <p:ext uri="{BB962C8B-B14F-4D97-AF65-F5344CB8AC3E}">
        <p14:creationId xmlns:p14="http://schemas.microsoft.com/office/powerpoint/2010/main" val="235194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93700" y="254000"/>
            <a:ext cx="11252200" cy="6426200"/>
          </a:xfrm>
        </p:spPr>
        <p:txBody>
          <a:bodyPr>
            <a:normAutofit/>
          </a:bodyPr>
          <a:lstStyle/>
          <a:p>
            <a:pPr marL="0" indent="0">
              <a:buNone/>
            </a:pPr>
            <a:r>
              <a:rPr lang="en-PH" sz="4400" dirty="0">
                <a:solidFill>
                  <a:schemeClr val="tx2"/>
                </a:solidFill>
              </a:rPr>
              <a:t>DAC CIRCUITRY</a:t>
            </a:r>
          </a:p>
          <a:p>
            <a:pPr marL="0" indent="0">
              <a:buNone/>
            </a:pPr>
            <a:r>
              <a:rPr lang="en-PH" sz="4400" dirty="0"/>
              <a:t>Basic circuit for four-bit </a:t>
            </a:r>
          </a:p>
          <a:p>
            <a:pPr marL="0" indent="0">
              <a:buNone/>
            </a:pPr>
            <a:r>
              <a:rPr lang="en-PH" sz="4400" dirty="0"/>
              <a:t>DAC employing an op amp</a:t>
            </a:r>
            <a:r>
              <a:rPr lang="en-PH" sz="4400" i="1" dirty="0"/>
              <a:t> </a:t>
            </a:r>
          </a:p>
          <a:p>
            <a:pPr marL="0" indent="0">
              <a:buNone/>
            </a:pPr>
            <a:r>
              <a:rPr lang="en-PH" sz="4400" dirty="0"/>
              <a:t>as a summing amplifier.</a:t>
            </a:r>
          </a:p>
        </p:txBody>
      </p:sp>
      <p:pic>
        <p:nvPicPr>
          <p:cNvPr id="6" name="Content Placeholder 3"/>
          <p:cNvPicPr>
            <a:picLocks noChangeAspect="1"/>
          </p:cNvPicPr>
          <p:nvPr/>
        </p:nvPicPr>
        <p:blipFill>
          <a:blip r:embed="rId2"/>
          <a:stretch>
            <a:fillRect/>
          </a:stretch>
        </p:blipFill>
        <p:spPr>
          <a:xfrm>
            <a:off x="516895" y="3141775"/>
            <a:ext cx="4394199" cy="3334536"/>
          </a:xfrm>
          <a:prstGeom prst="rect">
            <a:avLst/>
          </a:prstGeom>
        </p:spPr>
      </p:pic>
      <p:pic>
        <p:nvPicPr>
          <p:cNvPr id="7" name="Picture 6"/>
          <p:cNvPicPr>
            <a:picLocks noChangeAspect="1"/>
          </p:cNvPicPr>
          <p:nvPr/>
        </p:nvPicPr>
        <p:blipFill>
          <a:blip r:embed="rId3"/>
          <a:stretch>
            <a:fillRect/>
          </a:stretch>
        </p:blipFill>
        <p:spPr>
          <a:xfrm>
            <a:off x="6870701" y="926074"/>
            <a:ext cx="4583562" cy="5550237"/>
          </a:xfrm>
          <a:prstGeom prst="rect">
            <a:avLst/>
          </a:prstGeom>
        </p:spPr>
      </p:pic>
      <p:pic>
        <p:nvPicPr>
          <p:cNvPr id="12" name="Picture 11"/>
          <p:cNvPicPr>
            <a:picLocks noChangeAspect="1"/>
          </p:cNvPicPr>
          <p:nvPr/>
        </p:nvPicPr>
        <p:blipFill rotWithShape="1">
          <a:blip r:embed="rId4"/>
          <a:srcRect l="2051" t="16731" b="10923"/>
          <a:stretch/>
        </p:blipFill>
        <p:spPr>
          <a:xfrm>
            <a:off x="6839689" y="392641"/>
            <a:ext cx="4208771" cy="407287"/>
          </a:xfrm>
          <a:prstGeom prst="rect">
            <a:avLst/>
          </a:prstGeom>
        </p:spPr>
      </p:pic>
    </p:spTree>
    <p:extLst>
      <p:ext uri="{BB962C8B-B14F-4D97-AF65-F5344CB8AC3E}">
        <p14:creationId xmlns:p14="http://schemas.microsoft.com/office/powerpoint/2010/main" val="2110038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300" y="279400"/>
            <a:ext cx="11315700" cy="6184900"/>
          </a:xfrm>
        </p:spPr>
        <p:txBody>
          <a:bodyPr>
            <a:noAutofit/>
          </a:bodyPr>
          <a:lstStyle/>
          <a:p>
            <a:pPr marL="0" indent="0">
              <a:buNone/>
            </a:pPr>
            <a:r>
              <a:rPr lang="en-PH" sz="4400" dirty="0">
                <a:solidFill>
                  <a:schemeClr val="tx2"/>
                </a:solidFill>
              </a:rPr>
              <a:t>Analog to Digital Conversion</a:t>
            </a:r>
          </a:p>
          <a:p>
            <a:pPr marL="0" indent="0">
              <a:buNone/>
            </a:pPr>
            <a:r>
              <a:rPr lang="en-PH" sz="4400" dirty="0"/>
              <a:t>An analog to digital converter takes an analog input voltage and, after a certain amount of time, produces a digital output code that represents the analog input. The A/D conversion process is generally more complex and time consuming than the D/A process, and many different methods have been developed and used.</a:t>
            </a:r>
          </a:p>
        </p:txBody>
      </p:sp>
    </p:spTree>
    <p:extLst>
      <p:ext uri="{BB962C8B-B14F-4D97-AF65-F5344CB8AC3E}">
        <p14:creationId xmlns:p14="http://schemas.microsoft.com/office/powerpoint/2010/main" val="8182690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300" y="279400"/>
            <a:ext cx="11315700" cy="6184900"/>
          </a:xfrm>
        </p:spPr>
        <p:txBody>
          <a:bodyPr>
            <a:noAutofit/>
          </a:bodyPr>
          <a:lstStyle/>
          <a:p>
            <a:pPr marL="0" indent="0">
              <a:buNone/>
            </a:pPr>
            <a:r>
              <a:rPr lang="en-PH" sz="4400" dirty="0">
                <a:solidFill>
                  <a:schemeClr val="tx2"/>
                </a:solidFill>
              </a:rPr>
              <a:t>Analog to Digital Conversion</a:t>
            </a:r>
          </a:p>
          <a:p>
            <a:pPr marL="0" indent="0">
              <a:buNone/>
            </a:pPr>
            <a:r>
              <a:rPr lang="en-PH" sz="4400" dirty="0"/>
              <a:t>Several important types of ADCs utilize a DAC as part of their circuitry. The timing for the operation is provided by the input clock signal. The control unit contains the logic circuitry for generating the proper sequence of operations in response to the </a:t>
            </a:r>
            <a:r>
              <a:rPr lang="en-PH" sz="4400" i="1" dirty="0"/>
              <a:t>start command</a:t>
            </a:r>
            <a:r>
              <a:rPr lang="en-PH" sz="4400" dirty="0"/>
              <a:t>, which initiates the conversion process.</a:t>
            </a:r>
          </a:p>
        </p:txBody>
      </p:sp>
    </p:spTree>
    <p:extLst>
      <p:ext uri="{BB962C8B-B14F-4D97-AF65-F5344CB8AC3E}">
        <p14:creationId xmlns:p14="http://schemas.microsoft.com/office/powerpoint/2010/main" val="24585084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300" y="304800"/>
            <a:ext cx="11315700" cy="6184900"/>
          </a:xfrm>
        </p:spPr>
        <p:txBody>
          <a:bodyPr>
            <a:noAutofit/>
          </a:bodyPr>
          <a:lstStyle/>
          <a:p>
            <a:pPr marL="0" indent="0">
              <a:buNone/>
            </a:pPr>
            <a:r>
              <a:rPr lang="en-PH" sz="4400" dirty="0">
                <a:solidFill>
                  <a:schemeClr val="tx2"/>
                </a:solidFill>
              </a:rPr>
              <a:t>Analog to Digital Conversion</a:t>
            </a:r>
          </a:p>
          <a:p>
            <a:pPr marL="0" indent="0">
              <a:buNone/>
            </a:pPr>
            <a:r>
              <a:rPr lang="en-PH" sz="4400" dirty="0"/>
              <a:t>The op-amp comparator has two </a:t>
            </a:r>
            <a:r>
              <a:rPr lang="en-PH" sz="4400" i="1" dirty="0"/>
              <a:t>analog </a:t>
            </a:r>
            <a:r>
              <a:rPr lang="en-PH" sz="4400" dirty="0"/>
              <a:t>inputs and a </a:t>
            </a:r>
            <a:r>
              <a:rPr lang="en-PH" sz="4400" i="1" dirty="0"/>
              <a:t>digital </a:t>
            </a:r>
            <a:r>
              <a:rPr lang="en-PH" sz="4400" dirty="0"/>
              <a:t>output that switches states, depending on which analog input is greater.</a:t>
            </a:r>
          </a:p>
        </p:txBody>
      </p:sp>
      <p:pic>
        <p:nvPicPr>
          <p:cNvPr id="2" name="Picture 1"/>
          <p:cNvPicPr>
            <a:picLocks noChangeAspect="1"/>
          </p:cNvPicPr>
          <p:nvPr/>
        </p:nvPicPr>
        <p:blipFill>
          <a:blip r:embed="rId2"/>
          <a:stretch>
            <a:fillRect/>
          </a:stretch>
        </p:blipFill>
        <p:spPr>
          <a:xfrm>
            <a:off x="2717800" y="2865176"/>
            <a:ext cx="6667500" cy="3599125"/>
          </a:xfrm>
          <a:prstGeom prst="rect">
            <a:avLst/>
          </a:prstGeom>
        </p:spPr>
      </p:pic>
    </p:spTree>
    <p:extLst>
      <p:ext uri="{BB962C8B-B14F-4D97-AF65-F5344CB8AC3E}">
        <p14:creationId xmlns:p14="http://schemas.microsoft.com/office/powerpoint/2010/main" val="3817799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300" y="279400"/>
            <a:ext cx="11315700" cy="6184900"/>
          </a:xfrm>
        </p:spPr>
        <p:txBody>
          <a:bodyPr>
            <a:noAutofit/>
          </a:bodyPr>
          <a:lstStyle/>
          <a:p>
            <a:pPr marL="0" indent="0">
              <a:buNone/>
            </a:pPr>
            <a:r>
              <a:rPr lang="en-PH" sz="4400" dirty="0"/>
              <a:t>The basic operation of ADCs of this type consists of the following steps:</a:t>
            </a:r>
          </a:p>
          <a:p>
            <a:pPr marL="0" indent="0">
              <a:buNone/>
            </a:pPr>
            <a:r>
              <a:rPr lang="en-PH" sz="4400" dirty="0"/>
              <a:t>1. The </a:t>
            </a:r>
            <a:r>
              <a:rPr lang="en-PH" sz="4400" i="1" dirty="0"/>
              <a:t>start command </a:t>
            </a:r>
            <a:r>
              <a:rPr lang="en-PH" sz="4400" dirty="0"/>
              <a:t>pulse initiates the 	operation.</a:t>
            </a:r>
          </a:p>
          <a:p>
            <a:pPr marL="0" indent="0">
              <a:buNone/>
            </a:pPr>
            <a:r>
              <a:rPr lang="en-PH" sz="4400" dirty="0"/>
              <a:t>2. At a rate determined by the clock, the control 	unit continually modifies the binary number 	that is stored in the register.</a:t>
            </a:r>
          </a:p>
          <a:p>
            <a:pPr marL="0" indent="0">
              <a:buNone/>
            </a:pPr>
            <a:r>
              <a:rPr lang="en-PH" sz="4400" dirty="0"/>
              <a:t>3. The binary number in the register is converted 	to an analog voltage, V</a:t>
            </a:r>
            <a:r>
              <a:rPr lang="en-PH" dirty="0"/>
              <a:t>AX</a:t>
            </a:r>
            <a:r>
              <a:rPr lang="en-PH" sz="4400" dirty="0"/>
              <a:t>, by the DAC.</a:t>
            </a:r>
          </a:p>
        </p:txBody>
      </p:sp>
    </p:spTree>
    <p:extLst>
      <p:ext uri="{BB962C8B-B14F-4D97-AF65-F5344CB8AC3E}">
        <p14:creationId xmlns:p14="http://schemas.microsoft.com/office/powerpoint/2010/main" val="1466236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300" y="279400"/>
            <a:ext cx="11315700" cy="6184900"/>
          </a:xfrm>
        </p:spPr>
        <p:txBody>
          <a:bodyPr>
            <a:noAutofit/>
          </a:bodyPr>
          <a:lstStyle/>
          <a:p>
            <a:pPr marL="0" indent="0">
              <a:buNone/>
            </a:pPr>
            <a:r>
              <a:rPr lang="en-PH" sz="4400" dirty="0"/>
              <a:t>4. The comparator compares V</a:t>
            </a:r>
            <a:r>
              <a:rPr lang="en-PH" dirty="0"/>
              <a:t>AX</a:t>
            </a:r>
            <a:r>
              <a:rPr lang="en-PH" sz="4400" i="1" dirty="0"/>
              <a:t> </a:t>
            </a:r>
            <a:r>
              <a:rPr lang="en-PH" sz="4400" dirty="0"/>
              <a:t>with the 	analog input V</a:t>
            </a:r>
            <a:r>
              <a:rPr lang="en-PH" dirty="0"/>
              <a:t>A</a:t>
            </a:r>
            <a:r>
              <a:rPr lang="en-PH" sz="4400" i="1" dirty="0"/>
              <a:t>. </a:t>
            </a:r>
            <a:r>
              <a:rPr lang="en-PH" sz="4400" dirty="0"/>
              <a:t>As long as the comparator 	output stays HIGH. When V</a:t>
            </a:r>
            <a:r>
              <a:rPr lang="en-PH" dirty="0"/>
              <a:t>AX</a:t>
            </a:r>
            <a:r>
              <a:rPr lang="en-PH" sz="4400" i="1" dirty="0"/>
              <a:t> </a:t>
            </a:r>
            <a:r>
              <a:rPr lang="en-PH" sz="4400" dirty="0"/>
              <a:t>exceeds V</a:t>
            </a:r>
            <a:r>
              <a:rPr lang="en-PH" dirty="0"/>
              <a:t>A</a:t>
            </a:r>
            <a:r>
              <a:rPr lang="en-PH" sz="4400" i="1" dirty="0"/>
              <a:t> </a:t>
            </a:r>
            <a:r>
              <a:rPr lang="en-PH" sz="4400" dirty="0"/>
              <a:t>by 	at least an amount equal to V</a:t>
            </a:r>
            <a:r>
              <a:rPr lang="en-PH" dirty="0"/>
              <a:t>T</a:t>
            </a:r>
            <a:r>
              <a:rPr lang="en-PH" sz="4400" dirty="0"/>
              <a:t> (threshold 	voltage), the comparator output goes LOW 	and stops the process of modifying the 	register number. At this point, V</a:t>
            </a:r>
            <a:r>
              <a:rPr lang="en-PH" dirty="0"/>
              <a:t>AX</a:t>
            </a:r>
            <a:r>
              <a:rPr lang="en-PH" sz="4400" i="1" dirty="0"/>
              <a:t> </a:t>
            </a:r>
            <a:r>
              <a:rPr lang="en-PH" sz="4400" dirty="0"/>
              <a:t>is a close 	approximation to V</a:t>
            </a:r>
            <a:r>
              <a:rPr lang="en-PH" dirty="0"/>
              <a:t>A</a:t>
            </a:r>
            <a:r>
              <a:rPr lang="en-PH" sz="4400" i="1" dirty="0"/>
              <a:t>. </a:t>
            </a:r>
            <a:r>
              <a:rPr lang="en-PH" sz="4400" dirty="0"/>
              <a:t>The digital number in 	the register, which is the digital equivalent of 	</a:t>
            </a:r>
            <a:endParaRPr lang="en-PH" sz="4400" dirty="0">
              <a:solidFill>
                <a:schemeClr val="tx2"/>
              </a:solidFill>
            </a:endParaRPr>
          </a:p>
        </p:txBody>
      </p:sp>
    </p:spTree>
    <p:extLst>
      <p:ext uri="{BB962C8B-B14F-4D97-AF65-F5344CB8AC3E}">
        <p14:creationId xmlns:p14="http://schemas.microsoft.com/office/powerpoint/2010/main" val="1908318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300" y="279400"/>
            <a:ext cx="11315700" cy="6184900"/>
          </a:xfrm>
        </p:spPr>
        <p:txBody>
          <a:bodyPr>
            <a:noAutofit/>
          </a:bodyPr>
          <a:lstStyle/>
          <a:p>
            <a:pPr marL="0" indent="0">
              <a:buNone/>
            </a:pPr>
            <a:r>
              <a:rPr lang="en-PH" sz="4400" dirty="0"/>
              <a:t>	V</a:t>
            </a:r>
            <a:r>
              <a:rPr lang="en-PH" dirty="0"/>
              <a:t>AX</a:t>
            </a:r>
            <a:r>
              <a:rPr lang="en-PH" sz="4400" dirty="0"/>
              <a:t>, is also the approximate digital 	equivalent of V</a:t>
            </a:r>
            <a:r>
              <a:rPr lang="en-PH" dirty="0"/>
              <a:t>A</a:t>
            </a:r>
            <a:r>
              <a:rPr lang="en-PH" sz="4400" dirty="0"/>
              <a:t>, within the resolution and 	accuracy of the system.</a:t>
            </a:r>
          </a:p>
          <a:p>
            <a:pPr marL="0" indent="0">
              <a:buNone/>
            </a:pPr>
            <a:r>
              <a:rPr lang="en-PH" sz="4400" dirty="0"/>
              <a:t>5. The control logic activates the </a:t>
            </a:r>
            <a:r>
              <a:rPr lang="en-PH" sz="4400" i="1" dirty="0"/>
              <a:t>end of 	conversion</a:t>
            </a:r>
            <a:r>
              <a:rPr lang="en-PH" sz="4400" dirty="0"/>
              <a:t> signal, EOC, when the conversion 	is complete.</a:t>
            </a:r>
            <a:endParaRPr lang="en-PH" sz="4400" dirty="0">
              <a:solidFill>
                <a:schemeClr val="tx2"/>
              </a:solidFill>
            </a:endParaRPr>
          </a:p>
        </p:txBody>
      </p:sp>
    </p:spTree>
    <p:extLst>
      <p:ext uri="{BB962C8B-B14F-4D97-AF65-F5344CB8AC3E}">
        <p14:creationId xmlns:p14="http://schemas.microsoft.com/office/powerpoint/2010/main" val="14345767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300" y="279400"/>
            <a:ext cx="11315700" cy="6184900"/>
          </a:xfrm>
        </p:spPr>
        <p:txBody>
          <a:bodyPr>
            <a:noAutofit/>
          </a:bodyPr>
          <a:lstStyle/>
          <a:p>
            <a:pPr marL="0" indent="0">
              <a:buNone/>
            </a:pPr>
            <a:r>
              <a:rPr lang="en-PH" sz="4400" dirty="0">
                <a:solidFill>
                  <a:srgbClr val="002060"/>
                </a:solidFill>
              </a:rPr>
              <a:t>Digital-Ramp ADC</a:t>
            </a:r>
          </a:p>
          <a:p>
            <a:pPr marL="0" indent="0">
              <a:buNone/>
            </a:pPr>
            <a:r>
              <a:rPr lang="en-PH" sz="4400" dirty="0"/>
              <a:t>It is one of the simplest versions of the general ADC using a binary counter as the register and allows the clock to increment the counter one step at a time until V</a:t>
            </a:r>
            <a:r>
              <a:rPr lang="en-PH" dirty="0"/>
              <a:t>AX</a:t>
            </a:r>
            <a:r>
              <a:rPr lang="en-PH" sz="4400" dirty="0"/>
              <a:t> ≥ V</a:t>
            </a:r>
            <a:r>
              <a:rPr lang="en-PH" dirty="0"/>
              <a:t>A</a:t>
            </a:r>
            <a:r>
              <a:rPr lang="en-PH" sz="4400" dirty="0"/>
              <a:t>. It is called a digital-ramp ADC because the wave form at V</a:t>
            </a:r>
            <a:r>
              <a:rPr lang="en-PH" dirty="0"/>
              <a:t>AX</a:t>
            </a:r>
            <a:r>
              <a:rPr lang="en-PH" sz="4400" dirty="0"/>
              <a:t> is a step-by-step ramp or a staircase. It is also referred to as a counter-type ADC. </a:t>
            </a:r>
          </a:p>
        </p:txBody>
      </p:sp>
    </p:spTree>
    <p:extLst>
      <p:ext uri="{BB962C8B-B14F-4D97-AF65-F5344CB8AC3E}">
        <p14:creationId xmlns:p14="http://schemas.microsoft.com/office/powerpoint/2010/main" val="3385045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2900"/>
            <a:ext cx="10515600" cy="6286500"/>
          </a:xfrm>
        </p:spPr>
        <p:txBody>
          <a:bodyPr/>
          <a:lstStyle/>
          <a:p>
            <a:pPr marL="0" indent="0">
              <a:buNone/>
            </a:pPr>
            <a:r>
              <a:rPr lang="en-PH" dirty="0"/>
              <a:t>Digital ramp ADC</a:t>
            </a:r>
          </a:p>
        </p:txBody>
      </p:sp>
      <p:pic>
        <p:nvPicPr>
          <p:cNvPr id="4" name="Picture 3"/>
          <p:cNvPicPr>
            <a:picLocks noChangeAspect="1"/>
          </p:cNvPicPr>
          <p:nvPr/>
        </p:nvPicPr>
        <p:blipFill rotWithShape="1">
          <a:blip r:embed="rId2"/>
          <a:srcRect l="1" r="1317"/>
          <a:stretch/>
        </p:blipFill>
        <p:spPr>
          <a:xfrm>
            <a:off x="965200" y="852037"/>
            <a:ext cx="4737100" cy="5153476"/>
          </a:xfrm>
          <a:prstGeom prst="rect">
            <a:avLst/>
          </a:prstGeom>
        </p:spPr>
      </p:pic>
      <p:pic>
        <p:nvPicPr>
          <p:cNvPr id="5" name="Picture 4"/>
          <p:cNvPicPr>
            <a:picLocks noChangeAspect="1"/>
          </p:cNvPicPr>
          <p:nvPr/>
        </p:nvPicPr>
        <p:blipFill>
          <a:blip r:embed="rId3"/>
          <a:stretch>
            <a:fillRect/>
          </a:stretch>
        </p:blipFill>
        <p:spPr>
          <a:xfrm>
            <a:off x="6478587" y="1003300"/>
            <a:ext cx="3840705" cy="4748213"/>
          </a:xfrm>
          <a:prstGeom prst="rect">
            <a:avLst/>
          </a:prstGeom>
        </p:spPr>
      </p:pic>
    </p:spTree>
    <p:extLst>
      <p:ext uri="{BB962C8B-B14F-4D97-AF65-F5344CB8AC3E}">
        <p14:creationId xmlns:p14="http://schemas.microsoft.com/office/powerpoint/2010/main" val="26558494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95300" y="279400"/>
                <a:ext cx="11315700" cy="6184900"/>
              </a:xfrm>
            </p:spPr>
            <p:txBody>
              <a:bodyPr>
                <a:noAutofit/>
              </a:bodyPr>
              <a:lstStyle/>
              <a:p>
                <a:pPr marL="0" indent="0">
                  <a:buNone/>
                </a:pPr>
                <a:r>
                  <a:rPr lang="en-PH" sz="4400" dirty="0"/>
                  <a:t>Digital-Ramp ADC</a:t>
                </a:r>
              </a:p>
              <a:p>
                <a:pPr marL="0" indent="0">
                  <a:buNone/>
                </a:pPr>
                <a:r>
                  <a:rPr lang="en-PH" sz="4400" dirty="0"/>
                  <a:t>It contains a counter, a DAC, an analog comparator, and a control AND gate. The comparator output serves as the active-LOW end-of-conversion signal, </a:t>
                </a:r>
                <a14:m>
                  <m:oMath xmlns:m="http://schemas.openxmlformats.org/officeDocument/2006/math">
                    <m:r>
                      <a:rPr lang="en-PH" sz="4400" b="0" i="0" smtClean="0">
                        <a:latin typeface="Cambria Math" panose="02040503050406030204" pitchFamily="18" charset="0"/>
                      </a:rPr>
                      <m:t> </m:t>
                    </m:r>
                    <m:acc>
                      <m:accPr>
                        <m:chr m:val="̅"/>
                        <m:ctrlPr>
                          <a:rPr lang="en-PH" sz="4400" i="1">
                            <a:latin typeface="Cambria Math" panose="02040503050406030204" pitchFamily="18" charset="0"/>
                          </a:rPr>
                        </m:ctrlPr>
                      </m:accPr>
                      <m:e>
                        <m:r>
                          <a:rPr lang="en-PH" sz="4400">
                            <a:latin typeface="Cambria Math" panose="02040503050406030204" pitchFamily="18" charset="0"/>
                          </a:rPr>
                          <m:t>𝐸𝑂𝐶</m:t>
                        </m:r>
                      </m:e>
                    </m:acc>
                  </m:oMath>
                </a14:m>
                <a:r>
                  <a:rPr lang="en-PH" sz="4400" dirty="0"/>
                  <a:t>. </a:t>
                </a:r>
              </a:p>
              <a:p>
                <a:pPr marL="0" indent="0">
                  <a:buNone/>
                </a:pPr>
                <a:r>
                  <a:rPr lang="en-PH" sz="4400" dirty="0"/>
                  <a:t>If we assume that V</a:t>
                </a:r>
                <a:r>
                  <a:rPr lang="en-PH" dirty="0"/>
                  <a:t>A</a:t>
                </a:r>
                <a:r>
                  <a:rPr lang="en-PH" sz="4400" dirty="0"/>
                  <a:t>, the analog voltage to be converted, is positive, the operation proceeds as follows:</a:t>
                </a:r>
                <a:endParaRPr lang="en-PH" sz="4400" dirty="0">
                  <a:solidFill>
                    <a:schemeClr val="tx2"/>
                  </a:solidFill>
                </a:endParaRPr>
              </a:p>
              <a:p>
                <a:pPr marL="0" indent="0">
                  <a:buNone/>
                </a:pPr>
                <a:endParaRPr lang="en-PH" sz="4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95300" y="279400"/>
                <a:ext cx="11315700" cy="6184900"/>
              </a:xfrm>
              <a:blipFill rotWithShape="0">
                <a:blip r:embed="rId2"/>
                <a:stretch>
                  <a:fillRect l="-2154" t="-3156" r="-2100"/>
                </a:stretch>
              </a:blipFill>
            </p:spPr>
            <p:txBody>
              <a:bodyPr/>
              <a:lstStyle/>
              <a:p>
                <a:r>
                  <a:rPr lang="en-PH">
                    <a:noFill/>
                  </a:rPr>
                  <a:t> </a:t>
                </a:r>
              </a:p>
            </p:txBody>
          </p:sp>
        </mc:Fallback>
      </mc:AlternateContent>
    </p:spTree>
    <p:extLst>
      <p:ext uri="{BB962C8B-B14F-4D97-AF65-F5344CB8AC3E}">
        <p14:creationId xmlns:p14="http://schemas.microsoft.com/office/powerpoint/2010/main" val="2522385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95300" y="279400"/>
                <a:ext cx="11315700" cy="6184900"/>
              </a:xfrm>
            </p:spPr>
            <p:txBody>
              <a:bodyPr>
                <a:noAutofit/>
              </a:bodyPr>
              <a:lstStyle/>
              <a:p>
                <a:pPr marL="0" indent="0">
                  <a:buNone/>
                </a:pPr>
                <a:r>
                  <a:rPr lang="en-PH" sz="4400" dirty="0"/>
                  <a:t>1. A START pulse is applied to reset the counter 	to zero. The HIGH at START also inhibits clock 	pulse form passing through the AND gate 	into the counter.</a:t>
                </a:r>
              </a:p>
              <a:p>
                <a:pPr marL="0" indent="0">
                  <a:buNone/>
                </a:pPr>
                <a:r>
                  <a:rPr lang="en-PH" sz="4400" dirty="0"/>
                  <a:t>2. With all 0’s at its input, the DAC’s output will 	be V</a:t>
                </a:r>
                <a:r>
                  <a:rPr lang="en-PH" dirty="0"/>
                  <a:t>AX</a:t>
                </a:r>
                <a:r>
                  <a:rPr lang="en-PH" sz="4400" dirty="0"/>
                  <a:t> = 0V.</a:t>
                </a:r>
              </a:p>
              <a:p>
                <a:pPr marL="0" indent="0">
                  <a:buNone/>
                </a:pPr>
                <a:r>
                  <a:rPr lang="en-PH" sz="4400" dirty="0"/>
                  <a:t>3. Since V</a:t>
                </a:r>
                <a:r>
                  <a:rPr lang="en-PH" dirty="0"/>
                  <a:t>A</a:t>
                </a:r>
                <a:r>
                  <a:rPr lang="en-PH" sz="4400" dirty="0"/>
                  <a:t> &gt; V</a:t>
                </a:r>
                <a:r>
                  <a:rPr lang="en-PH" dirty="0"/>
                  <a:t>AX</a:t>
                </a:r>
                <a:r>
                  <a:rPr lang="en-PH" sz="4400" dirty="0"/>
                  <a:t>, the comparator output, </a:t>
                </a:r>
                <a14:m>
                  <m:oMath xmlns:m="http://schemas.openxmlformats.org/officeDocument/2006/math">
                    <m:acc>
                      <m:accPr>
                        <m:chr m:val="̅"/>
                        <m:ctrlPr>
                          <a:rPr lang="en-PH" sz="4400" i="1">
                            <a:latin typeface="Cambria Math" panose="02040503050406030204" pitchFamily="18" charset="0"/>
                          </a:rPr>
                        </m:ctrlPr>
                      </m:accPr>
                      <m:e>
                        <m:r>
                          <a:rPr lang="en-PH" sz="4400">
                            <a:latin typeface="Cambria Math" panose="02040503050406030204" pitchFamily="18" charset="0"/>
                          </a:rPr>
                          <m:t>𝐸𝑂𝐶</m:t>
                        </m:r>
                      </m:e>
                    </m:acc>
                  </m:oMath>
                </a14:m>
                <a:r>
                  <a:rPr lang="en-PH" sz="4400" dirty="0"/>
                  <a:t>, 	will be HIGH.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95300" y="279400"/>
                <a:ext cx="11315700" cy="6184900"/>
              </a:xfrm>
              <a:blipFill rotWithShape="0">
                <a:blip r:embed="rId2"/>
                <a:stretch>
                  <a:fillRect l="-2154" t="-3156" r="-3123"/>
                </a:stretch>
              </a:blipFill>
            </p:spPr>
            <p:txBody>
              <a:bodyPr/>
              <a:lstStyle/>
              <a:p>
                <a:r>
                  <a:rPr lang="en-PH">
                    <a:noFill/>
                  </a:rPr>
                  <a:t> </a:t>
                </a:r>
              </a:p>
            </p:txBody>
          </p:sp>
        </mc:Fallback>
      </mc:AlternateContent>
    </p:spTree>
    <p:extLst>
      <p:ext uri="{BB962C8B-B14F-4D97-AF65-F5344CB8AC3E}">
        <p14:creationId xmlns:p14="http://schemas.microsoft.com/office/powerpoint/2010/main" val="388014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300" y="279400"/>
            <a:ext cx="11315700" cy="6184900"/>
          </a:xfrm>
        </p:spPr>
        <p:txBody>
          <a:bodyPr>
            <a:noAutofit/>
          </a:bodyPr>
          <a:lstStyle/>
          <a:p>
            <a:pPr marL="0" indent="0">
              <a:buNone/>
            </a:pPr>
            <a:r>
              <a:rPr lang="en-PH" sz="4400" dirty="0"/>
              <a:t>4. When START returns LOW, the AND gate is 	enabled and clock pulses get through to the 	counter.</a:t>
            </a:r>
          </a:p>
          <a:p>
            <a:pPr marL="0" indent="0">
              <a:buNone/>
            </a:pPr>
            <a:r>
              <a:rPr lang="en-PH" sz="4400" dirty="0"/>
              <a:t>5. As the counter advances, the DAC output, 	V</a:t>
            </a:r>
            <a:r>
              <a:rPr lang="en-PH" dirty="0"/>
              <a:t>AX</a:t>
            </a:r>
            <a:r>
              <a:rPr lang="en-PH" sz="4400" dirty="0"/>
              <a:t>, increases one step at a time.</a:t>
            </a:r>
          </a:p>
          <a:p>
            <a:pPr marL="0" indent="0">
              <a:buNone/>
            </a:pPr>
            <a:r>
              <a:rPr lang="en-PH" sz="4400" dirty="0"/>
              <a:t>6. This continues unit V</a:t>
            </a:r>
            <a:r>
              <a:rPr lang="en-PH" dirty="0"/>
              <a:t>AX</a:t>
            </a:r>
            <a:r>
              <a:rPr lang="en-PH" sz="4400" dirty="0"/>
              <a:t> reaches a step that 	exceeds V</a:t>
            </a:r>
            <a:r>
              <a:rPr lang="en-PH" dirty="0"/>
              <a:t>A</a:t>
            </a:r>
            <a:r>
              <a:rPr lang="en-PH" sz="4400" dirty="0"/>
              <a:t> by an amount equal to or greater 	than V</a:t>
            </a:r>
            <a:r>
              <a:rPr lang="en-PH" dirty="0"/>
              <a:t>T</a:t>
            </a:r>
            <a:r>
              <a:rPr lang="en-PH" sz="4400" dirty="0"/>
              <a:t> (typically 10 to 100 </a:t>
            </a:r>
            <a:r>
              <a:rPr lang="en-PH" sz="4400" dirty="0" err="1"/>
              <a:t>μV</a:t>
            </a:r>
            <a:r>
              <a:rPr lang="en-PH" sz="4400" dirty="0"/>
              <a:t>). At this point,</a:t>
            </a:r>
          </a:p>
          <a:p>
            <a:pPr marL="0" indent="0">
              <a:buNone/>
            </a:pPr>
            <a:r>
              <a:rPr lang="en-PH" sz="4400" dirty="0"/>
              <a:t>	</a:t>
            </a:r>
          </a:p>
        </p:txBody>
      </p:sp>
    </p:spTree>
    <p:extLst>
      <p:ext uri="{BB962C8B-B14F-4D97-AF65-F5344CB8AC3E}">
        <p14:creationId xmlns:p14="http://schemas.microsoft.com/office/powerpoint/2010/main" val="1442033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95300" y="279400"/>
                <a:ext cx="11315700" cy="6184900"/>
              </a:xfrm>
            </p:spPr>
            <p:txBody>
              <a:bodyPr>
                <a:noAutofit/>
              </a:bodyPr>
              <a:lstStyle/>
              <a:p>
                <a:pPr marL="0" indent="0">
                  <a:buNone/>
                </a:pPr>
                <a:r>
                  <a:rPr lang="en-PH" sz="4400" dirty="0"/>
                  <a:t>	</a:t>
                </a:r>
                <a14:m>
                  <m:oMath xmlns:m="http://schemas.openxmlformats.org/officeDocument/2006/math">
                    <m:acc>
                      <m:accPr>
                        <m:chr m:val="̅"/>
                        <m:ctrlPr>
                          <a:rPr lang="en-PH" sz="4400" i="1">
                            <a:latin typeface="Cambria Math" panose="02040503050406030204" pitchFamily="18" charset="0"/>
                          </a:rPr>
                        </m:ctrlPr>
                      </m:accPr>
                      <m:e>
                        <m:r>
                          <a:rPr lang="en-PH" sz="4400">
                            <a:latin typeface="Cambria Math" panose="02040503050406030204" pitchFamily="18" charset="0"/>
                          </a:rPr>
                          <m:t>𝐸𝑂𝐶</m:t>
                        </m:r>
                      </m:e>
                    </m:acc>
                    <m:r>
                      <a:rPr lang="en-PH" sz="4400" b="0" i="0" smtClean="0">
                        <a:latin typeface="Cambria Math" panose="02040503050406030204" pitchFamily="18" charset="0"/>
                      </a:rPr>
                      <m:t> </m:t>
                    </m:r>
                  </m:oMath>
                </a14:m>
                <a:r>
                  <a:rPr lang="en-PH" sz="4400" dirty="0"/>
                  <a:t>will go LOW and inhibit the flow of 	pulses into the counter and the counter will 	stop counting.</a:t>
                </a:r>
              </a:p>
              <a:p>
                <a:pPr marL="0" indent="0">
                  <a:buNone/>
                </a:pPr>
                <a:r>
                  <a:rPr lang="en-PH" sz="4400" dirty="0"/>
                  <a:t>7. The conversion process is now complete as 	signaled by the HIGH-to-LOW transition at 	</a:t>
                </a:r>
                <a14:m>
                  <m:oMath xmlns:m="http://schemas.openxmlformats.org/officeDocument/2006/math">
                    <m:acc>
                      <m:accPr>
                        <m:chr m:val="̅"/>
                        <m:ctrlPr>
                          <a:rPr lang="en-PH" sz="4400" i="1">
                            <a:latin typeface="Cambria Math" panose="02040503050406030204" pitchFamily="18" charset="0"/>
                          </a:rPr>
                        </m:ctrlPr>
                      </m:accPr>
                      <m:e>
                        <m:r>
                          <a:rPr lang="en-PH" sz="4400">
                            <a:latin typeface="Cambria Math" panose="02040503050406030204" pitchFamily="18" charset="0"/>
                          </a:rPr>
                          <m:t>𝐸𝑂𝐶</m:t>
                        </m:r>
                      </m:e>
                    </m:acc>
                  </m:oMath>
                </a14:m>
                <a:r>
                  <a:rPr lang="en-PH" sz="4400" dirty="0"/>
                  <a:t>, and the contents of the counter are 	the digital representation of V</a:t>
                </a:r>
                <a:r>
                  <a:rPr lang="en-PH" dirty="0"/>
                  <a:t>A</a:t>
                </a:r>
                <a:r>
                  <a:rPr lang="en-PH" sz="4400" dirty="0"/>
                  <a:t>.</a:t>
                </a:r>
              </a:p>
              <a:p>
                <a:pPr marL="0" indent="0">
                  <a:buNone/>
                </a:pPr>
                <a:r>
                  <a:rPr lang="en-PH" sz="4400" dirty="0"/>
                  <a:t>8. The counter will hold the digital value until the 	next START pulse initiates a new conversion.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95300" y="279400"/>
                <a:ext cx="11315700" cy="6184900"/>
              </a:xfrm>
              <a:blipFill rotWithShape="0">
                <a:blip r:embed="rId2"/>
                <a:stretch>
                  <a:fillRect l="-2154" t="-3057" r="-3177"/>
                </a:stretch>
              </a:blipFill>
            </p:spPr>
            <p:txBody>
              <a:bodyPr/>
              <a:lstStyle/>
              <a:p>
                <a:r>
                  <a:rPr lang="en-PH">
                    <a:noFill/>
                  </a:rPr>
                  <a:t> </a:t>
                </a:r>
              </a:p>
            </p:txBody>
          </p:sp>
        </mc:Fallback>
      </mc:AlternateContent>
    </p:spTree>
    <p:extLst>
      <p:ext uri="{BB962C8B-B14F-4D97-AF65-F5344CB8AC3E}">
        <p14:creationId xmlns:p14="http://schemas.microsoft.com/office/powerpoint/2010/main" val="2011935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5300" y="279400"/>
            <a:ext cx="11315700" cy="6184900"/>
          </a:xfrm>
        </p:spPr>
        <p:txBody>
          <a:bodyPr>
            <a:noAutofit/>
          </a:bodyPr>
          <a:lstStyle/>
          <a:p>
            <a:pPr marL="0" indent="0">
              <a:buNone/>
            </a:pPr>
            <a:r>
              <a:rPr lang="en-PH" sz="4400" dirty="0"/>
              <a:t>Assume the following values for the digital ramp ADC of : clock frequency = 1 MHz; V</a:t>
            </a:r>
            <a:r>
              <a:rPr lang="en-PH" dirty="0"/>
              <a:t>T</a:t>
            </a:r>
            <a:r>
              <a:rPr lang="en-PH" sz="4400" dirty="0"/>
              <a:t> = 0.1 mV; DAC has full scale output = 10.23 V and a 10-bit input.</a:t>
            </a:r>
          </a:p>
          <a:p>
            <a:pPr marL="0" indent="0">
              <a:buNone/>
            </a:pPr>
            <a:r>
              <a:rPr lang="en-PH" sz="4400" dirty="0"/>
              <a:t>Determine the following values:</a:t>
            </a:r>
          </a:p>
          <a:p>
            <a:pPr marL="0" indent="0">
              <a:buNone/>
            </a:pPr>
            <a:r>
              <a:rPr lang="en-PH" sz="4400" dirty="0"/>
              <a:t>a) The digital equivalent obtained for V</a:t>
            </a:r>
            <a:r>
              <a:rPr lang="en-PH" i="1" dirty="0"/>
              <a:t>A</a:t>
            </a:r>
            <a:r>
              <a:rPr lang="en-PH" sz="4400" dirty="0"/>
              <a:t>=3.728 V</a:t>
            </a:r>
          </a:p>
          <a:p>
            <a:pPr marL="0" indent="0">
              <a:buNone/>
            </a:pPr>
            <a:r>
              <a:rPr lang="en-PH" sz="4400" dirty="0"/>
              <a:t>b) The conversion time</a:t>
            </a:r>
          </a:p>
          <a:p>
            <a:pPr marL="0" indent="0">
              <a:buNone/>
            </a:pPr>
            <a:r>
              <a:rPr lang="en-PH" sz="4400" dirty="0"/>
              <a:t>c) The resolution of this converter</a:t>
            </a:r>
          </a:p>
        </p:txBody>
      </p:sp>
    </p:spTree>
    <p:extLst>
      <p:ext uri="{BB962C8B-B14F-4D97-AF65-F5344CB8AC3E}">
        <p14:creationId xmlns:p14="http://schemas.microsoft.com/office/powerpoint/2010/main" val="21898785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95300" y="279400"/>
                <a:ext cx="11315700" cy="6184900"/>
              </a:xfrm>
            </p:spPr>
            <p:txBody>
              <a:bodyPr>
                <a:noAutofit/>
              </a:bodyPr>
              <a:lstStyle/>
              <a:p>
                <a:pPr marL="742950" indent="-742950">
                  <a:buAutoNum type="alphaLcParenR"/>
                </a:pPr>
                <a:r>
                  <a:rPr lang="en-PH" sz="4400" dirty="0"/>
                  <a:t>The DAC has a 10-bit input and a 10.23-V F.S. output. Thus, the number of total possible steps is </a:t>
                </a:r>
                <a14:m>
                  <m:oMath xmlns:m="http://schemas.openxmlformats.org/officeDocument/2006/math">
                    <m:sSup>
                      <m:sSupPr>
                        <m:ctrlPr>
                          <a:rPr lang="en-PH" sz="4400" i="1" smtClean="0">
                            <a:latin typeface="Cambria Math" panose="02040503050406030204" pitchFamily="18" charset="0"/>
                          </a:rPr>
                        </m:ctrlPr>
                      </m:sSupPr>
                      <m:e>
                        <m:r>
                          <a:rPr lang="en-PH" sz="4400" b="0" i="1" smtClean="0">
                            <a:latin typeface="Cambria Math" panose="02040503050406030204" pitchFamily="18" charset="0"/>
                          </a:rPr>
                          <m:t>2</m:t>
                        </m:r>
                      </m:e>
                      <m:sup>
                        <m:r>
                          <a:rPr lang="en-PH" sz="4400" b="0" i="1" smtClean="0">
                            <a:latin typeface="Cambria Math" panose="02040503050406030204" pitchFamily="18" charset="0"/>
                          </a:rPr>
                          <m:t>𝑛</m:t>
                        </m:r>
                      </m:sup>
                    </m:sSup>
                    <m:r>
                      <a:rPr lang="en-PH" sz="4400" b="0" i="1" smtClean="0">
                        <a:latin typeface="Cambria Math" panose="02040503050406030204" pitchFamily="18" charset="0"/>
                      </a:rPr>
                      <m:t>−1 </m:t>
                    </m:r>
                  </m:oMath>
                </a14:m>
                <a:r>
                  <a:rPr lang="en-PH" sz="4400" dirty="0"/>
                  <a:t>and so the step size is</a:t>
                </a:r>
              </a:p>
              <a:p>
                <a:pPr marL="0" indent="0">
                  <a:buNone/>
                </a:pPr>
                <a:r>
                  <a:rPr lang="en-PH" sz="4400" dirty="0"/>
                  <a:t>	</a:t>
                </a:r>
                <a14:m>
                  <m:oMath xmlns:m="http://schemas.openxmlformats.org/officeDocument/2006/math">
                    <m:r>
                      <a:rPr lang="en-PH" sz="4400" dirty="0">
                        <a:latin typeface="Cambria Math" panose="02040503050406030204" pitchFamily="18" charset="0"/>
                      </a:rPr>
                      <m:t>#</m:t>
                    </m:r>
                    <m:r>
                      <a:rPr lang="en-PH" sz="4400" b="0" i="0" dirty="0" smtClean="0">
                        <a:latin typeface="Cambria Math" panose="02040503050406030204" pitchFamily="18" charset="0"/>
                      </a:rPr>
                      <m:t> </m:t>
                    </m:r>
                    <m:r>
                      <m:rPr>
                        <m:sty m:val="p"/>
                      </m:rPr>
                      <a:rPr lang="en-PH" sz="4400" b="0" i="0" dirty="0" smtClean="0">
                        <a:latin typeface="Cambria Math" panose="02040503050406030204" pitchFamily="18" charset="0"/>
                      </a:rPr>
                      <m:t>of</m:t>
                    </m:r>
                    <m:r>
                      <a:rPr lang="en-PH" sz="4400" b="0" i="0" dirty="0" smtClean="0">
                        <a:latin typeface="Cambria Math" panose="02040503050406030204" pitchFamily="18" charset="0"/>
                      </a:rPr>
                      <m:t> </m:t>
                    </m:r>
                    <m:r>
                      <m:rPr>
                        <m:sty m:val="p"/>
                      </m:rPr>
                      <a:rPr lang="en-PH" sz="4400" b="0" i="0" dirty="0" smtClean="0">
                        <a:latin typeface="Cambria Math" panose="02040503050406030204" pitchFamily="18" charset="0"/>
                      </a:rPr>
                      <m:t>steps</m:t>
                    </m:r>
                    <m:r>
                      <a:rPr lang="en-PH" sz="4400" b="0" i="0" smtClean="0">
                        <a:latin typeface="Cambria Math" panose="02040503050406030204" pitchFamily="18" charset="0"/>
                      </a:rPr>
                      <m:t>= </m:t>
                    </m:r>
                    <m:sSup>
                      <m:sSupPr>
                        <m:ctrlPr>
                          <a:rPr lang="en-PH" sz="4400" i="1">
                            <a:latin typeface="Cambria Math" panose="02040503050406030204" pitchFamily="18" charset="0"/>
                          </a:rPr>
                        </m:ctrlPr>
                      </m:sSupPr>
                      <m:e>
                        <m:r>
                          <a:rPr lang="en-PH" sz="4400" i="1">
                            <a:latin typeface="Cambria Math" panose="02040503050406030204" pitchFamily="18" charset="0"/>
                          </a:rPr>
                          <m:t>2</m:t>
                        </m:r>
                      </m:e>
                      <m:sup>
                        <m:r>
                          <a:rPr lang="en-PH" sz="4400" b="0" i="1" smtClean="0">
                            <a:latin typeface="Cambria Math" panose="02040503050406030204" pitchFamily="18" charset="0"/>
                          </a:rPr>
                          <m:t>10</m:t>
                        </m:r>
                      </m:sup>
                    </m:sSup>
                    <m:r>
                      <a:rPr lang="en-PH" sz="4400" i="1">
                        <a:latin typeface="Cambria Math" panose="02040503050406030204" pitchFamily="18" charset="0"/>
                      </a:rPr>
                      <m:t>−1</m:t>
                    </m:r>
                  </m:oMath>
                </a14:m>
                <a:r>
                  <a:rPr lang="en-PH" sz="4400" dirty="0"/>
                  <a:t> = 1023</a:t>
                </a:r>
              </a:p>
              <a:p>
                <a:pPr marL="0" indent="0">
                  <a:buNone/>
                </a:pPr>
                <a:r>
                  <a:rPr lang="en-PH" sz="4800" dirty="0"/>
                  <a:t>         step size =  </a:t>
                </a:r>
                <a14:m>
                  <m:oMath xmlns:m="http://schemas.openxmlformats.org/officeDocument/2006/math">
                    <m:f>
                      <m:fPr>
                        <m:ctrlPr>
                          <a:rPr lang="en-PH" sz="4800" i="1" smtClean="0">
                            <a:latin typeface="Cambria Math" panose="02040503050406030204" pitchFamily="18" charset="0"/>
                          </a:rPr>
                        </m:ctrlPr>
                      </m:fPr>
                      <m:num>
                        <m:r>
                          <a:rPr lang="en-PH" sz="4800" b="0" i="1" smtClean="0">
                            <a:latin typeface="Cambria Math" panose="02040503050406030204" pitchFamily="18" charset="0"/>
                          </a:rPr>
                          <m:t>10.23 </m:t>
                        </m:r>
                        <m:r>
                          <a:rPr lang="en-PH" sz="4800" b="0" i="1" smtClean="0">
                            <a:latin typeface="Cambria Math" panose="02040503050406030204" pitchFamily="18" charset="0"/>
                          </a:rPr>
                          <m:t>𝑉</m:t>
                        </m:r>
                      </m:num>
                      <m:den>
                        <m:r>
                          <a:rPr lang="en-PH" sz="4800" b="0" i="1" smtClean="0">
                            <a:latin typeface="Cambria Math" panose="02040503050406030204" pitchFamily="18" charset="0"/>
                          </a:rPr>
                          <m:t>1023</m:t>
                        </m:r>
                      </m:den>
                    </m:f>
                  </m:oMath>
                </a14:m>
                <a:r>
                  <a:rPr lang="en-PH" sz="4800" dirty="0"/>
                  <a:t> = </a:t>
                </a:r>
                <a:r>
                  <a:rPr lang="en-PH" sz="4400" dirty="0"/>
                  <a:t>10 mV</a:t>
                </a:r>
              </a:p>
              <a:p>
                <a:pPr marL="0" indent="0">
                  <a:buNone/>
                </a:pPr>
                <a:r>
                  <a:rPr lang="en-PH" sz="4400" dirty="0"/>
                  <a:t>V</a:t>
                </a:r>
                <a:r>
                  <a:rPr lang="en-PH" dirty="0"/>
                  <a:t>AX</a:t>
                </a:r>
                <a:r>
                  <a:rPr lang="en-PH" sz="4400" i="1" dirty="0"/>
                  <a:t> </a:t>
                </a:r>
                <a:r>
                  <a:rPr lang="en-PH" sz="4400" dirty="0"/>
                  <a:t>increases in steps of 10 mV as the counter counts up from 0.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95300" y="279400"/>
                <a:ext cx="11315700" cy="6184900"/>
              </a:xfrm>
              <a:blipFill rotWithShape="0">
                <a:blip r:embed="rId2"/>
                <a:stretch>
                  <a:fillRect l="-2262" t="-3353" r="-1292"/>
                </a:stretch>
              </a:blipFill>
            </p:spPr>
            <p:txBody>
              <a:bodyPr/>
              <a:lstStyle/>
              <a:p>
                <a:r>
                  <a:rPr lang="en-PH">
                    <a:noFill/>
                  </a:rPr>
                  <a:t> </a:t>
                </a:r>
              </a:p>
            </p:txBody>
          </p:sp>
        </mc:Fallback>
      </mc:AlternateContent>
    </p:spTree>
    <p:extLst>
      <p:ext uri="{BB962C8B-B14F-4D97-AF65-F5344CB8AC3E}">
        <p14:creationId xmlns:p14="http://schemas.microsoft.com/office/powerpoint/2010/main" val="9594664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95300" y="279400"/>
                <a:ext cx="11315700" cy="6184900"/>
              </a:xfrm>
            </p:spPr>
            <p:txBody>
              <a:bodyPr>
                <a:noAutofit/>
              </a:bodyPr>
              <a:lstStyle/>
              <a:p>
                <a:pPr marL="742950" indent="-742950">
                  <a:buAutoNum type="alphaLcParenR"/>
                </a:pPr>
                <a:r>
                  <a:rPr lang="en-PH" sz="4400" dirty="0"/>
                  <a:t>Since V</a:t>
                </a:r>
                <a:r>
                  <a:rPr lang="en-PH" dirty="0"/>
                  <a:t>A</a:t>
                </a:r>
                <a:r>
                  <a:rPr lang="en-PH" sz="4400" i="1" dirty="0"/>
                  <a:t> </a:t>
                </a:r>
                <a:r>
                  <a:rPr lang="en-PH" sz="4400" dirty="0"/>
                  <a:t> is 3.728 V and V</a:t>
                </a:r>
                <a:r>
                  <a:rPr lang="en-PH" dirty="0"/>
                  <a:t>T</a:t>
                </a:r>
                <a:r>
                  <a:rPr lang="en-PH" sz="4400" dirty="0"/>
                  <a:t> is 0.1 mV, V</a:t>
                </a:r>
                <a:r>
                  <a:rPr lang="en-PH" dirty="0"/>
                  <a:t>AX</a:t>
                </a:r>
                <a:r>
                  <a:rPr lang="en-PH" sz="4400" i="1" dirty="0"/>
                  <a:t> </a:t>
                </a:r>
                <a:r>
                  <a:rPr lang="en-PH" sz="4400" dirty="0"/>
                  <a:t>must reach 3.7281 V or more before the comparator switches LOW. This will require</a:t>
                </a:r>
              </a:p>
              <a:p>
                <a:pPr marL="0" indent="0">
                  <a:buNone/>
                </a:pPr>
                <a:r>
                  <a:rPr lang="en-PH" sz="4400" dirty="0"/>
                  <a:t>	</a:t>
                </a:r>
                <a14:m>
                  <m:oMath xmlns:m="http://schemas.openxmlformats.org/officeDocument/2006/math">
                    <m:r>
                      <a:rPr lang="en-PH" sz="4000" dirty="0">
                        <a:latin typeface="Cambria Math" panose="02040503050406030204" pitchFamily="18" charset="0"/>
                      </a:rPr>
                      <m:t># </m:t>
                    </m:r>
                    <m:r>
                      <m:rPr>
                        <m:sty m:val="p"/>
                      </m:rPr>
                      <a:rPr lang="en-PH" sz="4000" dirty="0">
                        <a:latin typeface="Cambria Math" panose="02040503050406030204" pitchFamily="18" charset="0"/>
                      </a:rPr>
                      <m:t>of</m:t>
                    </m:r>
                    <m:r>
                      <a:rPr lang="en-PH" sz="4000" dirty="0">
                        <a:latin typeface="Cambria Math" panose="02040503050406030204" pitchFamily="18" charset="0"/>
                      </a:rPr>
                      <m:t> </m:t>
                    </m:r>
                    <m:r>
                      <m:rPr>
                        <m:sty m:val="p"/>
                      </m:rPr>
                      <a:rPr lang="en-PH" sz="4000" dirty="0">
                        <a:latin typeface="Cambria Math" panose="02040503050406030204" pitchFamily="18" charset="0"/>
                      </a:rPr>
                      <m:t>steps</m:t>
                    </m:r>
                    <m:r>
                      <a:rPr lang="en-PH" sz="4000">
                        <a:latin typeface="Cambria Math" panose="02040503050406030204" pitchFamily="18" charset="0"/>
                      </a:rPr>
                      <m:t>= </m:t>
                    </m:r>
                    <m:f>
                      <m:fPr>
                        <m:ctrlPr>
                          <a:rPr lang="en-PH" sz="4400" i="1">
                            <a:latin typeface="Cambria Math" panose="02040503050406030204" pitchFamily="18" charset="0"/>
                          </a:rPr>
                        </m:ctrlPr>
                      </m:fPr>
                      <m:num>
                        <m:r>
                          <a:rPr lang="en-PH" sz="4400" b="0" i="1" smtClean="0">
                            <a:latin typeface="Cambria Math" panose="02040503050406030204" pitchFamily="18" charset="0"/>
                          </a:rPr>
                          <m:t>3.7281</m:t>
                        </m:r>
                        <m:r>
                          <a:rPr lang="en-PH" sz="4400" i="1">
                            <a:latin typeface="Cambria Math" panose="02040503050406030204" pitchFamily="18" charset="0"/>
                          </a:rPr>
                          <m:t> </m:t>
                        </m:r>
                        <m:r>
                          <a:rPr lang="en-PH" sz="4400" i="1">
                            <a:latin typeface="Cambria Math" panose="02040503050406030204" pitchFamily="18" charset="0"/>
                          </a:rPr>
                          <m:t>𝑉</m:t>
                        </m:r>
                      </m:num>
                      <m:den>
                        <m:r>
                          <a:rPr lang="en-PH" sz="4400" b="0" i="1" smtClean="0">
                            <a:latin typeface="Cambria Math" panose="02040503050406030204" pitchFamily="18" charset="0"/>
                          </a:rPr>
                          <m:t>10 </m:t>
                        </m:r>
                        <m:r>
                          <a:rPr lang="en-PH" sz="4400" b="0" i="1" smtClean="0">
                            <a:latin typeface="Cambria Math" panose="02040503050406030204" pitchFamily="18" charset="0"/>
                          </a:rPr>
                          <m:t>𝑚𝑉</m:t>
                        </m:r>
                      </m:den>
                    </m:f>
                    <m:r>
                      <a:rPr lang="en-PH" sz="4400" b="0" i="1" smtClean="0">
                        <a:latin typeface="Cambria Math" panose="02040503050406030204" pitchFamily="18" charset="0"/>
                      </a:rPr>
                      <m:t>=372.81=373 </m:t>
                    </m:r>
                    <m:r>
                      <a:rPr lang="en-PH" sz="4400" b="0" i="1" smtClean="0">
                        <a:latin typeface="Cambria Math" panose="02040503050406030204" pitchFamily="18" charset="0"/>
                      </a:rPr>
                      <m:t>𝑠𝑡𝑒𝑝𝑠</m:t>
                    </m:r>
                  </m:oMath>
                </a14:m>
                <a:endParaRPr lang="en-PH" sz="4400" dirty="0"/>
              </a:p>
              <a:p>
                <a:pPr marL="0" indent="0">
                  <a:buNone/>
                </a:pPr>
                <a:endParaRPr lang="en-PH" sz="4400" dirty="0"/>
              </a:p>
              <a:p>
                <a:pPr marL="0" indent="0">
                  <a:buNone/>
                </a:pPr>
                <a:r>
                  <a:rPr lang="en-PH" sz="4400" dirty="0"/>
                  <a:t>At the end of the conversion, the counter will hold the binary equivalent of 373, which is 0101110101, the desired digital equivalent of </a:t>
                </a:r>
              </a:p>
              <a:p>
                <a:pPr marL="0" indent="0">
                  <a:buNone/>
                </a:pPr>
                <a:r>
                  <a:rPr lang="en-PH" sz="4400" dirty="0"/>
                  <a:t>V</a:t>
                </a:r>
                <a:r>
                  <a:rPr lang="en-PH" dirty="0"/>
                  <a:t>A </a:t>
                </a:r>
                <a:r>
                  <a:rPr lang="en-PH" sz="4400" dirty="0"/>
                  <a:t>=</a:t>
                </a:r>
                <a:r>
                  <a:rPr lang="en-PH" sz="4400" i="1" dirty="0"/>
                  <a:t> </a:t>
                </a:r>
                <a:r>
                  <a:rPr lang="en-PH" sz="4400" dirty="0"/>
                  <a:t>3.728 V, as produced by this ADC.</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95300" y="279400"/>
                <a:ext cx="11315700" cy="6184900"/>
              </a:xfrm>
              <a:blipFill rotWithShape="0">
                <a:blip r:embed="rId2"/>
                <a:stretch>
                  <a:fillRect l="-2262" t="-3353" r="-2369" b="-5523"/>
                </a:stretch>
              </a:blipFill>
            </p:spPr>
            <p:txBody>
              <a:bodyPr/>
              <a:lstStyle/>
              <a:p>
                <a:r>
                  <a:rPr lang="en-PH">
                    <a:noFill/>
                  </a:rPr>
                  <a:t> </a:t>
                </a:r>
              </a:p>
            </p:txBody>
          </p:sp>
        </mc:Fallback>
      </mc:AlternateContent>
    </p:spTree>
    <p:extLst>
      <p:ext uri="{BB962C8B-B14F-4D97-AF65-F5344CB8AC3E}">
        <p14:creationId xmlns:p14="http://schemas.microsoft.com/office/powerpoint/2010/main" val="14250134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95300" y="279400"/>
                <a:ext cx="11315700" cy="6184900"/>
              </a:xfrm>
            </p:spPr>
            <p:txBody>
              <a:bodyPr>
                <a:noAutofit/>
              </a:bodyPr>
              <a:lstStyle/>
              <a:p>
                <a:pPr marL="0" indent="0">
                  <a:buNone/>
                </a:pPr>
                <a:r>
                  <a:rPr lang="en-PH" sz="4400" dirty="0"/>
                  <a:t>b) Conversion time = # of steps x time</a:t>
                </a:r>
              </a:p>
              <a:p>
                <a:pPr marL="0" indent="0">
                  <a:buNone/>
                </a:pPr>
                <a:r>
                  <a:rPr lang="en-PH" sz="4400" dirty="0"/>
                  <a:t>	 Conversion time = (373)(1/1MHz)</a:t>
                </a:r>
              </a:p>
              <a:p>
                <a:pPr marL="0" indent="0">
                  <a:buNone/>
                </a:pPr>
                <a:r>
                  <a:rPr lang="en-PH" sz="4400" dirty="0"/>
                  <a:t>	 Conversion time = 373 </a:t>
                </a:r>
                <a:r>
                  <a:rPr lang="en-PH" sz="4400" dirty="0" err="1"/>
                  <a:t>μs</a:t>
                </a:r>
                <a:endParaRPr lang="en-PH" sz="4400" dirty="0"/>
              </a:p>
              <a:p>
                <a:pPr marL="0" indent="0">
                  <a:buNone/>
                </a:pPr>
                <a:endParaRPr lang="en-PH" sz="4400" dirty="0"/>
              </a:p>
              <a:p>
                <a:pPr marL="0" indent="0">
                  <a:buNone/>
                </a:pPr>
                <a:r>
                  <a:rPr lang="en-PH" sz="4400" dirty="0"/>
                  <a:t>c) Resolution = step size of the DAC in %</a:t>
                </a:r>
              </a:p>
              <a:p>
                <a:pPr marL="0" indent="0">
                  <a:buNone/>
                </a:pPr>
                <a:r>
                  <a:rPr lang="en-PH" sz="4400" dirty="0"/>
                  <a:t>	 Resolution = </a:t>
                </a:r>
                <a14:m>
                  <m:oMath xmlns:m="http://schemas.openxmlformats.org/officeDocument/2006/math">
                    <m:f>
                      <m:fPr>
                        <m:ctrlPr>
                          <a:rPr lang="en-PH" sz="4400" i="1">
                            <a:latin typeface="Cambria Math" panose="02040503050406030204" pitchFamily="18" charset="0"/>
                          </a:rPr>
                        </m:ctrlPr>
                      </m:fPr>
                      <m:num>
                        <m:r>
                          <a:rPr lang="en-PH" sz="4400" i="1">
                            <a:latin typeface="Cambria Math" panose="02040503050406030204" pitchFamily="18" charset="0"/>
                          </a:rPr>
                          <m:t>1</m:t>
                        </m:r>
                      </m:num>
                      <m:den>
                        <m:r>
                          <a:rPr lang="en-PH" sz="4400" i="1">
                            <a:latin typeface="Cambria Math" panose="02040503050406030204" pitchFamily="18" charset="0"/>
                          </a:rPr>
                          <m:t>1023</m:t>
                        </m:r>
                      </m:den>
                    </m:f>
                  </m:oMath>
                </a14:m>
                <a:r>
                  <a:rPr lang="en-PH" sz="4400" dirty="0"/>
                  <a:t> x 100%</a:t>
                </a:r>
              </a:p>
              <a:p>
                <a:pPr marL="0" indent="0">
                  <a:buNone/>
                </a:pPr>
                <a:r>
                  <a:rPr lang="en-PH" sz="4400" dirty="0"/>
                  <a:t>	 Resolution = 0.1%</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95300" y="279400"/>
                <a:ext cx="11315700" cy="6184900"/>
              </a:xfrm>
              <a:blipFill rotWithShape="0">
                <a:blip r:embed="rId2"/>
                <a:stretch>
                  <a:fillRect l="-2154" t="-3156"/>
                </a:stretch>
              </a:blipFill>
            </p:spPr>
            <p:txBody>
              <a:bodyPr/>
              <a:lstStyle/>
              <a:p>
                <a:r>
                  <a:rPr lang="en-PH">
                    <a:noFill/>
                  </a:rPr>
                  <a:t> </a:t>
                </a:r>
              </a:p>
            </p:txBody>
          </p:sp>
        </mc:Fallback>
      </mc:AlternateContent>
    </p:spTree>
    <p:extLst>
      <p:ext uri="{BB962C8B-B14F-4D97-AF65-F5344CB8AC3E}">
        <p14:creationId xmlns:p14="http://schemas.microsoft.com/office/powerpoint/2010/main" val="33863423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585</TotalTime>
  <Words>1871</Words>
  <Application>Microsoft Office PowerPoint</Application>
  <PresentationFormat>Widescreen</PresentationFormat>
  <Paragraphs>126</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Cambria Math</vt:lpstr>
      <vt:lpstr>Office Theme</vt:lpstr>
      <vt:lpstr>DIGITAL – ANALOG CONVERTERS</vt:lpstr>
      <vt:lpstr>PowerPoint Presentation</vt:lpstr>
      <vt:lpstr>PowerPoint Presentation</vt:lpstr>
      <vt:lpstr> THERMISTOR</vt:lpstr>
      <vt:lpstr>PHOTOCELL &amp; PHOTO DIODES</vt:lpstr>
      <vt:lpstr>FLOW METERS &amp; PRESSURE TRANSDUCERS</vt:lpstr>
      <vt:lpstr>TACHOMETERS</vt:lpstr>
      <vt:lpstr>PowerPoint Presentation</vt:lpstr>
      <vt:lpstr>PowerPoint Presentation</vt:lpstr>
      <vt:lpstr>PowerPoint Presentation</vt:lpstr>
      <vt:lpstr>PowerPoint Presentation</vt:lpstr>
      <vt:lpstr>ACTUATORS</vt:lpstr>
      <vt:lpstr>Digital to Analog Conversion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gb</dc:creator>
  <cp:lastModifiedBy>Ralph Monsour Delima</cp:lastModifiedBy>
  <cp:revision>47</cp:revision>
  <dcterms:created xsi:type="dcterms:W3CDTF">2022-10-18T13:17:00Z</dcterms:created>
  <dcterms:modified xsi:type="dcterms:W3CDTF">2024-11-05T00:52:39Z</dcterms:modified>
</cp:coreProperties>
</file>