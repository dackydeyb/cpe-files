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8" r:id="rId2"/>
    <p:sldId id="259" r:id="rId3"/>
    <p:sldId id="260" r:id="rId4"/>
    <p:sldId id="261" r:id="rId5"/>
    <p:sldId id="324" r:id="rId6"/>
    <p:sldId id="325"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2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8A1477-C560-41C4-A20C-2A0E13C7AD6D}" type="datetimeFigureOut">
              <a:rPr lang="en-PH" smtClean="0"/>
              <a:t>13/12/2024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2CFC48-F21F-4F08-B5E0-044996EFEB6E}" type="slidenum">
              <a:rPr lang="en-PH" smtClean="0"/>
              <a:t>‹#›</a:t>
            </a:fld>
            <a:endParaRPr lang="en-PH"/>
          </a:p>
        </p:txBody>
      </p:sp>
    </p:spTree>
    <p:extLst>
      <p:ext uri="{BB962C8B-B14F-4D97-AF65-F5344CB8AC3E}">
        <p14:creationId xmlns:p14="http://schemas.microsoft.com/office/powerpoint/2010/main" val="2845419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EDFC106C-957B-4A18-8677-68DFEA1DB662}" type="datetimeFigureOut">
              <a:rPr lang="en-PH" smtClean="0"/>
              <a:t>13/12/2024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417720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EDFC106C-957B-4A18-8677-68DFEA1DB662}" type="datetimeFigureOut">
              <a:rPr lang="en-PH" smtClean="0"/>
              <a:t>13/12/2024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343971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FC106C-957B-4A18-8677-68DFEA1DB662}" type="datetimeFigureOut">
              <a:rPr lang="en-PH" smtClean="0"/>
              <a:t>13/12/2024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3765644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EDFC106C-957B-4A18-8677-68DFEA1DB662}" type="datetimeFigureOut">
              <a:rPr lang="en-PH" smtClean="0"/>
              <a:t>13/12/2024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2192370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EDFC106C-957B-4A18-8677-68DFEA1DB662}" type="datetimeFigureOut">
              <a:rPr lang="en-PH" smtClean="0"/>
              <a:t>13/12/2024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2503808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EDFC106C-957B-4A18-8677-68DFEA1DB662}" type="datetimeFigureOut">
              <a:rPr lang="en-PH" smtClean="0"/>
              <a:t>13/12/2024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4011596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FC106C-957B-4A18-8677-68DFEA1DB662}" type="datetimeFigureOut">
              <a:rPr lang="en-PH" smtClean="0"/>
              <a:t>13/12/2024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299402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FC106C-957B-4A18-8677-68DFEA1DB662}" type="datetimeFigureOut">
              <a:rPr lang="en-PH" smtClean="0"/>
              <a:t>13/12/2024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1815964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FC106C-957B-4A18-8677-68DFEA1DB662}" type="datetimeFigureOut">
              <a:rPr lang="en-PH" smtClean="0"/>
              <a:t>13/12/2024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118033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EDFC106C-957B-4A18-8677-68DFEA1DB662}" type="datetimeFigureOut">
              <a:rPr lang="en-PH" smtClean="0"/>
              <a:t>13/12/2024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3015372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EDFC106C-957B-4A18-8677-68DFEA1DB662}" type="datetimeFigureOut">
              <a:rPr lang="en-PH" smtClean="0"/>
              <a:t>13/12/2024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DF18BBA-62BC-4E21-88F0-680A101BC77A}" type="slidenum">
              <a:rPr lang="en-PH" smtClean="0"/>
              <a:t>‹#›</a:t>
            </a:fld>
            <a:endParaRPr lang="en-PH"/>
          </a:p>
        </p:txBody>
      </p:sp>
    </p:spTree>
    <p:extLst>
      <p:ext uri="{BB962C8B-B14F-4D97-AF65-F5344CB8AC3E}">
        <p14:creationId xmlns:p14="http://schemas.microsoft.com/office/powerpoint/2010/main" val="643680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FC106C-957B-4A18-8677-68DFEA1DB662}" type="datetimeFigureOut">
              <a:rPr lang="en-PH" smtClean="0"/>
              <a:t>13/12/2024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F18BBA-62BC-4E21-88F0-680A101BC77A}" type="slidenum">
              <a:rPr lang="en-PH" smtClean="0"/>
              <a:t>‹#›</a:t>
            </a:fld>
            <a:endParaRPr lang="en-PH"/>
          </a:p>
        </p:txBody>
      </p:sp>
    </p:spTree>
    <p:extLst>
      <p:ext uri="{BB962C8B-B14F-4D97-AF65-F5344CB8AC3E}">
        <p14:creationId xmlns:p14="http://schemas.microsoft.com/office/powerpoint/2010/main" val="261675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t>SENSORS AND TRANSDUCERS</a:t>
            </a:r>
          </a:p>
          <a:p>
            <a:pPr marL="0" indent="0">
              <a:buNone/>
            </a:pPr>
            <a:endParaRPr lang="en-PH" sz="4400" dirty="0"/>
          </a:p>
          <a:p>
            <a:pPr marL="0" indent="0">
              <a:buNone/>
            </a:pPr>
            <a:r>
              <a:rPr lang="en-PH" sz="4400" dirty="0"/>
              <a:t>SENSORS - is a device that detects a change in a physical stimulus and turns it into a signal which can be measured or recorded.</a:t>
            </a:r>
          </a:p>
          <a:p>
            <a:pPr marL="0" indent="0">
              <a:buNone/>
            </a:pPr>
            <a:endParaRPr lang="en-PH" sz="4400" dirty="0"/>
          </a:p>
        </p:txBody>
      </p:sp>
    </p:spTree>
    <p:extLst>
      <p:ext uri="{BB962C8B-B14F-4D97-AF65-F5344CB8AC3E}">
        <p14:creationId xmlns:p14="http://schemas.microsoft.com/office/powerpoint/2010/main" val="247594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t>SENSORS AND TRANSDUCERS</a:t>
            </a:r>
          </a:p>
          <a:p>
            <a:pPr marL="0" indent="0">
              <a:buNone/>
            </a:pPr>
            <a:endParaRPr lang="en-PH" sz="4400" dirty="0"/>
          </a:p>
          <a:p>
            <a:pPr marL="0" indent="0">
              <a:buNone/>
            </a:pPr>
            <a:r>
              <a:rPr lang="en-PH" sz="4400" dirty="0"/>
              <a:t>TRANSDUCERS -  is any device that converts energy in one form to another. The majority either convert electrical energy to mechanical displacement or convert some non-electrical physical quantity, such as temperature, sound or light to an electrical signal.</a:t>
            </a:r>
          </a:p>
        </p:txBody>
      </p:sp>
    </p:spTree>
    <p:extLst>
      <p:ext uri="{BB962C8B-B14F-4D97-AF65-F5344CB8AC3E}">
        <p14:creationId xmlns:p14="http://schemas.microsoft.com/office/powerpoint/2010/main" val="3794878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Transducer can be classified according to their application, based primarily on the physical quantity, property, or condition that is measured. </a:t>
            </a:r>
          </a:p>
          <a:p>
            <a:pPr marL="0" indent="0">
              <a:buNone/>
            </a:pPr>
            <a:r>
              <a:rPr lang="en-PH" sz="4400" dirty="0"/>
              <a:t>The transducer can be categories into:</a:t>
            </a:r>
          </a:p>
          <a:p>
            <a:pPr marL="0" indent="0">
              <a:buNone/>
            </a:pPr>
            <a:r>
              <a:rPr lang="en-PH" sz="4400" dirty="0"/>
              <a:t>A) Passive transducers: requires an external 	power output is a measure of some 	variation, such resistance and capacitance. 	ex: condenser microphone</a:t>
            </a:r>
          </a:p>
        </p:txBody>
      </p:sp>
    </p:spTree>
    <p:extLst>
      <p:ext uri="{BB962C8B-B14F-4D97-AF65-F5344CB8AC3E}">
        <p14:creationId xmlns:p14="http://schemas.microsoft.com/office/powerpoint/2010/main" val="164116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B) Self generating transducers: not requiring an 	external power and they produce analog 	voltage or current when stimulated by 	some physical form of energy. </a:t>
            </a:r>
          </a:p>
          <a:p>
            <a:pPr marL="0" indent="0">
              <a:buNone/>
            </a:pPr>
            <a:r>
              <a:rPr lang="en-PH" sz="4400" dirty="0"/>
              <a:t>	ex: Thermocouple</a:t>
            </a:r>
          </a:p>
        </p:txBody>
      </p:sp>
    </p:spTree>
    <p:extLst>
      <p:ext uri="{BB962C8B-B14F-4D97-AF65-F5344CB8AC3E}">
        <p14:creationId xmlns:p14="http://schemas.microsoft.com/office/powerpoint/2010/main" val="2923849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APPLICATIONS OF TRANSDUCER</a:t>
            </a:r>
          </a:p>
          <a:p>
            <a:pPr marL="0" indent="0">
              <a:buNone/>
            </a:pPr>
            <a:r>
              <a:rPr lang="en-PH" sz="4400" dirty="0"/>
              <a:t>Used to measure continuous variables</a:t>
            </a:r>
          </a:p>
          <a:p>
            <a:pPr marL="0" indent="0">
              <a:buNone/>
            </a:pPr>
            <a:r>
              <a:rPr lang="en-PH" sz="4400" dirty="0"/>
              <a:t>	Temperature</a:t>
            </a:r>
          </a:p>
          <a:p>
            <a:pPr marL="0" indent="0">
              <a:buNone/>
            </a:pPr>
            <a:r>
              <a:rPr lang="en-PH" sz="4400" dirty="0"/>
              <a:t>	Liquid level</a:t>
            </a:r>
          </a:p>
          <a:p>
            <a:pPr marL="0" indent="0">
              <a:buNone/>
            </a:pPr>
            <a:r>
              <a:rPr lang="en-PH" sz="4400" dirty="0"/>
              <a:t>	Force</a:t>
            </a:r>
          </a:p>
          <a:p>
            <a:pPr marL="0" indent="0">
              <a:buNone/>
            </a:pPr>
            <a:r>
              <a:rPr lang="en-PH" sz="4400" dirty="0"/>
              <a:t>	Pressure</a:t>
            </a:r>
          </a:p>
          <a:p>
            <a:pPr marL="0" indent="0">
              <a:buNone/>
            </a:pPr>
            <a:r>
              <a:rPr lang="en-PH" sz="4400" dirty="0"/>
              <a:t>	Flow</a:t>
            </a:r>
          </a:p>
          <a:p>
            <a:pPr marL="0" indent="0">
              <a:buNone/>
            </a:pPr>
            <a:r>
              <a:rPr lang="en-PH" sz="4400" dirty="0"/>
              <a:t>	Position</a:t>
            </a:r>
          </a:p>
          <a:p>
            <a:pPr marL="0" indent="0">
              <a:buNone/>
            </a:pPr>
            <a:endParaRPr lang="en-PH" sz="4400" dirty="0"/>
          </a:p>
        </p:txBody>
      </p:sp>
    </p:spTree>
    <p:extLst>
      <p:ext uri="{BB962C8B-B14F-4D97-AF65-F5344CB8AC3E}">
        <p14:creationId xmlns:p14="http://schemas.microsoft.com/office/powerpoint/2010/main" val="2018996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TYPES OF TRANSDUCER</a:t>
            </a:r>
          </a:p>
          <a:p>
            <a:pPr marL="0" indent="0">
              <a:buNone/>
            </a:pPr>
            <a:r>
              <a:rPr lang="en-PH" sz="4400" dirty="0"/>
              <a:t>	Temperature Transducers</a:t>
            </a:r>
          </a:p>
          <a:p>
            <a:pPr marL="0" indent="0">
              <a:buNone/>
            </a:pPr>
            <a:r>
              <a:rPr lang="en-PH" sz="4400" dirty="0"/>
              <a:t>	Pressure Transducers </a:t>
            </a:r>
          </a:p>
          <a:p>
            <a:pPr marL="0" indent="0">
              <a:buNone/>
            </a:pPr>
            <a:r>
              <a:rPr lang="en-PH" sz="4400" dirty="0"/>
              <a:t>	Speed Transducers</a:t>
            </a:r>
          </a:p>
          <a:p>
            <a:pPr marL="0" indent="0">
              <a:buNone/>
            </a:pPr>
            <a:r>
              <a:rPr lang="en-PH" sz="4400" dirty="0"/>
              <a:t>	Electrical Transducers</a:t>
            </a:r>
          </a:p>
          <a:p>
            <a:pPr marL="0" indent="0">
              <a:buNone/>
            </a:pPr>
            <a:r>
              <a:rPr lang="en-PH" sz="4400" dirty="0"/>
              <a:t>	Photoelectric Transducers</a:t>
            </a:r>
          </a:p>
          <a:p>
            <a:pPr marL="0" indent="0">
              <a:buNone/>
            </a:pPr>
            <a:r>
              <a:rPr lang="en-PH" sz="4400" dirty="0"/>
              <a:t>	Electromagnetic Transducers</a:t>
            </a:r>
          </a:p>
          <a:p>
            <a:pPr marL="0" indent="0">
              <a:buNone/>
            </a:pPr>
            <a:r>
              <a:rPr lang="en-PH" sz="4400" dirty="0"/>
              <a:t>	Electrostatic Transducers</a:t>
            </a:r>
          </a:p>
          <a:p>
            <a:pPr marL="0" indent="0">
              <a:buNone/>
            </a:pPr>
            <a:r>
              <a:rPr lang="en-PH" sz="4400" dirty="0"/>
              <a:t>	Mechanical transducers</a:t>
            </a:r>
          </a:p>
          <a:p>
            <a:pPr marL="0" indent="0">
              <a:buNone/>
            </a:pPr>
            <a:r>
              <a:rPr lang="en-PH" sz="4400" dirty="0"/>
              <a:t>	IC Transducer</a:t>
            </a:r>
          </a:p>
        </p:txBody>
      </p:sp>
    </p:spTree>
    <p:extLst>
      <p:ext uri="{BB962C8B-B14F-4D97-AF65-F5344CB8AC3E}">
        <p14:creationId xmlns:p14="http://schemas.microsoft.com/office/powerpoint/2010/main" val="2548050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I. TEMPERATURE TRANSDUCERS</a:t>
            </a:r>
          </a:p>
          <a:p>
            <a:pPr marL="0" indent="0">
              <a:buNone/>
            </a:pPr>
            <a:r>
              <a:rPr lang="en-PH" sz="4400" dirty="0"/>
              <a:t>1. THERMOCOUPLES</a:t>
            </a:r>
          </a:p>
          <a:p>
            <a:pPr marL="0" indent="0">
              <a:lnSpc>
                <a:spcPct val="100000"/>
              </a:lnSpc>
              <a:spcBef>
                <a:spcPts val="600"/>
              </a:spcBef>
              <a:buNone/>
            </a:pPr>
            <a:r>
              <a:rPr lang="en-PH" sz="4400" dirty="0"/>
              <a:t>When two wires with dissimilar electrical properties are joined at both ends and one junction is made hot and the other cold, a small electric current is </a:t>
            </a:r>
          </a:p>
          <a:p>
            <a:pPr marL="0" indent="0">
              <a:lnSpc>
                <a:spcPct val="100000"/>
              </a:lnSpc>
              <a:spcBef>
                <a:spcPts val="600"/>
              </a:spcBef>
              <a:buNone/>
            </a:pPr>
            <a:r>
              <a:rPr lang="en-PH" sz="4400" dirty="0"/>
              <a:t>produced proportional </a:t>
            </a:r>
          </a:p>
          <a:p>
            <a:pPr marL="0" indent="0">
              <a:lnSpc>
                <a:spcPct val="100000"/>
              </a:lnSpc>
              <a:spcBef>
                <a:spcPts val="600"/>
              </a:spcBef>
              <a:buNone/>
            </a:pPr>
            <a:r>
              <a:rPr lang="en-PH" sz="4400" dirty="0"/>
              <a:t>to the difference in the </a:t>
            </a:r>
          </a:p>
          <a:p>
            <a:pPr marL="0" indent="0">
              <a:lnSpc>
                <a:spcPct val="100000"/>
              </a:lnSpc>
              <a:spcBef>
                <a:spcPts val="600"/>
              </a:spcBef>
              <a:buNone/>
            </a:pPr>
            <a:r>
              <a:rPr lang="en-PH" sz="4400" dirty="0"/>
              <a:t>temperature. </a:t>
            </a:r>
          </a:p>
        </p:txBody>
      </p:sp>
      <p:pic>
        <p:nvPicPr>
          <p:cNvPr id="4" name="Picture 3"/>
          <p:cNvPicPr>
            <a:picLocks noChangeAspect="1"/>
          </p:cNvPicPr>
          <p:nvPr/>
        </p:nvPicPr>
        <p:blipFill>
          <a:blip r:embed="rId2"/>
          <a:stretch>
            <a:fillRect/>
          </a:stretch>
        </p:blipFill>
        <p:spPr>
          <a:xfrm>
            <a:off x="6076950" y="4081162"/>
            <a:ext cx="5876925" cy="2057400"/>
          </a:xfrm>
          <a:prstGeom prst="rect">
            <a:avLst/>
          </a:prstGeom>
        </p:spPr>
      </p:pic>
    </p:spTree>
    <p:extLst>
      <p:ext uri="{BB962C8B-B14F-4D97-AF65-F5344CB8AC3E}">
        <p14:creationId xmlns:p14="http://schemas.microsoft.com/office/powerpoint/2010/main" val="3511685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relationship is nearly linear over the operating range. The actual characteristic and suitable operating temperatures depends upon the metals used in the wires. The various types are designated in international and national standards. Typical linear operating ranges are shown for standard types.</a:t>
            </a:r>
          </a:p>
          <a:p>
            <a:pPr marL="0" indent="0">
              <a:buNone/>
            </a:pPr>
            <a:r>
              <a:rPr lang="en-PH" sz="4400" dirty="0"/>
              <a:t>It is important that thermocouples are standard so that the same EMF will always represent the same temperature.</a:t>
            </a:r>
          </a:p>
        </p:txBody>
      </p:sp>
    </p:spTree>
    <p:extLst>
      <p:ext uri="{BB962C8B-B14F-4D97-AF65-F5344CB8AC3E}">
        <p14:creationId xmlns:p14="http://schemas.microsoft.com/office/powerpoint/2010/main" val="3435037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Thermocouples come in several forms. They may be wires insulated from each other with plastic or fiber glass materials.</a:t>
            </a:r>
          </a:p>
          <a:p>
            <a:pPr marL="0" indent="0">
              <a:buNone/>
            </a:pPr>
            <a:r>
              <a:rPr lang="en-PH" sz="4400" dirty="0"/>
              <a:t>For high temperature work, the wire pairs are put inside a tube with mineral insulation. For industrial uses the sensor comes in a metal enclosure such as stainless steel.</a:t>
            </a:r>
          </a:p>
        </p:txBody>
      </p:sp>
    </p:spTree>
    <p:extLst>
      <p:ext uri="{BB962C8B-B14F-4D97-AF65-F5344CB8AC3E}">
        <p14:creationId xmlns:p14="http://schemas.microsoft.com/office/powerpoint/2010/main" val="106099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Thermocouple have a wide range of temperature from as low as – 270°C up to as high as 2700°C.</a:t>
            </a:r>
          </a:p>
          <a:p>
            <a:pPr marL="0" indent="0">
              <a:buNone/>
            </a:pPr>
            <a:r>
              <a:rPr lang="en-PH" sz="4400" dirty="0"/>
              <a:t>Magnitude of the thermal EMF depends on the wire materials used and on the temperature difference between the junctions. </a:t>
            </a:r>
          </a:p>
          <a:p>
            <a:pPr marL="0" indent="0">
              <a:buNone/>
            </a:pPr>
            <a:endParaRPr lang="en-PH" sz="4400" dirty="0"/>
          </a:p>
        </p:txBody>
      </p:sp>
    </p:spTree>
    <p:extLst>
      <p:ext uri="{BB962C8B-B14F-4D97-AF65-F5344CB8AC3E}">
        <p14:creationId xmlns:p14="http://schemas.microsoft.com/office/powerpoint/2010/main" val="1385828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lgn="ctr">
              <a:buNone/>
            </a:pPr>
            <a:r>
              <a:rPr lang="en-PH" sz="4400" dirty="0"/>
              <a:t>Standard metals and pairs for thermocouple constructions</a:t>
            </a:r>
          </a:p>
          <a:p>
            <a:pPr marL="0" indent="0" algn="ctr">
              <a:buNone/>
            </a:pPr>
            <a:endParaRPr lang="en-PH" sz="4400" dirty="0"/>
          </a:p>
          <a:p>
            <a:pPr marL="0" indent="0" algn="ctr">
              <a:buNone/>
            </a:pPr>
            <a:r>
              <a:rPr lang="en-PH" sz="4400" dirty="0" err="1"/>
              <a:t>Chromel</a:t>
            </a:r>
            <a:r>
              <a:rPr lang="en-PH" sz="4400" dirty="0"/>
              <a:t> – </a:t>
            </a:r>
            <a:r>
              <a:rPr lang="en-PH" sz="4400" dirty="0" err="1"/>
              <a:t>Alumel</a:t>
            </a:r>
            <a:r>
              <a:rPr lang="en-PH" sz="4400" dirty="0"/>
              <a:t> (type K)</a:t>
            </a:r>
          </a:p>
          <a:p>
            <a:pPr marL="0" indent="0" algn="ctr">
              <a:buNone/>
            </a:pPr>
            <a:r>
              <a:rPr lang="en-PH" sz="4400" dirty="0"/>
              <a:t>Iron – Constantan (type J)</a:t>
            </a:r>
          </a:p>
          <a:p>
            <a:pPr marL="0" indent="0" algn="ctr">
              <a:buNone/>
            </a:pPr>
            <a:r>
              <a:rPr lang="en-PH" sz="4400" dirty="0"/>
              <a:t>Copper – Constantan (type T)</a:t>
            </a:r>
          </a:p>
          <a:p>
            <a:pPr marL="0" indent="0" algn="ctr">
              <a:buNone/>
            </a:pPr>
            <a:r>
              <a:rPr lang="en-PH" sz="4400" dirty="0"/>
              <a:t>Platinum – Rhodium-Platinum (type S, R &amp; B)</a:t>
            </a:r>
          </a:p>
        </p:txBody>
      </p:sp>
    </p:spTree>
    <p:extLst>
      <p:ext uri="{BB962C8B-B14F-4D97-AF65-F5344CB8AC3E}">
        <p14:creationId xmlns:p14="http://schemas.microsoft.com/office/powerpoint/2010/main" val="1623096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endParaRPr lang="en-PH" sz="4400" dirty="0"/>
          </a:p>
          <a:p>
            <a:pPr marL="0" indent="0" algn="ctr">
              <a:buNone/>
            </a:pPr>
            <a:r>
              <a:rPr lang="en-PH" sz="4400" dirty="0"/>
              <a:t>Thermocouple Alloy composition</a:t>
            </a:r>
          </a:p>
          <a:p>
            <a:pPr marL="0" indent="0">
              <a:buNone/>
            </a:pPr>
            <a:r>
              <a:rPr lang="en-PH" sz="4400" dirty="0" err="1"/>
              <a:t>Chromel</a:t>
            </a:r>
            <a:r>
              <a:rPr lang="en-PH" sz="4400" dirty="0"/>
              <a:t> - 90% nickel and 10% chromium </a:t>
            </a:r>
          </a:p>
          <a:p>
            <a:pPr marL="0" indent="0">
              <a:buNone/>
            </a:pPr>
            <a:r>
              <a:rPr lang="en-PH" sz="4400" dirty="0" err="1"/>
              <a:t>Alumel</a:t>
            </a:r>
            <a:r>
              <a:rPr lang="en-PH" sz="4400" dirty="0"/>
              <a:t> - </a:t>
            </a:r>
            <a:r>
              <a:rPr lang="de-DE" sz="4400" dirty="0"/>
              <a:t>95% nickel, 2% manganese,</a:t>
            </a:r>
          </a:p>
          <a:p>
            <a:pPr marL="0" indent="0">
              <a:buNone/>
            </a:pPr>
            <a:r>
              <a:rPr lang="de-DE" sz="4400" dirty="0"/>
              <a:t>		2% aluminium and 1% silicon</a:t>
            </a:r>
            <a:endParaRPr lang="en-PH" sz="4400" dirty="0"/>
          </a:p>
          <a:p>
            <a:pPr marL="0" indent="0">
              <a:buNone/>
            </a:pPr>
            <a:r>
              <a:rPr lang="en-PH" sz="4400" dirty="0"/>
              <a:t>Constantan - 45 % nickel - 55% copper</a:t>
            </a:r>
          </a:p>
        </p:txBody>
      </p:sp>
    </p:spTree>
    <p:extLst>
      <p:ext uri="{BB962C8B-B14F-4D97-AF65-F5344CB8AC3E}">
        <p14:creationId xmlns:p14="http://schemas.microsoft.com/office/powerpoint/2010/main" val="74331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effective EMF of the thermocouple is given as:</a:t>
            </a:r>
          </a:p>
          <a:p>
            <a:pPr marL="0" indent="0">
              <a:buNone/>
            </a:pPr>
            <a:r>
              <a:rPr lang="en-PH" sz="4400" dirty="0"/>
              <a:t>	E = c (T</a:t>
            </a:r>
            <a:r>
              <a:rPr lang="en-PH" dirty="0"/>
              <a:t>1</a:t>
            </a:r>
            <a:r>
              <a:rPr lang="en-PH" sz="4400" dirty="0"/>
              <a:t> – T</a:t>
            </a:r>
            <a:r>
              <a:rPr lang="en-PH" dirty="0"/>
              <a:t>2</a:t>
            </a:r>
            <a:r>
              <a:rPr lang="en-PH" sz="4400" dirty="0"/>
              <a:t>) + k(T</a:t>
            </a:r>
            <a:r>
              <a:rPr lang="en-PH" dirty="0"/>
              <a:t>1</a:t>
            </a:r>
            <a:r>
              <a:rPr lang="en-PH" sz="4400" dirty="0"/>
              <a:t>² – T</a:t>
            </a:r>
            <a:r>
              <a:rPr lang="en-PH" dirty="0"/>
              <a:t>2</a:t>
            </a:r>
            <a:r>
              <a:rPr lang="en-PH" sz="4400" dirty="0"/>
              <a:t>²)</a:t>
            </a:r>
          </a:p>
          <a:p>
            <a:pPr marL="0" indent="0">
              <a:buNone/>
            </a:pPr>
            <a:r>
              <a:rPr lang="en-PH" sz="4400" dirty="0"/>
              <a:t>	</a:t>
            </a:r>
            <a:r>
              <a:rPr lang="en-PH" sz="3200" dirty="0"/>
              <a:t>where c &amp; k = constants of the thermocouple materials</a:t>
            </a:r>
          </a:p>
          <a:p>
            <a:pPr marL="0" indent="0">
              <a:buNone/>
            </a:pPr>
            <a:r>
              <a:rPr lang="en-PH" sz="3200" dirty="0"/>
              <a:t>			T</a:t>
            </a:r>
            <a:r>
              <a:rPr lang="en-PH" sz="2000" dirty="0"/>
              <a:t>1</a:t>
            </a:r>
            <a:r>
              <a:rPr lang="en-PH" sz="3200" dirty="0"/>
              <a:t> = temp of the hot junction</a:t>
            </a:r>
          </a:p>
          <a:p>
            <a:pPr marL="0" indent="0">
              <a:buNone/>
            </a:pPr>
            <a:r>
              <a:rPr lang="en-PH" sz="3200" dirty="0"/>
              <a:t>			T</a:t>
            </a:r>
            <a:r>
              <a:rPr lang="en-PH" sz="2000" dirty="0"/>
              <a:t>2</a:t>
            </a:r>
            <a:r>
              <a:rPr lang="en-PH" sz="3200" dirty="0"/>
              <a:t> = temp of the cold or reference junction</a:t>
            </a:r>
          </a:p>
        </p:txBody>
      </p:sp>
    </p:spTree>
    <p:extLst>
      <p:ext uri="{BB962C8B-B14F-4D97-AF65-F5344CB8AC3E}">
        <p14:creationId xmlns:p14="http://schemas.microsoft.com/office/powerpoint/2010/main" val="120372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endParaRPr lang="en-PH" sz="4400" dirty="0"/>
          </a:p>
          <a:p>
            <a:pPr marL="0" indent="0">
              <a:buNone/>
            </a:pPr>
            <a:r>
              <a:rPr lang="en-PH" sz="4400" dirty="0"/>
              <a:t>Example: During experiments with a copper – constantan thermocouple, it was found that      c = 3.75 x 10¯² mV/°C and k = 4.5 x 10¯⁵ mV/°C². if T</a:t>
            </a:r>
            <a:r>
              <a:rPr lang="en-PH" dirty="0"/>
              <a:t>1</a:t>
            </a:r>
            <a:r>
              <a:rPr lang="en-PH" sz="4400" dirty="0"/>
              <a:t> = 100 °C and the cold junction, T</a:t>
            </a:r>
            <a:r>
              <a:rPr lang="en-PH" dirty="0"/>
              <a:t>2</a:t>
            </a:r>
            <a:r>
              <a:rPr lang="en-PH" sz="4400" dirty="0"/>
              <a:t> is kept in ice. Compute for the resulting EMF. </a:t>
            </a:r>
          </a:p>
        </p:txBody>
      </p:sp>
    </p:spTree>
    <p:extLst>
      <p:ext uri="{BB962C8B-B14F-4D97-AF65-F5344CB8AC3E}">
        <p14:creationId xmlns:p14="http://schemas.microsoft.com/office/powerpoint/2010/main" val="1638876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2. RESISTANCE TYPE SENSORS</a:t>
            </a:r>
          </a:p>
          <a:p>
            <a:pPr marL="0" indent="0">
              <a:buNone/>
            </a:pPr>
            <a:r>
              <a:rPr lang="en-PH" sz="4400" dirty="0"/>
              <a:t>These work on </a:t>
            </a:r>
          </a:p>
          <a:p>
            <a:pPr marL="0" indent="0">
              <a:buNone/>
            </a:pPr>
            <a:r>
              <a:rPr lang="en-PH" sz="4400" dirty="0"/>
              <a:t>the principle that</a:t>
            </a:r>
          </a:p>
          <a:p>
            <a:pPr marL="0" indent="0">
              <a:buNone/>
            </a:pPr>
            <a:r>
              <a:rPr lang="en-PH" sz="4400" dirty="0"/>
              <a:t>the electrical resistance of a conductor change with temperature. If a constant voltage is applied to the conductor then the current flowing through it will change with temperature. The resistivity of the conductor change with temperature. </a:t>
            </a:r>
          </a:p>
        </p:txBody>
      </p:sp>
      <p:pic>
        <p:nvPicPr>
          <p:cNvPr id="2" name="Picture 1"/>
          <p:cNvPicPr>
            <a:picLocks noChangeAspect="1"/>
          </p:cNvPicPr>
          <p:nvPr/>
        </p:nvPicPr>
        <p:blipFill>
          <a:blip r:embed="rId2"/>
          <a:stretch>
            <a:fillRect/>
          </a:stretch>
        </p:blipFill>
        <p:spPr>
          <a:xfrm>
            <a:off x="4600575" y="865187"/>
            <a:ext cx="7019925" cy="1800225"/>
          </a:xfrm>
          <a:prstGeom prst="rect">
            <a:avLst/>
          </a:prstGeom>
        </p:spPr>
      </p:pic>
    </p:spTree>
    <p:extLst>
      <p:ext uri="{BB962C8B-B14F-4D97-AF65-F5344CB8AC3E}">
        <p14:creationId xmlns:p14="http://schemas.microsoft.com/office/powerpoint/2010/main" val="1037987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This usually means the resistance gets bigger as the conductor gets hotter.</a:t>
            </a:r>
          </a:p>
          <a:p>
            <a:pPr marL="0" indent="0">
              <a:buNone/>
            </a:pPr>
            <a:r>
              <a:rPr lang="en-PH" sz="4400" dirty="0"/>
              <a:t>A basic temperature sensor is made by winding a thin resistance wire into a small sensor head. The resistance of the wire then represents the temperature. This has an advantage over a thermocouple in that it is unaffected by the temperature of the gauge end. The main type of wire used is Platinum</a:t>
            </a:r>
            <a:r>
              <a:rPr lang="en-PH" sz="4400" b="1" dirty="0"/>
              <a:t>. </a:t>
            </a:r>
            <a:endParaRPr lang="en-PH" sz="4400" dirty="0"/>
          </a:p>
        </p:txBody>
      </p:sp>
    </p:spTree>
    <p:extLst>
      <p:ext uri="{BB962C8B-B14F-4D97-AF65-F5344CB8AC3E}">
        <p14:creationId xmlns:p14="http://schemas.microsoft.com/office/powerpoint/2010/main" val="499955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 sensors are usually manufactured to have a resistance of 100 W at 0°C and a typical operating range of -200°C to 400°C. A special type of resistance sensor is called a </a:t>
            </a:r>
            <a:r>
              <a:rPr lang="en-PH" sz="4400" b="1" dirty="0"/>
              <a:t>Thermistor. </a:t>
            </a:r>
            <a:r>
              <a:rPr lang="en-PH" sz="4400" dirty="0"/>
              <a:t>They are made from a small piece of semiconductor material. The material is special because the resistance changes a lot for a small change in temperature and so can be made into a small sensor and it costs less than platinum wire. The temperature range is limited. </a:t>
            </a:r>
          </a:p>
        </p:txBody>
      </p:sp>
    </p:spTree>
    <p:extLst>
      <p:ext uri="{BB962C8B-B14F-4D97-AF65-F5344CB8AC3E}">
        <p14:creationId xmlns:p14="http://schemas.microsoft.com/office/powerpoint/2010/main" val="3138118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They are only used for a typical range of -20°C to 120°C and are commonly used in small hand held thermometers for every day use.</a:t>
            </a:r>
          </a:p>
        </p:txBody>
      </p:sp>
      <p:pic>
        <p:nvPicPr>
          <p:cNvPr id="2" name="Picture 1"/>
          <p:cNvPicPr>
            <a:picLocks noChangeAspect="1"/>
          </p:cNvPicPr>
          <p:nvPr/>
        </p:nvPicPr>
        <p:blipFill>
          <a:blip r:embed="rId2"/>
          <a:stretch>
            <a:fillRect/>
          </a:stretch>
        </p:blipFill>
        <p:spPr>
          <a:xfrm>
            <a:off x="2789129" y="2733674"/>
            <a:ext cx="5821471" cy="1609725"/>
          </a:xfrm>
          <a:prstGeom prst="rect">
            <a:avLst/>
          </a:prstGeom>
        </p:spPr>
      </p:pic>
    </p:spTree>
    <p:extLst>
      <p:ext uri="{BB962C8B-B14F-4D97-AF65-F5344CB8AC3E}">
        <p14:creationId xmlns:p14="http://schemas.microsoft.com/office/powerpoint/2010/main" val="3366813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Thermistors are made of oxides of nickel, manganese or cobalt platinum. The output is not linearly proportional to any temperature scale.</a:t>
            </a:r>
          </a:p>
          <a:p>
            <a:pPr marL="0" indent="0">
              <a:buNone/>
            </a:pPr>
            <a:endParaRPr lang="en-PH" sz="4400" dirty="0"/>
          </a:p>
          <a:p>
            <a:pPr marL="0" indent="0">
              <a:buNone/>
            </a:pPr>
            <a:r>
              <a:rPr lang="en-PH" sz="4400" dirty="0"/>
              <a:t>2 types of Thermistor</a:t>
            </a:r>
          </a:p>
          <a:p>
            <a:pPr marL="0" indent="0">
              <a:buNone/>
            </a:pPr>
            <a:r>
              <a:rPr lang="en-PH" sz="4400" dirty="0"/>
              <a:t>NTC – Negative Temperature Coefficient</a:t>
            </a:r>
          </a:p>
          <a:p>
            <a:pPr marL="0" indent="0">
              <a:buNone/>
            </a:pPr>
            <a:r>
              <a:rPr lang="en-PH" sz="4400" dirty="0"/>
              <a:t>	Resistance goes down when temp goes down</a:t>
            </a:r>
          </a:p>
          <a:p>
            <a:pPr marL="0" indent="0">
              <a:buNone/>
            </a:pPr>
            <a:r>
              <a:rPr lang="en-PH" sz="4400" dirty="0"/>
              <a:t>PTC – Positive Temperature Coefficient</a:t>
            </a:r>
          </a:p>
          <a:p>
            <a:pPr marL="0" indent="0">
              <a:buNone/>
            </a:pPr>
            <a:r>
              <a:rPr lang="en-PH" sz="4400" dirty="0"/>
              <a:t>	 Resistance goes up when temp goes up</a:t>
            </a:r>
          </a:p>
        </p:txBody>
      </p:sp>
    </p:spTree>
    <p:extLst>
      <p:ext uri="{BB962C8B-B14F-4D97-AF65-F5344CB8AC3E}">
        <p14:creationId xmlns:p14="http://schemas.microsoft.com/office/powerpoint/2010/main" val="944871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PH" dirty="0"/>
            </a:br>
            <a:r>
              <a:rPr lang="en-PH" dirty="0"/>
              <a:t>THERMISTOR</a:t>
            </a:r>
          </a:p>
        </p:txBody>
      </p:sp>
      <p:pic>
        <p:nvPicPr>
          <p:cNvPr id="4" name="Content Placeholder 3"/>
          <p:cNvPicPr>
            <a:picLocks noGrp="1" noChangeAspect="1"/>
          </p:cNvPicPr>
          <p:nvPr>
            <p:ph idx="1"/>
          </p:nvPr>
        </p:nvPicPr>
        <p:blipFill>
          <a:blip r:embed="rId2"/>
          <a:stretch>
            <a:fillRect/>
          </a:stretch>
        </p:blipFill>
        <p:spPr>
          <a:xfrm>
            <a:off x="1911350" y="2543571"/>
            <a:ext cx="1172146" cy="1627981"/>
          </a:xfrm>
          <a:prstGeom prst="rect">
            <a:avLst/>
          </a:prstGeom>
        </p:spPr>
      </p:pic>
      <p:pic>
        <p:nvPicPr>
          <p:cNvPr id="7" name="Picture 6"/>
          <p:cNvPicPr>
            <a:picLocks noChangeAspect="1"/>
          </p:cNvPicPr>
          <p:nvPr/>
        </p:nvPicPr>
        <p:blipFill>
          <a:blip r:embed="rId3"/>
          <a:stretch>
            <a:fillRect/>
          </a:stretch>
        </p:blipFill>
        <p:spPr>
          <a:xfrm>
            <a:off x="5102225" y="646398"/>
            <a:ext cx="5149850" cy="2711164"/>
          </a:xfrm>
          <a:prstGeom prst="rect">
            <a:avLst/>
          </a:prstGeom>
        </p:spPr>
      </p:pic>
      <p:pic>
        <p:nvPicPr>
          <p:cNvPr id="8" name="Picture 7"/>
          <p:cNvPicPr>
            <a:picLocks noChangeAspect="1"/>
          </p:cNvPicPr>
          <p:nvPr/>
        </p:nvPicPr>
        <p:blipFill>
          <a:blip r:embed="rId4"/>
          <a:stretch>
            <a:fillRect/>
          </a:stretch>
        </p:blipFill>
        <p:spPr>
          <a:xfrm>
            <a:off x="5102225" y="3357562"/>
            <a:ext cx="5189197" cy="2992437"/>
          </a:xfrm>
          <a:prstGeom prst="rect">
            <a:avLst/>
          </a:prstGeom>
        </p:spPr>
      </p:pic>
    </p:spTree>
    <p:extLst>
      <p:ext uri="{BB962C8B-B14F-4D97-AF65-F5344CB8AC3E}">
        <p14:creationId xmlns:p14="http://schemas.microsoft.com/office/powerpoint/2010/main" val="4044663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NTC Thermistor</a:t>
            </a:r>
          </a:p>
          <a:p>
            <a:pPr marL="0" indent="0">
              <a:buNone/>
            </a:pPr>
            <a:r>
              <a:rPr lang="en-PH" sz="4400" dirty="0"/>
              <a:t>Temperature dependent semiconductor resistors. Operates at a range of -200°C to 1000°C, supplied in glass bead</a:t>
            </a:r>
            <a:r>
              <a:rPr lang="en-PH" sz="4400"/>
              <a:t>, disc, </a:t>
            </a:r>
            <a:r>
              <a:rPr lang="en-PH" sz="4400" dirty="0"/>
              <a:t>chips or probe formats.</a:t>
            </a:r>
          </a:p>
          <a:p>
            <a:pPr marL="0" indent="0">
              <a:buNone/>
            </a:pPr>
            <a:r>
              <a:rPr lang="en-PH" sz="4400" dirty="0"/>
              <a:t>	applications: </a:t>
            </a:r>
          </a:p>
          <a:p>
            <a:pPr marL="0" indent="0">
              <a:buNone/>
            </a:pPr>
            <a:r>
              <a:rPr lang="en-PH" sz="4400" dirty="0"/>
              <a:t>		temperature measurement and control</a:t>
            </a:r>
          </a:p>
          <a:p>
            <a:pPr marL="0" indent="0">
              <a:buNone/>
            </a:pPr>
            <a:r>
              <a:rPr lang="en-PH" sz="4400" dirty="0"/>
              <a:t>		temperature compensation</a:t>
            </a:r>
          </a:p>
          <a:p>
            <a:pPr marL="0" indent="0">
              <a:buNone/>
            </a:pPr>
            <a:r>
              <a:rPr lang="en-PH" sz="4400" dirty="0"/>
              <a:t>		surge suppression</a:t>
            </a:r>
          </a:p>
          <a:p>
            <a:pPr marL="0" indent="0">
              <a:buNone/>
            </a:pPr>
            <a:r>
              <a:rPr lang="en-PH" sz="4400" dirty="0"/>
              <a:t>		fluid flow measurement</a:t>
            </a:r>
          </a:p>
        </p:txBody>
      </p:sp>
    </p:spTree>
    <p:extLst>
      <p:ext uri="{BB962C8B-B14F-4D97-AF65-F5344CB8AC3E}">
        <p14:creationId xmlns:p14="http://schemas.microsoft.com/office/powerpoint/2010/main" val="415257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PTC Thermistor</a:t>
            </a:r>
          </a:p>
          <a:p>
            <a:pPr marL="0" indent="0">
              <a:buNone/>
            </a:pPr>
            <a:r>
              <a:rPr lang="en-PH" sz="4400" dirty="0"/>
              <a:t>Temperature dependent resistors manufactured from barium </a:t>
            </a:r>
            <a:r>
              <a:rPr lang="en-PH" sz="4400" dirty="0" err="1"/>
              <a:t>titanate</a:t>
            </a:r>
            <a:r>
              <a:rPr lang="en-PH" sz="4400" dirty="0"/>
              <a:t> and should be chosen when a drastic change in resistance is required at a specific temperature or current level.</a:t>
            </a:r>
          </a:p>
          <a:p>
            <a:pPr marL="0" indent="0">
              <a:buNone/>
            </a:pPr>
            <a:r>
              <a:rPr lang="en-PH" sz="4400" dirty="0"/>
              <a:t>	applications:</a:t>
            </a:r>
          </a:p>
          <a:p>
            <a:pPr marL="0" indent="0">
              <a:buNone/>
            </a:pPr>
            <a:r>
              <a:rPr lang="en-PH" sz="4400" dirty="0"/>
              <a:t>		temperature sensing</a:t>
            </a:r>
          </a:p>
          <a:p>
            <a:pPr marL="0" indent="0">
              <a:buNone/>
            </a:pPr>
            <a:r>
              <a:rPr lang="en-PH" sz="4400" dirty="0"/>
              <a:t>		switching of temperature</a:t>
            </a:r>
          </a:p>
          <a:p>
            <a:pPr marL="0" indent="0">
              <a:buNone/>
            </a:pPr>
            <a:r>
              <a:rPr lang="en-PH" sz="4400" dirty="0"/>
              <a:t>		liquid level sensor</a:t>
            </a:r>
          </a:p>
        </p:txBody>
      </p:sp>
    </p:spTree>
    <p:extLst>
      <p:ext uri="{BB962C8B-B14F-4D97-AF65-F5344CB8AC3E}">
        <p14:creationId xmlns:p14="http://schemas.microsoft.com/office/powerpoint/2010/main" val="1288067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 relationship between temperature and resistance of conductors can be calculated by:</a:t>
            </a:r>
          </a:p>
          <a:p>
            <a:pPr marL="0" indent="0">
              <a:buNone/>
            </a:pPr>
            <a:r>
              <a:rPr lang="en-PH" sz="4400" dirty="0"/>
              <a:t>		R = R</a:t>
            </a:r>
            <a:r>
              <a:rPr lang="en-PH" dirty="0"/>
              <a:t>o</a:t>
            </a:r>
            <a:r>
              <a:rPr lang="en-PH" sz="4400" dirty="0"/>
              <a:t> (1 + </a:t>
            </a:r>
            <a:r>
              <a:rPr lang="el-GR" sz="4400" dirty="0"/>
              <a:t>αΔ</a:t>
            </a:r>
            <a:r>
              <a:rPr lang="en-PH" sz="4400" dirty="0"/>
              <a:t>T)</a:t>
            </a:r>
          </a:p>
          <a:p>
            <a:pPr marL="0" indent="0">
              <a:buNone/>
            </a:pPr>
            <a:r>
              <a:rPr lang="en-PH" sz="3200" dirty="0"/>
              <a:t>	where R = resistance of the conductor at temperature °C</a:t>
            </a:r>
          </a:p>
          <a:p>
            <a:pPr marL="0" indent="0">
              <a:buNone/>
            </a:pPr>
            <a:r>
              <a:rPr lang="en-PH" sz="3200" dirty="0"/>
              <a:t>	    R</a:t>
            </a:r>
            <a:r>
              <a:rPr lang="en-PH" sz="1800" dirty="0"/>
              <a:t>o</a:t>
            </a:r>
            <a:r>
              <a:rPr lang="en-PH" sz="3200" dirty="0"/>
              <a:t> = resistance of the reference temperature, usually 20 °C</a:t>
            </a:r>
          </a:p>
          <a:p>
            <a:pPr marL="0" indent="0">
              <a:buNone/>
            </a:pPr>
            <a:r>
              <a:rPr lang="en-PH" sz="3200" dirty="0"/>
              <a:t>	     </a:t>
            </a:r>
            <a:r>
              <a:rPr lang="el-GR" sz="3200" dirty="0"/>
              <a:t>α</a:t>
            </a:r>
            <a:r>
              <a:rPr lang="en-PH" sz="3200" dirty="0"/>
              <a:t> = temperature coefficient of resistance</a:t>
            </a:r>
          </a:p>
          <a:p>
            <a:pPr marL="0" indent="0">
              <a:buNone/>
            </a:pPr>
            <a:r>
              <a:rPr lang="en-PH" sz="3200" dirty="0"/>
              <a:t>	   </a:t>
            </a:r>
            <a:r>
              <a:rPr lang="el-GR" sz="3200" dirty="0"/>
              <a:t>Δ</a:t>
            </a:r>
            <a:r>
              <a:rPr lang="en-PH" sz="3200" dirty="0"/>
              <a:t>T = difference between operating and the reference 				temperature</a:t>
            </a:r>
          </a:p>
        </p:txBody>
      </p:sp>
    </p:spTree>
    <p:extLst>
      <p:ext uri="{BB962C8B-B14F-4D97-AF65-F5344CB8AC3E}">
        <p14:creationId xmlns:p14="http://schemas.microsoft.com/office/powerpoint/2010/main" val="3570481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endParaRPr lang="en-PH" sz="4400" dirty="0"/>
          </a:p>
          <a:p>
            <a:pPr marL="0" indent="0">
              <a:buNone/>
            </a:pPr>
            <a:r>
              <a:rPr lang="en-PH" sz="4400" dirty="0"/>
              <a:t>Example: A platinum resistance thermometer has a resistance of 150 </a:t>
            </a:r>
            <a:r>
              <a:rPr lang="el-GR" sz="4400" dirty="0"/>
              <a:t>Ω</a:t>
            </a:r>
            <a:r>
              <a:rPr lang="en-PH" sz="4400" dirty="0"/>
              <a:t> at 20°C. Calculate its resistance at 50°C, if </a:t>
            </a:r>
            <a:r>
              <a:rPr lang="el-GR" sz="4400" dirty="0"/>
              <a:t>α</a:t>
            </a:r>
            <a:r>
              <a:rPr lang="en-PH" dirty="0"/>
              <a:t>20</a:t>
            </a:r>
            <a:r>
              <a:rPr lang="en-PH" sz="4400" dirty="0"/>
              <a:t> = 0.00392.</a:t>
            </a:r>
          </a:p>
        </p:txBody>
      </p:sp>
    </p:spTree>
    <p:extLst>
      <p:ext uri="{BB962C8B-B14F-4D97-AF65-F5344CB8AC3E}">
        <p14:creationId xmlns:p14="http://schemas.microsoft.com/office/powerpoint/2010/main" val="2061130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3. LIQUID EXPANSION and VAPOUR PRESSURE SENSORS</a:t>
            </a:r>
          </a:p>
          <a:p>
            <a:pPr marL="0" indent="0">
              <a:buNone/>
            </a:pPr>
            <a:r>
              <a:rPr lang="en-PH" sz="4400" dirty="0"/>
              <a:t>These are thermometers filled with either a liquid such as mercury or an evaporating fluid such as used in refrigerators. In both cases the inside of the sensor head and the connecting tube are completely full. Any rise in temperature produces expansion or evaporation of the liquid so the sensor becomes pressurized. </a:t>
            </a:r>
          </a:p>
        </p:txBody>
      </p:sp>
    </p:spTree>
    <p:extLst>
      <p:ext uri="{BB962C8B-B14F-4D97-AF65-F5344CB8AC3E}">
        <p14:creationId xmlns:p14="http://schemas.microsoft.com/office/powerpoint/2010/main" val="901687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 pressure is related to the temperature and it may be indicated on a simple pressure gauge.</a:t>
            </a:r>
          </a:p>
          <a:p>
            <a:pPr marL="0" indent="0">
              <a:buNone/>
            </a:pPr>
            <a:r>
              <a:rPr lang="en-PH" sz="4400" dirty="0"/>
              <a:t>The movement may also directly operate a thermostat. These instruments</a:t>
            </a:r>
          </a:p>
          <a:p>
            <a:pPr marL="0" indent="0">
              <a:buNone/>
            </a:pPr>
            <a:r>
              <a:rPr lang="en-PH" sz="4400" dirty="0"/>
              <a:t>are robust and used over a </a:t>
            </a:r>
          </a:p>
          <a:p>
            <a:pPr marL="0" indent="0">
              <a:buNone/>
            </a:pPr>
            <a:r>
              <a:rPr lang="en-PH" sz="4400" dirty="0"/>
              <a:t>wide range. They can be fitted </a:t>
            </a:r>
          </a:p>
          <a:p>
            <a:pPr marL="0" indent="0">
              <a:buNone/>
            </a:pPr>
            <a:r>
              <a:rPr lang="en-PH" sz="4400" dirty="0"/>
              <a:t>with electric switches to set off </a:t>
            </a:r>
          </a:p>
          <a:p>
            <a:pPr marL="0" indent="0">
              <a:buNone/>
            </a:pPr>
            <a:r>
              <a:rPr lang="en-PH" sz="4400" dirty="0"/>
              <a:t>alarms.</a:t>
            </a:r>
          </a:p>
        </p:txBody>
      </p:sp>
      <p:pic>
        <p:nvPicPr>
          <p:cNvPr id="2" name="Picture 1"/>
          <p:cNvPicPr>
            <a:picLocks noChangeAspect="1"/>
          </p:cNvPicPr>
          <p:nvPr/>
        </p:nvPicPr>
        <p:blipFill>
          <a:blip r:embed="rId2"/>
          <a:stretch>
            <a:fillRect/>
          </a:stretch>
        </p:blipFill>
        <p:spPr>
          <a:xfrm>
            <a:off x="7639050" y="2609850"/>
            <a:ext cx="3962400" cy="3124200"/>
          </a:xfrm>
          <a:prstGeom prst="rect">
            <a:avLst/>
          </a:prstGeom>
        </p:spPr>
      </p:pic>
    </p:spTree>
    <p:extLst>
      <p:ext uri="{BB962C8B-B14F-4D97-AF65-F5344CB8AC3E}">
        <p14:creationId xmlns:p14="http://schemas.microsoft.com/office/powerpoint/2010/main" val="538352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4. BIMETALLIC TYPES</a:t>
            </a:r>
          </a:p>
          <a:p>
            <a:pPr marL="0" indent="0">
              <a:buNone/>
            </a:pPr>
            <a:r>
              <a:rPr lang="en-PH" sz="4400" dirty="0"/>
              <a:t>It is a well-known principle that if two metals are rigidly joined together as a two-layer strip and heated, the difference in the expansion rate causes the strip to bend.</a:t>
            </a:r>
          </a:p>
        </p:txBody>
      </p:sp>
      <p:pic>
        <p:nvPicPr>
          <p:cNvPr id="2" name="Picture 1"/>
          <p:cNvPicPr>
            <a:picLocks noChangeAspect="1"/>
          </p:cNvPicPr>
          <p:nvPr/>
        </p:nvPicPr>
        <p:blipFill>
          <a:blip r:embed="rId2"/>
          <a:stretch>
            <a:fillRect/>
          </a:stretch>
        </p:blipFill>
        <p:spPr>
          <a:xfrm>
            <a:off x="3040062" y="3684587"/>
            <a:ext cx="5857875" cy="2486025"/>
          </a:xfrm>
          <a:prstGeom prst="rect">
            <a:avLst/>
          </a:prstGeom>
        </p:spPr>
      </p:pic>
    </p:spTree>
    <p:extLst>
      <p:ext uri="{BB962C8B-B14F-4D97-AF65-F5344CB8AC3E}">
        <p14:creationId xmlns:p14="http://schemas.microsoft.com/office/powerpoint/2010/main" val="699033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368300"/>
            <a:ext cx="11563350" cy="6172200"/>
          </a:xfrm>
        </p:spPr>
        <p:txBody>
          <a:bodyPr>
            <a:noAutofit/>
          </a:bodyPr>
          <a:lstStyle/>
          <a:p>
            <a:pPr marL="0" indent="0">
              <a:buNone/>
            </a:pPr>
            <a:r>
              <a:rPr lang="en-PH" sz="4400" dirty="0"/>
              <a:t>The strip is twisted into a long thin coil inside a tube. One end is fixed at the bottom of the tube and the other turns and moves a pointer on a dial. The outward appearance is very similar to the pressure type. They can be made to operate limit switches and set off alarms or act as a thermostat.</a:t>
            </a:r>
          </a:p>
        </p:txBody>
      </p:sp>
    </p:spTree>
    <p:extLst>
      <p:ext uri="{BB962C8B-B14F-4D97-AF65-F5344CB8AC3E}">
        <p14:creationId xmlns:p14="http://schemas.microsoft.com/office/powerpoint/2010/main" val="3727468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II. PRESSURE TRANSDUCERS</a:t>
            </a:r>
          </a:p>
          <a:p>
            <a:pPr marL="0" indent="0">
              <a:buNone/>
            </a:pPr>
            <a:r>
              <a:rPr lang="en-PH" sz="4400" dirty="0"/>
              <a:t>BOURDON TUBE</a:t>
            </a:r>
          </a:p>
          <a:p>
            <a:pPr marL="0" indent="0">
              <a:buNone/>
            </a:pPr>
            <a:r>
              <a:rPr lang="en-PH" sz="4400" dirty="0"/>
              <a:t>It is a hollow tube with an elliptical cross section. When a pressure difference exists between the inside and outside, the tube tends to straighten out and the end moves. The movement is usually coupled to a needle on a dial to make a complete gauge. It can also be connected to a secondary device such as an air</a:t>
            </a:r>
          </a:p>
        </p:txBody>
      </p:sp>
    </p:spTree>
    <p:extLst>
      <p:ext uri="{BB962C8B-B14F-4D97-AF65-F5344CB8AC3E}">
        <p14:creationId xmlns:p14="http://schemas.microsoft.com/office/powerpoint/2010/main" val="1420705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5035550" cy="5943600"/>
          </a:xfrm>
        </p:spPr>
        <p:txBody>
          <a:bodyPr>
            <a:noAutofit/>
          </a:bodyPr>
          <a:lstStyle/>
          <a:p>
            <a:pPr marL="0" indent="0">
              <a:buNone/>
            </a:pPr>
            <a:r>
              <a:rPr lang="en-PH" sz="4400" dirty="0"/>
              <a:t>nozzle to control air pressure or to a suitable transducer to convert it into an electric signal. This type can be used for measuring pressure difference.</a:t>
            </a:r>
          </a:p>
        </p:txBody>
      </p:sp>
      <p:pic>
        <p:nvPicPr>
          <p:cNvPr id="2" name="Picture 1"/>
          <p:cNvPicPr>
            <a:picLocks noChangeAspect="1"/>
          </p:cNvPicPr>
          <p:nvPr/>
        </p:nvPicPr>
        <p:blipFill>
          <a:blip r:embed="rId2"/>
          <a:stretch>
            <a:fillRect/>
          </a:stretch>
        </p:blipFill>
        <p:spPr>
          <a:xfrm>
            <a:off x="5568950" y="368300"/>
            <a:ext cx="6191250" cy="5095875"/>
          </a:xfrm>
          <a:prstGeom prst="rect">
            <a:avLst/>
          </a:prstGeom>
        </p:spPr>
      </p:pic>
    </p:spTree>
    <p:extLst>
      <p:ext uri="{BB962C8B-B14F-4D97-AF65-F5344CB8AC3E}">
        <p14:creationId xmlns:p14="http://schemas.microsoft.com/office/powerpoint/2010/main" val="1920323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2. PISTON TYPE</a:t>
            </a:r>
          </a:p>
          <a:p>
            <a:pPr marL="0" indent="0">
              <a:buNone/>
            </a:pPr>
            <a:r>
              <a:rPr lang="en-PH" sz="4400" dirty="0"/>
              <a:t>The pressure acts directly on the piston and compresses the spring. The position of the piston is directly related to the pressure. A window in the outer case allows the pressure to be indicated. This type is usually used in</a:t>
            </a:r>
          </a:p>
          <a:p>
            <a:pPr marL="0" indent="0">
              <a:buNone/>
            </a:pPr>
            <a:r>
              <a:rPr lang="en-PH" sz="4400" dirty="0"/>
              <a:t>hydraulics where the ability to withstand shock, vibration and sudden pressure changes is needed (shock proof gauge). </a:t>
            </a:r>
          </a:p>
        </p:txBody>
      </p:sp>
    </p:spTree>
    <p:extLst>
      <p:ext uri="{BB962C8B-B14F-4D97-AF65-F5344CB8AC3E}">
        <p14:creationId xmlns:p14="http://schemas.microsoft.com/office/powerpoint/2010/main" val="1821333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6121400" cy="6172200"/>
          </a:xfrm>
        </p:spPr>
        <p:txBody>
          <a:bodyPr>
            <a:noAutofit/>
          </a:bodyPr>
          <a:lstStyle/>
          <a:p>
            <a:pPr marL="0" indent="0">
              <a:buNone/>
            </a:pPr>
            <a:r>
              <a:rPr lang="en-PH" sz="4400" dirty="0"/>
              <a:t>The piston movement may be connected to a secondary device to convert movement into an electrical signal.</a:t>
            </a:r>
          </a:p>
        </p:txBody>
      </p:sp>
      <p:pic>
        <p:nvPicPr>
          <p:cNvPr id="2" name="Picture 1"/>
          <p:cNvPicPr>
            <a:picLocks noChangeAspect="1"/>
          </p:cNvPicPr>
          <p:nvPr/>
        </p:nvPicPr>
        <p:blipFill>
          <a:blip r:embed="rId2"/>
          <a:stretch>
            <a:fillRect/>
          </a:stretch>
        </p:blipFill>
        <p:spPr>
          <a:xfrm>
            <a:off x="7413841" y="368300"/>
            <a:ext cx="2895384" cy="4076700"/>
          </a:xfrm>
          <a:prstGeom prst="rect">
            <a:avLst/>
          </a:prstGeom>
        </p:spPr>
      </p:pic>
    </p:spTree>
    <p:extLst>
      <p:ext uri="{BB962C8B-B14F-4D97-AF65-F5344CB8AC3E}">
        <p14:creationId xmlns:p14="http://schemas.microsoft.com/office/powerpoint/2010/main" val="1427568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3. BELLOWS</a:t>
            </a:r>
          </a:p>
          <a:p>
            <a:pPr marL="0" indent="0">
              <a:buNone/>
            </a:pPr>
            <a:r>
              <a:rPr lang="en-PH" sz="4400" dirty="0"/>
              <a:t>A bellows is made of several capsules. These are hollow flattened structures made from thin metal plate. When pressurized the bellows  expand and produce mechanical movement. If the bellows is encapsulated inside an outer container, then the movement is proportional to the difference between the pressure on the inside and outside. </a:t>
            </a:r>
          </a:p>
        </p:txBody>
      </p:sp>
    </p:spTree>
    <p:extLst>
      <p:ext uri="{BB962C8B-B14F-4D97-AF65-F5344CB8AC3E}">
        <p14:creationId xmlns:p14="http://schemas.microsoft.com/office/powerpoint/2010/main" val="3602212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Bellows and single capsules are used in many instruments. They are very useful for measuring small pressures.</a:t>
            </a:r>
          </a:p>
        </p:txBody>
      </p:sp>
      <p:pic>
        <p:nvPicPr>
          <p:cNvPr id="2" name="Picture 1"/>
          <p:cNvPicPr>
            <a:picLocks noChangeAspect="1"/>
          </p:cNvPicPr>
          <p:nvPr/>
        </p:nvPicPr>
        <p:blipFill>
          <a:blip r:embed="rId2"/>
          <a:stretch>
            <a:fillRect/>
          </a:stretch>
        </p:blipFill>
        <p:spPr>
          <a:xfrm>
            <a:off x="5159374" y="1863724"/>
            <a:ext cx="4733925" cy="4543297"/>
          </a:xfrm>
          <a:prstGeom prst="rect">
            <a:avLst/>
          </a:prstGeom>
        </p:spPr>
      </p:pic>
    </p:spTree>
    <p:extLst>
      <p:ext uri="{BB962C8B-B14F-4D97-AF65-F5344CB8AC3E}">
        <p14:creationId xmlns:p14="http://schemas.microsoft.com/office/powerpoint/2010/main" val="661627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4. DIAPHRAGMS</a:t>
            </a:r>
          </a:p>
          <a:p>
            <a:pPr marL="0" indent="0">
              <a:buNone/>
            </a:pPr>
            <a:r>
              <a:rPr lang="en-PH" sz="4400" dirty="0"/>
              <a:t>These are similar in principle to the bellows but the diaphragm is usually very thin and perhaps made of rubber. The diaphragm expands when very small pressures are applied. </a:t>
            </a:r>
          </a:p>
          <a:p>
            <a:pPr marL="0" indent="0">
              <a:buNone/>
            </a:pPr>
            <a:r>
              <a:rPr lang="en-PH" sz="4400" dirty="0"/>
              <a:t>The movement is transmitted </a:t>
            </a:r>
          </a:p>
          <a:p>
            <a:pPr marL="0" indent="0">
              <a:buNone/>
            </a:pPr>
            <a:r>
              <a:rPr lang="en-PH" sz="4400" dirty="0"/>
              <a:t>to a pointer on a dial through </a:t>
            </a:r>
          </a:p>
          <a:p>
            <a:pPr marL="0" indent="0">
              <a:buNone/>
            </a:pPr>
            <a:r>
              <a:rPr lang="en-PH" sz="4400" dirty="0"/>
              <a:t>a fine mechanical linkage.</a:t>
            </a:r>
          </a:p>
        </p:txBody>
      </p:sp>
      <p:pic>
        <p:nvPicPr>
          <p:cNvPr id="2" name="Picture 1"/>
          <p:cNvPicPr>
            <a:picLocks noChangeAspect="1"/>
          </p:cNvPicPr>
          <p:nvPr/>
        </p:nvPicPr>
        <p:blipFill>
          <a:blip r:embed="rId2"/>
          <a:stretch>
            <a:fillRect/>
          </a:stretch>
        </p:blipFill>
        <p:spPr>
          <a:xfrm>
            <a:off x="7498699" y="3575763"/>
            <a:ext cx="4223401" cy="2863137"/>
          </a:xfrm>
          <a:prstGeom prst="rect">
            <a:avLst/>
          </a:prstGeom>
        </p:spPr>
      </p:pic>
    </p:spTree>
    <p:extLst>
      <p:ext uri="{BB962C8B-B14F-4D97-AF65-F5344CB8AC3E}">
        <p14:creationId xmlns:p14="http://schemas.microsoft.com/office/powerpoint/2010/main" val="3509563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III. SPEED TRANSDUCERS</a:t>
            </a:r>
          </a:p>
          <a:p>
            <a:pPr marL="0" indent="0">
              <a:buNone/>
            </a:pPr>
            <a:r>
              <a:rPr lang="en-PH" sz="4400" dirty="0"/>
              <a:t>1. OPTICAL TYPES</a:t>
            </a:r>
          </a:p>
          <a:p>
            <a:pPr marL="0" indent="0">
              <a:buNone/>
            </a:pPr>
            <a:r>
              <a:rPr lang="en-PH" sz="4100" dirty="0"/>
              <a:t>These use a light beam and a </a:t>
            </a:r>
          </a:p>
          <a:p>
            <a:pPr marL="0" indent="0">
              <a:buNone/>
            </a:pPr>
            <a:r>
              <a:rPr lang="en-PH" sz="4100" dirty="0"/>
              <a:t>light sensitive cell. The beam is</a:t>
            </a:r>
          </a:p>
          <a:p>
            <a:pPr marL="0" indent="0">
              <a:buNone/>
            </a:pPr>
            <a:r>
              <a:rPr lang="en-PH" sz="4100" dirty="0"/>
              <a:t>either reflected or interrupted so that pulses are produced for each revolution. The pulses are then counted over a fixed time and the speed obtained. Electronic processing is required to time the pulses and turn the result into an analog or digital signal</a:t>
            </a:r>
            <a:r>
              <a:rPr lang="en-PH" sz="4400" dirty="0"/>
              <a:t>.</a:t>
            </a:r>
          </a:p>
        </p:txBody>
      </p:sp>
      <p:pic>
        <p:nvPicPr>
          <p:cNvPr id="4" name="Content Placeholder 1"/>
          <p:cNvPicPr>
            <a:picLocks noChangeAspect="1"/>
          </p:cNvPicPr>
          <p:nvPr/>
        </p:nvPicPr>
        <p:blipFill>
          <a:blip r:embed="rId2"/>
          <a:stretch>
            <a:fillRect/>
          </a:stretch>
        </p:blipFill>
        <p:spPr>
          <a:xfrm>
            <a:off x="7580797" y="867568"/>
            <a:ext cx="3595379" cy="2472532"/>
          </a:xfrm>
          <a:prstGeom prst="rect">
            <a:avLst/>
          </a:prstGeom>
        </p:spPr>
      </p:pic>
    </p:spTree>
    <p:extLst>
      <p:ext uri="{BB962C8B-B14F-4D97-AF65-F5344CB8AC3E}">
        <p14:creationId xmlns:p14="http://schemas.microsoft.com/office/powerpoint/2010/main" val="4246768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2. MAGNETIC PICK UPS</a:t>
            </a:r>
          </a:p>
          <a:p>
            <a:pPr marL="0" indent="0">
              <a:buNone/>
            </a:pPr>
            <a:r>
              <a:rPr lang="en-PH" sz="4400" dirty="0"/>
              <a:t>Uses an inductive coil placed near </a:t>
            </a:r>
          </a:p>
          <a:p>
            <a:pPr marL="0" indent="0">
              <a:buNone/>
            </a:pPr>
            <a:r>
              <a:rPr lang="en-PH" sz="4400" dirty="0"/>
              <a:t>to the rotating body. A small magnet </a:t>
            </a:r>
          </a:p>
          <a:p>
            <a:pPr marL="0" indent="0">
              <a:buNone/>
            </a:pPr>
            <a:r>
              <a:rPr lang="en-PH" sz="4400" dirty="0"/>
              <a:t>on the body generates a pulse every</a:t>
            </a:r>
          </a:p>
          <a:p>
            <a:pPr marL="0" indent="0">
              <a:buNone/>
            </a:pPr>
            <a:r>
              <a:rPr lang="en-PH" sz="4400" dirty="0"/>
              <a:t>time it passes the coil. If the body is made of ferrous material, it will work without a magnet. A discontinuity in the surface such as a notch will cause a change in the magnetic field and generate a pulse. </a:t>
            </a:r>
          </a:p>
        </p:txBody>
      </p:sp>
      <p:pic>
        <p:nvPicPr>
          <p:cNvPr id="2" name="Picture 1"/>
          <p:cNvPicPr>
            <a:picLocks noChangeAspect="1"/>
          </p:cNvPicPr>
          <p:nvPr/>
        </p:nvPicPr>
        <p:blipFill>
          <a:blip r:embed="rId2"/>
          <a:stretch>
            <a:fillRect/>
          </a:stretch>
        </p:blipFill>
        <p:spPr>
          <a:xfrm>
            <a:off x="9055100" y="533400"/>
            <a:ext cx="2565400" cy="2762738"/>
          </a:xfrm>
          <a:prstGeom prst="rect">
            <a:avLst/>
          </a:prstGeom>
        </p:spPr>
      </p:pic>
    </p:spTree>
    <p:extLst>
      <p:ext uri="{BB962C8B-B14F-4D97-AF65-F5344CB8AC3E}">
        <p14:creationId xmlns:p14="http://schemas.microsoft.com/office/powerpoint/2010/main" val="114357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3. TACHOMETERS</a:t>
            </a:r>
          </a:p>
          <a:p>
            <a:pPr marL="0" indent="0">
              <a:buNone/>
            </a:pPr>
            <a:r>
              <a:rPr lang="en-PH" sz="4400" dirty="0"/>
              <a:t>Very often the tachometer is built into electric motors to measure their speed. The frequency of the voltage represents the speed of rotation. The frequency must be counted and processed.</a:t>
            </a:r>
          </a:p>
        </p:txBody>
      </p:sp>
      <p:pic>
        <p:nvPicPr>
          <p:cNvPr id="4" name="Picture 3"/>
          <p:cNvPicPr>
            <a:picLocks noChangeAspect="1"/>
          </p:cNvPicPr>
          <p:nvPr/>
        </p:nvPicPr>
        <p:blipFill>
          <a:blip r:embed="rId2"/>
          <a:stretch>
            <a:fillRect/>
          </a:stretch>
        </p:blipFill>
        <p:spPr>
          <a:xfrm>
            <a:off x="4141787" y="3941762"/>
            <a:ext cx="3090445" cy="2039938"/>
          </a:xfrm>
          <a:prstGeom prst="rect">
            <a:avLst/>
          </a:prstGeom>
        </p:spPr>
      </p:pic>
    </p:spTree>
    <p:extLst>
      <p:ext uri="{BB962C8B-B14F-4D97-AF65-F5344CB8AC3E}">
        <p14:creationId xmlns:p14="http://schemas.microsoft.com/office/powerpoint/2010/main" val="3525025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IV. FLOW METERS</a:t>
            </a:r>
          </a:p>
          <a:p>
            <a:pPr marL="0" indent="0">
              <a:buNone/>
            </a:pPr>
            <a:r>
              <a:rPr lang="en-PH" sz="4400" dirty="0"/>
              <a:t>A flow meter or a flow sensor is a type of flow instrument that is used to indicate the amount of liquid, gas, or vapor moving through a pipe or conduit by measuring linear, non-linear, mass, or volumetric flow rates. Since flow control is often essential, measuring the flow of liquids and gasses is a critical need for many industrial applications – and there are many </a:t>
            </a:r>
            <a:endParaRPr lang="en-PH" sz="4400" dirty="0">
              <a:solidFill>
                <a:schemeClr val="tx2"/>
              </a:solidFill>
            </a:endParaRPr>
          </a:p>
        </p:txBody>
      </p:sp>
    </p:spTree>
    <p:extLst>
      <p:ext uri="{BB962C8B-B14F-4D97-AF65-F5344CB8AC3E}">
        <p14:creationId xmlns:p14="http://schemas.microsoft.com/office/powerpoint/2010/main" val="20825687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different types of flow meters that can be utilized depending on the nature of the application. They may be classified as follows:</a:t>
            </a:r>
          </a:p>
          <a:p>
            <a:pPr marL="0" indent="0">
              <a:buNone/>
            </a:pPr>
            <a:r>
              <a:rPr lang="en-PH" sz="4400" dirty="0"/>
              <a:t>	POSITIVE DISPLACEMENT TYPES</a:t>
            </a:r>
          </a:p>
          <a:p>
            <a:pPr marL="0" indent="0">
              <a:buNone/>
            </a:pPr>
            <a:r>
              <a:rPr lang="en-PH" sz="4400" dirty="0"/>
              <a:t>	INFERENTIAL TYPES</a:t>
            </a:r>
          </a:p>
          <a:p>
            <a:pPr marL="0" indent="0">
              <a:buNone/>
            </a:pPr>
            <a:r>
              <a:rPr lang="en-PH" sz="4400" dirty="0"/>
              <a:t>	VARIABLE AREA TYPES</a:t>
            </a:r>
          </a:p>
          <a:p>
            <a:pPr marL="0" indent="0">
              <a:buNone/>
            </a:pPr>
            <a:r>
              <a:rPr lang="en-PH" sz="4400" dirty="0"/>
              <a:t>	DIFFERENTIAL PRESSURE TYPES</a:t>
            </a:r>
            <a:endParaRPr lang="en-PH" sz="4400" dirty="0">
              <a:solidFill>
                <a:schemeClr val="tx2"/>
              </a:solidFill>
            </a:endParaRPr>
          </a:p>
        </p:txBody>
      </p:sp>
    </p:spTree>
    <p:extLst>
      <p:ext uri="{BB962C8B-B14F-4D97-AF65-F5344CB8AC3E}">
        <p14:creationId xmlns:p14="http://schemas.microsoft.com/office/powerpoint/2010/main" val="697049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1. POSITIVE DISPLACEMENT TYPES</a:t>
            </a:r>
          </a:p>
          <a:p>
            <a:pPr marL="0" indent="0">
              <a:buNone/>
            </a:pPr>
            <a:r>
              <a:rPr lang="en-PH" sz="4400" dirty="0"/>
              <a:t>These types have a mechanical element that makes the shaft of the meter rotate once for an exact known quantity of fluid. The quantity of fluid hence depends on the number of revolutions of the meter shaft and the flow rate depends upon the speed of rotation. Both the revolutions and speed may be measured with mechanical or electronic devices.</a:t>
            </a:r>
            <a:endParaRPr lang="en-PH" sz="4400" dirty="0">
              <a:solidFill>
                <a:schemeClr val="tx2"/>
              </a:solidFill>
            </a:endParaRPr>
          </a:p>
        </p:txBody>
      </p:sp>
    </p:spTree>
    <p:extLst>
      <p:ext uri="{BB962C8B-B14F-4D97-AF65-F5344CB8AC3E}">
        <p14:creationId xmlns:p14="http://schemas.microsoft.com/office/powerpoint/2010/main" val="8359692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Meshing Motor type consists of two rotors with lobes. When fluid is forced in, the rotors turn and operate the indicating system.</a:t>
            </a:r>
          </a:p>
          <a:p>
            <a:pPr marL="0" indent="0">
              <a:buNone/>
            </a:pPr>
            <a:endParaRPr lang="en-PH" sz="4400" dirty="0"/>
          </a:p>
          <a:p>
            <a:pPr marL="0" indent="0">
              <a:buNone/>
            </a:pPr>
            <a:endParaRPr lang="en-PH" sz="4400" dirty="0"/>
          </a:p>
        </p:txBody>
      </p:sp>
      <p:pic>
        <p:nvPicPr>
          <p:cNvPr id="4" name="Picture 3"/>
          <p:cNvPicPr>
            <a:picLocks noChangeAspect="1"/>
          </p:cNvPicPr>
          <p:nvPr/>
        </p:nvPicPr>
        <p:blipFill>
          <a:blip r:embed="rId2"/>
          <a:stretch>
            <a:fillRect/>
          </a:stretch>
        </p:blipFill>
        <p:spPr>
          <a:xfrm>
            <a:off x="4067174" y="2368550"/>
            <a:ext cx="3133726" cy="3481918"/>
          </a:xfrm>
          <a:prstGeom prst="rect">
            <a:avLst/>
          </a:prstGeom>
        </p:spPr>
      </p:pic>
    </p:spTree>
    <p:extLst>
      <p:ext uri="{BB962C8B-B14F-4D97-AF65-F5344CB8AC3E}">
        <p14:creationId xmlns:p14="http://schemas.microsoft.com/office/powerpoint/2010/main" val="19368202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2. INFERENTIAL TYPE METERS</a:t>
            </a:r>
          </a:p>
          <a:p>
            <a:pPr marL="0" indent="0">
              <a:buNone/>
            </a:pPr>
            <a:r>
              <a:rPr lang="en-PH" sz="4400" dirty="0"/>
              <a:t>The flow of the fluid is inferred from some effect produced by the flow. Usually this is a rotor which is made to spin and the speed of the rotor is sensed mechanically or electronically.</a:t>
            </a:r>
          </a:p>
          <a:p>
            <a:pPr marL="0" indent="0">
              <a:buNone/>
            </a:pPr>
            <a:r>
              <a:rPr lang="en-PH" sz="4000" dirty="0"/>
              <a:t>	The main types are:</a:t>
            </a:r>
          </a:p>
          <a:p>
            <a:pPr marL="0" indent="0">
              <a:buNone/>
            </a:pPr>
            <a:r>
              <a:rPr lang="en-PH" sz="4000" dirty="0"/>
              <a:t>	Turbine rotor types 		Rotary shunt types</a:t>
            </a:r>
          </a:p>
          <a:p>
            <a:pPr marL="0" indent="0">
              <a:buNone/>
            </a:pPr>
            <a:r>
              <a:rPr lang="en-PH" sz="4000" dirty="0"/>
              <a:t>	Rotating vane types		Helical turbine types</a:t>
            </a:r>
            <a:endParaRPr lang="en-PH" sz="4000" dirty="0">
              <a:solidFill>
                <a:schemeClr val="tx2"/>
              </a:solidFill>
            </a:endParaRPr>
          </a:p>
        </p:txBody>
      </p:sp>
    </p:spTree>
    <p:extLst>
      <p:ext uri="{BB962C8B-B14F-4D97-AF65-F5344CB8AC3E}">
        <p14:creationId xmlns:p14="http://schemas.microsoft.com/office/powerpoint/2010/main" val="3313677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TURBINE TYPE</a:t>
            </a:r>
          </a:p>
          <a:p>
            <a:pPr marL="0" indent="0">
              <a:buNone/>
            </a:pPr>
            <a:endParaRPr lang="en-PH" sz="4400" dirty="0">
              <a:solidFill>
                <a:schemeClr val="tx2"/>
              </a:solidFill>
            </a:endParaRPr>
          </a:p>
          <a:p>
            <a:pPr marL="0" indent="0">
              <a:buNone/>
            </a:pPr>
            <a:endParaRPr lang="en-PH" sz="4400" dirty="0">
              <a:solidFill>
                <a:schemeClr val="tx2"/>
              </a:solidFill>
            </a:endParaRPr>
          </a:p>
          <a:p>
            <a:pPr marL="0" indent="0">
              <a:buNone/>
            </a:pPr>
            <a:endParaRPr lang="en-PH" sz="4400" dirty="0">
              <a:solidFill>
                <a:schemeClr val="tx2"/>
              </a:solidFill>
            </a:endParaRPr>
          </a:p>
          <a:p>
            <a:pPr marL="0" indent="0">
              <a:buNone/>
            </a:pPr>
            <a:r>
              <a:rPr lang="en-PH" sz="4400" dirty="0"/>
              <a:t>The turbine type has an axial rotor which is made to spin by the fluid and the speed represents the flow rate. This may be sensed electrically by coupling the shaft to a small electric tachometer. </a:t>
            </a: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4249737" y="882650"/>
            <a:ext cx="4786859" cy="2368550"/>
          </a:xfrm>
          <a:prstGeom prst="rect">
            <a:avLst/>
          </a:prstGeom>
        </p:spPr>
      </p:pic>
    </p:spTree>
    <p:extLst>
      <p:ext uri="{BB962C8B-B14F-4D97-AF65-F5344CB8AC3E}">
        <p14:creationId xmlns:p14="http://schemas.microsoft.com/office/powerpoint/2010/main" val="21183765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201400" cy="3314700"/>
          </a:xfrm>
        </p:spPr>
        <p:txBody>
          <a:bodyPr>
            <a:noAutofit/>
          </a:bodyPr>
          <a:lstStyle/>
          <a:p>
            <a:pPr marL="0" indent="0">
              <a:buNone/>
            </a:pPr>
            <a:r>
              <a:rPr lang="en-PH" sz="4400" dirty="0"/>
              <a:t>Often this consists of a magnetic slug on the rotor which generates a pulse of electricity each time it passes the sensor.</a:t>
            </a:r>
            <a:endParaRPr lang="en-PH" sz="4400" dirty="0">
              <a:solidFill>
                <a:schemeClr val="tx2"/>
              </a:solidFill>
            </a:endParaRPr>
          </a:p>
        </p:txBody>
      </p:sp>
      <p:pic>
        <p:nvPicPr>
          <p:cNvPr id="4" name="Picture 3"/>
          <p:cNvPicPr>
            <a:picLocks noChangeAspect="1"/>
          </p:cNvPicPr>
          <p:nvPr/>
        </p:nvPicPr>
        <p:blipFill>
          <a:blip r:embed="rId2"/>
          <a:stretch>
            <a:fillRect/>
          </a:stretch>
        </p:blipFill>
        <p:spPr>
          <a:xfrm>
            <a:off x="2997200" y="2451403"/>
            <a:ext cx="6169571" cy="4089098"/>
          </a:xfrm>
          <a:prstGeom prst="rect">
            <a:avLst/>
          </a:prstGeom>
        </p:spPr>
      </p:pic>
    </p:spTree>
    <p:extLst>
      <p:ext uri="{BB962C8B-B14F-4D97-AF65-F5344CB8AC3E}">
        <p14:creationId xmlns:p14="http://schemas.microsoft.com/office/powerpoint/2010/main" val="9536061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ROTATING VANE TYPE</a:t>
            </a:r>
          </a:p>
          <a:p>
            <a:pPr marL="0" indent="0">
              <a:buNone/>
            </a:pPr>
            <a:endParaRPr lang="en-PH" sz="4400" dirty="0"/>
          </a:p>
          <a:p>
            <a:pPr marL="0" indent="0">
              <a:buNone/>
            </a:pPr>
            <a:endParaRPr lang="en-PH" sz="4400" dirty="0"/>
          </a:p>
          <a:p>
            <a:pPr marL="0" indent="0">
              <a:buNone/>
            </a:pPr>
            <a:endParaRPr lang="en-PH" sz="4400" dirty="0"/>
          </a:p>
          <a:p>
            <a:pPr marL="0" indent="0">
              <a:buNone/>
            </a:pPr>
            <a:endParaRPr lang="en-PH" sz="4400" dirty="0"/>
          </a:p>
          <a:p>
            <a:pPr marL="0" indent="0">
              <a:buNone/>
            </a:pPr>
            <a:r>
              <a:rPr lang="en-PH" sz="4400" dirty="0"/>
              <a:t>The jet of fluid spins around the rotating vane and the speed of the rotor is measured mechanically or electronically.</a:t>
            </a:r>
          </a:p>
          <a:p>
            <a:pPr marL="0" indent="0">
              <a:buNone/>
            </a:pP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2544232" y="1144587"/>
            <a:ext cx="5412494" cy="2563813"/>
          </a:xfrm>
          <a:prstGeom prst="rect">
            <a:avLst/>
          </a:prstGeom>
        </p:spPr>
      </p:pic>
    </p:spTree>
    <p:extLst>
      <p:ext uri="{BB962C8B-B14F-4D97-AF65-F5344CB8AC3E}">
        <p14:creationId xmlns:p14="http://schemas.microsoft.com/office/powerpoint/2010/main" val="2049146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3. VARIABLE AREA TYPES</a:t>
            </a:r>
          </a:p>
          <a:p>
            <a:pPr marL="0" indent="0">
              <a:buNone/>
            </a:pPr>
            <a:r>
              <a:rPr lang="en-PH" sz="4400" dirty="0"/>
              <a:t>	FLOAT TYPE</a:t>
            </a:r>
          </a:p>
          <a:p>
            <a:pPr marL="0" indent="0">
              <a:buNone/>
            </a:pPr>
            <a:endParaRPr lang="en-PH" sz="4400" dirty="0">
              <a:solidFill>
                <a:schemeClr val="tx2"/>
              </a:solidFill>
            </a:endParaRPr>
          </a:p>
          <a:p>
            <a:pPr marL="0" indent="0">
              <a:buNone/>
            </a:pPr>
            <a:endParaRPr lang="en-PH" sz="4400" dirty="0">
              <a:solidFill>
                <a:schemeClr val="tx2"/>
              </a:solidFill>
            </a:endParaRPr>
          </a:p>
          <a:p>
            <a:pPr marL="0" indent="0">
              <a:buNone/>
            </a:pPr>
            <a:endParaRPr lang="en-PH" sz="4400" dirty="0">
              <a:solidFill>
                <a:schemeClr val="tx2"/>
              </a:solidFill>
            </a:endParaRPr>
          </a:p>
          <a:p>
            <a:pPr marL="0" indent="0">
              <a:buNone/>
            </a:pPr>
            <a:endParaRPr lang="en-PH" sz="4400" dirty="0">
              <a:solidFill>
                <a:schemeClr val="tx2"/>
              </a:solidFill>
            </a:endParaRPr>
          </a:p>
          <a:p>
            <a:pPr marL="0" indent="0">
              <a:buNone/>
            </a:pPr>
            <a:r>
              <a:rPr lang="en-PH" sz="4400" dirty="0"/>
              <a:t>The float is inside a tapered tube. The fluid flows through the annular gap around the edge of the float. The restriction causes a pressure</a:t>
            </a: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2306637" y="1762125"/>
            <a:ext cx="2963863" cy="2751360"/>
          </a:xfrm>
          <a:prstGeom prst="rect">
            <a:avLst/>
          </a:prstGeom>
        </p:spPr>
      </p:pic>
      <p:pic>
        <p:nvPicPr>
          <p:cNvPr id="4" name="Picture 3"/>
          <p:cNvPicPr>
            <a:picLocks noChangeAspect="1"/>
          </p:cNvPicPr>
          <p:nvPr/>
        </p:nvPicPr>
        <p:blipFill>
          <a:blip r:embed="rId3"/>
          <a:stretch>
            <a:fillRect/>
          </a:stretch>
        </p:blipFill>
        <p:spPr>
          <a:xfrm>
            <a:off x="7391399" y="835872"/>
            <a:ext cx="1787525" cy="3677613"/>
          </a:xfrm>
          <a:prstGeom prst="rect">
            <a:avLst/>
          </a:prstGeom>
        </p:spPr>
      </p:pic>
    </p:spTree>
    <p:extLst>
      <p:ext uri="{BB962C8B-B14F-4D97-AF65-F5344CB8AC3E}">
        <p14:creationId xmlns:p14="http://schemas.microsoft.com/office/powerpoint/2010/main" val="762537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drop over the float and the pressure forces the float upwards. Because the tube is tapered, the restriction is decreased as the float moves up. Eventually a level is reached where the restriction is just right to produce a pressure force that counteracts the weight of the float. The level of the float indicates the flow rate. If the flow changes the float moves up or down to find a new balance position.</a:t>
            </a:r>
            <a:endParaRPr lang="en-PH" sz="4400" dirty="0">
              <a:solidFill>
                <a:schemeClr val="tx2"/>
              </a:solidFill>
            </a:endParaRPr>
          </a:p>
          <a:p>
            <a:pPr marL="0" indent="0">
              <a:buNone/>
            </a:pPr>
            <a:endParaRPr lang="en-PH" sz="4400" dirty="0">
              <a:solidFill>
                <a:schemeClr val="tx2"/>
              </a:solidFill>
            </a:endParaRPr>
          </a:p>
        </p:txBody>
      </p:sp>
    </p:spTree>
    <p:extLst>
      <p:ext uri="{BB962C8B-B14F-4D97-AF65-F5344CB8AC3E}">
        <p14:creationId xmlns:p14="http://schemas.microsoft.com/office/powerpoint/2010/main" val="2192554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TAPERED PLUG TYPE</a:t>
            </a:r>
          </a:p>
          <a:p>
            <a:pPr marL="0" indent="0">
              <a:buNone/>
            </a:pPr>
            <a:endParaRPr lang="en-PH" sz="4400" dirty="0"/>
          </a:p>
          <a:p>
            <a:pPr marL="0" indent="0">
              <a:buNone/>
            </a:pPr>
            <a:endParaRPr lang="en-PH" sz="4400" dirty="0"/>
          </a:p>
          <a:p>
            <a:pPr marL="0" indent="0">
              <a:buNone/>
            </a:pPr>
            <a:endParaRPr lang="en-PH" sz="4400" dirty="0"/>
          </a:p>
          <a:p>
            <a:pPr marL="0" indent="0">
              <a:buNone/>
            </a:pPr>
            <a:r>
              <a:rPr lang="en-PH" sz="4400" dirty="0"/>
              <a:t>A tapered plug is aligned inside a hole or orifice. A spring holds it in place. The flow is restricted as it passes through the gap and a force is produced which moves the plug. Because it is tapered the restriction changes and the plug</a:t>
            </a:r>
          </a:p>
        </p:txBody>
      </p:sp>
      <p:pic>
        <p:nvPicPr>
          <p:cNvPr id="2" name="Picture 1"/>
          <p:cNvPicPr>
            <a:picLocks noChangeAspect="1"/>
          </p:cNvPicPr>
          <p:nvPr/>
        </p:nvPicPr>
        <p:blipFill>
          <a:blip r:embed="rId2"/>
          <a:stretch>
            <a:fillRect/>
          </a:stretch>
        </p:blipFill>
        <p:spPr>
          <a:xfrm>
            <a:off x="2351087" y="1171575"/>
            <a:ext cx="6829425" cy="1924050"/>
          </a:xfrm>
          <a:prstGeom prst="rect">
            <a:avLst/>
          </a:prstGeom>
        </p:spPr>
      </p:pic>
    </p:spTree>
    <p:extLst>
      <p:ext uri="{BB962C8B-B14F-4D97-AF65-F5344CB8AC3E}">
        <p14:creationId xmlns:p14="http://schemas.microsoft.com/office/powerpoint/2010/main" val="244235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takes up a position where the pressure force just balances the spring force. The movement of the plug is transmitted with a magnet to an indicator on the outside.</a:t>
            </a:r>
          </a:p>
        </p:txBody>
      </p:sp>
    </p:spTree>
    <p:extLst>
      <p:ext uri="{BB962C8B-B14F-4D97-AF65-F5344CB8AC3E}">
        <p14:creationId xmlns:p14="http://schemas.microsoft.com/office/powerpoint/2010/main" val="37560218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4. DIFFERENTIAL PRESSURE FLOW METERS</a:t>
            </a:r>
          </a:p>
          <a:p>
            <a:pPr marL="0" indent="0">
              <a:buNone/>
            </a:pPr>
            <a:r>
              <a:rPr lang="en-PH" sz="4400" dirty="0"/>
              <a:t>These are a range of meters that convert flow rate into a differential pressure:</a:t>
            </a:r>
          </a:p>
          <a:p>
            <a:pPr marL="0" indent="0">
              <a:buNone/>
            </a:pPr>
            <a:r>
              <a:rPr lang="en-PH" sz="4400" dirty="0">
                <a:solidFill>
                  <a:schemeClr val="tx2"/>
                </a:solidFill>
              </a:rPr>
              <a:t>	</a:t>
            </a:r>
            <a:r>
              <a:rPr lang="en-PH" sz="4400" dirty="0"/>
              <a:t>ORIFICE METERS</a:t>
            </a:r>
          </a:p>
          <a:p>
            <a:pPr marL="0" indent="0">
              <a:buNone/>
            </a:pPr>
            <a:r>
              <a:rPr lang="en-PH" sz="4400" dirty="0"/>
              <a:t>	VENTURI METERS</a:t>
            </a:r>
          </a:p>
          <a:p>
            <a:pPr marL="0" indent="0">
              <a:buNone/>
            </a:pPr>
            <a:r>
              <a:rPr lang="en-PH" sz="4400" dirty="0"/>
              <a:t>	NOZZLE METERS</a:t>
            </a:r>
          </a:p>
          <a:p>
            <a:pPr marL="0" indent="0">
              <a:buNone/>
            </a:pPr>
            <a:r>
              <a:rPr lang="en-PH" sz="4400" dirty="0"/>
              <a:t>	PITOT TUBES</a:t>
            </a:r>
            <a:endParaRPr lang="en-PH" sz="4400" dirty="0">
              <a:solidFill>
                <a:schemeClr val="tx2"/>
              </a:solidFill>
            </a:endParaRPr>
          </a:p>
        </p:txBody>
      </p:sp>
    </p:spTree>
    <p:extLst>
      <p:ext uri="{BB962C8B-B14F-4D97-AF65-F5344CB8AC3E}">
        <p14:creationId xmlns:p14="http://schemas.microsoft.com/office/powerpoint/2010/main" val="25642614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Cross section view</a:t>
            </a:r>
          </a:p>
          <a:p>
            <a:pPr marL="0" indent="0">
              <a:buNone/>
            </a:pPr>
            <a:endParaRPr lang="en-PH" sz="4400" dirty="0">
              <a:solidFill>
                <a:schemeClr val="tx2"/>
              </a:solidFill>
            </a:endParaRPr>
          </a:p>
          <a:p>
            <a:pPr marL="0" indent="0">
              <a:buNone/>
            </a:pP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1227931" y="1129176"/>
            <a:ext cx="3839369" cy="2632710"/>
          </a:xfrm>
          <a:prstGeom prst="rect">
            <a:avLst/>
          </a:prstGeom>
        </p:spPr>
      </p:pic>
      <p:pic>
        <p:nvPicPr>
          <p:cNvPr id="5" name="Picture 4"/>
          <p:cNvPicPr>
            <a:picLocks noChangeAspect="1"/>
          </p:cNvPicPr>
          <p:nvPr/>
        </p:nvPicPr>
        <p:blipFill>
          <a:blip r:embed="rId3"/>
          <a:stretch>
            <a:fillRect/>
          </a:stretch>
        </p:blipFill>
        <p:spPr>
          <a:xfrm>
            <a:off x="5853112" y="515224"/>
            <a:ext cx="4981575" cy="2377201"/>
          </a:xfrm>
          <a:prstGeom prst="rect">
            <a:avLst/>
          </a:prstGeom>
        </p:spPr>
      </p:pic>
      <p:pic>
        <p:nvPicPr>
          <p:cNvPr id="6" name="Picture 5"/>
          <p:cNvPicPr>
            <a:picLocks noChangeAspect="1"/>
          </p:cNvPicPr>
          <p:nvPr/>
        </p:nvPicPr>
        <p:blipFill>
          <a:blip r:embed="rId4"/>
          <a:stretch>
            <a:fillRect/>
          </a:stretch>
        </p:blipFill>
        <p:spPr>
          <a:xfrm>
            <a:off x="7262018" y="3286125"/>
            <a:ext cx="2459731" cy="3063875"/>
          </a:xfrm>
          <a:prstGeom prst="rect">
            <a:avLst/>
          </a:prstGeom>
        </p:spPr>
      </p:pic>
      <p:pic>
        <p:nvPicPr>
          <p:cNvPr id="7" name="Picture 6"/>
          <p:cNvPicPr>
            <a:picLocks noChangeAspect="1"/>
          </p:cNvPicPr>
          <p:nvPr/>
        </p:nvPicPr>
        <p:blipFill>
          <a:blip r:embed="rId5"/>
          <a:stretch>
            <a:fillRect/>
          </a:stretch>
        </p:blipFill>
        <p:spPr>
          <a:xfrm>
            <a:off x="1227931" y="3907555"/>
            <a:ext cx="3699669" cy="2632945"/>
          </a:xfrm>
          <a:prstGeom prst="rect">
            <a:avLst/>
          </a:prstGeom>
        </p:spPr>
      </p:pic>
    </p:spTree>
    <p:extLst>
      <p:ext uri="{BB962C8B-B14F-4D97-AF65-F5344CB8AC3E}">
        <p14:creationId xmlns:p14="http://schemas.microsoft.com/office/powerpoint/2010/main" val="3434815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working principle for all these is that something makes the velocity of the fluid change and this produces a change in the pressure so that a difference ΔP = P</a:t>
                </a:r>
                <a:r>
                  <a:rPr lang="en-PH" dirty="0"/>
                  <a:t>2</a:t>
                </a:r>
                <a:r>
                  <a:rPr lang="en-PH" sz="4400" dirty="0"/>
                  <a:t> – P</a:t>
                </a:r>
                <a:r>
                  <a:rPr lang="en-PH" dirty="0"/>
                  <a:t>1</a:t>
                </a:r>
                <a:r>
                  <a:rPr lang="en-PH" sz="4400" dirty="0"/>
                  <a:t> is created. It can be shown for all these meters that the volume flow rate Q is related to ΔP by the following formula:</a:t>
                </a:r>
              </a:p>
              <a:p>
                <a:pPr marL="0" indent="0">
                  <a:buNone/>
                </a:pPr>
                <a:r>
                  <a:rPr lang="en-PH" sz="4400" dirty="0">
                    <a:solidFill>
                      <a:schemeClr val="tx2"/>
                    </a:solidFill>
                  </a:rPr>
                  <a:t>	</a:t>
                </a:r>
                <a:r>
                  <a:rPr lang="en-PH" sz="4400" dirty="0"/>
                  <a:t>	Q = k</a:t>
                </a:r>
                <a14:m>
                  <m:oMath xmlns:m="http://schemas.openxmlformats.org/officeDocument/2006/math">
                    <m:rad>
                      <m:radPr>
                        <m:degHide m:val="on"/>
                        <m:ctrlPr>
                          <a:rPr lang="en-PH" sz="4400" i="1" smtClean="0">
                            <a:latin typeface="Cambria Math" panose="02040503050406030204" pitchFamily="18" charset="0"/>
                            <a:ea typeface="Cambria Math" panose="02040503050406030204" pitchFamily="18" charset="0"/>
                          </a:rPr>
                        </m:ctrlPr>
                      </m:radPr>
                      <m:deg/>
                      <m:e>
                        <m:r>
                          <m:rPr>
                            <m:sty m:val="p"/>
                          </m:rPr>
                          <a:rPr lang="el-GR" sz="4400" i="1" smtClean="0">
                            <a:latin typeface="Cambria Math" panose="02040503050406030204" pitchFamily="18" charset="0"/>
                            <a:ea typeface="Cambria Math" panose="02040503050406030204" pitchFamily="18" charset="0"/>
                          </a:rPr>
                          <m:t>Δ</m:t>
                        </m:r>
                        <m:r>
                          <a:rPr lang="en-PH" sz="4400" b="0" i="1" smtClean="0">
                            <a:latin typeface="Cambria Math" panose="02040503050406030204" pitchFamily="18" charset="0"/>
                            <a:ea typeface="Cambria Math" panose="02040503050406030204" pitchFamily="18" charset="0"/>
                          </a:rPr>
                          <m:t>𝑃</m:t>
                        </m:r>
                      </m:e>
                    </m:rad>
                  </m:oMath>
                </a14:m>
                <a:endParaRPr lang="en-PH" sz="4400" b="0" dirty="0">
                  <a:ea typeface="Cambria Math" panose="02040503050406030204" pitchFamily="18" charset="0"/>
                </a:endParaRPr>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368300"/>
                <a:ext cx="11087100" cy="6172200"/>
              </a:xfrm>
              <a:blipFill rotWithShape="0">
                <a:blip r:embed="rId2"/>
                <a:stretch>
                  <a:fillRect l="-2255" t="-3060"/>
                </a:stretch>
              </a:blipFill>
            </p:spPr>
            <p:txBody>
              <a:bodyPr/>
              <a:lstStyle/>
              <a:p>
                <a:r>
                  <a:rPr lang="en-PH">
                    <a:noFill/>
                  </a:rPr>
                  <a:t> </a:t>
                </a:r>
              </a:p>
            </p:txBody>
          </p:sp>
        </mc:Fallback>
      </mc:AlternateContent>
    </p:spTree>
    <p:extLst>
      <p:ext uri="{BB962C8B-B14F-4D97-AF65-F5344CB8AC3E}">
        <p14:creationId xmlns:p14="http://schemas.microsoft.com/office/powerpoint/2010/main" val="2556358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5867400" cy="6172200"/>
          </a:xfrm>
        </p:spPr>
        <p:txBody>
          <a:bodyPr>
            <a:noAutofit/>
          </a:bodyPr>
          <a:lstStyle/>
          <a:p>
            <a:pPr marL="0" indent="0">
              <a:buNone/>
            </a:pPr>
            <a:r>
              <a:rPr lang="en-PH" sz="4400" i="1" dirty="0"/>
              <a:t>k</a:t>
            </a:r>
            <a:r>
              <a:rPr lang="en-PH" sz="4400" dirty="0"/>
              <a:t> is the meter constant. </a:t>
            </a:r>
          </a:p>
          <a:p>
            <a:pPr marL="0" indent="0">
              <a:buNone/>
            </a:pPr>
            <a:r>
              <a:rPr lang="en-PH" sz="4400" dirty="0"/>
              <a:t>Extra instrumentation heads can be fitted to produce an: </a:t>
            </a:r>
          </a:p>
          <a:p>
            <a:pPr marL="0" indent="0">
              <a:buNone/>
            </a:pPr>
            <a:r>
              <a:rPr lang="en-PH" sz="4400" dirty="0"/>
              <a:t>electrical output </a:t>
            </a:r>
          </a:p>
          <a:p>
            <a:pPr marL="0" indent="0">
              <a:buNone/>
            </a:pPr>
            <a:r>
              <a:rPr lang="en-PH" sz="4400" dirty="0"/>
              <a:t>(4 mA – 20 mA)       or a pneumatic output </a:t>
            </a:r>
          </a:p>
          <a:p>
            <a:pPr marL="0" indent="0">
              <a:buNone/>
            </a:pPr>
            <a:r>
              <a:rPr lang="en-PH" sz="4400" dirty="0"/>
              <a:t>(0.2 bar – 1 bar).</a:t>
            </a: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6272035" y="774700"/>
            <a:ext cx="4927036" cy="4368800"/>
          </a:xfrm>
          <a:prstGeom prst="rect">
            <a:avLst/>
          </a:prstGeom>
        </p:spPr>
      </p:pic>
    </p:spTree>
    <p:extLst>
      <p:ext uri="{BB962C8B-B14F-4D97-AF65-F5344CB8AC3E}">
        <p14:creationId xmlns:p14="http://schemas.microsoft.com/office/powerpoint/2010/main" val="3921240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2520</Words>
  <Application>Microsoft Office PowerPoint</Application>
  <PresentationFormat>Widescreen</PresentationFormat>
  <Paragraphs>191</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THERMISTOR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10 FUNDAMENTALS OF MIXED SIGNALS AND SENSORS</dc:title>
  <dc:creator>gb</dc:creator>
  <cp:lastModifiedBy>Ralph Monsour Delima</cp:lastModifiedBy>
  <cp:revision>9</cp:revision>
  <dcterms:created xsi:type="dcterms:W3CDTF">2023-12-04T00:11:20Z</dcterms:created>
  <dcterms:modified xsi:type="dcterms:W3CDTF">2024-12-13T09:14:13Z</dcterms:modified>
</cp:coreProperties>
</file>