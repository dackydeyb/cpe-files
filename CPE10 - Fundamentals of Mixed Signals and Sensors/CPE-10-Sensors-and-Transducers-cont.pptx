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24C1DB-5232-4FD0-9E68-BA8317C70F2B}" type="datetimeFigureOut">
              <a:rPr lang="en-PH" smtClean="0"/>
              <a:t>1/5/2024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1DF8C-9232-497A-A156-78BD9672B3A2}" type="slidenum">
              <a:rPr lang="en-PH" smtClean="0"/>
              <a:t>‹#›</a:t>
            </a:fld>
            <a:endParaRPr lang="en-PH"/>
          </a:p>
        </p:txBody>
      </p:sp>
    </p:spTree>
    <p:extLst>
      <p:ext uri="{BB962C8B-B14F-4D97-AF65-F5344CB8AC3E}">
        <p14:creationId xmlns:p14="http://schemas.microsoft.com/office/powerpoint/2010/main" val="3836713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986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4569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8364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6261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719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76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3268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5819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5735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4150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901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1403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5142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6670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2949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4274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61356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394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2513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2838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0253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16322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693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120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002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0992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9561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176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2535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088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250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7810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482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3381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86901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58722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561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144E5124-D914-471A-81B6-5B4C5F859DC8}" type="datetimeFigureOut">
              <a:rPr lang="en-PH" smtClean="0"/>
              <a:t>1/5/2024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2997760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44E5124-D914-471A-81B6-5B4C5F859DC8}" type="datetimeFigureOut">
              <a:rPr lang="en-PH" smtClean="0"/>
              <a:t>1/5/2024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3857022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4E5124-D914-471A-81B6-5B4C5F859DC8}" type="datetimeFigureOut">
              <a:rPr lang="en-PH" smtClean="0"/>
              <a:t>1/5/2024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1325064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144E5124-D914-471A-81B6-5B4C5F859DC8}" type="datetimeFigureOut">
              <a:rPr lang="en-PH" smtClean="0"/>
              <a:t>1/5/2024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2624881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144E5124-D914-471A-81B6-5B4C5F859DC8}" type="datetimeFigureOut">
              <a:rPr lang="en-PH" smtClean="0"/>
              <a:t>1/5/2024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204721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144E5124-D914-471A-81B6-5B4C5F859DC8}" type="datetimeFigureOut">
              <a:rPr lang="en-PH" smtClean="0"/>
              <a:t>1/5/2024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211092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4E5124-D914-471A-81B6-5B4C5F859DC8}" type="datetimeFigureOut">
              <a:rPr lang="en-PH" smtClean="0"/>
              <a:t>1/5/2024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3642324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4E5124-D914-471A-81B6-5B4C5F859DC8}" type="datetimeFigureOut">
              <a:rPr lang="en-PH" smtClean="0"/>
              <a:t>1/5/2024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2114984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4E5124-D914-471A-81B6-5B4C5F859DC8}" type="datetimeFigureOut">
              <a:rPr lang="en-PH" smtClean="0"/>
              <a:t>1/5/2024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4067912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44E5124-D914-471A-81B6-5B4C5F859DC8}" type="datetimeFigureOut">
              <a:rPr lang="en-PH" smtClean="0"/>
              <a:t>1/5/2024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1759517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144E5124-D914-471A-81B6-5B4C5F859DC8}" type="datetimeFigureOut">
              <a:rPr lang="en-PH" smtClean="0"/>
              <a:t>1/5/2024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5D85FAA-8C02-472B-A282-DE847DF4F1ED}" type="slidenum">
              <a:rPr lang="en-PH" smtClean="0"/>
              <a:t>‹#›</a:t>
            </a:fld>
            <a:endParaRPr lang="en-PH"/>
          </a:p>
        </p:txBody>
      </p:sp>
    </p:spTree>
    <p:extLst>
      <p:ext uri="{BB962C8B-B14F-4D97-AF65-F5344CB8AC3E}">
        <p14:creationId xmlns:p14="http://schemas.microsoft.com/office/powerpoint/2010/main" val="78055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E5124-D914-471A-81B6-5B4C5F859DC8}" type="datetimeFigureOut">
              <a:rPr lang="en-PH" smtClean="0"/>
              <a:t>1/5/2024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D85FAA-8C02-472B-A282-DE847DF4F1ED}" type="slidenum">
              <a:rPr lang="en-PH" smtClean="0"/>
              <a:t>‹#›</a:t>
            </a:fld>
            <a:endParaRPr lang="en-PH"/>
          </a:p>
        </p:txBody>
      </p:sp>
    </p:spTree>
    <p:extLst>
      <p:ext uri="{BB962C8B-B14F-4D97-AF65-F5344CB8AC3E}">
        <p14:creationId xmlns:p14="http://schemas.microsoft.com/office/powerpoint/2010/main" val="2603286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a:spLocks noGrp="1"/>
          </p:cNvSpPr>
          <p:nvPr>
            <p:ph type="title"/>
          </p:nvPr>
        </p:nvSpPr>
        <p:spPr>
          <a:xfrm>
            <a:off x="838200" y="365125"/>
            <a:ext cx="10611678" cy="3173205"/>
          </a:xfrm>
          <a:prstGeom prst="rect">
            <a:avLst/>
          </a:prstGeom>
          <a:noFill/>
          <a:ln>
            <a:noFill/>
          </a:ln>
        </p:spPr>
        <p:txBody>
          <a:bodyPr spcFirstLastPara="1" wrap="square" lIns="91425" tIns="45700" rIns="91425" bIns="45700" anchor="ctr" anchorCtr="0">
            <a:noAutofit/>
          </a:bodyPr>
          <a:lstStyle/>
          <a:p>
            <a:pPr lvl="0" algn="ctr">
              <a:buSzPts val="5400"/>
            </a:pPr>
            <a:r>
              <a:rPr lang="en-US" sz="6600" b="1" dirty="0">
                <a:solidFill>
                  <a:srgbClr val="C00000"/>
                </a:solidFill>
                <a:latin typeface="+mj-lt"/>
              </a:rPr>
              <a:t>CPE 10 FUNDAMENTALS OF MIXED SIGNALS AND SENSORS</a:t>
            </a:r>
            <a:endParaRPr sz="6600" b="1" dirty="0">
              <a:solidFill>
                <a:srgbClr val="C00000"/>
              </a:solidFill>
              <a:latin typeface="+mj-lt"/>
            </a:endParaRPr>
          </a:p>
        </p:txBody>
      </p:sp>
      <p:sp>
        <p:nvSpPr>
          <p:cNvPr id="85" name="Google Shape;85;p2"/>
          <p:cNvSpPr txBox="1">
            <a:spLocks noGrp="1"/>
          </p:cNvSpPr>
          <p:nvPr>
            <p:ph type="body" idx="1"/>
          </p:nvPr>
        </p:nvSpPr>
        <p:spPr>
          <a:xfrm>
            <a:off x="940904" y="3657600"/>
            <a:ext cx="10508974" cy="2915478"/>
          </a:xfrm>
          <a:prstGeom prst="rect">
            <a:avLst/>
          </a:prstGeom>
          <a:noFill/>
          <a:ln>
            <a:noFill/>
          </a:ln>
        </p:spPr>
        <p:txBody>
          <a:bodyPr spcFirstLastPara="1" wrap="square" lIns="91425" tIns="45700" rIns="91425" bIns="45700" anchor="t" anchorCtr="0">
            <a:normAutofit fontScale="92500" lnSpcReduction="20000"/>
          </a:bodyPr>
          <a:lstStyle/>
          <a:p>
            <a:pPr marL="0" indent="0" algn="ctr">
              <a:spcBef>
                <a:spcPts val="0"/>
              </a:spcBef>
              <a:spcAft>
                <a:spcPts val="1600"/>
              </a:spcAft>
              <a:buSzPts val="4800"/>
              <a:buNone/>
            </a:pPr>
            <a:r>
              <a:rPr lang="en-US" sz="4300" b="1" dirty="0">
                <a:solidFill>
                  <a:srgbClr val="C00000"/>
                </a:solidFill>
                <a:latin typeface="+mn-lt"/>
              </a:rPr>
              <a:t>BSCPE III GE – MW 7:30 – 9:00</a:t>
            </a:r>
            <a:br>
              <a:rPr lang="en-US" sz="4300" b="1" dirty="0">
                <a:solidFill>
                  <a:srgbClr val="C00000"/>
                </a:solidFill>
                <a:latin typeface="+mn-lt"/>
              </a:rPr>
            </a:br>
            <a:r>
              <a:rPr lang="en-US" sz="4300" b="1" dirty="0">
                <a:solidFill>
                  <a:srgbClr val="C00000"/>
                </a:solidFill>
                <a:latin typeface="+mn-lt"/>
              </a:rPr>
              <a:t>BSCPE III GF – TTH 7:30 – </a:t>
            </a:r>
            <a:r>
              <a:rPr lang="en-US" sz="4300" b="1" dirty="0" smtClean="0">
                <a:solidFill>
                  <a:srgbClr val="C00000"/>
                </a:solidFill>
                <a:latin typeface="+mn-lt"/>
              </a:rPr>
              <a:t>9:00</a:t>
            </a:r>
          </a:p>
          <a:p>
            <a:pPr marL="0" indent="0" algn="ctr">
              <a:spcBef>
                <a:spcPts val="0"/>
              </a:spcBef>
              <a:spcAft>
                <a:spcPts val="1600"/>
              </a:spcAft>
              <a:buSzPts val="4800"/>
              <a:buNone/>
            </a:pPr>
            <a:endParaRPr lang="en-US" sz="3600" b="1" dirty="0" smtClean="0">
              <a:solidFill>
                <a:srgbClr val="C00000"/>
              </a:solidFill>
              <a:latin typeface="+mn-lt"/>
            </a:endParaRPr>
          </a:p>
          <a:p>
            <a:pPr marL="0" indent="0" algn="ctr">
              <a:spcBef>
                <a:spcPts val="0"/>
              </a:spcBef>
              <a:spcAft>
                <a:spcPts val="1600"/>
              </a:spcAft>
              <a:buSzPts val="4800"/>
              <a:buNone/>
            </a:pPr>
            <a:r>
              <a:rPr lang="en-US" sz="3600" b="1" dirty="0" smtClean="0">
                <a:solidFill>
                  <a:srgbClr val="C00000"/>
                </a:solidFill>
                <a:latin typeface="+mn-lt"/>
              </a:rPr>
              <a:t>ENGR. JOEL ANTHONY L. SEVILLA</a:t>
            </a:r>
          </a:p>
          <a:p>
            <a:pPr marL="0" indent="0" algn="ctr">
              <a:spcBef>
                <a:spcPts val="0"/>
              </a:spcBef>
              <a:spcAft>
                <a:spcPts val="1600"/>
              </a:spcAft>
              <a:buSzPts val="4800"/>
              <a:buNone/>
            </a:pPr>
            <a:r>
              <a:rPr lang="en-US" sz="3600" b="1" dirty="0" smtClean="0">
                <a:solidFill>
                  <a:srgbClr val="C00000"/>
                </a:solidFill>
              </a:rPr>
              <a:t>JANUARY </a:t>
            </a:r>
            <a:r>
              <a:rPr lang="en-US" sz="3600" b="1" dirty="0" smtClean="0">
                <a:solidFill>
                  <a:srgbClr val="C00000"/>
                </a:solidFill>
                <a:latin typeface="+mn-lt"/>
              </a:rPr>
              <a:t>2024</a:t>
            </a:r>
          </a:p>
        </p:txBody>
      </p:sp>
    </p:spTree>
    <p:extLst>
      <p:ext uri="{BB962C8B-B14F-4D97-AF65-F5344CB8AC3E}">
        <p14:creationId xmlns:p14="http://schemas.microsoft.com/office/powerpoint/2010/main" val="1853639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8318500" cy="6172200"/>
          </a:xfrm>
        </p:spPr>
        <p:txBody>
          <a:bodyPr>
            <a:noAutofit/>
          </a:bodyPr>
          <a:lstStyle/>
          <a:p>
            <a:pPr marL="0" indent="0">
              <a:buNone/>
            </a:pPr>
            <a:r>
              <a:rPr lang="en-PH" sz="4800" dirty="0">
                <a:solidFill>
                  <a:schemeClr val="tx2"/>
                </a:solidFill>
              </a:rPr>
              <a:t>V. FORCE SENSORS</a:t>
            </a:r>
          </a:p>
          <a:p>
            <a:pPr marL="0" indent="0">
              <a:buNone/>
            </a:pPr>
            <a:r>
              <a:rPr lang="en-PH" sz="4400" dirty="0">
                <a:solidFill>
                  <a:schemeClr val="tx2"/>
                </a:solidFill>
              </a:rPr>
              <a:t>	</a:t>
            </a:r>
            <a:r>
              <a:rPr lang="en-PH" sz="4400" dirty="0"/>
              <a:t>MECHANICAL </a:t>
            </a:r>
            <a:r>
              <a:rPr lang="en-PH" sz="4400" dirty="0" smtClean="0"/>
              <a:t>TYPES </a:t>
            </a:r>
          </a:p>
          <a:p>
            <a:pPr marL="0" indent="0">
              <a:buNone/>
            </a:pPr>
            <a:r>
              <a:rPr lang="en-PH" sz="4400" dirty="0" smtClean="0"/>
              <a:t>It </a:t>
            </a:r>
            <a:r>
              <a:rPr lang="en-PH" sz="4400" dirty="0"/>
              <a:t>is a </a:t>
            </a:r>
            <a:r>
              <a:rPr lang="en-PH" sz="4400" dirty="0" smtClean="0"/>
              <a:t>basic mechanical </a:t>
            </a:r>
            <a:r>
              <a:rPr lang="en-PH" sz="4400" dirty="0"/>
              <a:t>principle that the deflection of a spring is </a:t>
            </a:r>
            <a:r>
              <a:rPr lang="en-PH" sz="4400" dirty="0" smtClean="0"/>
              <a:t>directly proportional </a:t>
            </a:r>
            <a:r>
              <a:rPr lang="en-PH" sz="4400" dirty="0"/>
              <a:t>to the applied force so if the movement is shown on a scale, the scale represents force.</a:t>
            </a: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8723312" y="1254125"/>
            <a:ext cx="3076575" cy="4400550"/>
          </a:xfrm>
          <a:prstGeom prst="rect">
            <a:avLst/>
          </a:prstGeom>
        </p:spPr>
      </p:pic>
    </p:spTree>
    <p:extLst>
      <p:ext uri="{BB962C8B-B14F-4D97-AF65-F5344CB8AC3E}">
        <p14:creationId xmlns:p14="http://schemas.microsoft.com/office/powerpoint/2010/main" val="5519783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8293100" cy="6172200"/>
          </a:xfrm>
        </p:spPr>
        <p:txBody>
          <a:bodyPr>
            <a:noAutofit/>
          </a:bodyPr>
          <a:lstStyle/>
          <a:p>
            <a:pPr marL="0" indent="0">
              <a:buNone/>
            </a:pPr>
            <a:r>
              <a:rPr lang="en-PH" sz="4400" dirty="0" smtClean="0"/>
              <a:t>HYDRAULICS TYPE</a:t>
            </a:r>
          </a:p>
          <a:p>
            <a:pPr marL="0" indent="0">
              <a:buNone/>
            </a:pPr>
            <a:r>
              <a:rPr lang="en-PH" sz="4400" dirty="0"/>
              <a:t>A</a:t>
            </a:r>
            <a:r>
              <a:rPr lang="en-PH" sz="4400" dirty="0" smtClean="0"/>
              <a:t>re </a:t>
            </a:r>
            <a:r>
              <a:rPr lang="en-PH" sz="4400" dirty="0"/>
              <a:t>often referred to as hydraulic load cells. The cell is a capsule filled with liquid. When </a:t>
            </a:r>
            <a:r>
              <a:rPr lang="en-PH" sz="4400" dirty="0" smtClean="0"/>
              <a:t>the capsule </a:t>
            </a:r>
            <a:r>
              <a:rPr lang="en-PH" sz="4400" dirty="0"/>
              <a:t>is squeezed, the liquid becomes </a:t>
            </a:r>
            <a:r>
              <a:rPr lang="en-PH" sz="4400" dirty="0" smtClean="0"/>
              <a:t>pressurized</a:t>
            </a:r>
            <a:r>
              <a:rPr lang="en-PH" sz="4400" dirty="0"/>
              <a:t>. The pressure represents the force and may be indicated </a:t>
            </a:r>
            <a:r>
              <a:rPr lang="en-PH" sz="4400" dirty="0" smtClean="0"/>
              <a:t>with a </a:t>
            </a:r>
            <a:r>
              <a:rPr lang="en-PH" sz="4400" dirty="0"/>
              <a:t>calibrated pressure gauge. The capsule is often a short cylinder with a </a:t>
            </a:r>
            <a:r>
              <a:rPr lang="en-PH" sz="4400" dirty="0" smtClean="0"/>
              <a:t>piston.</a:t>
            </a:r>
            <a:endParaRPr lang="en-PH" sz="4400" dirty="0"/>
          </a:p>
        </p:txBody>
      </p:sp>
      <p:pic>
        <p:nvPicPr>
          <p:cNvPr id="2" name="Picture 1"/>
          <p:cNvPicPr>
            <a:picLocks noChangeAspect="1"/>
          </p:cNvPicPr>
          <p:nvPr/>
        </p:nvPicPr>
        <p:blipFill>
          <a:blip r:embed="rId2"/>
          <a:stretch>
            <a:fillRect/>
          </a:stretch>
        </p:blipFill>
        <p:spPr>
          <a:xfrm>
            <a:off x="8826500" y="1423987"/>
            <a:ext cx="2914650" cy="3171825"/>
          </a:xfrm>
          <a:prstGeom prst="rect">
            <a:avLst/>
          </a:prstGeom>
        </p:spPr>
      </p:pic>
    </p:spTree>
    <p:extLst>
      <p:ext uri="{BB962C8B-B14F-4D97-AF65-F5344CB8AC3E}">
        <p14:creationId xmlns:p14="http://schemas.microsoft.com/office/powerpoint/2010/main" val="1041076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8928100" cy="6172200"/>
          </a:xfrm>
        </p:spPr>
        <p:txBody>
          <a:bodyPr>
            <a:noAutofit/>
          </a:bodyPr>
          <a:lstStyle/>
          <a:p>
            <a:pPr marL="0" indent="0">
              <a:buNone/>
            </a:pPr>
            <a:r>
              <a:rPr lang="en-PH" sz="4400" dirty="0" smtClean="0"/>
              <a:t>ELECTRICAL STRAIN </a:t>
            </a:r>
            <a:r>
              <a:rPr lang="en-PH" sz="4400" dirty="0"/>
              <a:t>GAUGE </a:t>
            </a:r>
            <a:r>
              <a:rPr lang="en-PH" sz="4400" dirty="0" smtClean="0"/>
              <a:t>TYPE</a:t>
            </a:r>
          </a:p>
          <a:p>
            <a:pPr marL="0" indent="0">
              <a:buNone/>
            </a:pPr>
            <a:r>
              <a:rPr lang="en-PH" sz="4400" dirty="0"/>
              <a:t>A typical load cell consists of a metal cylinder with strain gauges fixed to it. When the cylinder is stretched </a:t>
            </a:r>
            <a:r>
              <a:rPr lang="en-PH" sz="4400" dirty="0" smtClean="0"/>
              <a:t>or compressed</a:t>
            </a:r>
            <a:r>
              <a:rPr lang="en-PH" sz="4400" dirty="0"/>
              <a:t>, the strain gauges convert the force into a change in resistance </a:t>
            </a:r>
            <a:r>
              <a:rPr lang="en-PH" sz="4400" dirty="0" smtClean="0"/>
              <a:t>and </a:t>
            </a:r>
            <a:r>
              <a:rPr lang="en-PH" sz="4400" dirty="0"/>
              <a:t>voltage. Since the </a:t>
            </a:r>
            <a:r>
              <a:rPr lang="en-PH" sz="4400" dirty="0" smtClean="0"/>
              <a:t>elements require </a:t>
            </a:r>
            <a:r>
              <a:rPr lang="en-PH" sz="4400" dirty="0"/>
              <a:t>a supply voltage, the cell usually has 4 wires, two for the supply and two for the output.</a:t>
            </a:r>
            <a:endParaRPr lang="en-PH" sz="4400" dirty="0">
              <a:solidFill>
                <a:schemeClr val="tx2"/>
              </a:solidFill>
            </a:endParaRPr>
          </a:p>
        </p:txBody>
      </p:sp>
      <p:pic>
        <p:nvPicPr>
          <p:cNvPr id="2" name="Picture 1"/>
          <p:cNvPicPr>
            <a:picLocks noChangeAspect="1"/>
          </p:cNvPicPr>
          <p:nvPr/>
        </p:nvPicPr>
        <p:blipFill>
          <a:blip r:embed="rId2"/>
          <a:stretch>
            <a:fillRect/>
          </a:stretch>
        </p:blipFill>
        <p:spPr>
          <a:xfrm>
            <a:off x="9461500" y="1189037"/>
            <a:ext cx="2457450" cy="3555245"/>
          </a:xfrm>
          <a:prstGeom prst="rect">
            <a:avLst/>
          </a:prstGeom>
        </p:spPr>
      </p:pic>
    </p:spTree>
    <p:extLst>
      <p:ext uri="{BB962C8B-B14F-4D97-AF65-F5344CB8AC3E}">
        <p14:creationId xmlns:p14="http://schemas.microsoft.com/office/powerpoint/2010/main" val="4410706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VI. POSITION SENSORS</a:t>
            </a:r>
          </a:p>
          <a:p>
            <a:pPr marL="0" indent="0">
              <a:buNone/>
            </a:pPr>
            <a:r>
              <a:rPr lang="en-PH" sz="4400" dirty="0"/>
              <a:t>Position sensors are essential elements in the control of actuators. The position of both linear and rotary </a:t>
            </a:r>
            <a:r>
              <a:rPr lang="en-PH" sz="4400" dirty="0" smtClean="0"/>
              <a:t>actuators is </a:t>
            </a:r>
            <a:r>
              <a:rPr lang="en-PH" sz="4400" dirty="0"/>
              <a:t>needed in robotic type </a:t>
            </a:r>
            <a:r>
              <a:rPr lang="en-PH" sz="4400" dirty="0" smtClean="0"/>
              <a:t>mechanisms.</a:t>
            </a:r>
          </a:p>
          <a:p>
            <a:pPr marL="0" indent="0">
              <a:buNone/>
            </a:pPr>
            <a:r>
              <a:rPr lang="en-PH" sz="4400" dirty="0" smtClean="0"/>
              <a:t>		Three </a:t>
            </a:r>
            <a:r>
              <a:rPr lang="en-PH" sz="4400" dirty="0"/>
              <a:t>principle </a:t>
            </a:r>
            <a:r>
              <a:rPr lang="en-PH" sz="4400" dirty="0" smtClean="0"/>
              <a:t>types:</a:t>
            </a:r>
          </a:p>
          <a:p>
            <a:pPr marL="0" indent="0">
              <a:buNone/>
            </a:pPr>
            <a:r>
              <a:rPr lang="en-PH" sz="4400" dirty="0" smtClean="0"/>
              <a:t>			RESISTIVE</a:t>
            </a:r>
            <a:endParaRPr lang="en-PH" sz="4400" dirty="0"/>
          </a:p>
          <a:p>
            <a:pPr marL="0" indent="0">
              <a:buNone/>
            </a:pPr>
            <a:r>
              <a:rPr lang="en-PH" sz="4400" dirty="0" smtClean="0"/>
              <a:t>			OPTICAL</a:t>
            </a:r>
            <a:endParaRPr lang="en-PH" sz="4400" dirty="0"/>
          </a:p>
          <a:p>
            <a:pPr marL="0" indent="0">
              <a:buNone/>
            </a:pPr>
            <a:r>
              <a:rPr lang="en-PH" sz="4400" dirty="0" smtClean="0"/>
              <a:t>			INDUCTIVE</a:t>
            </a:r>
            <a:endParaRPr lang="en-PH" sz="4400" dirty="0"/>
          </a:p>
        </p:txBody>
      </p:sp>
    </p:spTree>
    <p:extLst>
      <p:ext uri="{BB962C8B-B14F-4D97-AF65-F5344CB8AC3E}">
        <p14:creationId xmlns:p14="http://schemas.microsoft.com/office/powerpoint/2010/main" val="19241149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smtClean="0"/>
              <a:t>RESISTIVE TYPES</a:t>
            </a:r>
          </a:p>
          <a:p>
            <a:pPr marL="0" indent="0">
              <a:buNone/>
            </a:pPr>
            <a:endParaRPr lang="en-PH" sz="4400" dirty="0"/>
          </a:p>
          <a:p>
            <a:pPr marL="0" indent="0">
              <a:buNone/>
            </a:pPr>
            <a:endParaRPr lang="en-PH" sz="4400" dirty="0" smtClean="0"/>
          </a:p>
          <a:p>
            <a:pPr marL="0" indent="0">
              <a:buNone/>
            </a:pPr>
            <a:endParaRPr lang="en-PH" sz="4400" dirty="0"/>
          </a:p>
          <a:p>
            <a:pPr marL="0" indent="0">
              <a:buNone/>
            </a:pPr>
            <a:r>
              <a:rPr lang="en-PH" sz="4400" dirty="0"/>
              <a:t>A potentiometer is a variable electrical resistance. A length of resistance material has a voltage applied over </a:t>
            </a:r>
            <a:r>
              <a:rPr lang="en-PH" sz="4400" dirty="0" smtClean="0"/>
              <a:t>its ends</a:t>
            </a:r>
            <a:r>
              <a:rPr lang="en-PH" sz="4400" dirty="0"/>
              <a:t>. A slider moves along it (either linear or rotary) and picks off the voltage at its position or angle. </a:t>
            </a:r>
          </a:p>
        </p:txBody>
      </p:sp>
      <p:pic>
        <p:nvPicPr>
          <p:cNvPr id="2" name="Picture 1"/>
          <p:cNvPicPr>
            <a:picLocks noChangeAspect="1"/>
          </p:cNvPicPr>
          <p:nvPr/>
        </p:nvPicPr>
        <p:blipFill>
          <a:blip r:embed="rId2"/>
          <a:stretch>
            <a:fillRect/>
          </a:stretch>
        </p:blipFill>
        <p:spPr>
          <a:xfrm>
            <a:off x="1635125" y="1263650"/>
            <a:ext cx="2952750" cy="1485900"/>
          </a:xfrm>
          <a:prstGeom prst="rect">
            <a:avLst/>
          </a:prstGeom>
        </p:spPr>
      </p:pic>
      <p:pic>
        <p:nvPicPr>
          <p:cNvPr id="4" name="Picture 3"/>
          <p:cNvPicPr>
            <a:picLocks noChangeAspect="1"/>
          </p:cNvPicPr>
          <p:nvPr/>
        </p:nvPicPr>
        <p:blipFill>
          <a:blip r:embed="rId3"/>
          <a:stretch>
            <a:fillRect/>
          </a:stretch>
        </p:blipFill>
        <p:spPr>
          <a:xfrm>
            <a:off x="5689600" y="463550"/>
            <a:ext cx="3238500" cy="2286000"/>
          </a:xfrm>
          <a:prstGeom prst="rect">
            <a:avLst/>
          </a:prstGeom>
        </p:spPr>
      </p:pic>
    </p:spTree>
    <p:extLst>
      <p:ext uri="{BB962C8B-B14F-4D97-AF65-F5344CB8AC3E}">
        <p14:creationId xmlns:p14="http://schemas.microsoft.com/office/powerpoint/2010/main" val="29250520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tracks may be made from </a:t>
            </a:r>
            <a:r>
              <a:rPr lang="en-PH" sz="4400" dirty="0" smtClean="0"/>
              <a:t>carbon, </a:t>
            </a:r>
            <a:r>
              <a:rPr lang="en-PH" sz="4400" dirty="0"/>
              <a:t>resistance wire or piezo resistive material. The latter is the best because it gives a good analog output. </a:t>
            </a:r>
            <a:endParaRPr lang="en-PH" sz="4400" dirty="0" smtClean="0"/>
          </a:p>
          <a:p>
            <a:pPr marL="0" indent="0">
              <a:buNone/>
            </a:pPr>
            <a:r>
              <a:rPr lang="en-PH" sz="4400" dirty="0" smtClean="0"/>
              <a:t>The </a:t>
            </a:r>
            <a:r>
              <a:rPr lang="en-PH" sz="4400" dirty="0"/>
              <a:t>wire wound type produces small step changes in the output depending on how fine the wire is and how closely it is coiled on the track.</a:t>
            </a:r>
          </a:p>
        </p:txBody>
      </p:sp>
    </p:spTree>
    <p:extLst>
      <p:ext uri="{BB962C8B-B14F-4D97-AF65-F5344CB8AC3E}">
        <p14:creationId xmlns:p14="http://schemas.microsoft.com/office/powerpoint/2010/main" val="3205718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65400" y="609600"/>
            <a:ext cx="7289800" cy="2667000"/>
          </a:xfrm>
          <a:prstGeom prst="rect">
            <a:avLst/>
          </a:prstGeom>
        </p:spPr>
      </p:pic>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smtClean="0"/>
              <a:t>OPTICAL TYPES</a:t>
            </a:r>
          </a:p>
          <a:p>
            <a:pPr marL="0" indent="0">
              <a:buNone/>
            </a:pPr>
            <a:endParaRPr lang="en-PH" sz="4400" dirty="0"/>
          </a:p>
          <a:p>
            <a:pPr marL="0" indent="0">
              <a:buNone/>
            </a:pPr>
            <a:endParaRPr lang="en-PH" sz="4400" dirty="0" smtClean="0"/>
          </a:p>
          <a:p>
            <a:pPr marL="0" indent="0">
              <a:buNone/>
            </a:pPr>
            <a:endParaRPr lang="en-PH" sz="4400" dirty="0"/>
          </a:p>
          <a:p>
            <a:pPr marL="0" indent="0">
              <a:buNone/>
            </a:pPr>
            <a:r>
              <a:rPr lang="en-PH" sz="4400" dirty="0"/>
              <a:t>Optical types are mainly used for producing digital outputs. A common example is found on machine tools </a:t>
            </a:r>
            <a:r>
              <a:rPr lang="en-PH" sz="4400" dirty="0" smtClean="0"/>
              <a:t>where they </a:t>
            </a:r>
            <a:r>
              <a:rPr lang="en-PH" sz="4400" dirty="0"/>
              <a:t>measure the position of the work table and display it in digits on the gauge head</a:t>
            </a:r>
            <a:r>
              <a:rPr lang="en-PH" sz="4400" dirty="0" smtClean="0"/>
              <a:t>. </a:t>
            </a:r>
            <a:endParaRPr lang="en-PH" sz="4400" dirty="0"/>
          </a:p>
        </p:txBody>
      </p:sp>
    </p:spTree>
    <p:extLst>
      <p:ext uri="{BB962C8B-B14F-4D97-AF65-F5344CB8AC3E}">
        <p14:creationId xmlns:p14="http://schemas.microsoft.com/office/powerpoint/2010/main" val="19944234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Light is emitted through a transparent strip or disc onto a photo electric cell. </a:t>
            </a:r>
            <a:r>
              <a:rPr lang="en-PH" sz="4400" dirty="0" smtClean="0"/>
              <a:t>The </a:t>
            </a:r>
            <a:r>
              <a:rPr lang="en-PH" sz="4400" dirty="0"/>
              <a:t>strip or disc has very fine lines engraved on it which interrupt the beam. The number of interruptions are counted electronically and this represents the </a:t>
            </a:r>
            <a:r>
              <a:rPr lang="en-PH" sz="4400" dirty="0" smtClean="0"/>
              <a:t>position or </a:t>
            </a:r>
            <a:r>
              <a:rPr lang="en-PH" sz="4400" dirty="0"/>
              <a:t>angle.</a:t>
            </a:r>
          </a:p>
        </p:txBody>
      </p:sp>
    </p:spTree>
    <p:extLst>
      <p:ext uri="{BB962C8B-B14F-4D97-AF65-F5344CB8AC3E}">
        <p14:creationId xmlns:p14="http://schemas.microsoft.com/office/powerpoint/2010/main" val="26537684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6604000" cy="6172200"/>
          </a:xfrm>
        </p:spPr>
        <p:txBody>
          <a:bodyPr>
            <a:noAutofit/>
          </a:bodyPr>
          <a:lstStyle/>
          <a:p>
            <a:pPr marL="0" indent="0">
              <a:buNone/>
            </a:pPr>
            <a:r>
              <a:rPr lang="en-PH" sz="4400" dirty="0" smtClean="0"/>
              <a:t>INDUCTIVE TYPES</a:t>
            </a:r>
          </a:p>
          <a:p>
            <a:pPr marL="0" indent="0">
              <a:buNone/>
            </a:pPr>
            <a:r>
              <a:rPr lang="en-PH" sz="4400" dirty="0"/>
              <a:t>The most common of these is the Linear Variable Differential transformer or LVDT. The transformer is </a:t>
            </a:r>
            <a:r>
              <a:rPr lang="en-PH" sz="4400" dirty="0" smtClean="0"/>
              <a:t>made with </a:t>
            </a:r>
            <a:r>
              <a:rPr lang="en-PH" sz="4400" dirty="0"/>
              <a:t>one primary coil and two secondary coils, one placed above and the other below the primary. </a:t>
            </a:r>
          </a:p>
        </p:txBody>
      </p:sp>
      <p:pic>
        <p:nvPicPr>
          <p:cNvPr id="2" name="Picture 1"/>
          <p:cNvPicPr>
            <a:picLocks noChangeAspect="1"/>
          </p:cNvPicPr>
          <p:nvPr/>
        </p:nvPicPr>
        <p:blipFill>
          <a:blip r:embed="rId2"/>
          <a:stretch>
            <a:fillRect/>
          </a:stretch>
        </p:blipFill>
        <p:spPr>
          <a:xfrm>
            <a:off x="7262812" y="828675"/>
            <a:ext cx="4371975" cy="4438650"/>
          </a:xfrm>
          <a:prstGeom prst="rect">
            <a:avLst/>
          </a:prstGeom>
        </p:spPr>
      </p:pic>
    </p:spTree>
    <p:extLst>
      <p:ext uri="{BB962C8B-B14F-4D97-AF65-F5344CB8AC3E}">
        <p14:creationId xmlns:p14="http://schemas.microsoft.com/office/powerpoint/2010/main" val="36894667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coils </a:t>
            </a:r>
            <a:r>
              <a:rPr lang="en-PH" sz="4400" dirty="0" smtClean="0"/>
              <a:t>are formed </a:t>
            </a:r>
            <a:r>
              <a:rPr lang="en-PH" sz="4400" dirty="0"/>
              <a:t>into a long narrow hollow tube. A magnetic core slides in the tube and is attached to the mechanism </a:t>
            </a:r>
            <a:r>
              <a:rPr lang="en-PH" sz="4400" dirty="0" smtClean="0"/>
              <a:t>being monitored </a:t>
            </a:r>
            <a:r>
              <a:rPr lang="en-PH" sz="4400" dirty="0"/>
              <a:t>with </a:t>
            </a:r>
            <a:r>
              <a:rPr lang="en-PH" sz="4400" dirty="0" smtClean="0"/>
              <a:t>a </a:t>
            </a:r>
            <a:r>
              <a:rPr lang="en-PH" sz="4400" dirty="0"/>
              <a:t>non magnetic stem (e.g. brass</a:t>
            </a:r>
            <a:r>
              <a:rPr lang="en-PH" sz="4400" dirty="0" smtClean="0"/>
              <a:t>).</a:t>
            </a:r>
          </a:p>
          <a:p>
            <a:pPr marL="0" indent="0">
              <a:buNone/>
            </a:pPr>
            <a:r>
              <a:rPr lang="en-PH" sz="4400" dirty="0"/>
              <a:t>A constant alternating voltage is applied to the primary coil. </a:t>
            </a:r>
            <a:r>
              <a:rPr lang="en-PH" sz="4400" dirty="0" smtClean="0"/>
              <a:t>This induces </a:t>
            </a:r>
            <a:r>
              <a:rPr lang="en-PH" sz="4400" dirty="0"/>
              <a:t>a voltage in both secondary coils. When the core is exactly in the middle, equal voltages are induced </a:t>
            </a:r>
            <a:r>
              <a:rPr lang="en-PH" sz="4400" dirty="0" smtClean="0"/>
              <a:t>and they </a:t>
            </a:r>
            <a:r>
              <a:rPr lang="en-PH" sz="4400" dirty="0"/>
              <a:t>cancel each other out. </a:t>
            </a:r>
          </a:p>
        </p:txBody>
      </p:sp>
    </p:spTree>
    <p:extLst>
      <p:ext uri="{BB962C8B-B14F-4D97-AF65-F5344CB8AC3E}">
        <p14:creationId xmlns:p14="http://schemas.microsoft.com/office/powerpoint/2010/main" val="13279400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When the core moves, the voltage in one secondary coil grows but reduces in the other. The result is an output voltage which represents the position of the core </a:t>
            </a:r>
            <a:r>
              <a:rPr lang="en-PH" sz="4400" dirty="0" smtClean="0"/>
              <a:t>and </a:t>
            </a:r>
            <a:r>
              <a:rPr lang="en-PH" sz="4400" dirty="0"/>
              <a:t>the mechanism to which it is attached. </a:t>
            </a:r>
            <a:r>
              <a:rPr lang="en-PH" sz="4400" dirty="0" smtClean="0"/>
              <a:t>With </a:t>
            </a:r>
            <a:r>
              <a:rPr lang="en-PH" sz="4400" dirty="0"/>
              <a:t>suitable electronic equipment for phase detection, it is possible to detect which direction the core moves and to switch the dc voltage from plus to minus as the core passes the center position. </a:t>
            </a:r>
            <a:endParaRPr lang="en-PH" sz="4400" dirty="0">
              <a:solidFill>
                <a:schemeClr val="tx2"/>
              </a:solidFill>
            </a:endParaRPr>
          </a:p>
        </p:txBody>
      </p:sp>
    </p:spTree>
    <p:extLst>
      <p:ext uri="{BB962C8B-B14F-4D97-AF65-F5344CB8AC3E}">
        <p14:creationId xmlns:p14="http://schemas.microsoft.com/office/powerpoint/2010/main" val="20355193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a:solidFill>
                  <a:schemeClr val="tx2"/>
                </a:solidFill>
              </a:rPr>
              <a:t>VII. DEPTH GAUGES</a:t>
            </a:r>
          </a:p>
          <a:p>
            <a:pPr marL="0" indent="0">
              <a:buNone/>
            </a:pPr>
            <a:r>
              <a:rPr lang="en-PH" sz="4400" dirty="0"/>
              <a:t>Depth gauges measure the depth of liquids and powder in tanks. They use a variety of principles and </a:t>
            </a:r>
            <a:r>
              <a:rPr lang="en-PH" sz="4400" dirty="0" smtClean="0"/>
              <a:t>produce outputs </a:t>
            </a:r>
            <a:r>
              <a:rPr lang="en-PH" sz="4400" dirty="0"/>
              <a:t>in electrical and pneumatic forms. The type to use depends on the substance in the </a:t>
            </a:r>
            <a:r>
              <a:rPr lang="en-PH" sz="4400" dirty="0" smtClean="0"/>
              <a:t>tank.</a:t>
            </a:r>
            <a:endParaRPr lang="en-PH" sz="4400" dirty="0"/>
          </a:p>
        </p:txBody>
      </p:sp>
    </p:spTree>
    <p:extLst>
      <p:ext uri="{BB962C8B-B14F-4D97-AF65-F5344CB8AC3E}">
        <p14:creationId xmlns:p14="http://schemas.microsoft.com/office/powerpoint/2010/main" val="41748936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endParaRPr lang="en-PH" sz="4400" dirty="0"/>
          </a:p>
          <a:p>
            <a:pPr marL="0" indent="0">
              <a:buNone/>
            </a:pPr>
            <a:endParaRPr lang="en-PH" sz="4400" dirty="0" smtClean="0"/>
          </a:p>
          <a:p>
            <a:pPr marL="0" indent="0">
              <a:buNone/>
            </a:pPr>
            <a:endParaRPr lang="en-PH" sz="4400" dirty="0"/>
          </a:p>
          <a:p>
            <a:pPr marL="0" indent="0">
              <a:buNone/>
            </a:pPr>
            <a:endParaRPr lang="en-PH" sz="4400" dirty="0" smtClean="0"/>
          </a:p>
          <a:p>
            <a:pPr marL="0" indent="0">
              <a:buNone/>
            </a:pPr>
            <a:endParaRPr lang="en-PH" sz="4400" dirty="0"/>
          </a:p>
          <a:p>
            <a:pPr marL="0" indent="0">
              <a:buNone/>
            </a:pPr>
            <a:r>
              <a:rPr lang="en-PH" sz="4400" dirty="0"/>
              <a:t>The ultrasonic system reflects sound waves from the surface and determines the depth </a:t>
            </a:r>
            <a:r>
              <a:rPr lang="en-PH" sz="4400" dirty="0" smtClean="0"/>
              <a:t>from </a:t>
            </a:r>
            <a:r>
              <a:rPr lang="en-PH" sz="4400" dirty="0"/>
              <a:t>the time taken </a:t>
            </a:r>
            <a:r>
              <a:rPr lang="en-PH" sz="4400" dirty="0" smtClean="0"/>
              <a:t>to receive </a:t>
            </a:r>
            <a:r>
              <a:rPr lang="en-PH" sz="4400" dirty="0"/>
              <a:t>the reflected sound. </a:t>
            </a:r>
          </a:p>
        </p:txBody>
      </p:sp>
      <p:pic>
        <p:nvPicPr>
          <p:cNvPr id="4" name="Picture 3"/>
          <p:cNvPicPr>
            <a:picLocks noChangeAspect="1"/>
          </p:cNvPicPr>
          <p:nvPr/>
        </p:nvPicPr>
        <p:blipFill>
          <a:blip r:embed="rId2"/>
          <a:stretch>
            <a:fillRect/>
          </a:stretch>
        </p:blipFill>
        <p:spPr>
          <a:xfrm>
            <a:off x="838200" y="88900"/>
            <a:ext cx="10477500" cy="3943350"/>
          </a:xfrm>
          <a:prstGeom prst="rect">
            <a:avLst/>
          </a:prstGeom>
        </p:spPr>
      </p:pic>
    </p:spTree>
    <p:extLst>
      <p:ext uri="{BB962C8B-B14F-4D97-AF65-F5344CB8AC3E}">
        <p14:creationId xmlns:p14="http://schemas.microsoft.com/office/powerpoint/2010/main" val="26620984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400" dirty="0"/>
              <a:t>The electronic version uses a variety of electrical affects including conduction of </a:t>
            </a:r>
            <a:r>
              <a:rPr lang="en-PH" sz="4400" dirty="0" smtClean="0"/>
              <a:t>the fluid </a:t>
            </a:r>
            <a:r>
              <a:rPr lang="en-PH" sz="4400" dirty="0"/>
              <a:t>and capacitance. </a:t>
            </a:r>
            <a:endParaRPr lang="en-PH" sz="4400" dirty="0" smtClean="0"/>
          </a:p>
          <a:p>
            <a:pPr marL="0" indent="0">
              <a:buNone/>
            </a:pPr>
            <a:r>
              <a:rPr lang="en-PH" sz="4400" dirty="0" smtClean="0"/>
              <a:t>The </a:t>
            </a:r>
            <a:r>
              <a:rPr lang="en-PH" sz="4400" dirty="0"/>
              <a:t>pneumatic version bubbles air through the liquid and the pressure of the air is related </a:t>
            </a:r>
            <a:r>
              <a:rPr lang="en-PH" sz="4400" dirty="0" smtClean="0"/>
              <a:t>to the </a:t>
            </a:r>
            <a:r>
              <a:rPr lang="en-PH" sz="4400" dirty="0"/>
              <a:t>depth. A simple pressure gauge attached to a </a:t>
            </a:r>
            <a:r>
              <a:rPr lang="en-PH" sz="4400" dirty="0" smtClean="0"/>
              <a:t>tank </a:t>
            </a:r>
            <a:r>
              <a:rPr lang="en-PH" sz="4400" dirty="0"/>
              <a:t>also indicates the depth since depth is proportional </a:t>
            </a:r>
            <a:r>
              <a:rPr lang="en-PH" sz="4400" dirty="0" smtClean="0"/>
              <a:t>to pressure</a:t>
            </a:r>
            <a:r>
              <a:rPr lang="en-PH" sz="4400" dirty="0"/>
              <a:t>.</a:t>
            </a:r>
          </a:p>
          <a:p>
            <a:pPr marL="0" indent="0">
              <a:buNone/>
            </a:pPr>
            <a:endParaRPr lang="en-PH" sz="4400" dirty="0">
              <a:solidFill>
                <a:schemeClr val="tx2"/>
              </a:solidFill>
            </a:endParaRPr>
          </a:p>
        </p:txBody>
      </p:sp>
    </p:spTree>
    <p:extLst>
      <p:ext uri="{BB962C8B-B14F-4D97-AF65-F5344CB8AC3E}">
        <p14:creationId xmlns:p14="http://schemas.microsoft.com/office/powerpoint/2010/main" val="20075405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68300"/>
            <a:ext cx="11087100" cy="6172200"/>
          </a:xfrm>
        </p:spPr>
        <p:txBody>
          <a:bodyPr>
            <a:noAutofit/>
          </a:bodyPr>
          <a:lstStyle/>
          <a:p>
            <a:pPr marL="0" indent="0">
              <a:buNone/>
            </a:pPr>
            <a:r>
              <a:rPr lang="en-PH" sz="4800" dirty="0" smtClean="0">
                <a:solidFill>
                  <a:schemeClr val="tx2"/>
                </a:solidFill>
              </a:rPr>
              <a:t>VIII. PHOTOELECTRIC TRANSDUCERS</a:t>
            </a:r>
          </a:p>
          <a:p>
            <a:pPr marL="0" indent="0">
              <a:buNone/>
            </a:pPr>
            <a:r>
              <a:rPr lang="en-PH" sz="4400" dirty="0" smtClean="0"/>
              <a:t>Converts the incoming light source into electrical energy, normally made of semiconductor materials. </a:t>
            </a:r>
          </a:p>
          <a:p>
            <a:pPr marL="0" indent="0">
              <a:buNone/>
            </a:pPr>
            <a:r>
              <a:rPr lang="en-PH" sz="4400" dirty="0" smtClean="0"/>
              <a:t>Categorized as photo emissive, photoconductive or photovoltaic.</a:t>
            </a:r>
            <a:endParaRPr lang="en-PH" sz="4400" dirty="0"/>
          </a:p>
        </p:txBody>
      </p:sp>
    </p:spTree>
    <p:extLst>
      <p:ext uri="{BB962C8B-B14F-4D97-AF65-F5344CB8AC3E}">
        <p14:creationId xmlns:p14="http://schemas.microsoft.com/office/powerpoint/2010/main" val="24985058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PHOTOCONDUCTIVE CELLS</a:t>
            </a:r>
          </a:p>
          <a:p>
            <a:r>
              <a:rPr lang="en-US" altLang="en-US" sz="4400" dirty="0"/>
              <a:t>A photoconductive cell varies resistance with </a:t>
            </a:r>
            <a:r>
              <a:rPr lang="en-US" altLang="en-US" sz="4400" dirty="0" smtClean="0"/>
              <a:t>the intensity </a:t>
            </a:r>
            <a:r>
              <a:rPr lang="en-US" altLang="en-US" sz="4400" dirty="0"/>
              <a:t>of light.</a:t>
            </a:r>
          </a:p>
          <a:p>
            <a:endParaRPr lang="en-US" altLang="en-US" sz="4400" dirty="0"/>
          </a:p>
          <a:p>
            <a:r>
              <a:rPr lang="en-US" altLang="en-US" sz="4400" dirty="0" smtClean="0"/>
              <a:t>Like </a:t>
            </a:r>
            <a:r>
              <a:rPr lang="en-US" altLang="en-US" sz="4400" dirty="0"/>
              <a:t>a common resistor, a photoconductive cell has no polarity and can be placed into the circuit in either direction.</a:t>
            </a:r>
          </a:p>
          <a:p>
            <a:endParaRPr lang="en-PH" sz="4400" dirty="0"/>
          </a:p>
        </p:txBody>
      </p:sp>
    </p:spTree>
    <p:extLst>
      <p:ext uri="{BB962C8B-B14F-4D97-AF65-F5344CB8AC3E}">
        <p14:creationId xmlns:p14="http://schemas.microsoft.com/office/powerpoint/2010/main" val="37859961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PHOTOCONDUCTIVE CELLS</a:t>
            </a:r>
          </a:p>
          <a:p>
            <a:r>
              <a:rPr lang="en-PH" sz="4400" dirty="0"/>
              <a:t>G</a:t>
            </a:r>
            <a:r>
              <a:rPr lang="en-PH" sz="4400" dirty="0" smtClean="0"/>
              <a:t>enerally </a:t>
            </a:r>
            <a:r>
              <a:rPr lang="en-PH" sz="4400" dirty="0"/>
              <a:t>made of </a:t>
            </a:r>
            <a:r>
              <a:rPr lang="en-PH" sz="4400" dirty="0" smtClean="0"/>
              <a:t>cadmium compounds </a:t>
            </a:r>
            <a:r>
              <a:rPr lang="en-PH" sz="4400" dirty="0"/>
              <a:t>such as C</a:t>
            </a:r>
            <a:r>
              <a:rPr lang="en-PH" sz="4400" dirty="0" smtClean="0"/>
              <a:t>admium </a:t>
            </a:r>
            <a:r>
              <a:rPr lang="en-PH" sz="4400" dirty="0" err="1"/>
              <a:t>S</a:t>
            </a:r>
            <a:r>
              <a:rPr lang="en-PH" sz="4400" dirty="0" err="1" smtClean="0"/>
              <a:t>ulphide</a:t>
            </a:r>
            <a:r>
              <a:rPr lang="en-PH" sz="4400" dirty="0" smtClean="0"/>
              <a:t> </a:t>
            </a:r>
            <a:r>
              <a:rPr lang="en-PH" sz="4400" dirty="0"/>
              <a:t>(</a:t>
            </a:r>
            <a:r>
              <a:rPr lang="en-PH" sz="4400" dirty="0" err="1"/>
              <a:t>CdS</a:t>
            </a:r>
            <a:r>
              <a:rPr lang="en-PH" sz="4400" dirty="0"/>
              <a:t>) and </a:t>
            </a:r>
            <a:r>
              <a:rPr lang="en-PH" sz="4400" dirty="0" smtClean="0"/>
              <a:t>Cadmium</a:t>
            </a:r>
            <a:endParaRPr lang="en-PH" sz="4400" dirty="0"/>
          </a:p>
          <a:p>
            <a:r>
              <a:rPr lang="en-PH" sz="4400" dirty="0"/>
              <a:t>S</a:t>
            </a:r>
            <a:r>
              <a:rPr lang="en-PH" sz="4400" dirty="0" smtClean="0"/>
              <a:t>elenide </a:t>
            </a:r>
            <a:r>
              <a:rPr lang="en-PH" sz="4400" dirty="0"/>
              <a:t>(</a:t>
            </a:r>
            <a:r>
              <a:rPr lang="en-PH" sz="4400" dirty="0" err="1"/>
              <a:t>CdSe</a:t>
            </a:r>
            <a:r>
              <a:rPr lang="en-PH" sz="4400" dirty="0" smtClean="0"/>
              <a:t>).</a:t>
            </a:r>
          </a:p>
          <a:p>
            <a:endParaRPr lang="en-PH" sz="4400" b="1" dirty="0" smtClean="0"/>
          </a:p>
          <a:p>
            <a:r>
              <a:rPr lang="en-PH" sz="4400" dirty="0"/>
              <a:t>S</a:t>
            </a:r>
            <a:r>
              <a:rPr lang="en-PH" sz="4400" dirty="0" smtClean="0"/>
              <a:t>pectral </a:t>
            </a:r>
            <a:r>
              <a:rPr lang="en-PH" sz="4400" dirty="0"/>
              <a:t>response of </a:t>
            </a:r>
            <a:r>
              <a:rPr lang="en-PH" sz="4400" dirty="0" err="1"/>
              <a:t>CdS</a:t>
            </a:r>
            <a:r>
              <a:rPr lang="en-PH" sz="4400" dirty="0"/>
              <a:t> cell </a:t>
            </a:r>
            <a:r>
              <a:rPr lang="en-PH" sz="4400" dirty="0" smtClean="0"/>
              <a:t>is similar </a:t>
            </a:r>
            <a:r>
              <a:rPr lang="en-PH" sz="4400" dirty="0"/>
              <a:t>to the human eye </a:t>
            </a:r>
            <a:r>
              <a:rPr lang="en-PH" sz="4400" dirty="0" smtClean="0"/>
              <a:t>hence it </a:t>
            </a:r>
            <a:r>
              <a:rPr lang="en-PH" sz="4400" dirty="0"/>
              <a:t>is often used to simulate the</a:t>
            </a:r>
          </a:p>
          <a:p>
            <a:r>
              <a:rPr lang="en-PH" sz="4400" dirty="0"/>
              <a:t>human </a:t>
            </a:r>
            <a:r>
              <a:rPr lang="en-PH" sz="4400" dirty="0" smtClean="0"/>
              <a:t>eye.</a:t>
            </a:r>
            <a:endParaRPr lang="en-PH" sz="4400" dirty="0"/>
          </a:p>
        </p:txBody>
      </p:sp>
    </p:spTree>
    <p:extLst>
      <p:ext uri="{BB962C8B-B14F-4D97-AF65-F5344CB8AC3E}">
        <p14:creationId xmlns:p14="http://schemas.microsoft.com/office/powerpoint/2010/main" val="27995629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solidFill>
                  <a:srgbClr val="C00000"/>
                </a:solidFill>
              </a:rPr>
              <a:t>Working Principle</a:t>
            </a:r>
          </a:p>
          <a:p>
            <a:r>
              <a:rPr lang="en-PH" sz="4400" dirty="0" smtClean="0"/>
              <a:t>Typically</a:t>
            </a:r>
            <a:r>
              <a:rPr lang="en-PH" sz="4400" dirty="0"/>
              <a:t>, the </a:t>
            </a:r>
            <a:r>
              <a:rPr lang="en-PH" sz="4400" b="1" dirty="0"/>
              <a:t>dark resistance </a:t>
            </a:r>
            <a:endParaRPr lang="en-PH" sz="4400" b="1" dirty="0" smtClean="0"/>
          </a:p>
          <a:p>
            <a:r>
              <a:rPr lang="en-PH" sz="4400" dirty="0"/>
              <a:t>o</a:t>
            </a:r>
            <a:r>
              <a:rPr lang="en-PH" sz="4400" dirty="0" smtClean="0"/>
              <a:t>f the </a:t>
            </a:r>
            <a:r>
              <a:rPr lang="en-PH" sz="4400" dirty="0"/>
              <a:t>cell is 1 </a:t>
            </a:r>
            <a:r>
              <a:rPr lang="en-PH" sz="4400" dirty="0" smtClean="0"/>
              <a:t>M</a:t>
            </a:r>
            <a:r>
              <a:rPr lang="el-GR" sz="4400" dirty="0" smtClean="0"/>
              <a:t>Ω</a:t>
            </a:r>
            <a:r>
              <a:rPr lang="en-PH" sz="4400" dirty="0" smtClean="0"/>
              <a:t> </a:t>
            </a:r>
            <a:r>
              <a:rPr lang="en-PH" sz="4400" dirty="0"/>
              <a:t>or </a:t>
            </a:r>
            <a:endParaRPr lang="en-PH" sz="4400" dirty="0" smtClean="0"/>
          </a:p>
          <a:p>
            <a:r>
              <a:rPr lang="en-PH" sz="4400" dirty="0"/>
              <a:t>l</a:t>
            </a:r>
            <a:r>
              <a:rPr lang="en-PH" sz="4400" dirty="0" smtClean="0"/>
              <a:t>arger under </a:t>
            </a:r>
            <a:r>
              <a:rPr lang="en-PH" sz="4400" dirty="0"/>
              <a:t>illumination, </a:t>
            </a:r>
            <a:endParaRPr lang="en-PH" sz="4400" dirty="0" smtClean="0"/>
          </a:p>
          <a:p>
            <a:r>
              <a:rPr lang="en-PH" sz="4400" dirty="0" smtClean="0"/>
              <a:t>the cell resistance </a:t>
            </a:r>
            <a:r>
              <a:rPr lang="en-PH" sz="4400" dirty="0"/>
              <a:t>drops to </a:t>
            </a:r>
            <a:endParaRPr lang="en-PH" sz="4400" dirty="0" smtClean="0"/>
          </a:p>
          <a:p>
            <a:r>
              <a:rPr lang="en-PH" sz="4400" dirty="0" smtClean="0"/>
              <a:t>a value between </a:t>
            </a:r>
            <a:r>
              <a:rPr lang="en-PH" sz="4400" dirty="0"/>
              <a:t>1 and </a:t>
            </a:r>
            <a:endParaRPr lang="en-PH" sz="4400" dirty="0" smtClean="0"/>
          </a:p>
          <a:p>
            <a:r>
              <a:rPr lang="en-PH" sz="4400" dirty="0" smtClean="0"/>
              <a:t>100 k</a:t>
            </a:r>
            <a:r>
              <a:rPr lang="el-GR" sz="4400" dirty="0" smtClean="0"/>
              <a:t>Ω</a:t>
            </a:r>
            <a:r>
              <a:rPr lang="en-PH" sz="4400" dirty="0" smtClean="0"/>
              <a:t> depending </a:t>
            </a:r>
            <a:r>
              <a:rPr lang="en-PH" sz="4400" dirty="0"/>
              <a:t>on </a:t>
            </a:r>
            <a:endParaRPr lang="en-PH" sz="4400" dirty="0" smtClean="0"/>
          </a:p>
          <a:p>
            <a:r>
              <a:rPr lang="en-PH" sz="4400" dirty="0"/>
              <a:t>s</a:t>
            </a:r>
            <a:r>
              <a:rPr lang="en-PH" sz="4400" dirty="0" smtClean="0"/>
              <a:t>urface illumination.</a:t>
            </a:r>
            <a:endParaRPr lang="en-PH" sz="4400" dirty="0"/>
          </a:p>
        </p:txBody>
      </p:sp>
      <p:pic>
        <p:nvPicPr>
          <p:cNvPr id="2" name="Picture 1"/>
          <p:cNvPicPr>
            <a:picLocks noChangeAspect="1"/>
          </p:cNvPicPr>
          <p:nvPr/>
        </p:nvPicPr>
        <p:blipFill>
          <a:blip r:embed="rId3">
            <a:biLevel thresh="75000"/>
          </a:blip>
          <a:stretch>
            <a:fillRect/>
          </a:stretch>
        </p:blipFill>
        <p:spPr>
          <a:xfrm>
            <a:off x="6807773" y="2159000"/>
            <a:ext cx="5137484" cy="4183743"/>
          </a:xfrm>
          <a:prstGeom prst="rect">
            <a:avLst/>
          </a:prstGeom>
        </p:spPr>
      </p:pic>
    </p:spTree>
    <p:extLst>
      <p:ext uri="{BB962C8B-B14F-4D97-AF65-F5344CB8AC3E}">
        <p14:creationId xmlns:p14="http://schemas.microsoft.com/office/powerpoint/2010/main" val="12074351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10106" y="328079"/>
            <a:ext cx="11070617" cy="6072721"/>
          </a:xfrm>
          <a:prstGeom prst="rect">
            <a:avLst/>
          </a:prstGeom>
          <a:noFill/>
          <a:ln>
            <a:noFill/>
          </a:ln>
        </p:spPr>
        <p:txBody>
          <a:bodyPr spcFirstLastPara="1" wrap="square" lIns="91425" tIns="45700" rIns="91425" bIns="45700" anchor="t" anchorCtr="0">
            <a:noAutofit/>
          </a:bodyPr>
          <a:lstStyle/>
          <a:p>
            <a:r>
              <a:rPr lang="en-PH" sz="4400" b="1" dirty="0"/>
              <a:t>a</a:t>
            </a:r>
            <a:r>
              <a:rPr lang="en-PH" sz="4400" b="1" dirty="0" smtClean="0"/>
              <a:t>ka</a:t>
            </a:r>
            <a:r>
              <a:rPr lang="en-PH" sz="4400" dirty="0" smtClean="0"/>
              <a:t> Photo cells,</a:t>
            </a:r>
          </a:p>
          <a:p>
            <a:r>
              <a:rPr lang="en-PH" sz="4400" dirty="0" smtClean="0"/>
              <a:t>Photo resistors,</a:t>
            </a:r>
          </a:p>
          <a:p>
            <a:r>
              <a:rPr lang="en-PH" sz="4400" dirty="0" smtClean="0"/>
              <a:t>Photo resistive </a:t>
            </a:r>
          </a:p>
          <a:p>
            <a:r>
              <a:rPr lang="en-PH" sz="4400" dirty="0" smtClean="0"/>
              <a:t>device, &amp; light</a:t>
            </a:r>
          </a:p>
          <a:p>
            <a:r>
              <a:rPr lang="en-PH" sz="4400" dirty="0"/>
              <a:t>d</a:t>
            </a:r>
            <a:r>
              <a:rPr lang="en-PH" sz="4400" dirty="0" smtClean="0"/>
              <a:t>etecting resistor.</a:t>
            </a:r>
            <a:endParaRPr lang="en-PH" sz="4400" dirty="0"/>
          </a:p>
        </p:txBody>
      </p:sp>
      <p:pic>
        <p:nvPicPr>
          <p:cNvPr id="6" name="Picture 5"/>
          <p:cNvPicPr>
            <a:picLocks noChangeAspect="1"/>
          </p:cNvPicPr>
          <p:nvPr/>
        </p:nvPicPr>
        <p:blipFill>
          <a:blip r:embed="rId3">
            <a:biLevel thresh="75000"/>
          </a:blip>
          <a:stretch>
            <a:fillRect/>
          </a:stretch>
        </p:blipFill>
        <p:spPr>
          <a:xfrm>
            <a:off x="831112" y="3781209"/>
            <a:ext cx="2075762" cy="2398658"/>
          </a:xfrm>
          <a:prstGeom prst="rect">
            <a:avLst/>
          </a:prstGeom>
        </p:spPr>
      </p:pic>
      <p:pic>
        <p:nvPicPr>
          <p:cNvPr id="7" name="Picture 6"/>
          <p:cNvPicPr>
            <a:picLocks noChangeAspect="1"/>
          </p:cNvPicPr>
          <p:nvPr/>
        </p:nvPicPr>
        <p:blipFill>
          <a:blip r:embed="rId4"/>
          <a:stretch>
            <a:fillRect/>
          </a:stretch>
        </p:blipFill>
        <p:spPr>
          <a:xfrm>
            <a:off x="6149457" y="633429"/>
            <a:ext cx="4333612" cy="3014687"/>
          </a:xfrm>
          <a:prstGeom prst="rect">
            <a:avLst/>
          </a:prstGeom>
        </p:spPr>
      </p:pic>
      <p:pic>
        <p:nvPicPr>
          <p:cNvPr id="8" name="Picture 7"/>
          <p:cNvPicPr>
            <a:picLocks noChangeAspect="1"/>
          </p:cNvPicPr>
          <p:nvPr/>
        </p:nvPicPr>
        <p:blipFill>
          <a:blip r:embed="rId5"/>
          <a:stretch>
            <a:fillRect/>
          </a:stretch>
        </p:blipFill>
        <p:spPr>
          <a:xfrm>
            <a:off x="6978797" y="4076659"/>
            <a:ext cx="2374901" cy="1755851"/>
          </a:xfrm>
          <a:prstGeom prst="rect">
            <a:avLst/>
          </a:prstGeom>
        </p:spPr>
      </p:pic>
      <p:pic>
        <p:nvPicPr>
          <p:cNvPr id="2" name="Picture 1"/>
          <p:cNvPicPr>
            <a:picLocks noChangeAspect="1"/>
          </p:cNvPicPr>
          <p:nvPr/>
        </p:nvPicPr>
        <p:blipFill>
          <a:blip r:embed="rId6"/>
          <a:stretch>
            <a:fillRect/>
          </a:stretch>
        </p:blipFill>
        <p:spPr>
          <a:xfrm>
            <a:off x="6078764" y="2943266"/>
            <a:ext cx="419100" cy="704850"/>
          </a:xfrm>
          <a:prstGeom prst="rect">
            <a:avLst/>
          </a:prstGeom>
        </p:spPr>
      </p:pic>
      <p:pic>
        <p:nvPicPr>
          <p:cNvPr id="9" name="Picture 8"/>
          <p:cNvPicPr>
            <a:picLocks noChangeAspect="1"/>
          </p:cNvPicPr>
          <p:nvPr/>
        </p:nvPicPr>
        <p:blipFill>
          <a:blip r:embed="rId7"/>
          <a:stretch>
            <a:fillRect/>
          </a:stretch>
        </p:blipFill>
        <p:spPr>
          <a:xfrm>
            <a:off x="3166487" y="3983343"/>
            <a:ext cx="1185854" cy="1994391"/>
          </a:xfrm>
          <a:prstGeom prst="rect">
            <a:avLst/>
          </a:prstGeom>
        </p:spPr>
      </p:pic>
      <p:pic>
        <p:nvPicPr>
          <p:cNvPr id="11" name="Picture 10"/>
          <p:cNvPicPr>
            <a:picLocks noChangeAspect="1"/>
          </p:cNvPicPr>
          <p:nvPr/>
        </p:nvPicPr>
        <p:blipFill>
          <a:blip r:embed="rId8"/>
          <a:stretch>
            <a:fillRect/>
          </a:stretch>
        </p:blipFill>
        <p:spPr>
          <a:xfrm>
            <a:off x="3859620" y="4776746"/>
            <a:ext cx="238108" cy="330278"/>
          </a:xfrm>
          <a:prstGeom prst="rect">
            <a:avLst/>
          </a:prstGeom>
        </p:spPr>
      </p:pic>
    </p:spTree>
    <p:extLst>
      <p:ext uri="{BB962C8B-B14F-4D97-AF65-F5344CB8AC3E}">
        <p14:creationId xmlns:p14="http://schemas.microsoft.com/office/powerpoint/2010/main" val="2418244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Photoconductive materials most frequently used:</a:t>
            </a:r>
          </a:p>
          <a:p>
            <a:r>
              <a:rPr lang="en-PH" sz="4400" dirty="0"/>
              <a:t>	</a:t>
            </a:r>
            <a:r>
              <a:rPr lang="en-PH" sz="4400" dirty="0" smtClean="0"/>
              <a:t>Cadmium Sulfide (</a:t>
            </a:r>
            <a:r>
              <a:rPr lang="en-PH" sz="4400" dirty="0" err="1" smtClean="0"/>
              <a:t>CdS</a:t>
            </a:r>
            <a:r>
              <a:rPr lang="en-PH" sz="4400" dirty="0" smtClean="0"/>
              <a:t>) = 5100 Å</a:t>
            </a:r>
          </a:p>
          <a:p>
            <a:r>
              <a:rPr lang="en-PH" sz="4400" dirty="0"/>
              <a:t>	</a:t>
            </a:r>
            <a:r>
              <a:rPr lang="en-PH" sz="4400" dirty="0" smtClean="0"/>
              <a:t>Cadmium Selenide (</a:t>
            </a:r>
            <a:r>
              <a:rPr lang="en-PH" sz="4400" dirty="0" err="1" smtClean="0"/>
              <a:t>CdSe</a:t>
            </a:r>
            <a:r>
              <a:rPr lang="en-PH" sz="4400" dirty="0" smtClean="0"/>
              <a:t>) = 6150 Å</a:t>
            </a:r>
          </a:p>
          <a:p>
            <a:endParaRPr lang="en-PH" sz="4400" dirty="0"/>
          </a:p>
          <a:p>
            <a:r>
              <a:rPr lang="en-PH" sz="4400" dirty="0" smtClean="0"/>
              <a:t>Response time</a:t>
            </a:r>
          </a:p>
          <a:p>
            <a:r>
              <a:rPr lang="en-PH" sz="4400" dirty="0"/>
              <a:t>	</a:t>
            </a:r>
            <a:r>
              <a:rPr lang="en-PH" sz="4400" dirty="0" smtClean="0"/>
              <a:t>  </a:t>
            </a:r>
            <a:r>
              <a:rPr lang="en-PH" sz="4400" dirty="0" err="1" smtClean="0"/>
              <a:t>CdS</a:t>
            </a:r>
            <a:r>
              <a:rPr lang="en-PH" sz="4400" dirty="0" smtClean="0"/>
              <a:t> = 100 </a:t>
            </a:r>
            <a:r>
              <a:rPr lang="en-PH" sz="4400" dirty="0" err="1" smtClean="0"/>
              <a:t>ms</a:t>
            </a:r>
            <a:endParaRPr lang="en-PH" sz="4400" dirty="0" smtClean="0"/>
          </a:p>
          <a:p>
            <a:r>
              <a:rPr lang="en-PH" sz="4400" dirty="0" smtClean="0"/>
              <a:t>	</a:t>
            </a:r>
            <a:r>
              <a:rPr lang="en-PH" sz="4400" dirty="0" err="1" smtClean="0"/>
              <a:t>CdSe</a:t>
            </a:r>
            <a:r>
              <a:rPr lang="en-PH" sz="4400" dirty="0" smtClean="0"/>
              <a:t> = 10 </a:t>
            </a:r>
            <a:r>
              <a:rPr lang="en-PH" sz="4400" dirty="0" err="1" smtClean="0"/>
              <a:t>ms</a:t>
            </a:r>
            <a:endParaRPr lang="en-PH" sz="4400" dirty="0"/>
          </a:p>
        </p:txBody>
      </p:sp>
    </p:spTree>
    <p:extLst>
      <p:ext uri="{BB962C8B-B14F-4D97-AF65-F5344CB8AC3E}">
        <p14:creationId xmlns:p14="http://schemas.microsoft.com/office/powerpoint/2010/main" val="35344809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solidFill>
                  <a:srgbClr val="C00000"/>
                </a:solidFill>
              </a:rPr>
              <a:t>APPLICATIONS</a:t>
            </a:r>
          </a:p>
          <a:p>
            <a:r>
              <a:rPr lang="en-PH" sz="4400" dirty="0" smtClean="0"/>
              <a:t>inexpensive </a:t>
            </a:r>
            <a:r>
              <a:rPr lang="en-PH" sz="4400" dirty="0"/>
              <a:t>and simple detector which is widely used in </a:t>
            </a:r>
            <a:r>
              <a:rPr lang="en-PH" sz="4400" dirty="0" smtClean="0"/>
              <a:t>OFF/ON circuits</a:t>
            </a:r>
            <a:r>
              <a:rPr lang="en-PH" sz="4400" dirty="0"/>
              <a:t>, light measurement, and light-detecting </a:t>
            </a:r>
            <a:r>
              <a:rPr lang="en-PH" sz="4400" dirty="0" smtClean="0"/>
              <a:t>circuits.</a:t>
            </a:r>
            <a:endParaRPr lang="en-PH" sz="4400" dirty="0"/>
          </a:p>
        </p:txBody>
      </p:sp>
      <p:pic>
        <p:nvPicPr>
          <p:cNvPr id="2" name="Picture 1"/>
          <p:cNvPicPr>
            <a:picLocks noChangeAspect="1"/>
          </p:cNvPicPr>
          <p:nvPr/>
        </p:nvPicPr>
        <p:blipFill>
          <a:blip r:embed="rId3"/>
          <a:stretch>
            <a:fillRect/>
          </a:stretch>
        </p:blipFill>
        <p:spPr>
          <a:xfrm>
            <a:off x="962024" y="3326493"/>
            <a:ext cx="5059795" cy="2598738"/>
          </a:xfrm>
          <a:prstGeom prst="rect">
            <a:avLst/>
          </a:prstGeom>
        </p:spPr>
      </p:pic>
      <p:pic>
        <p:nvPicPr>
          <p:cNvPr id="3" name="Picture 2"/>
          <p:cNvPicPr>
            <a:picLocks noChangeAspect="1"/>
          </p:cNvPicPr>
          <p:nvPr/>
        </p:nvPicPr>
        <p:blipFill>
          <a:blip r:embed="rId4">
            <a:biLevel thresh="75000"/>
          </a:blip>
          <a:stretch>
            <a:fillRect/>
          </a:stretch>
        </p:blipFill>
        <p:spPr>
          <a:xfrm>
            <a:off x="7086599" y="4321062"/>
            <a:ext cx="2872057" cy="1330438"/>
          </a:xfrm>
          <a:prstGeom prst="rect">
            <a:avLst/>
          </a:prstGeom>
        </p:spPr>
      </p:pic>
    </p:spTree>
    <p:extLst>
      <p:ext uri="{BB962C8B-B14F-4D97-AF65-F5344CB8AC3E}">
        <p14:creationId xmlns:p14="http://schemas.microsoft.com/office/powerpoint/2010/main" val="21812665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221342"/>
            <a:ext cx="11313886" cy="6357258"/>
          </a:xfrm>
          <a:prstGeom prst="rect">
            <a:avLst/>
          </a:prstGeom>
          <a:noFill/>
          <a:ln>
            <a:noFill/>
          </a:ln>
        </p:spPr>
        <p:txBody>
          <a:bodyPr spcFirstLastPara="1" wrap="square" lIns="91425" tIns="45700" rIns="91425" bIns="45700" anchor="t" anchorCtr="0">
            <a:noAutofit/>
          </a:bodyPr>
          <a:lstStyle/>
          <a:p>
            <a:r>
              <a:rPr lang="en-PH" sz="4400" b="1" dirty="0" smtClean="0"/>
              <a:t>PHOTOVOLTAIC CELLS (PVC)</a:t>
            </a:r>
          </a:p>
          <a:p>
            <a:r>
              <a:rPr lang="en-US" altLang="en-US" sz="4400" dirty="0" smtClean="0"/>
              <a:t>Photo Voltaic Cells or solar </a:t>
            </a:r>
            <a:r>
              <a:rPr lang="en-US" altLang="en-US" sz="4400" dirty="0"/>
              <a:t>cells produce a voltage when subjected to light energy.</a:t>
            </a:r>
          </a:p>
          <a:p>
            <a:endParaRPr lang="en-US" altLang="en-US" sz="4400" dirty="0"/>
          </a:p>
          <a:p>
            <a:r>
              <a:rPr lang="en-US" altLang="en-US" sz="4400" dirty="0"/>
              <a:t>The greater the light intensity, the greater amount of voltage produced.</a:t>
            </a:r>
          </a:p>
        </p:txBody>
      </p:sp>
      <p:pic>
        <p:nvPicPr>
          <p:cNvPr id="2" name="Picture 1"/>
          <p:cNvPicPr>
            <a:picLocks noChangeAspect="1"/>
          </p:cNvPicPr>
          <p:nvPr/>
        </p:nvPicPr>
        <p:blipFill>
          <a:blip r:embed="rId3">
            <a:biLevel thresh="75000"/>
          </a:blip>
          <a:stretch>
            <a:fillRect/>
          </a:stretch>
        </p:blipFill>
        <p:spPr>
          <a:xfrm>
            <a:off x="8433734" y="3682410"/>
            <a:ext cx="2793066" cy="2985090"/>
          </a:xfrm>
          <a:prstGeom prst="rect">
            <a:avLst/>
          </a:prstGeom>
        </p:spPr>
      </p:pic>
      <p:pic>
        <p:nvPicPr>
          <p:cNvPr id="4" name="Picture 3"/>
          <p:cNvPicPr>
            <a:picLocks noChangeAspect="1"/>
          </p:cNvPicPr>
          <p:nvPr/>
        </p:nvPicPr>
        <p:blipFill>
          <a:blip r:embed="rId4"/>
          <a:stretch>
            <a:fillRect/>
          </a:stretch>
        </p:blipFill>
        <p:spPr>
          <a:xfrm>
            <a:off x="9731048" y="6192417"/>
            <a:ext cx="198437" cy="275251"/>
          </a:xfrm>
          <a:prstGeom prst="rect">
            <a:avLst/>
          </a:prstGeom>
        </p:spPr>
      </p:pic>
    </p:spTree>
    <p:extLst>
      <p:ext uri="{BB962C8B-B14F-4D97-AF65-F5344CB8AC3E}">
        <p14:creationId xmlns:p14="http://schemas.microsoft.com/office/powerpoint/2010/main" val="16072404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529771" y="361043"/>
            <a:ext cx="11313886" cy="6032500"/>
          </a:xfrm>
          <a:prstGeom prst="rect">
            <a:avLst/>
          </a:prstGeom>
          <a:noFill/>
          <a:ln>
            <a:noFill/>
          </a:ln>
        </p:spPr>
        <p:txBody>
          <a:bodyPr spcFirstLastPara="1" wrap="square" lIns="91425" tIns="45700" rIns="91425" bIns="45700" anchor="t" anchorCtr="0">
            <a:noAutofit/>
          </a:bodyPr>
          <a:lstStyle/>
          <a:p>
            <a:r>
              <a:rPr lang="en-PH" sz="4400" dirty="0"/>
              <a:t>S</a:t>
            </a:r>
            <a:r>
              <a:rPr lang="en-PH" sz="4400" dirty="0" smtClean="0"/>
              <a:t>olar </a:t>
            </a:r>
            <a:r>
              <a:rPr lang="en-PH" sz="4400" dirty="0"/>
              <a:t>cells act like a battery when connected in series </a:t>
            </a:r>
            <a:r>
              <a:rPr lang="en-PH" sz="4400" dirty="0" smtClean="0"/>
              <a:t>or parallel.</a:t>
            </a:r>
            <a:endParaRPr lang="en-PH" sz="4400" dirty="0"/>
          </a:p>
        </p:txBody>
      </p:sp>
      <p:pic>
        <p:nvPicPr>
          <p:cNvPr id="2" name="Picture 1"/>
          <p:cNvPicPr>
            <a:picLocks noChangeAspect="1"/>
          </p:cNvPicPr>
          <p:nvPr/>
        </p:nvPicPr>
        <p:blipFill>
          <a:blip r:embed="rId3">
            <a:biLevel thresh="75000"/>
          </a:blip>
          <a:stretch>
            <a:fillRect/>
          </a:stretch>
        </p:blipFill>
        <p:spPr>
          <a:xfrm>
            <a:off x="353786" y="2032000"/>
            <a:ext cx="5170714" cy="3810000"/>
          </a:xfrm>
          <a:prstGeom prst="rect">
            <a:avLst/>
          </a:prstGeom>
        </p:spPr>
      </p:pic>
      <p:pic>
        <p:nvPicPr>
          <p:cNvPr id="3" name="Picture 2"/>
          <p:cNvPicPr>
            <a:picLocks noChangeAspect="1"/>
          </p:cNvPicPr>
          <p:nvPr/>
        </p:nvPicPr>
        <p:blipFill>
          <a:blip r:embed="rId4"/>
          <a:stretch>
            <a:fillRect/>
          </a:stretch>
        </p:blipFill>
        <p:spPr>
          <a:xfrm>
            <a:off x="5929312" y="2032000"/>
            <a:ext cx="2085975" cy="1943100"/>
          </a:xfrm>
          <a:prstGeom prst="rect">
            <a:avLst/>
          </a:prstGeom>
        </p:spPr>
      </p:pic>
      <p:pic>
        <p:nvPicPr>
          <p:cNvPr id="4" name="Picture 3"/>
          <p:cNvPicPr>
            <a:picLocks noChangeAspect="1"/>
          </p:cNvPicPr>
          <p:nvPr/>
        </p:nvPicPr>
        <p:blipFill>
          <a:blip r:embed="rId5"/>
          <a:stretch>
            <a:fillRect/>
          </a:stretch>
        </p:blipFill>
        <p:spPr>
          <a:xfrm>
            <a:off x="8547100" y="1992993"/>
            <a:ext cx="3019620" cy="3740520"/>
          </a:xfrm>
          <a:prstGeom prst="rect">
            <a:avLst/>
          </a:prstGeom>
        </p:spPr>
      </p:pic>
    </p:spTree>
    <p:extLst>
      <p:ext uri="{BB962C8B-B14F-4D97-AF65-F5344CB8AC3E}">
        <p14:creationId xmlns:p14="http://schemas.microsoft.com/office/powerpoint/2010/main" val="37014783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576942" y="239418"/>
            <a:ext cx="11313886" cy="6032500"/>
          </a:xfrm>
          <a:prstGeom prst="rect">
            <a:avLst/>
          </a:prstGeom>
          <a:noFill/>
          <a:ln>
            <a:noFill/>
          </a:ln>
        </p:spPr>
        <p:txBody>
          <a:bodyPr spcFirstLastPara="1" wrap="square" lIns="91425" tIns="45700" rIns="91425" bIns="45700" anchor="t" anchorCtr="0">
            <a:noAutofit/>
          </a:bodyPr>
          <a:lstStyle/>
          <a:p>
            <a:r>
              <a:rPr lang="en-PH" sz="4400" dirty="0" smtClean="0">
                <a:solidFill>
                  <a:srgbClr val="C00000"/>
                </a:solidFill>
              </a:rPr>
              <a:t>CHARACTERISTICS</a:t>
            </a:r>
          </a:p>
          <a:p>
            <a:r>
              <a:rPr lang="en-PH" sz="4400" dirty="0" smtClean="0"/>
              <a:t>Operates with fair efficiency.</a:t>
            </a:r>
          </a:p>
          <a:p>
            <a:r>
              <a:rPr lang="en-PH" sz="4400" dirty="0" smtClean="0"/>
              <a:t>Has unlimited life.</a:t>
            </a:r>
          </a:p>
          <a:p>
            <a:r>
              <a:rPr lang="en-PH" sz="4400" dirty="0" smtClean="0"/>
              <a:t>Can be easily mass produced.</a:t>
            </a:r>
          </a:p>
          <a:p>
            <a:r>
              <a:rPr lang="en-PH" sz="4400" dirty="0" smtClean="0"/>
              <a:t>Has a high power capacity</a:t>
            </a:r>
          </a:p>
          <a:p>
            <a:r>
              <a:rPr lang="en-PH" sz="4400" dirty="0" smtClean="0"/>
              <a:t> per weight.</a:t>
            </a:r>
            <a:endParaRPr lang="en-PH" sz="4400" dirty="0"/>
          </a:p>
        </p:txBody>
      </p:sp>
      <p:pic>
        <p:nvPicPr>
          <p:cNvPr id="4" name="Picture 11"/>
          <p:cNvPicPr>
            <a:picLocks noChangeAspect="1" noChangeArrowheads="1"/>
          </p:cNvPicPr>
          <p:nvPr/>
        </p:nvPicPr>
        <p:blipFill rotWithShape="1">
          <a:blip r:embed="rId3">
            <a:biLevel thresh="75000"/>
            <a:extLst>
              <a:ext uri="{28A0092B-C50C-407E-A947-70E740481C1C}">
                <a14:useLocalDpi xmlns:a14="http://schemas.microsoft.com/office/drawing/2010/main" val="0"/>
              </a:ext>
            </a:extLst>
          </a:blip>
          <a:srcRect l="1" t="1" r="1761" b="8888"/>
          <a:stretch/>
        </p:blipFill>
        <p:spPr bwMode="auto">
          <a:xfrm>
            <a:off x="7170654" y="2809875"/>
            <a:ext cx="4609503" cy="31718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8413750" y="5956300"/>
            <a:ext cx="3531507" cy="315618"/>
          </a:xfrm>
          <a:prstGeom prst="rect">
            <a:avLst/>
          </a:prstGeom>
        </p:spPr>
      </p:pic>
    </p:spTree>
    <p:extLst>
      <p:ext uri="{BB962C8B-B14F-4D97-AF65-F5344CB8AC3E}">
        <p14:creationId xmlns:p14="http://schemas.microsoft.com/office/powerpoint/2010/main" val="26532923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LIGHT EMITTING DIODE (LED)</a:t>
            </a:r>
          </a:p>
          <a:p>
            <a:r>
              <a:rPr lang="en-PH" sz="4400" dirty="0" smtClean="0"/>
              <a:t>A semiconductor device that emits light when forward bias.</a:t>
            </a:r>
          </a:p>
          <a:p>
            <a:r>
              <a:rPr lang="en-PH" sz="4400" dirty="0" smtClean="0"/>
              <a:t>Generally uses Gallium Arsenide Phosphide (</a:t>
            </a:r>
            <a:r>
              <a:rPr lang="en-PH" sz="4400" dirty="0" err="1" smtClean="0"/>
              <a:t>GaAsP</a:t>
            </a:r>
            <a:r>
              <a:rPr lang="en-PH" sz="4400" dirty="0" smtClean="0"/>
              <a:t>) and Gallium Phosphide (</a:t>
            </a:r>
            <a:r>
              <a:rPr lang="en-PH" sz="4400" dirty="0" err="1" smtClean="0"/>
              <a:t>GaP</a:t>
            </a:r>
            <a:r>
              <a:rPr lang="en-PH" sz="4400" dirty="0" smtClean="0"/>
              <a:t>)</a:t>
            </a:r>
          </a:p>
          <a:p>
            <a:r>
              <a:rPr lang="en-PH" sz="4400" dirty="0" smtClean="0"/>
              <a:t>Light is produced as the electrons and holes are recombined and releases energy.</a:t>
            </a:r>
          </a:p>
          <a:p>
            <a:endParaRPr lang="en-PH" sz="4400" dirty="0"/>
          </a:p>
        </p:txBody>
      </p:sp>
    </p:spTree>
    <p:extLst>
      <p:ext uri="{BB962C8B-B14F-4D97-AF65-F5344CB8AC3E}">
        <p14:creationId xmlns:p14="http://schemas.microsoft.com/office/powerpoint/2010/main" val="4099738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4994730" cy="6032500"/>
          </a:xfrm>
          <a:prstGeom prst="rect">
            <a:avLst/>
          </a:prstGeom>
          <a:noFill/>
          <a:ln>
            <a:noFill/>
          </a:ln>
        </p:spPr>
        <p:txBody>
          <a:bodyPr spcFirstLastPara="1" wrap="square" lIns="91425" tIns="45700" rIns="91425" bIns="45700" anchor="t" anchorCtr="0">
            <a:noAutofit/>
          </a:bodyPr>
          <a:lstStyle/>
          <a:p>
            <a:r>
              <a:rPr lang="en-PH" sz="3200" dirty="0"/>
              <a:t>max forward voltage </a:t>
            </a:r>
            <a:endParaRPr lang="en-PH" sz="3200" dirty="0" smtClean="0"/>
          </a:p>
          <a:p>
            <a:r>
              <a:rPr lang="en-PH" sz="3200" dirty="0" smtClean="0"/>
              <a:t>= </a:t>
            </a:r>
            <a:r>
              <a:rPr lang="en-PH" sz="3200" dirty="0"/>
              <a:t>1.2 </a:t>
            </a:r>
            <a:r>
              <a:rPr lang="en-PH" sz="3200" dirty="0" smtClean="0"/>
              <a:t>V to 3.2 V </a:t>
            </a:r>
          </a:p>
          <a:p>
            <a:r>
              <a:rPr lang="en-PH" sz="3200" dirty="0" smtClean="0"/>
              <a:t>depending </a:t>
            </a:r>
            <a:r>
              <a:rPr lang="en-PH" sz="3200" dirty="0"/>
              <a:t>on the </a:t>
            </a:r>
            <a:r>
              <a:rPr lang="en-PH" sz="3200" dirty="0" smtClean="0"/>
              <a:t>device</a:t>
            </a:r>
          </a:p>
          <a:p>
            <a:endParaRPr lang="en-PH" sz="3200" dirty="0"/>
          </a:p>
          <a:p>
            <a:r>
              <a:rPr lang="en-PH" sz="3200" dirty="0"/>
              <a:t>reverse breakdown </a:t>
            </a:r>
            <a:r>
              <a:rPr lang="en-PH" sz="3200" dirty="0" smtClean="0"/>
              <a:t>voltage</a:t>
            </a:r>
          </a:p>
          <a:p>
            <a:r>
              <a:rPr lang="en-PH" sz="3200" dirty="0" smtClean="0"/>
              <a:t>= 3 V </a:t>
            </a:r>
            <a:r>
              <a:rPr lang="en-PH" sz="3200" dirty="0"/>
              <a:t>to 10 V</a:t>
            </a:r>
          </a:p>
          <a:p>
            <a:endParaRPr lang="en-PH" sz="3200" dirty="0" smtClean="0"/>
          </a:p>
          <a:p>
            <a:r>
              <a:rPr lang="en-PH" sz="3200" dirty="0" smtClean="0"/>
              <a:t>The amount </a:t>
            </a:r>
            <a:r>
              <a:rPr lang="en-PH" sz="3200" dirty="0"/>
              <a:t>of power output</a:t>
            </a:r>
          </a:p>
          <a:p>
            <a:r>
              <a:rPr lang="en-PH" sz="3200" dirty="0"/>
              <a:t>translated into light is </a:t>
            </a:r>
            <a:r>
              <a:rPr lang="en-PH" sz="3200" dirty="0" smtClean="0"/>
              <a:t>directly proportional </a:t>
            </a:r>
            <a:r>
              <a:rPr lang="en-PH" sz="3200" dirty="0"/>
              <a:t>to the </a:t>
            </a:r>
            <a:r>
              <a:rPr lang="en-PH" sz="3200" dirty="0" smtClean="0"/>
              <a:t>forward current.</a:t>
            </a:r>
            <a:endParaRPr lang="en-PH" sz="3200" dirty="0"/>
          </a:p>
        </p:txBody>
      </p:sp>
      <p:pic>
        <p:nvPicPr>
          <p:cNvPr id="2" name="Picture 1"/>
          <p:cNvPicPr>
            <a:picLocks noChangeAspect="1"/>
          </p:cNvPicPr>
          <p:nvPr/>
        </p:nvPicPr>
        <p:blipFill>
          <a:blip r:embed="rId3"/>
          <a:stretch>
            <a:fillRect/>
          </a:stretch>
        </p:blipFill>
        <p:spPr>
          <a:xfrm>
            <a:off x="5842369" y="2953657"/>
            <a:ext cx="5744794" cy="3675743"/>
          </a:xfrm>
          <a:prstGeom prst="rect">
            <a:avLst/>
          </a:prstGeom>
        </p:spPr>
      </p:pic>
      <p:pic>
        <p:nvPicPr>
          <p:cNvPr id="3" name="Picture 2"/>
          <p:cNvPicPr>
            <a:picLocks noChangeAspect="1"/>
          </p:cNvPicPr>
          <p:nvPr/>
        </p:nvPicPr>
        <p:blipFill>
          <a:blip r:embed="rId4"/>
          <a:stretch>
            <a:fillRect/>
          </a:stretch>
        </p:blipFill>
        <p:spPr>
          <a:xfrm>
            <a:off x="8477467" y="523376"/>
            <a:ext cx="3109696" cy="1572124"/>
          </a:xfrm>
          <a:prstGeom prst="rect">
            <a:avLst/>
          </a:prstGeom>
        </p:spPr>
      </p:pic>
      <p:pic>
        <p:nvPicPr>
          <p:cNvPr id="4" name="Picture 3"/>
          <p:cNvPicPr>
            <a:picLocks noChangeAspect="1"/>
          </p:cNvPicPr>
          <p:nvPr/>
        </p:nvPicPr>
        <p:blipFill>
          <a:blip r:embed="rId5"/>
          <a:stretch>
            <a:fillRect/>
          </a:stretch>
        </p:blipFill>
        <p:spPr>
          <a:xfrm>
            <a:off x="5865019" y="557563"/>
            <a:ext cx="2527682" cy="1423637"/>
          </a:xfrm>
          <a:prstGeom prst="rect">
            <a:avLst/>
          </a:prstGeom>
        </p:spPr>
      </p:pic>
    </p:spTree>
    <p:extLst>
      <p:ext uri="{BB962C8B-B14F-4D97-AF65-F5344CB8AC3E}">
        <p14:creationId xmlns:p14="http://schemas.microsoft.com/office/powerpoint/2010/main" val="20350099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LED biasing and characteristic curve </a:t>
            </a:r>
            <a:endParaRPr lang="en-PH" sz="4400" dirty="0"/>
          </a:p>
        </p:txBody>
      </p:sp>
      <p:pic>
        <p:nvPicPr>
          <p:cNvPr id="2" name="Picture 1"/>
          <p:cNvPicPr>
            <a:picLocks noChangeAspect="1"/>
          </p:cNvPicPr>
          <p:nvPr/>
        </p:nvPicPr>
        <p:blipFill rotWithShape="1">
          <a:blip r:embed="rId3">
            <a:biLevel thresh="75000"/>
          </a:blip>
          <a:srcRect r="792" b="3223"/>
          <a:stretch/>
        </p:blipFill>
        <p:spPr>
          <a:xfrm>
            <a:off x="1377601" y="1619930"/>
            <a:ext cx="8668099" cy="4153258"/>
          </a:xfrm>
          <a:prstGeom prst="rect">
            <a:avLst/>
          </a:prstGeom>
        </p:spPr>
      </p:pic>
    </p:spTree>
    <p:extLst>
      <p:ext uri="{BB962C8B-B14F-4D97-AF65-F5344CB8AC3E}">
        <p14:creationId xmlns:p14="http://schemas.microsoft.com/office/powerpoint/2010/main" val="6401443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LED APPLICATIONS</a:t>
            </a:r>
          </a:p>
          <a:p>
            <a:r>
              <a:rPr lang="en-PH" sz="4400" dirty="0"/>
              <a:t>burglar-alarm systems</a:t>
            </a:r>
          </a:p>
          <a:p>
            <a:r>
              <a:rPr lang="en-PH" sz="4400" dirty="0"/>
              <a:t>solid-state video displays</a:t>
            </a:r>
          </a:p>
          <a:p>
            <a:r>
              <a:rPr lang="en-PH" sz="4400" dirty="0"/>
              <a:t>image sensing circuits</a:t>
            </a:r>
          </a:p>
          <a:p>
            <a:r>
              <a:rPr lang="en-PH" sz="4400" dirty="0"/>
              <a:t>fiber optics</a:t>
            </a:r>
          </a:p>
          <a:p>
            <a:r>
              <a:rPr lang="en-PH" sz="4400" dirty="0"/>
              <a:t>data links and </a:t>
            </a:r>
            <a:r>
              <a:rPr lang="en-PH" sz="4400" dirty="0" smtClean="0"/>
              <a:t>remote controllers</a:t>
            </a:r>
            <a:endParaRPr lang="en-PH" sz="4400" dirty="0"/>
          </a:p>
          <a:p>
            <a:r>
              <a:rPr lang="en-PH" sz="4400" dirty="0"/>
              <a:t>seven segment displays</a:t>
            </a:r>
          </a:p>
          <a:p>
            <a:r>
              <a:rPr lang="en-PH" sz="4400" dirty="0"/>
              <a:t>numeric displays</a:t>
            </a:r>
          </a:p>
        </p:txBody>
      </p:sp>
    </p:spTree>
    <p:extLst>
      <p:ext uri="{BB962C8B-B14F-4D97-AF65-F5344CB8AC3E}">
        <p14:creationId xmlns:p14="http://schemas.microsoft.com/office/powerpoint/2010/main" val="42694081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a:t>SEVEN-SEGMENT DISPLAY</a:t>
            </a:r>
          </a:p>
          <a:p>
            <a:r>
              <a:rPr lang="en-PH" sz="4400" dirty="0"/>
              <a:t>C</a:t>
            </a:r>
            <a:r>
              <a:rPr lang="en-PH" sz="4400" dirty="0" smtClean="0"/>
              <a:t>onsists </a:t>
            </a:r>
            <a:r>
              <a:rPr lang="en-PH" sz="4400" dirty="0"/>
              <a:t>of 7 rectangular LEDs which can form </a:t>
            </a:r>
            <a:r>
              <a:rPr lang="en-PH" sz="4400" dirty="0" smtClean="0"/>
              <a:t>alphanumeric figures</a:t>
            </a:r>
            <a:r>
              <a:rPr lang="en-PH" sz="4400" dirty="0"/>
              <a:t>.</a:t>
            </a:r>
          </a:p>
          <a:p>
            <a:r>
              <a:rPr lang="en-PH" sz="4400" dirty="0"/>
              <a:t>LED segments are labelled 'a' to 'g'</a:t>
            </a:r>
          </a:p>
          <a:p>
            <a:r>
              <a:rPr lang="en-PH" sz="4400" dirty="0"/>
              <a:t>I</a:t>
            </a:r>
            <a:r>
              <a:rPr lang="en-PH" sz="4400" dirty="0" smtClean="0"/>
              <a:t>n </a:t>
            </a:r>
            <a:r>
              <a:rPr lang="en-PH" sz="4400" b="1" dirty="0"/>
              <a:t>common-cathode type</a:t>
            </a:r>
            <a:r>
              <a:rPr lang="en-PH" sz="4400" dirty="0"/>
              <a:t>, all the cathodes of the diodes are </a:t>
            </a:r>
            <a:r>
              <a:rPr lang="en-PH" sz="4400" dirty="0" smtClean="0"/>
              <a:t>tied together</a:t>
            </a:r>
            <a:r>
              <a:rPr lang="en-PH" sz="4400" dirty="0"/>
              <a:t>.</a:t>
            </a:r>
          </a:p>
          <a:p>
            <a:r>
              <a:rPr lang="en-PH" sz="4400" dirty="0"/>
              <a:t>I</a:t>
            </a:r>
            <a:r>
              <a:rPr lang="en-PH" sz="4400" dirty="0" smtClean="0"/>
              <a:t>n </a:t>
            </a:r>
            <a:r>
              <a:rPr lang="en-PH" sz="4400" b="1" dirty="0"/>
              <a:t>common-anode type</a:t>
            </a:r>
            <a:r>
              <a:rPr lang="en-PH" sz="4400" dirty="0"/>
              <a:t>, all its anodes are tied together to +5 </a:t>
            </a:r>
            <a:r>
              <a:rPr lang="en-PH" sz="4400" dirty="0" smtClean="0"/>
              <a:t>volts and </a:t>
            </a:r>
            <a:r>
              <a:rPr lang="en-PH" sz="4400" dirty="0"/>
              <a:t>ground is used to light the individual </a:t>
            </a:r>
            <a:r>
              <a:rPr lang="en-PH" sz="4400" dirty="0" smtClean="0"/>
              <a:t>segments</a:t>
            </a:r>
            <a:endParaRPr lang="en-PH" sz="4400" dirty="0"/>
          </a:p>
        </p:txBody>
      </p:sp>
    </p:spTree>
    <p:extLst>
      <p:ext uri="{BB962C8B-B14F-4D97-AF65-F5344CB8AC3E}">
        <p14:creationId xmlns:p14="http://schemas.microsoft.com/office/powerpoint/2010/main" val="23907628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18671" y="310242"/>
            <a:ext cx="6175829" cy="6032500"/>
          </a:xfrm>
          <a:prstGeom prst="rect">
            <a:avLst/>
          </a:prstGeom>
          <a:noFill/>
          <a:ln>
            <a:noFill/>
          </a:ln>
        </p:spPr>
        <p:txBody>
          <a:bodyPr spcFirstLastPara="1" wrap="square" lIns="91425" tIns="45700" rIns="91425" bIns="45700" anchor="t" anchorCtr="0">
            <a:noAutofit/>
          </a:bodyPr>
          <a:lstStyle/>
          <a:p>
            <a:r>
              <a:rPr lang="en-PH" sz="4400" b="1" dirty="0"/>
              <a:t>SEVEN-SEGMENT DISPLAY</a:t>
            </a:r>
          </a:p>
          <a:p>
            <a:r>
              <a:rPr lang="en-PH" sz="4400" dirty="0" smtClean="0"/>
              <a:t>Example</a:t>
            </a:r>
            <a:r>
              <a:rPr lang="en-PH" sz="4400" dirty="0"/>
              <a:t>: to light number 5, segments a, f, g, c, and d must </a:t>
            </a:r>
            <a:r>
              <a:rPr lang="en-PH" sz="4400" dirty="0" smtClean="0"/>
              <a:t>be forward-biased</a:t>
            </a:r>
            <a:r>
              <a:rPr lang="en-PH" sz="4400" dirty="0"/>
              <a:t>; only 5 volts is to be applied to the anode of </a:t>
            </a:r>
            <a:r>
              <a:rPr lang="en-PH" sz="4400" dirty="0" smtClean="0"/>
              <a:t>these segments </a:t>
            </a:r>
            <a:r>
              <a:rPr lang="en-PH" sz="4400" dirty="0"/>
              <a:t>to light </a:t>
            </a:r>
            <a:r>
              <a:rPr lang="en-PH" sz="4400" dirty="0" smtClean="0"/>
              <a:t>them.</a:t>
            </a:r>
            <a:endParaRPr lang="en-PH" sz="4400" dirty="0"/>
          </a:p>
        </p:txBody>
      </p:sp>
      <p:pic>
        <p:nvPicPr>
          <p:cNvPr id="2" name="Picture 1"/>
          <p:cNvPicPr>
            <a:picLocks noChangeAspect="1"/>
          </p:cNvPicPr>
          <p:nvPr/>
        </p:nvPicPr>
        <p:blipFill>
          <a:blip r:embed="rId3"/>
          <a:stretch>
            <a:fillRect/>
          </a:stretch>
        </p:blipFill>
        <p:spPr>
          <a:xfrm>
            <a:off x="7013574" y="340133"/>
            <a:ext cx="2962275" cy="2986359"/>
          </a:xfrm>
          <a:prstGeom prst="rect">
            <a:avLst/>
          </a:prstGeom>
        </p:spPr>
      </p:pic>
      <p:pic>
        <p:nvPicPr>
          <p:cNvPr id="3" name="Picture 2"/>
          <p:cNvPicPr>
            <a:picLocks noChangeAspect="1"/>
          </p:cNvPicPr>
          <p:nvPr/>
        </p:nvPicPr>
        <p:blipFill>
          <a:blip r:embed="rId4"/>
          <a:stretch>
            <a:fillRect/>
          </a:stretch>
        </p:blipFill>
        <p:spPr>
          <a:xfrm>
            <a:off x="9791701" y="75665"/>
            <a:ext cx="2263540" cy="3250828"/>
          </a:xfrm>
          <a:prstGeom prst="rect">
            <a:avLst/>
          </a:prstGeom>
        </p:spPr>
      </p:pic>
      <p:pic>
        <p:nvPicPr>
          <p:cNvPr id="4" name="Picture 3"/>
          <p:cNvPicPr>
            <a:picLocks noChangeAspect="1"/>
          </p:cNvPicPr>
          <p:nvPr/>
        </p:nvPicPr>
        <p:blipFill>
          <a:blip r:embed="rId5"/>
          <a:stretch>
            <a:fillRect/>
          </a:stretch>
        </p:blipFill>
        <p:spPr>
          <a:xfrm>
            <a:off x="7013574" y="3348308"/>
            <a:ext cx="4408779" cy="2994434"/>
          </a:xfrm>
          <a:prstGeom prst="rect">
            <a:avLst/>
          </a:prstGeom>
        </p:spPr>
      </p:pic>
    </p:spTree>
    <p:extLst>
      <p:ext uri="{BB962C8B-B14F-4D97-AF65-F5344CB8AC3E}">
        <p14:creationId xmlns:p14="http://schemas.microsoft.com/office/powerpoint/2010/main" val="27278329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18671" y="310242"/>
            <a:ext cx="6175829" cy="6032500"/>
          </a:xfrm>
          <a:prstGeom prst="rect">
            <a:avLst/>
          </a:prstGeom>
          <a:noFill/>
          <a:ln>
            <a:noFill/>
          </a:ln>
        </p:spPr>
        <p:txBody>
          <a:bodyPr spcFirstLastPara="1" wrap="square" lIns="91425" tIns="45700" rIns="91425" bIns="45700" anchor="t" anchorCtr="0">
            <a:noAutofit/>
          </a:bodyPr>
          <a:lstStyle/>
          <a:p>
            <a:r>
              <a:rPr lang="en-PH" sz="4400" b="1" dirty="0"/>
              <a:t>SEVEN-SEGMENT </a:t>
            </a:r>
            <a:r>
              <a:rPr lang="en-PH" sz="4400" b="1" dirty="0" smtClean="0"/>
              <a:t>DISPLAY</a:t>
            </a:r>
            <a:endParaRPr lang="en-PH" sz="4400" b="1" dirty="0"/>
          </a:p>
        </p:txBody>
      </p:sp>
      <p:pic>
        <p:nvPicPr>
          <p:cNvPr id="6" name="Picture 5"/>
          <p:cNvPicPr>
            <a:picLocks noChangeAspect="1"/>
          </p:cNvPicPr>
          <p:nvPr/>
        </p:nvPicPr>
        <p:blipFill rotWithShape="1">
          <a:blip r:embed="rId3">
            <a:biLevel thresh="75000"/>
          </a:blip>
          <a:srcRect r="34051"/>
          <a:stretch/>
        </p:blipFill>
        <p:spPr>
          <a:xfrm>
            <a:off x="704396" y="1280204"/>
            <a:ext cx="5528129" cy="4864572"/>
          </a:xfrm>
          <a:prstGeom prst="rect">
            <a:avLst/>
          </a:prstGeom>
        </p:spPr>
      </p:pic>
      <p:pic>
        <p:nvPicPr>
          <p:cNvPr id="2" name="Picture 1"/>
          <p:cNvPicPr>
            <a:picLocks noChangeAspect="1"/>
          </p:cNvPicPr>
          <p:nvPr/>
        </p:nvPicPr>
        <p:blipFill>
          <a:blip r:embed="rId4"/>
          <a:stretch>
            <a:fillRect/>
          </a:stretch>
        </p:blipFill>
        <p:spPr>
          <a:xfrm rot="5400000">
            <a:off x="5932487" y="3566440"/>
            <a:ext cx="600075" cy="561975"/>
          </a:xfrm>
          <a:prstGeom prst="rect">
            <a:avLst/>
          </a:prstGeom>
        </p:spPr>
      </p:pic>
      <p:pic>
        <p:nvPicPr>
          <p:cNvPr id="3" name="Picture 2"/>
          <p:cNvPicPr>
            <a:picLocks noChangeAspect="1"/>
          </p:cNvPicPr>
          <p:nvPr/>
        </p:nvPicPr>
        <p:blipFill>
          <a:blip r:embed="rId5"/>
          <a:stretch>
            <a:fillRect/>
          </a:stretch>
        </p:blipFill>
        <p:spPr>
          <a:xfrm>
            <a:off x="7553324" y="1355181"/>
            <a:ext cx="3355975" cy="4789595"/>
          </a:xfrm>
          <a:prstGeom prst="rect">
            <a:avLst/>
          </a:prstGeom>
        </p:spPr>
      </p:pic>
    </p:spTree>
    <p:extLst>
      <p:ext uri="{BB962C8B-B14F-4D97-AF65-F5344CB8AC3E}">
        <p14:creationId xmlns:p14="http://schemas.microsoft.com/office/powerpoint/2010/main" val="16880666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42142"/>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TWO-COLOR LEDs</a:t>
            </a:r>
          </a:p>
          <a:p>
            <a:endParaRPr lang="en-PH" sz="4400" b="1" dirty="0"/>
          </a:p>
          <a:p>
            <a:r>
              <a:rPr lang="en-PH" sz="4400" dirty="0" smtClean="0"/>
              <a:t>When </a:t>
            </a:r>
            <a:r>
              <a:rPr lang="en-PH" sz="4400" dirty="0"/>
              <a:t>leads R and C are </a:t>
            </a:r>
            <a:endParaRPr lang="en-PH" sz="4400" dirty="0" smtClean="0"/>
          </a:p>
          <a:p>
            <a:r>
              <a:rPr lang="en-PH" sz="4400" dirty="0" smtClean="0"/>
              <a:t>forward-biased</a:t>
            </a:r>
            <a:r>
              <a:rPr lang="en-PH" sz="4400" dirty="0"/>
              <a:t>,</a:t>
            </a:r>
          </a:p>
          <a:p>
            <a:r>
              <a:rPr lang="en-PH" sz="4400" dirty="0"/>
              <a:t>the LED emits red </a:t>
            </a:r>
            <a:r>
              <a:rPr lang="en-PH" sz="4400" dirty="0" smtClean="0"/>
              <a:t>light.</a:t>
            </a:r>
          </a:p>
          <a:p>
            <a:endParaRPr lang="en-PH" sz="4400" dirty="0"/>
          </a:p>
          <a:p>
            <a:r>
              <a:rPr lang="en-PH" sz="4400" dirty="0"/>
              <a:t>W</a:t>
            </a:r>
            <a:r>
              <a:rPr lang="en-PH" sz="4400" dirty="0" smtClean="0"/>
              <a:t>hen </a:t>
            </a:r>
            <a:r>
              <a:rPr lang="en-PH" sz="4400" dirty="0"/>
              <a:t>leads G and C are </a:t>
            </a:r>
            <a:endParaRPr lang="en-PH" sz="4400" dirty="0" smtClean="0"/>
          </a:p>
          <a:p>
            <a:r>
              <a:rPr lang="en-PH" sz="4400" dirty="0" smtClean="0"/>
              <a:t>forward-biased</a:t>
            </a:r>
            <a:r>
              <a:rPr lang="en-PH" sz="4400" dirty="0"/>
              <a:t>,</a:t>
            </a:r>
          </a:p>
          <a:p>
            <a:r>
              <a:rPr lang="en-PH" sz="4400" dirty="0"/>
              <a:t>LED emits green </a:t>
            </a:r>
            <a:r>
              <a:rPr lang="en-PH" sz="4400" dirty="0" smtClean="0"/>
              <a:t>light.</a:t>
            </a:r>
            <a:endParaRPr lang="en-PH" sz="4400" dirty="0"/>
          </a:p>
        </p:txBody>
      </p:sp>
      <p:pic>
        <p:nvPicPr>
          <p:cNvPr id="4" name="Picture 3"/>
          <p:cNvPicPr>
            <a:picLocks noChangeAspect="1"/>
          </p:cNvPicPr>
          <p:nvPr/>
        </p:nvPicPr>
        <p:blipFill>
          <a:blip r:embed="rId3"/>
          <a:stretch>
            <a:fillRect/>
          </a:stretch>
        </p:blipFill>
        <p:spPr>
          <a:xfrm>
            <a:off x="9628677" y="443239"/>
            <a:ext cx="1744955" cy="4155615"/>
          </a:xfrm>
          <a:prstGeom prst="rect">
            <a:avLst/>
          </a:prstGeom>
        </p:spPr>
      </p:pic>
      <p:pic>
        <p:nvPicPr>
          <p:cNvPr id="5" name="Picture 4"/>
          <p:cNvPicPr>
            <a:picLocks noChangeAspect="1"/>
          </p:cNvPicPr>
          <p:nvPr/>
        </p:nvPicPr>
        <p:blipFill>
          <a:blip r:embed="rId4"/>
          <a:stretch>
            <a:fillRect/>
          </a:stretch>
        </p:blipFill>
        <p:spPr>
          <a:xfrm>
            <a:off x="6662298" y="631128"/>
            <a:ext cx="2763646" cy="3967725"/>
          </a:xfrm>
          <a:prstGeom prst="rect">
            <a:avLst/>
          </a:prstGeom>
        </p:spPr>
      </p:pic>
      <p:pic>
        <p:nvPicPr>
          <p:cNvPr id="7" name="Picture 6"/>
          <p:cNvPicPr>
            <a:picLocks noChangeAspect="1"/>
          </p:cNvPicPr>
          <p:nvPr/>
        </p:nvPicPr>
        <p:blipFill>
          <a:blip r:embed="rId5"/>
          <a:stretch>
            <a:fillRect/>
          </a:stretch>
        </p:blipFill>
        <p:spPr>
          <a:xfrm rot="5400000">
            <a:off x="8122682" y="3630656"/>
            <a:ext cx="1099603" cy="4115009"/>
          </a:xfrm>
          <a:prstGeom prst="rect">
            <a:avLst/>
          </a:prstGeom>
        </p:spPr>
      </p:pic>
    </p:spTree>
    <p:extLst>
      <p:ext uri="{BB962C8B-B14F-4D97-AF65-F5344CB8AC3E}">
        <p14:creationId xmlns:p14="http://schemas.microsoft.com/office/powerpoint/2010/main" val="25124863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a:t>THREE-COLOR LEDs</a:t>
            </a:r>
          </a:p>
          <a:p>
            <a:r>
              <a:rPr lang="en-PH" sz="4400" dirty="0" smtClean="0"/>
              <a:t>It has </a:t>
            </a:r>
            <a:r>
              <a:rPr lang="en-PH" sz="4400" dirty="0"/>
              <a:t>two </a:t>
            </a:r>
            <a:r>
              <a:rPr lang="en-PH" sz="4400" dirty="0" smtClean="0"/>
              <a:t>leads </a:t>
            </a:r>
            <a:r>
              <a:rPr lang="en-PH" sz="4400" dirty="0"/>
              <a:t>that </a:t>
            </a:r>
            <a:r>
              <a:rPr lang="en-PH" sz="4400" dirty="0" smtClean="0"/>
              <a:t>acts</a:t>
            </a:r>
          </a:p>
          <a:p>
            <a:r>
              <a:rPr lang="en-PH" sz="4400" dirty="0"/>
              <a:t>a</a:t>
            </a:r>
            <a:r>
              <a:rPr lang="en-PH" sz="4400" dirty="0" smtClean="0"/>
              <a:t>s both </a:t>
            </a:r>
            <a:r>
              <a:rPr lang="en-PH" sz="4400" dirty="0"/>
              <a:t>anode and </a:t>
            </a:r>
            <a:r>
              <a:rPr lang="en-PH" sz="4400" dirty="0" smtClean="0"/>
              <a:t>cathode.</a:t>
            </a:r>
            <a:endParaRPr lang="en-PH" sz="4400" dirty="0"/>
          </a:p>
          <a:p>
            <a:r>
              <a:rPr lang="en-PH" sz="4400" dirty="0"/>
              <a:t>W</a:t>
            </a:r>
            <a:r>
              <a:rPr lang="en-PH" sz="4400" dirty="0" smtClean="0"/>
              <a:t>hen </a:t>
            </a:r>
            <a:r>
              <a:rPr lang="en-PH" sz="4400" dirty="0"/>
              <a:t>dc current flows through</a:t>
            </a:r>
          </a:p>
          <a:p>
            <a:r>
              <a:rPr lang="en-PH" sz="4400" dirty="0"/>
              <a:t>one direction, it emits red </a:t>
            </a:r>
            <a:r>
              <a:rPr lang="en-PH" sz="4400" dirty="0" smtClean="0"/>
              <a:t>light, </a:t>
            </a:r>
          </a:p>
          <a:p>
            <a:r>
              <a:rPr lang="en-PH" sz="4400" dirty="0"/>
              <a:t>b</a:t>
            </a:r>
            <a:r>
              <a:rPr lang="en-PH" sz="4400" dirty="0" smtClean="0"/>
              <a:t>ut when </a:t>
            </a:r>
            <a:r>
              <a:rPr lang="en-PH" sz="4400" dirty="0"/>
              <a:t>the current flows in </a:t>
            </a:r>
            <a:endParaRPr lang="en-PH" sz="4400" dirty="0" smtClean="0"/>
          </a:p>
          <a:p>
            <a:r>
              <a:rPr lang="en-PH" sz="4400" dirty="0"/>
              <a:t>t</a:t>
            </a:r>
            <a:r>
              <a:rPr lang="en-PH" sz="4400" dirty="0" smtClean="0"/>
              <a:t>he opposite </a:t>
            </a:r>
            <a:r>
              <a:rPr lang="en-PH" sz="4400" dirty="0"/>
              <a:t>direction, the LED </a:t>
            </a:r>
            <a:endParaRPr lang="en-PH" sz="4400" dirty="0" smtClean="0"/>
          </a:p>
          <a:p>
            <a:r>
              <a:rPr lang="en-PH" sz="4400" dirty="0"/>
              <a:t>e</a:t>
            </a:r>
            <a:r>
              <a:rPr lang="en-PH" sz="4400" dirty="0" smtClean="0"/>
              <a:t>mits green light. With </a:t>
            </a:r>
            <a:r>
              <a:rPr lang="en-PH" sz="4400" dirty="0"/>
              <a:t>ac current, </a:t>
            </a:r>
            <a:endParaRPr lang="en-PH" sz="4400" dirty="0" smtClean="0"/>
          </a:p>
          <a:p>
            <a:r>
              <a:rPr lang="en-PH" sz="4400" dirty="0" smtClean="0"/>
              <a:t>yellow </a:t>
            </a:r>
            <a:r>
              <a:rPr lang="en-PH" sz="4400" dirty="0"/>
              <a:t>light </a:t>
            </a:r>
            <a:r>
              <a:rPr lang="en-PH" sz="4400" dirty="0" smtClean="0"/>
              <a:t>is given out.</a:t>
            </a:r>
            <a:endParaRPr lang="en-PH" sz="4400" dirty="0"/>
          </a:p>
        </p:txBody>
      </p:sp>
      <p:pic>
        <p:nvPicPr>
          <p:cNvPr id="3" name="Picture 2"/>
          <p:cNvPicPr>
            <a:picLocks noChangeAspect="1"/>
          </p:cNvPicPr>
          <p:nvPr/>
        </p:nvPicPr>
        <p:blipFill>
          <a:blip r:embed="rId3"/>
          <a:stretch>
            <a:fillRect/>
          </a:stretch>
        </p:blipFill>
        <p:spPr>
          <a:xfrm>
            <a:off x="8505174" y="1647210"/>
            <a:ext cx="3440083" cy="4515595"/>
          </a:xfrm>
          <a:prstGeom prst="rect">
            <a:avLst/>
          </a:prstGeom>
        </p:spPr>
      </p:pic>
      <p:pic>
        <p:nvPicPr>
          <p:cNvPr id="4" name="Picture 3"/>
          <p:cNvPicPr>
            <a:picLocks noChangeAspect="1"/>
          </p:cNvPicPr>
          <p:nvPr/>
        </p:nvPicPr>
        <p:blipFill>
          <a:blip r:embed="rId4"/>
          <a:stretch>
            <a:fillRect/>
          </a:stretch>
        </p:blipFill>
        <p:spPr>
          <a:xfrm rot="5400000">
            <a:off x="9243512" y="-725813"/>
            <a:ext cx="1183746" cy="3562301"/>
          </a:xfrm>
          <a:prstGeom prst="rect">
            <a:avLst/>
          </a:prstGeom>
        </p:spPr>
      </p:pic>
    </p:spTree>
    <p:extLst>
      <p:ext uri="{BB962C8B-B14F-4D97-AF65-F5344CB8AC3E}">
        <p14:creationId xmlns:p14="http://schemas.microsoft.com/office/powerpoint/2010/main" val="1685816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a:t>BLINKING </a:t>
            </a:r>
            <a:r>
              <a:rPr lang="en-PH" sz="4400" b="1" dirty="0" smtClean="0"/>
              <a:t>LEDs</a:t>
            </a:r>
          </a:p>
          <a:p>
            <a:r>
              <a:rPr lang="en-PH" sz="4400" dirty="0"/>
              <a:t>C</a:t>
            </a:r>
            <a:r>
              <a:rPr lang="en-PH" sz="4400" dirty="0" smtClean="0"/>
              <a:t>ombination </a:t>
            </a:r>
            <a:r>
              <a:rPr lang="en-PH" sz="4400" dirty="0"/>
              <a:t>of an oscillator </a:t>
            </a:r>
            <a:r>
              <a:rPr lang="en-PH" sz="4400" dirty="0" smtClean="0"/>
              <a:t>and an </a:t>
            </a:r>
            <a:r>
              <a:rPr lang="en-PH" sz="4400" dirty="0"/>
              <a:t>LED in one </a:t>
            </a:r>
            <a:r>
              <a:rPr lang="en-PH" sz="4400" dirty="0" smtClean="0"/>
              <a:t>package.</a:t>
            </a:r>
            <a:endParaRPr lang="en-PH" sz="4400" dirty="0"/>
          </a:p>
          <a:p>
            <a:r>
              <a:rPr lang="en-PH" sz="4400" dirty="0" smtClean="0"/>
              <a:t>Looks </a:t>
            </a:r>
            <a:r>
              <a:rPr lang="en-PH" sz="4400" dirty="0"/>
              <a:t>like an ordinary </a:t>
            </a:r>
            <a:r>
              <a:rPr lang="en-PH" sz="4400" dirty="0" smtClean="0"/>
              <a:t>LED.</a:t>
            </a:r>
            <a:endParaRPr lang="en-PH" sz="4400" dirty="0"/>
          </a:p>
          <a:p>
            <a:r>
              <a:rPr lang="en-PH" sz="4400" dirty="0"/>
              <a:t>B</a:t>
            </a:r>
            <a:r>
              <a:rPr lang="en-PH" sz="4400" dirty="0" smtClean="0"/>
              <a:t>linking </a:t>
            </a:r>
            <a:r>
              <a:rPr lang="en-PH" sz="4400" dirty="0"/>
              <a:t>frequency is usually 3 </a:t>
            </a:r>
            <a:r>
              <a:rPr lang="en-PH" sz="4400" dirty="0" smtClean="0"/>
              <a:t>Hz when </a:t>
            </a:r>
            <a:r>
              <a:rPr lang="en-PH" sz="4400" dirty="0"/>
              <a:t>the diode forward bias is 5 </a:t>
            </a:r>
            <a:r>
              <a:rPr lang="en-PH" sz="4400" dirty="0" smtClean="0"/>
              <a:t>V.</a:t>
            </a:r>
            <a:endParaRPr lang="en-PH" sz="4400" dirty="0"/>
          </a:p>
          <a:p>
            <a:r>
              <a:rPr lang="en-PH" sz="4400" dirty="0"/>
              <a:t>C</a:t>
            </a:r>
            <a:r>
              <a:rPr lang="en-PH" sz="4400" dirty="0" smtClean="0"/>
              <a:t>onducts </a:t>
            </a:r>
            <a:r>
              <a:rPr lang="en-PH" sz="4400" dirty="0"/>
              <a:t>about 20 mA of </a:t>
            </a:r>
            <a:r>
              <a:rPr lang="en-PH" sz="4400" dirty="0" smtClean="0"/>
              <a:t>current when </a:t>
            </a:r>
            <a:r>
              <a:rPr lang="en-PH" sz="4400" dirty="0"/>
              <a:t>ON and 0.9 mA when </a:t>
            </a:r>
            <a:r>
              <a:rPr lang="en-PH" sz="4400" dirty="0" smtClean="0"/>
              <a:t>OFF.</a:t>
            </a:r>
            <a:endParaRPr lang="en-PH" sz="4400" dirty="0"/>
          </a:p>
        </p:txBody>
      </p:sp>
    </p:spTree>
    <p:extLst>
      <p:ext uri="{BB962C8B-B14F-4D97-AF65-F5344CB8AC3E}">
        <p14:creationId xmlns:p14="http://schemas.microsoft.com/office/powerpoint/2010/main" val="2453347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LIQUID CRYSTAL DISPLAYS (LCD)</a:t>
            </a:r>
          </a:p>
          <a:p>
            <a:r>
              <a:rPr lang="en-US" altLang="en-US" sz="4400" dirty="0"/>
              <a:t>The background is either light or dark, when a voltage is applied to a </a:t>
            </a:r>
            <a:r>
              <a:rPr lang="en-US" altLang="en-US" sz="4400" dirty="0" smtClean="0"/>
              <a:t>segment, </a:t>
            </a:r>
            <a:r>
              <a:rPr lang="en-US" altLang="en-US" sz="4400" dirty="0"/>
              <a:t>then the alphanumeric display is visible. The amount of voltage necessary for display varies depending on the type of display, from 2 to 20V.</a:t>
            </a:r>
          </a:p>
          <a:p>
            <a:r>
              <a:rPr lang="en-US" altLang="en-US" sz="4400" dirty="0"/>
              <a:t>Low power LCDs require less power than LEDs. But LEDs have faster response times and longer life. </a:t>
            </a:r>
          </a:p>
          <a:p>
            <a:endParaRPr lang="en-US" altLang="en-US" sz="4400" b="1" dirty="0">
              <a:latin typeface="Times New Roman" panose="02020603050405020304" pitchFamily="18" charset="0"/>
            </a:endParaRPr>
          </a:p>
          <a:p>
            <a:endParaRPr lang="en-PH" sz="4400" dirty="0"/>
          </a:p>
          <a:p>
            <a:endParaRPr lang="en-PH" sz="4400" dirty="0"/>
          </a:p>
        </p:txBody>
      </p:sp>
    </p:spTree>
    <p:extLst>
      <p:ext uri="{BB962C8B-B14F-4D97-AF65-F5344CB8AC3E}">
        <p14:creationId xmlns:p14="http://schemas.microsoft.com/office/powerpoint/2010/main" val="35248623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821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A </a:t>
            </a:r>
            <a:r>
              <a:rPr lang="en-PH" sz="4400" dirty="0"/>
              <a:t>liquid crystal is a material (usually</a:t>
            </a:r>
          </a:p>
          <a:p>
            <a:r>
              <a:rPr lang="en-PH" sz="4400" dirty="0"/>
              <a:t>an organic compound) which flows</a:t>
            </a:r>
          </a:p>
          <a:p>
            <a:r>
              <a:rPr lang="en-PH" sz="4400" dirty="0"/>
              <a:t>like a liquid at room temperature</a:t>
            </a:r>
          </a:p>
          <a:p>
            <a:r>
              <a:rPr lang="en-PH" sz="4400" dirty="0"/>
              <a:t>but whose molecular structure has</a:t>
            </a:r>
          </a:p>
          <a:p>
            <a:r>
              <a:rPr lang="en-PH" sz="4400" dirty="0"/>
              <a:t>some properties normally</a:t>
            </a:r>
          </a:p>
          <a:p>
            <a:r>
              <a:rPr lang="en-PH" sz="4400" dirty="0"/>
              <a:t>associated with solids. </a:t>
            </a:r>
          </a:p>
        </p:txBody>
      </p:sp>
      <p:pic>
        <p:nvPicPr>
          <p:cNvPr id="2" name="Picture 1"/>
          <p:cNvPicPr>
            <a:picLocks noChangeAspect="1"/>
          </p:cNvPicPr>
          <p:nvPr/>
        </p:nvPicPr>
        <p:blipFill>
          <a:blip r:embed="rId3"/>
          <a:stretch>
            <a:fillRect/>
          </a:stretch>
        </p:blipFill>
        <p:spPr>
          <a:xfrm>
            <a:off x="6959600" y="3651250"/>
            <a:ext cx="4038600" cy="2095500"/>
          </a:xfrm>
          <a:prstGeom prst="rect">
            <a:avLst/>
          </a:prstGeom>
        </p:spPr>
      </p:pic>
      <p:pic>
        <p:nvPicPr>
          <p:cNvPr id="3" name="Picture 2"/>
          <p:cNvPicPr>
            <a:picLocks noChangeAspect="1"/>
          </p:cNvPicPr>
          <p:nvPr/>
        </p:nvPicPr>
        <p:blipFill>
          <a:blip r:embed="rId4"/>
          <a:stretch>
            <a:fillRect/>
          </a:stretch>
        </p:blipFill>
        <p:spPr>
          <a:xfrm>
            <a:off x="6237514" y="5425621"/>
            <a:ext cx="1647825" cy="619125"/>
          </a:xfrm>
          <a:prstGeom prst="rect">
            <a:avLst/>
          </a:prstGeom>
        </p:spPr>
      </p:pic>
    </p:spTree>
    <p:extLst>
      <p:ext uri="{BB962C8B-B14F-4D97-AF65-F5344CB8AC3E}">
        <p14:creationId xmlns:p14="http://schemas.microsoft.com/office/powerpoint/2010/main" val="24267545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A thin </a:t>
            </a:r>
            <a:r>
              <a:rPr lang="en-PH" sz="4400" dirty="0"/>
              <a:t>layer of liquid crystal is transparent to </a:t>
            </a:r>
            <a:r>
              <a:rPr lang="en-PH" sz="4400" dirty="0" smtClean="0"/>
              <a:t>incident light</a:t>
            </a:r>
            <a:r>
              <a:rPr lang="en-PH" sz="4400" dirty="0"/>
              <a:t>. When light falls on an activated (exposed to </a:t>
            </a:r>
            <a:r>
              <a:rPr lang="en-PH" sz="4400" dirty="0" smtClean="0"/>
              <a:t>electricity) layer </a:t>
            </a:r>
            <a:r>
              <a:rPr lang="en-PH" sz="4400" dirty="0"/>
              <a:t>of a liquid crystal, it is either absorbed or </a:t>
            </a:r>
            <a:endParaRPr lang="en-PH" sz="4400" dirty="0" smtClean="0"/>
          </a:p>
          <a:p>
            <a:r>
              <a:rPr lang="en-PH" sz="4400" dirty="0" smtClean="0"/>
              <a:t>else </a:t>
            </a:r>
            <a:r>
              <a:rPr lang="en-PH" sz="4400" dirty="0"/>
              <a:t>is </a:t>
            </a:r>
            <a:r>
              <a:rPr lang="en-PH" sz="4400" dirty="0" smtClean="0"/>
              <a:t>scattered by </a:t>
            </a:r>
            <a:r>
              <a:rPr lang="en-PH" sz="4400" dirty="0"/>
              <a:t>the </a:t>
            </a:r>
            <a:endParaRPr lang="en-PH" sz="4400" dirty="0" smtClean="0"/>
          </a:p>
          <a:p>
            <a:r>
              <a:rPr lang="en-PH" sz="4400" dirty="0" smtClean="0"/>
              <a:t>disoriented </a:t>
            </a:r>
            <a:r>
              <a:rPr lang="en-PH" sz="4400" dirty="0"/>
              <a:t>molecules.</a:t>
            </a:r>
          </a:p>
        </p:txBody>
      </p:sp>
      <p:pic>
        <p:nvPicPr>
          <p:cNvPr id="2" name="Picture 1"/>
          <p:cNvPicPr>
            <a:picLocks noChangeAspect="1"/>
          </p:cNvPicPr>
          <p:nvPr/>
        </p:nvPicPr>
        <p:blipFill>
          <a:blip r:embed="rId3"/>
          <a:stretch>
            <a:fillRect/>
          </a:stretch>
        </p:blipFill>
        <p:spPr>
          <a:xfrm>
            <a:off x="6043612" y="2491468"/>
            <a:ext cx="5514975" cy="3419475"/>
          </a:xfrm>
          <a:prstGeom prst="rect">
            <a:avLst/>
          </a:prstGeom>
        </p:spPr>
      </p:pic>
    </p:spTree>
    <p:extLst>
      <p:ext uri="{BB962C8B-B14F-4D97-AF65-F5344CB8AC3E}">
        <p14:creationId xmlns:p14="http://schemas.microsoft.com/office/powerpoint/2010/main" val="8003442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a:solidFill>
                  <a:srgbClr val="C00000"/>
                </a:solidFill>
              </a:rPr>
              <a:t>LCD Construction</a:t>
            </a:r>
          </a:p>
          <a:p>
            <a:r>
              <a:rPr lang="en-PH" sz="4400" dirty="0" smtClean="0"/>
              <a:t>A </a:t>
            </a:r>
            <a:r>
              <a:rPr lang="en-PH" sz="4400" dirty="0"/>
              <a:t>liquid crystal 'cell' consists of a thin layer (about 10 um) of a </a:t>
            </a:r>
            <a:r>
              <a:rPr lang="en-PH" sz="4400" dirty="0" smtClean="0"/>
              <a:t>liquid crystal </a:t>
            </a:r>
            <a:r>
              <a:rPr lang="en-PH" sz="4400" dirty="0"/>
              <a:t>sandwiched between two glass sheets with transparent</a:t>
            </a:r>
          </a:p>
          <a:p>
            <a:r>
              <a:rPr lang="en-PH" sz="4400" dirty="0"/>
              <a:t>electrodes deposited on their inside faces</a:t>
            </a:r>
            <a:r>
              <a:rPr lang="en-PH" sz="4400" dirty="0" smtClean="0"/>
              <a:t>.</a:t>
            </a:r>
          </a:p>
          <a:p>
            <a:endParaRPr lang="en-PH" sz="4400" dirty="0"/>
          </a:p>
          <a:p>
            <a:r>
              <a:rPr lang="en-PH" sz="4400" dirty="0"/>
              <a:t>With both glass sheets transparent, the cell is known as </a:t>
            </a:r>
            <a:r>
              <a:rPr lang="en-PH" sz="4400" b="1" dirty="0" err="1" smtClean="0"/>
              <a:t>transmitive</a:t>
            </a:r>
            <a:r>
              <a:rPr lang="en-PH" sz="4400" b="1" dirty="0" smtClean="0"/>
              <a:t> </a:t>
            </a:r>
            <a:r>
              <a:rPr lang="en-PH" sz="4400" dirty="0" smtClean="0"/>
              <a:t>type </a:t>
            </a:r>
            <a:r>
              <a:rPr lang="en-PH" sz="4400" dirty="0"/>
              <a:t>cell</a:t>
            </a:r>
            <a:r>
              <a:rPr lang="en-PH" sz="4400" dirty="0" smtClean="0"/>
              <a:t>.</a:t>
            </a:r>
            <a:endParaRPr lang="en-PH" sz="4400" dirty="0"/>
          </a:p>
        </p:txBody>
      </p:sp>
    </p:spTree>
    <p:extLst>
      <p:ext uri="{BB962C8B-B14F-4D97-AF65-F5344CB8AC3E}">
        <p14:creationId xmlns:p14="http://schemas.microsoft.com/office/powerpoint/2010/main" val="19361741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a:solidFill>
                  <a:srgbClr val="C00000"/>
                </a:solidFill>
              </a:rPr>
              <a:t>LCD Construction</a:t>
            </a:r>
          </a:p>
          <a:p>
            <a:r>
              <a:rPr lang="en-PH" sz="4400" dirty="0" smtClean="0"/>
              <a:t>When </a:t>
            </a:r>
            <a:r>
              <a:rPr lang="en-PH" sz="4400" dirty="0"/>
              <a:t>one glass is transparent and the other has a reflective </a:t>
            </a:r>
            <a:r>
              <a:rPr lang="en-PH" sz="4400" dirty="0" smtClean="0"/>
              <a:t>coating, the </a:t>
            </a:r>
            <a:r>
              <a:rPr lang="en-PH" sz="4400" dirty="0"/>
              <a:t>cell is called a </a:t>
            </a:r>
            <a:r>
              <a:rPr lang="en-PH" sz="4400" b="1" dirty="0"/>
              <a:t>reflective </a:t>
            </a:r>
            <a:r>
              <a:rPr lang="en-PH" sz="4400" dirty="0"/>
              <a:t>type.</a:t>
            </a:r>
          </a:p>
          <a:p>
            <a:endParaRPr lang="en-PH" sz="4400" dirty="0" smtClean="0"/>
          </a:p>
          <a:p>
            <a:r>
              <a:rPr lang="en-PH" sz="4400" dirty="0" smtClean="0"/>
              <a:t>The </a:t>
            </a:r>
            <a:r>
              <a:rPr lang="en-PH" sz="4400" dirty="0"/>
              <a:t>LCD does not produce any illumination of its own</a:t>
            </a:r>
            <a:r>
              <a:rPr lang="en-PH" sz="4400" dirty="0" smtClean="0"/>
              <a:t>. It </a:t>
            </a:r>
            <a:r>
              <a:rPr lang="en-PH" sz="4400" dirty="0"/>
              <a:t>depends entirely on illumination falling on it from an </a:t>
            </a:r>
            <a:r>
              <a:rPr lang="en-PH" sz="4400" dirty="0" smtClean="0"/>
              <a:t>external source </a:t>
            </a:r>
            <a:r>
              <a:rPr lang="en-PH" sz="4400" dirty="0"/>
              <a:t>for its visual </a:t>
            </a:r>
            <a:r>
              <a:rPr lang="en-PH" sz="4400" dirty="0" smtClean="0"/>
              <a:t>effect.</a:t>
            </a:r>
            <a:endParaRPr lang="en-PH" sz="4400" dirty="0"/>
          </a:p>
        </p:txBody>
      </p:sp>
    </p:spTree>
    <p:extLst>
      <p:ext uri="{BB962C8B-B14F-4D97-AF65-F5344CB8AC3E}">
        <p14:creationId xmlns:p14="http://schemas.microsoft.com/office/powerpoint/2010/main" val="11448439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a:solidFill>
                  <a:srgbClr val="C00000"/>
                </a:solidFill>
              </a:rPr>
              <a:t>Operating Condition</a:t>
            </a:r>
          </a:p>
          <a:p>
            <a:r>
              <a:rPr lang="en-PH" sz="4400" dirty="0"/>
              <a:t>When </a:t>
            </a:r>
            <a:r>
              <a:rPr lang="en-PH" sz="4400" b="1" dirty="0"/>
              <a:t>field-effect display </a:t>
            </a:r>
            <a:r>
              <a:rPr lang="en-PH" sz="4400" dirty="0"/>
              <a:t>is energized, the energized areas of </a:t>
            </a:r>
            <a:r>
              <a:rPr lang="en-PH" sz="4400" dirty="0" smtClean="0"/>
              <a:t>the LCD </a:t>
            </a:r>
            <a:r>
              <a:rPr lang="en-PH" sz="4400" dirty="0"/>
              <a:t>absorb the incident light and hence, give a localized </a:t>
            </a:r>
            <a:r>
              <a:rPr lang="en-PH" sz="4400" dirty="0" smtClean="0"/>
              <a:t>black display.  </a:t>
            </a:r>
          </a:p>
          <a:p>
            <a:endParaRPr lang="en-PH" sz="4400" dirty="0" smtClean="0"/>
          </a:p>
          <a:p>
            <a:r>
              <a:rPr lang="en-PH" sz="4400" dirty="0" smtClean="0"/>
              <a:t>When </a:t>
            </a:r>
            <a:r>
              <a:rPr lang="en-PH" sz="4400" b="1" dirty="0"/>
              <a:t>dynamic scattering display </a:t>
            </a:r>
            <a:r>
              <a:rPr lang="en-PH" sz="4400" dirty="0"/>
              <a:t>is energized, molecules </a:t>
            </a:r>
            <a:r>
              <a:rPr lang="en-PH" sz="4400" dirty="0" smtClean="0"/>
              <a:t>of energized </a:t>
            </a:r>
            <a:r>
              <a:rPr lang="en-PH" sz="4400" dirty="0"/>
              <a:t>area of the display become turbulent and scatter light </a:t>
            </a:r>
            <a:r>
              <a:rPr lang="en-PH" sz="4400" dirty="0" smtClean="0"/>
              <a:t>in all </a:t>
            </a:r>
            <a:r>
              <a:rPr lang="en-PH" sz="4400" dirty="0"/>
              <a:t>directions. The activated areas take on </a:t>
            </a:r>
            <a:r>
              <a:rPr lang="en-PH" sz="4400" dirty="0" smtClean="0"/>
              <a:t>a</a:t>
            </a:r>
            <a:endParaRPr lang="en-PH" sz="4400" dirty="0"/>
          </a:p>
        </p:txBody>
      </p:sp>
    </p:spTree>
    <p:extLst>
      <p:ext uri="{BB962C8B-B14F-4D97-AF65-F5344CB8AC3E}">
        <p14:creationId xmlns:p14="http://schemas.microsoft.com/office/powerpoint/2010/main" val="4004792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a:solidFill>
                  <a:srgbClr val="C00000"/>
                </a:solidFill>
              </a:rPr>
              <a:t>Operating Condition</a:t>
            </a:r>
          </a:p>
          <a:p>
            <a:r>
              <a:rPr lang="en-PH" sz="4400" dirty="0" smtClean="0"/>
              <a:t>frosted glass appearance </a:t>
            </a:r>
            <a:r>
              <a:rPr lang="en-PH" sz="4400" dirty="0"/>
              <a:t>resulting in a silver display. The un-energized </a:t>
            </a:r>
            <a:r>
              <a:rPr lang="en-PH" sz="4400" dirty="0" smtClean="0"/>
              <a:t>areas remain </a:t>
            </a:r>
            <a:r>
              <a:rPr lang="en-PH" sz="4400" dirty="0"/>
              <a:t>translucent.</a:t>
            </a:r>
          </a:p>
        </p:txBody>
      </p:sp>
    </p:spTree>
    <p:extLst>
      <p:ext uri="{BB962C8B-B14F-4D97-AF65-F5344CB8AC3E}">
        <p14:creationId xmlns:p14="http://schemas.microsoft.com/office/powerpoint/2010/main" val="3569080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a:solidFill>
                  <a:srgbClr val="C00000"/>
                </a:solidFill>
              </a:rPr>
              <a:t>ADVANTAGES</a:t>
            </a:r>
          </a:p>
          <a:p>
            <a:r>
              <a:rPr lang="en-PH" sz="4400" dirty="0" smtClean="0"/>
              <a:t>Extremely </a:t>
            </a:r>
            <a:r>
              <a:rPr lang="en-PH" sz="4400" dirty="0"/>
              <a:t>low power </a:t>
            </a:r>
            <a:r>
              <a:rPr lang="en-PH" sz="4400" dirty="0" smtClean="0"/>
              <a:t>requirement, about 10 - 15 </a:t>
            </a:r>
            <a:r>
              <a:rPr lang="en-PH" sz="4400" dirty="0" err="1"/>
              <a:t>μ</a:t>
            </a:r>
            <a:r>
              <a:rPr lang="en-PH" sz="4400" dirty="0" err="1" smtClean="0"/>
              <a:t>W</a:t>
            </a:r>
            <a:r>
              <a:rPr lang="en-PH" sz="4400" dirty="0" smtClean="0"/>
              <a:t> </a:t>
            </a:r>
            <a:r>
              <a:rPr lang="en-PH" sz="4400" dirty="0"/>
              <a:t>per </a:t>
            </a:r>
            <a:r>
              <a:rPr lang="en-PH" sz="4400" dirty="0" smtClean="0"/>
              <a:t>7-segment display </a:t>
            </a:r>
            <a:r>
              <a:rPr lang="en-PH" sz="4400" dirty="0"/>
              <a:t>as compared to a few </a:t>
            </a:r>
            <a:r>
              <a:rPr lang="en-PH" sz="4400" dirty="0" err="1"/>
              <a:t>mW</a:t>
            </a:r>
            <a:r>
              <a:rPr lang="en-PH" sz="4400" dirty="0"/>
              <a:t> for an </a:t>
            </a:r>
            <a:r>
              <a:rPr lang="en-PH" sz="4400" dirty="0" smtClean="0"/>
              <a:t>LED.</a:t>
            </a:r>
            <a:endParaRPr lang="en-PH" sz="4400" dirty="0"/>
          </a:p>
          <a:p>
            <a:endParaRPr lang="en-PH" sz="4400" dirty="0" smtClean="0"/>
          </a:p>
          <a:p>
            <a:r>
              <a:rPr lang="en-PH" sz="4400" dirty="0"/>
              <a:t>L</a:t>
            </a:r>
            <a:r>
              <a:rPr lang="en-PH" sz="4400" dirty="0" smtClean="0"/>
              <a:t>ifetime </a:t>
            </a:r>
            <a:r>
              <a:rPr lang="en-PH" sz="4400" dirty="0"/>
              <a:t>of about 50,000 hours (around 5.7 </a:t>
            </a:r>
            <a:r>
              <a:rPr lang="en-PH" sz="4400" dirty="0" err="1"/>
              <a:t>yrs</a:t>
            </a:r>
            <a:r>
              <a:rPr lang="en-PH" sz="4400" dirty="0"/>
              <a:t>)</a:t>
            </a:r>
          </a:p>
          <a:p>
            <a:r>
              <a:rPr lang="en-PH" sz="4400" dirty="0"/>
              <a:t>watches and portable instruments (field-effect LCDs</a:t>
            </a:r>
            <a:r>
              <a:rPr lang="en-PH" sz="4400" dirty="0" smtClean="0"/>
              <a:t>).</a:t>
            </a:r>
            <a:endParaRPr lang="en-PH" sz="4400" dirty="0"/>
          </a:p>
        </p:txBody>
      </p:sp>
    </p:spTree>
    <p:extLst>
      <p:ext uri="{BB962C8B-B14F-4D97-AF65-F5344CB8AC3E}">
        <p14:creationId xmlns:p14="http://schemas.microsoft.com/office/powerpoint/2010/main" val="98608633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b="1" dirty="0" smtClean="0"/>
              <a:t>PHOTODIODE</a:t>
            </a:r>
          </a:p>
          <a:p>
            <a:r>
              <a:rPr lang="en-PH" sz="4400" dirty="0"/>
              <a:t>The photodiode is a semiconductor </a:t>
            </a:r>
            <a:r>
              <a:rPr lang="en-PH" sz="4400" i="1" dirty="0" err="1" smtClean="0"/>
              <a:t>pn</a:t>
            </a:r>
            <a:r>
              <a:rPr lang="en-PH" sz="4400" i="1" dirty="0" smtClean="0"/>
              <a:t> </a:t>
            </a:r>
            <a:r>
              <a:rPr lang="en-PH" sz="4400" dirty="0"/>
              <a:t>junction device whose region of operation is </a:t>
            </a:r>
            <a:r>
              <a:rPr lang="en-PH" sz="4400" dirty="0" smtClean="0"/>
              <a:t>limited to </a:t>
            </a:r>
            <a:r>
              <a:rPr lang="en-PH" sz="4400" dirty="0"/>
              <a:t>the reverse-bias region.</a:t>
            </a:r>
          </a:p>
          <a:p>
            <a:r>
              <a:rPr lang="en-PH" sz="4400" dirty="0" smtClean="0"/>
              <a:t>The</a:t>
            </a:r>
            <a:r>
              <a:rPr lang="en-PH" sz="4400" b="1" dirty="0" smtClean="0"/>
              <a:t> dark </a:t>
            </a:r>
            <a:r>
              <a:rPr lang="en-PH" sz="4400" b="1" dirty="0"/>
              <a:t>current </a:t>
            </a:r>
            <a:r>
              <a:rPr lang="en-PH" sz="4400" dirty="0"/>
              <a:t>refers to the current that flows when no light is </a:t>
            </a:r>
            <a:r>
              <a:rPr lang="en-PH" sz="4400" dirty="0" smtClean="0"/>
              <a:t>incident.</a:t>
            </a:r>
            <a:endParaRPr lang="en-PH" sz="4400" dirty="0"/>
          </a:p>
          <a:p>
            <a:r>
              <a:rPr lang="en-PH" sz="4400" dirty="0"/>
              <a:t>A</a:t>
            </a:r>
            <a:r>
              <a:rPr lang="en-PH" sz="4400" dirty="0" smtClean="0"/>
              <a:t> </a:t>
            </a:r>
            <a:r>
              <a:rPr lang="en-PH" sz="4400" dirty="0"/>
              <a:t>photodiode can turn its current ON and OFF in nanoseconds; it is one </a:t>
            </a:r>
            <a:r>
              <a:rPr lang="en-PH" sz="4400" dirty="0" smtClean="0"/>
              <a:t>of the </a:t>
            </a:r>
            <a:r>
              <a:rPr lang="en-PH" sz="4400" dirty="0"/>
              <a:t>fastest </a:t>
            </a:r>
            <a:r>
              <a:rPr lang="en-PH" sz="4400" dirty="0" smtClean="0"/>
              <a:t>photodetectors.</a:t>
            </a:r>
            <a:endParaRPr lang="en-PH" sz="4400" dirty="0"/>
          </a:p>
        </p:txBody>
      </p:sp>
    </p:spTree>
    <p:extLst>
      <p:ext uri="{BB962C8B-B14F-4D97-AF65-F5344CB8AC3E}">
        <p14:creationId xmlns:p14="http://schemas.microsoft.com/office/powerpoint/2010/main" val="40211449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707571" y="399143"/>
            <a:ext cx="11313886" cy="6032500"/>
          </a:xfrm>
          <a:prstGeom prst="rect">
            <a:avLst/>
          </a:prstGeom>
          <a:noFill/>
          <a:ln>
            <a:noFill/>
          </a:ln>
        </p:spPr>
        <p:txBody>
          <a:bodyPr spcFirstLastPara="1" wrap="square" lIns="91425" tIns="45700" rIns="91425" bIns="45700" anchor="t" anchorCtr="0">
            <a:noAutofit/>
          </a:bodyPr>
          <a:lstStyle/>
          <a:p>
            <a:r>
              <a:rPr lang="en-PH" sz="4400" dirty="0" smtClean="0"/>
              <a:t>Symbols and commercially available components</a:t>
            </a:r>
            <a:endParaRPr lang="en-PH" sz="4400" dirty="0"/>
          </a:p>
        </p:txBody>
      </p:sp>
      <p:pic>
        <p:nvPicPr>
          <p:cNvPr id="4" name="Picture 3"/>
          <p:cNvPicPr>
            <a:picLocks noChangeAspect="1"/>
          </p:cNvPicPr>
          <p:nvPr/>
        </p:nvPicPr>
        <p:blipFill>
          <a:blip r:embed="rId3"/>
          <a:stretch>
            <a:fillRect/>
          </a:stretch>
        </p:blipFill>
        <p:spPr>
          <a:xfrm>
            <a:off x="1283096" y="1573893"/>
            <a:ext cx="4791075" cy="2581275"/>
          </a:xfrm>
          <a:prstGeom prst="rect">
            <a:avLst/>
          </a:prstGeom>
        </p:spPr>
      </p:pic>
      <p:pic>
        <p:nvPicPr>
          <p:cNvPr id="5" name="Picture 4"/>
          <p:cNvPicPr>
            <a:picLocks noChangeAspect="1"/>
          </p:cNvPicPr>
          <p:nvPr/>
        </p:nvPicPr>
        <p:blipFill>
          <a:blip r:embed="rId4"/>
          <a:stretch>
            <a:fillRect/>
          </a:stretch>
        </p:blipFill>
        <p:spPr>
          <a:xfrm>
            <a:off x="1947167" y="4467905"/>
            <a:ext cx="3381375" cy="1724025"/>
          </a:xfrm>
          <a:prstGeom prst="rect">
            <a:avLst/>
          </a:prstGeom>
        </p:spPr>
      </p:pic>
      <p:pic>
        <p:nvPicPr>
          <p:cNvPr id="6" name="Picture 5"/>
          <p:cNvPicPr>
            <a:picLocks noChangeAspect="1"/>
          </p:cNvPicPr>
          <p:nvPr/>
        </p:nvPicPr>
        <p:blipFill>
          <a:blip r:embed="rId5"/>
          <a:stretch>
            <a:fillRect/>
          </a:stretch>
        </p:blipFill>
        <p:spPr>
          <a:xfrm>
            <a:off x="7235825" y="2864530"/>
            <a:ext cx="666750" cy="476250"/>
          </a:xfrm>
          <a:prstGeom prst="rect">
            <a:avLst/>
          </a:prstGeom>
        </p:spPr>
      </p:pic>
      <p:pic>
        <p:nvPicPr>
          <p:cNvPr id="7" name="Picture 6"/>
          <p:cNvPicPr>
            <a:picLocks noChangeAspect="1"/>
          </p:cNvPicPr>
          <p:nvPr/>
        </p:nvPicPr>
        <p:blipFill>
          <a:blip r:embed="rId5"/>
          <a:stretch>
            <a:fillRect/>
          </a:stretch>
        </p:blipFill>
        <p:spPr>
          <a:xfrm>
            <a:off x="7577818" y="4296455"/>
            <a:ext cx="666750" cy="476250"/>
          </a:xfrm>
          <a:prstGeom prst="rect">
            <a:avLst/>
          </a:prstGeom>
        </p:spPr>
      </p:pic>
      <p:pic>
        <p:nvPicPr>
          <p:cNvPr id="8" name="Picture 7"/>
          <p:cNvPicPr>
            <a:picLocks noChangeAspect="1"/>
          </p:cNvPicPr>
          <p:nvPr/>
        </p:nvPicPr>
        <p:blipFill>
          <a:blip r:embed="rId5"/>
          <a:stretch>
            <a:fillRect/>
          </a:stretch>
        </p:blipFill>
        <p:spPr>
          <a:xfrm rot="1235603">
            <a:off x="2653096" y="2704351"/>
            <a:ext cx="372550" cy="332657"/>
          </a:xfrm>
          <a:prstGeom prst="rect">
            <a:avLst/>
          </a:prstGeom>
        </p:spPr>
      </p:pic>
      <p:pic>
        <p:nvPicPr>
          <p:cNvPr id="9" name="Picture 8"/>
          <p:cNvPicPr>
            <a:picLocks noChangeAspect="1"/>
          </p:cNvPicPr>
          <p:nvPr/>
        </p:nvPicPr>
        <p:blipFill>
          <a:blip r:embed="rId6"/>
          <a:stretch>
            <a:fillRect/>
          </a:stretch>
        </p:blipFill>
        <p:spPr>
          <a:xfrm>
            <a:off x="6098575" y="2226846"/>
            <a:ext cx="5320871" cy="3643991"/>
          </a:xfrm>
          <a:prstGeom prst="rect">
            <a:avLst/>
          </a:prstGeom>
        </p:spPr>
      </p:pic>
      <p:pic>
        <p:nvPicPr>
          <p:cNvPr id="10" name="Picture 9"/>
          <p:cNvPicPr>
            <a:picLocks noChangeAspect="1"/>
          </p:cNvPicPr>
          <p:nvPr/>
        </p:nvPicPr>
        <p:blipFill>
          <a:blip r:embed="rId7"/>
          <a:stretch>
            <a:fillRect/>
          </a:stretch>
        </p:blipFill>
        <p:spPr>
          <a:xfrm>
            <a:off x="2383654" y="3031859"/>
            <a:ext cx="198437" cy="275251"/>
          </a:xfrm>
          <a:prstGeom prst="rect">
            <a:avLst/>
          </a:prstGeom>
        </p:spPr>
      </p:pic>
    </p:spTree>
    <p:extLst>
      <p:ext uri="{BB962C8B-B14F-4D97-AF65-F5344CB8AC3E}">
        <p14:creationId xmlns:p14="http://schemas.microsoft.com/office/powerpoint/2010/main" val="32713501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310243"/>
            <a:ext cx="11313886" cy="6032500"/>
          </a:xfrm>
          <a:prstGeom prst="rect">
            <a:avLst/>
          </a:prstGeom>
          <a:noFill/>
          <a:ln>
            <a:noFill/>
          </a:ln>
        </p:spPr>
        <p:txBody>
          <a:bodyPr spcFirstLastPara="1" wrap="square" lIns="91425" tIns="45700" rIns="91425" bIns="45700" anchor="t" anchorCtr="0">
            <a:noAutofit/>
          </a:bodyPr>
          <a:lstStyle/>
          <a:p>
            <a:r>
              <a:rPr lang="en-PH" sz="4400" dirty="0" smtClean="0">
                <a:solidFill>
                  <a:srgbClr val="C00000"/>
                </a:solidFill>
              </a:rPr>
              <a:t>APPLICATION</a:t>
            </a:r>
          </a:p>
          <a:p>
            <a:r>
              <a:rPr lang="en-US" altLang="en-US" sz="4400" dirty="0" smtClean="0"/>
              <a:t>Instrumentation </a:t>
            </a:r>
            <a:r>
              <a:rPr lang="en-US" altLang="en-US" sz="4400" dirty="0"/>
              <a:t>circuits as a sensor</a:t>
            </a:r>
          </a:p>
          <a:p>
            <a:r>
              <a:rPr lang="en-US" altLang="en-US" sz="4400" dirty="0"/>
              <a:t>Alarm system sensor</a:t>
            </a:r>
          </a:p>
          <a:p>
            <a:r>
              <a:rPr lang="en-US" altLang="en-US" sz="4400" dirty="0"/>
              <a:t>Detection of objects on a conveyor belt</a:t>
            </a:r>
          </a:p>
          <a:p>
            <a:endParaRPr lang="en-PH" sz="4400" dirty="0"/>
          </a:p>
        </p:txBody>
      </p:sp>
      <p:pic>
        <p:nvPicPr>
          <p:cNvPr id="2" name="Picture 1"/>
          <p:cNvPicPr>
            <a:picLocks noChangeAspect="1"/>
          </p:cNvPicPr>
          <p:nvPr/>
        </p:nvPicPr>
        <p:blipFill rotWithShape="1">
          <a:blip r:embed="rId3"/>
          <a:srcRect t="7020"/>
          <a:stretch/>
        </p:blipFill>
        <p:spPr>
          <a:xfrm>
            <a:off x="995362" y="3078161"/>
            <a:ext cx="3614738" cy="3232150"/>
          </a:xfrm>
          <a:prstGeom prst="rect">
            <a:avLst/>
          </a:prstGeom>
        </p:spPr>
      </p:pic>
      <p:pic>
        <p:nvPicPr>
          <p:cNvPr id="3" name="Picture 2"/>
          <p:cNvPicPr>
            <a:picLocks noChangeAspect="1"/>
          </p:cNvPicPr>
          <p:nvPr/>
        </p:nvPicPr>
        <p:blipFill>
          <a:blip r:embed="rId4"/>
          <a:stretch>
            <a:fillRect/>
          </a:stretch>
        </p:blipFill>
        <p:spPr>
          <a:xfrm>
            <a:off x="5203825" y="3078161"/>
            <a:ext cx="5685642" cy="2371725"/>
          </a:xfrm>
          <a:prstGeom prst="rect">
            <a:avLst/>
          </a:prstGeom>
        </p:spPr>
      </p:pic>
      <p:sp>
        <p:nvSpPr>
          <p:cNvPr id="4" name="TextBox 3"/>
          <p:cNvSpPr txBox="1"/>
          <p:nvPr/>
        </p:nvSpPr>
        <p:spPr>
          <a:xfrm>
            <a:off x="5854700" y="5449886"/>
            <a:ext cx="4267200" cy="646331"/>
          </a:xfrm>
          <a:prstGeom prst="rect">
            <a:avLst/>
          </a:prstGeom>
          <a:noFill/>
        </p:spPr>
        <p:txBody>
          <a:bodyPr wrap="square" rtlCol="0">
            <a:spAutoFit/>
          </a:bodyPr>
          <a:lstStyle/>
          <a:p>
            <a:pPr algn="ctr"/>
            <a:r>
              <a:rPr lang="en-PH" dirty="0" smtClean="0"/>
              <a:t>Photodiode used in alarm system and conveyor</a:t>
            </a:r>
            <a:endParaRPr lang="en-PH" dirty="0"/>
          </a:p>
        </p:txBody>
      </p:sp>
    </p:spTree>
    <p:extLst>
      <p:ext uri="{BB962C8B-B14F-4D97-AF65-F5344CB8AC3E}">
        <p14:creationId xmlns:p14="http://schemas.microsoft.com/office/powerpoint/2010/main" val="35063758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593271" y="386442"/>
            <a:ext cx="11313886" cy="6357258"/>
          </a:xfrm>
          <a:prstGeom prst="rect">
            <a:avLst/>
          </a:prstGeom>
          <a:noFill/>
          <a:ln>
            <a:noFill/>
          </a:ln>
        </p:spPr>
        <p:txBody>
          <a:bodyPr spcFirstLastPara="1" wrap="square" lIns="91425" tIns="45700" rIns="91425" bIns="45700" anchor="t" anchorCtr="0">
            <a:noAutofit/>
          </a:bodyPr>
          <a:lstStyle/>
          <a:p>
            <a:r>
              <a:rPr lang="en-US" altLang="en-US" sz="4400" b="1" dirty="0" smtClean="0"/>
              <a:t>IR</a:t>
            </a:r>
            <a:r>
              <a:rPr lang="en-US" altLang="en-US" sz="4400" dirty="0" smtClean="0"/>
              <a:t> </a:t>
            </a:r>
            <a:r>
              <a:rPr lang="en-US" altLang="en-US" sz="4400" b="1" dirty="0" smtClean="0"/>
              <a:t>EMITTERS</a:t>
            </a:r>
          </a:p>
          <a:p>
            <a:r>
              <a:rPr lang="en-US" altLang="en-US" sz="4400" dirty="0"/>
              <a:t>Diodes that emit infrared radiation.</a:t>
            </a:r>
          </a:p>
          <a:p>
            <a:r>
              <a:rPr lang="en-US" altLang="en-US" sz="4400" dirty="0"/>
              <a:t>IR emitter produce infrared radiation when forward biased. The higher the forward bias current, the greater the intensity of infrared radiation.</a:t>
            </a:r>
          </a:p>
          <a:p>
            <a:r>
              <a:rPr lang="en-US" altLang="en-US" sz="4400" dirty="0"/>
              <a:t>The radiation pattern can vary from widely dispersed to a very narrow, focused beam.</a:t>
            </a:r>
          </a:p>
          <a:p>
            <a:endParaRPr lang="en-US" altLang="en-US" sz="4400" dirty="0"/>
          </a:p>
        </p:txBody>
      </p:sp>
    </p:spTree>
    <p:extLst>
      <p:ext uri="{BB962C8B-B14F-4D97-AF65-F5344CB8AC3E}">
        <p14:creationId xmlns:p14="http://schemas.microsoft.com/office/powerpoint/2010/main" val="414272458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402771" y="272142"/>
            <a:ext cx="11313886" cy="6357258"/>
          </a:xfrm>
          <a:prstGeom prst="rect">
            <a:avLst/>
          </a:prstGeom>
          <a:noFill/>
          <a:ln>
            <a:noFill/>
          </a:ln>
        </p:spPr>
        <p:txBody>
          <a:bodyPr spcFirstLastPara="1" wrap="square" lIns="91425" tIns="45700" rIns="91425" bIns="45700" anchor="t" anchorCtr="0">
            <a:noAutofit/>
          </a:bodyPr>
          <a:lstStyle/>
          <a:p>
            <a:r>
              <a:rPr lang="en-US" altLang="en-US" sz="4400" dirty="0" smtClean="0">
                <a:solidFill>
                  <a:srgbClr val="C00000"/>
                </a:solidFill>
              </a:rPr>
              <a:t>Applications</a:t>
            </a:r>
          </a:p>
          <a:p>
            <a:r>
              <a:rPr lang="en-US" altLang="en-US" sz="4400" dirty="0"/>
              <a:t>Card readers</a:t>
            </a:r>
          </a:p>
          <a:p>
            <a:r>
              <a:rPr lang="en-US" altLang="en-US" sz="4400" dirty="0"/>
              <a:t>Shaft encoders</a:t>
            </a:r>
          </a:p>
          <a:p>
            <a:r>
              <a:rPr lang="en-US" altLang="en-US" sz="4400" dirty="0"/>
              <a:t>Intrusion alarms</a:t>
            </a:r>
          </a:p>
          <a:p>
            <a:r>
              <a:rPr lang="en-US" altLang="en-US" sz="4400" dirty="0"/>
              <a:t>IR Transmitters</a:t>
            </a:r>
          </a:p>
          <a:p>
            <a:endParaRPr lang="en-US" altLang="en-US" sz="4400" dirty="0">
              <a:solidFill>
                <a:srgbClr val="C00000"/>
              </a:solidFill>
            </a:endParaRPr>
          </a:p>
        </p:txBody>
      </p:sp>
      <p:pic>
        <p:nvPicPr>
          <p:cNvPr id="2" name="Picture 1"/>
          <p:cNvPicPr>
            <a:picLocks noChangeAspect="1"/>
          </p:cNvPicPr>
          <p:nvPr/>
        </p:nvPicPr>
        <p:blipFill>
          <a:blip r:embed="rId3"/>
          <a:stretch>
            <a:fillRect/>
          </a:stretch>
        </p:blipFill>
        <p:spPr>
          <a:xfrm>
            <a:off x="5362574" y="603207"/>
            <a:ext cx="5308798" cy="4578393"/>
          </a:xfrm>
          <a:prstGeom prst="rect">
            <a:avLst/>
          </a:prstGeom>
        </p:spPr>
      </p:pic>
      <p:pic>
        <p:nvPicPr>
          <p:cNvPr id="3" name="Picture 2"/>
          <p:cNvPicPr>
            <a:picLocks noChangeAspect="1"/>
          </p:cNvPicPr>
          <p:nvPr/>
        </p:nvPicPr>
        <p:blipFill>
          <a:blip r:embed="rId4"/>
          <a:stretch>
            <a:fillRect/>
          </a:stretch>
        </p:blipFill>
        <p:spPr>
          <a:xfrm rot="10800000">
            <a:off x="1255712" y="4432300"/>
            <a:ext cx="2238375" cy="1047750"/>
          </a:xfrm>
          <a:prstGeom prst="rect">
            <a:avLst/>
          </a:prstGeom>
        </p:spPr>
      </p:pic>
      <p:pic>
        <p:nvPicPr>
          <p:cNvPr id="5" name="Picture 4"/>
          <p:cNvPicPr>
            <a:picLocks noChangeAspect="1"/>
          </p:cNvPicPr>
          <p:nvPr/>
        </p:nvPicPr>
        <p:blipFill>
          <a:blip r:embed="rId5"/>
          <a:stretch>
            <a:fillRect/>
          </a:stretch>
        </p:blipFill>
        <p:spPr>
          <a:xfrm flipH="1">
            <a:off x="1637587" y="4432300"/>
            <a:ext cx="826212" cy="603547"/>
          </a:xfrm>
          <a:prstGeom prst="rect">
            <a:avLst/>
          </a:prstGeom>
        </p:spPr>
      </p:pic>
    </p:spTree>
    <p:extLst>
      <p:ext uri="{BB962C8B-B14F-4D97-AF65-F5344CB8AC3E}">
        <p14:creationId xmlns:p14="http://schemas.microsoft.com/office/powerpoint/2010/main" val="6926575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221342"/>
            <a:ext cx="11313886" cy="6357258"/>
          </a:xfrm>
          <a:prstGeom prst="rect">
            <a:avLst/>
          </a:prstGeom>
          <a:noFill/>
          <a:ln>
            <a:noFill/>
          </a:ln>
        </p:spPr>
        <p:txBody>
          <a:bodyPr spcFirstLastPara="1" wrap="square" lIns="91425" tIns="45700" rIns="91425" bIns="45700" anchor="t" anchorCtr="0">
            <a:noAutofit/>
          </a:bodyPr>
          <a:lstStyle/>
          <a:p>
            <a:r>
              <a:rPr lang="en-US" altLang="en-US" sz="4400" b="1" dirty="0" smtClean="0"/>
              <a:t>LASER DIODE</a:t>
            </a:r>
          </a:p>
          <a:p>
            <a:r>
              <a:rPr lang="en-PH" sz="4400" dirty="0"/>
              <a:t>Laser diodes have a threshold level of current </a:t>
            </a:r>
            <a:r>
              <a:rPr lang="en-PH" sz="4400" dirty="0" smtClean="0"/>
              <a:t>above </a:t>
            </a:r>
            <a:r>
              <a:rPr lang="en-PH" sz="4400" dirty="0"/>
              <a:t>which the </a:t>
            </a:r>
            <a:r>
              <a:rPr lang="en-PH" sz="4400" dirty="0" smtClean="0"/>
              <a:t>laser action </a:t>
            </a:r>
            <a:r>
              <a:rPr lang="en-PH" sz="4400" dirty="0"/>
              <a:t>occurs but below which the laser diode behaves like a LED</a:t>
            </a:r>
          </a:p>
          <a:p>
            <a:r>
              <a:rPr lang="en-PH" sz="4400" dirty="0"/>
              <a:t>emitting incoherent light</a:t>
            </a:r>
            <a:r>
              <a:rPr lang="en-PH" sz="4400" dirty="0" smtClean="0"/>
              <a:t>.</a:t>
            </a:r>
          </a:p>
          <a:p>
            <a:r>
              <a:rPr lang="en-PH" sz="4400" dirty="0"/>
              <a:t>It is </a:t>
            </a:r>
            <a:r>
              <a:rPr lang="en-PH" sz="4400" b="1" dirty="0"/>
              <a:t>coherent </a:t>
            </a:r>
            <a:r>
              <a:rPr lang="en-PH" sz="4400" dirty="0" smtClean="0"/>
              <a:t>–  </a:t>
            </a:r>
            <a:r>
              <a:rPr lang="en-PH" sz="4400" dirty="0"/>
              <a:t>there is no path difference </a:t>
            </a:r>
            <a:r>
              <a:rPr lang="en-PH" sz="4400" dirty="0" smtClean="0"/>
              <a:t>between </a:t>
            </a:r>
            <a:r>
              <a:rPr lang="en-PH" sz="4400" dirty="0"/>
              <a:t>the </a:t>
            </a:r>
            <a:r>
              <a:rPr lang="en-PH" sz="4400" dirty="0" smtClean="0"/>
              <a:t>waves comprising </a:t>
            </a:r>
            <a:r>
              <a:rPr lang="en-PH" sz="4400" dirty="0"/>
              <a:t>the beam</a:t>
            </a:r>
            <a:r>
              <a:rPr lang="en-PH" sz="4400" dirty="0" smtClean="0"/>
              <a:t>.</a:t>
            </a:r>
          </a:p>
          <a:p>
            <a:r>
              <a:rPr lang="en-PH" sz="4400" dirty="0" smtClean="0"/>
              <a:t>It is </a:t>
            </a:r>
            <a:r>
              <a:rPr lang="en-PH" sz="4400" b="1" dirty="0" smtClean="0"/>
              <a:t>monochromatic </a:t>
            </a:r>
            <a:r>
              <a:rPr lang="en-PH" sz="4400" dirty="0" smtClean="0"/>
              <a:t>– it consists of one wavelength and hence one color only.</a:t>
            </a:r>
            <a:endParaRPr lang="en-US" altLang="en-US" sz="4400" dirty="0"/>
          </a:p>
        </p:txBody>
      </p:sp>
    </p:spTree>
    <p:extLst>
      <p:ext uri="{BB962C8B-B14F-4D97-AF65-F5344CB8AC3E}">
        <p14:creationId xmlns:p14="http://schemas.microsoft.com/office/powerpoint/2010/main" val="18521288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221342"/>
            <a:ext cx="11313886" cy="6357258"/>
          </a:xfrm>
          <a:prstGeom prst="rect">
            <a:avLst/>
          </a:prstGeom>
          <a:noFill/>
          <a:ln>
            <a:noFill/>
          </a:ln>
        </p:spPr>
        <p:txBody>
          <a:bodyPr spcFirstLastPara="1" wrap="square" lIns="91425" tIns="45700" rIns="91425" bIns="45700" anchor="t" anchorCtr="0">
            <a:noAutofit/>
          </a:bodyPr>
          <a:lstStyle/>
          <a:p>
            <a:r>
              <a:rPr lang="en-US" altLang="en-US" sz="4400" b="1" dirty="0" smtClean="0"/>
              <a:t>LASER DIODE</a:t>
            </a:r>
          </a:p>
          <a:p>
            <a:r>
              <a:rPr lang="en-PH" sz="4400" dirty="0"/>
              <a:t>It is </a:t>
            </a:r>
            <a:r>
              <a:rPr lang="en-PH" sz="4400" b="1" dirty="0"/>
              <a:t>collimated </a:t>
            </a:r>
            <a:r>
              <a:rPr lang="en-PH" sz="4400" dirty="0"/>
              <a:t>i.e. emitted light waves travel parallel to each other</a:t>
            </a:r>
            <a:r>
              <a:rPr lang="en-PH" sz="4400" dirty="0" smtClean="0"/>
              <a:t>.</a:t>
            </a:r>
          </a:p>
          <a:p>
            <a:r>
              <a:rPr lang="en-PH" sz="4400" dirty="0"/>
              <a:t>A filter or lens is necessary to view the laser </a:t>
            </a:r>
            <a:r>
              <a:rPr lang="en-PH" sz="4400" dirty="0" smtClean="0"/>
              <a:t>beam.</a:t>
            </a:r>
            <a:endParaRPr lang="en-US" altLang="en-US" sz="4400" b="1" dirty="0" smtClean="0"/>
          </a:p>
        </p:txBody>
      </p:sp>
      <p:pic>
        <p:nvPicPr>
          <p:cNvPr id="2" name="Picture 1"/>
          <p:cNvPicPr>
            <a:picLocks noChangeAspect="1"/>
          </p:cNvPicPr>
          <p:nvPr/>
        </p:nvPicPr>
        <p:blipFill>
          <a:blip r:embed="rId3"/>
          <a:stretch>
            <a:fillRect/>
          </a:stretch>
        </p:blipFill>
        <p:spPr>
          <a:xfrm>
            <a:off x="1812925" y="3819523"/>
            <a:ext cx="1657350" cy="2295525"/>
          </a:xfrm>
          <a:prstGeom prst="rect">
            <a:avLst/>
          </a:prstGeom>
        </p:spPr>
      </p:pic>
      <p:pic>
        <p:nvPicPr>
          <p:cNvPr id="3" name="Picture 2"/>
          <p:cNvPicPr>
            <a:picLocks noChangeAspect="1"/>
          </p:cNvPicPr>
          <p:nvPr/>
        </p:nvPicPr>
        <p:blipFill>
          <a:blip r:embed="rId4"/>
          <a:stretch>
            <a:fillRect/>
          </a:stretch>
        </p:blipFill>
        <p:spPr>
          <a:xfrm>
            <a:off x="7449457" y="3624258"/>
            <a:ext cx="2867025" cy="2505075"/>
          </a:xfrm>
          <a:prstGeom prst="rect">
            <a:avLst/>
          </a:prstGeom>
        </p:spPr>
      </p:pic>
      <p:pic>
        <p:nvPicPr>
          <p:cNvPr id="4" name="Picture 3"/>
          <p:cNvPicPr>
            <a:picLocks noChangeAspect="1"/>
          </p:cNvPicPr>
          <p:nvPr/>
        </p:nvPicPr>
        <p:blipFill>
          <a:blip r:embed="rId5"/>
          <a:stretch>
            <a:fillRect/>
          </a:stretch>
        </p:blipFill>
        <p:spPr>
          <a:xfrm>
            <a:off x="4335916" y="3559174"/>
            <a:ext cx="2247900" cy="2705100"/>
          </a:xfrm>
          <a:prstGeom prst="rect">
            <a:avLst/>
          </a:prstGeom>
        </p:spPr>
      </p:pic>
    </p:spTree>
    <p:extLst>
      <p:ext uri="{BB962C8B-B14F-4D97-AF65-F5344CB8AC3E}">
        <p14:creationId xmlns:p14="http://schemas.microsoft.com/office/powerpoint/2010/main" val="801829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221342"/>
            <a:ext cx="11313886" cy="6357258"/>
          </a:xfrm>
          <a:prstGeom prst="rect">
            <a:avLst/>
          </a:prstGeom>
          <a:noFill/>
          <a:ln>
            <a:noFill/>
          </a:ln>
        </p:spPr>
        <p:txBody>
          <a:bodyPr spcFirstLastPara="1" wrap="square" lIns="91425" tIns="45700" rIns="91425" bIns="45700" anchor="t" anchorCtr="0">
            <a:noAutofit/>
          </a:bodyPr>
          <a:lstStyle/>
          <a:p>
            <a:r>
              <a:rPr lang="en-US" altLang="en-US" sz="4400" dirty="0" smtClean="0">
                <a:solidFill>
                  <a:srgbClr val="C00000"/>
                </a:solidFill>
              </a:rPr>
              <a:t>APPLICATIONS</a:t>
            </a:r>
          </a:p>
          <a:p>
            <a:r>
              <a:rPr lang="en-PH" sz="4400" dirty="0"/>
              <a:t>used in variety of applications ranging from medical equipment </a:t>
            </a:r>
            <a:r>
              <a:rPr lang="en-PH" sz="4400" dirty="0" smtClean="0"/>
              <a:t>used in </a:t>
            </a:r>
            <a:r>
              <a:rPr lang="en-PH" sz="4400" dirty="0"/>
              <a:t>surgery to consumer products like optical disk equipment, laser</a:t>
            </a:r>
          </a:p>
          <a:p>
            <a:r>
              <a:rPr lang="en-PH" sz="4400" dirty="0"/>
              <a:t>printers, hologram scanners etc</a:t>
            </a:r>
            <a:r>
              <a:rPr lang="en-PH" sz="4400" dirty="0" smtClean="0"/>
              <a:t>.</a:t>
            </a:r>
          </a:p>
          <a:p>
            <a:r>
              <a:rPr lang="en-PH" sz="4400" dirty="0"/>
              <a:t>Laser diodes emitting visible light are used as pointers</a:t>
            </a:r>
            <a:r>
              <a:rPr lang="en-PH" sz="4400" dirty="0" smtClean="0"/>
              <a:t>.</a:t>
            </a:r>
          </a:p>
          <a:p>
            <a:r>
              <a:rPr lang="en-PH" sz="4400" dirty="0"/>
              <a:t>Those emitting visible and infrared light are used to measure </a:t>
            </a:r>
            <a:r>
              <a:rPr lang="en-PH" sz="4400" dirty="0" smtClean="0"/>
              <a:t>range (or </a:t>
            </a:r>
            <a:r>
              <a:rPr lang="en-PH" sz="4400" dirty="0"/>
              <a:t>distance).</a:t>
            </a:r>
            <a:endParaRPr lang="en-US" altLang="en-US" sz="4400" dirty="0">
              <a:solidFill>
                <a:srgbClr val="C00000"/>
              </a:solidFill>
            </a:endParaRPr>
          </a:p>
        </p:txBody>
      </p:sp>
    </p:spTree>
    <p:extLst>
      <p:ext uri="{BB962C8B-B14F-4D97-AF65-F5344CB8AC3E}">
        <p14:creationId xmlns:p14="http://schemas.microsoft.com/office/powerpoint/2010/main" val="7456530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4"/>
          <p:cNvSpPr txBox="1"/>
          <p:nvPr/>
        </p:nvSpPr>
        <p:spPr>
          <a:xfrm>
            <a:off x="631371" y="221342"/>
            <a:ext cx="11313886" cy="6357258"/>
          </a:xfrm>
          <a:prstGeom prst="rect">
            <a:avLst/>
          </a:prstGeom>
          <a:noFill/>
          <a:ln>
            <a:noFill/>
          </a:ln>
        </p:spPr>
        <p:txBody>
          <a:bodyPr spcFirstLastPara="1" wrap="square" lIns="91425" tIns="45700" rIns="91425" bIns="45700" anchor="t" anchorCtr="0">
            <a:noAutofit/>
          </a:bodyPr>
          <a:lstStyle/>
          <a:p>
            <a:r>
              <a:rPr lang="en-US" altLang="en-US" sz="4400" dirty="0" smtClean="0">
                <a:solidFill>
                  <a:srgbClr val="C00000"/>
                </a:solidFill>
              </a:rPr>
              <a:t>APPLICATIONS</a:t>
            </a:r>
          </a:p>
          <a:p>
            <a:r>
              <a:rPr lang="en-PH" sz="4400" dirty="0"/>
              <a:t>The laser diodes are also widely used in parallel processing </a:t>
            </a:r>
            <a:r>
              <a:rPr lang="en-PH" sz="4400" dirty="0" smtClean="0"/>
              <a:t>of information </a:t>
            </a:r>
            <a:r>
              <a:rPr lang="en-PH" sz="4400" dirty="0"/>
              <a:t>and in parallel interconnections between computers.</a:t>
            </a:r>
            <a:endParaRPr lang="en-US" altLang="en-US" sz="4400" dirty="0">
              <a:solidFill>
                <a:srgbClr val="C00000"/>
              </a:solidFill>
            </a:endParaRPr>
          </a:p>
        </p:txBody>
      </p:sp>
    </p:spTree>
    <p:extLst>
      <p:ext uri="{BB962C8B-B14F-4D97-AF65-F5344CB8AC3E}">
        <p14:creationId xmlns:p14="http://schemas.microsoft.com/office/powerpoint/2010/main" val="3912026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1930</Words>
  <Application>Microsoft Office PowerPoint</Application>
  <PresentationFormat>Widescreen</PresentationFormat>
  <Paragraphs>212</Paragraphs>
  <Slides>52</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Times New Roman</vt:lpstr>
      <vt:lpstr>Office Theme</vt:lpstr>
      <vt:lpstr>CPE 10 FUNDAMENTALS OF MIXED SIGNALS AND SENSORS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10 FUNDAMENTALS OF MIXED SIGNALS AND SENSORS</dc:title>
  <dc:creator>gb</dc:creator>
  <cp:lastModifiedBy>gb</cp:lastModifiedBy>
  <cp:revision>8</cp:revision>
  <dcterms:created xsi:type="dcterms:W3CDTF">2024-01-02T02:36:18Z</dcterms:created>
  <dcterms:modified xsi:type="dcterms:W3CDTF">2024-01-05T05:26:46Z</dcterms:modified>
</cp:coreProperties>
</file>