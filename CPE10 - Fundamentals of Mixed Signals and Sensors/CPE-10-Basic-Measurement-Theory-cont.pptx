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7" r:id="rId2"/>
    <p:sldId id="258" r:id="rId3"/>
    <p:sldId id="259" r:id="rId4"/>
    <p:sldId id="260" r:id="rId5"/>
    <p:sldId id="261" r:id="rId6"/>
    <p:sldId id="262" r:id="rId7"/>
    <p:sldId id="263" r:id="rId8"/>
    <p:sldId id="264" r:id="rId9"/>
    <p:sldId id="265" r:id="rId10"/>
    <p:sldId id="294" r:id="rId11"/>
    <p:sldId id="267" r:id="rId12"/>
    <p:sldId id="268" r:id="rId13"/>
    <p:sldId id="269" r:id="rId14"/>
    <p:sldId id="270" r:id="rId15"/>
    <p:sldId id="271" r:id="rId16"/>
    <p:sldId id="272" r:id="rId17"/>
    <p:sldId id="273" r:id="rId18"/>
    <p:sldId id="274" r:id="rId19"/>
    <p:sldId id="275" r:id="rId20"/>
    <p:sldId id="276" r:id="rId21"/>
    <p:sldId id="277" r:id="rId22"/>
    <p:sldId id="279" r:id="rId23"/>
    <p:sldId id="280" r:id="rId24"/>
    <p:sldId id="281" r:id="rId25"/>
    <p:sldId id="293" r:id="rId26"/>
    <p:sldId id="278" r:id="rId27"/>
    <p:sldId id="282" r:id="rId28"/>
    <p:sldId id="283" r:id="rId29"/>
    <p:sldId id="284" r:id="rId30"/>
    <p:sldId id="285" r:id="rId31"/>
    <p:sldId id="286" r:id="rId32"/>
    <p:sldId id="288" r:id="rId33"/>
    <p:sldId id="289" r:id="rId34"/>
    <p:sldId id="291" r:id="rId35"/>
    <p:sldId id="297" r:id="rId36"/>
    <p:sldId id="298" r:id="rId37"/>
    <p:sldId id="299" r:id="rId38"/>
    <p:sldId id="300" r:id="rId39"/>
    <p:sldId id="301" r:id="rId40"/>
    <p:sldId id="302" r:id="rId41"/>
    <p:sldId id="303" r:id="rId42"/>
    <p:sldId id="304" r:id="rId43"/>
    <p:sldId id="305" r:id="rId44"/>
    <p:sldId id="306" r:id="rId45"/>
    <p:sldId id="307" r:id="rId46"/>
    <p:sldId id="308" r:id="rId47"/>
    <p:sldId id="309" r:id="rId48"/>
    <p:sldId id="310"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0" d="100"/>
          <a:sy n="70" d="100"/>
        </p:scale>
        <p:origin x="72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E39581-D7CB-4458-AD08-3FB258AF1D5B}" type="datetimeFigureOut">
              <a:rPr lang="en-PH" smtClean="0"/>
              <a:t>05/11/2024</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0FC603-9477-4074-93A0-E8EE4ED7D6F5}" type="slidenum">
              <a:rPr lang="en-PH" smtClean="0"/>
              <a:t>‹#›</a:t>
            </a:fld>
            <a:endParaRPr lang="en-PH"/>
          </a:p>
        </p:txBody>
      </p:sp>
    </p:spTree>
    <p:extLst>
      <p:ext uri="{BB962C8B-B14F-4D97-AF65-F5344CB8AC3E}">
        <p14:creationId xmlns:p14="http://schemas.microsoft.com/office/powerpoint/2010/main" val="2670812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p:cNvSpPr>
            <a:spLocks noGrp="1"/>
          </p:cNvSpPr>
          <p:nvPr>
            <p:ph type="dt" sz="half" idx="10"/>
          </p:nvPr>
        </p:nvSpPr>
        <p:spPr/>
        <p:txBody>
          <a:bodyPr/>
          <a:lstStyle/>
          <a:p>
            <a:fld id="{980CB133-2F99-49D8-B2FE-0299980CEAF2}" type="datetimeFigureOut">
              <a:rPr lang="en-PH" smtClean="0"/>
              <a:t>05/11/2024</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8F3DC94B-96A5-4A4D-9716-5B709AACB130}" type="slidenum">
              <a:rPr lang="en-PH" smtClean="0"/>
              <a:t>‹#›</a:t>
            </a:fld>
            <a:endParaRPr lang="en-PH"/>
          </a:p>
        </p:txBody>
      </p:sp>
    </p:spTree>
    <p:extLst>
      <p:ext uri="{BB962C8B-B14F-4D97-AF65-F5344CB8AC3E}">
        <p14:creationId xmlns:p14="http://schemas.microsoft.com/office/powerpoint/2010/main" val="1202339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980CB133-2F99-49D8-B2FE-0299980CEAF2}" type="datetimeFigureOut">
              <a:rPr lang="en-PH" smtClean="0"/>
              <a:t>05/11/2024</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8F3DC94B-96A5-4A4D-9716-5B709AACB130}" type="slidenum">
              <a:rPr lang="en-PH" smtClean="0"/>
              <a:t>‹#›</a:t>
            </a:fld>
            <a:endParaRPr lang="en-PH"/>
          </a:p>
        </p:txBody>
      </p:sp>
    </p:spTree>
    <p:extLst>
      <p:ext uri="{BB962C8B-B14F-4D97-AF65-F5344CB8AC3E}">
        <p14:creationId xmlns:p14="http://schemas.microsoft.com/office/powerpoint/2010/main" val="17550506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0CB133-2F99-49D8-B2FE-0299980CEAF2}" type="datetimeFigureOut">
              <a:rPr lang="en-PH" smtClean="0"/>
              <a:t>05/11/2024</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8F3DC94B-96A5-4A4D-9716-5B709AACB130}" type="slidenum">
              <a:rPr lang="en-PH" smtClean="0"/>
              <a:t>‹#›</a:t>
            </a:fld>
            <a:endParaRPr lang="en-PH"/>
          </a:p>
        </p:txBody>
      </p:sp>
    </p:spTree>
    <p:extLst>
      <p:ext uri="{BB962C8B-B14F-4D97-AF65-F5344CB8AC3E}">
        <p14:creationId xmlns:p14="http://schemas.microsoft.com/office/powerpoint/2010/main" val="2736184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p:cNvSpPr>
            <a:spLocks noGrp="1"/>
          </p:cNvSpPr>
          <p:nvPr>
            <p:ph type="dt" sz="half" idx="10"/>
          </p:nvPr>
        </p:nvSpPr>
        <p:spPr/>
        <p:txBody>
          <a:bodyPr/>
          <a:lstStyle/>
          <a:p>
            <a:fld id="{980CB133-2F99-49D8-B2FE-0299980CEAF2}" type="datetimeFigureOut">
              <a:rPr lang="en-PH" smtClean="0"/>
              <a:t>05/11/2024</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8F3DC94B-96A5-4A4D-9716-5B709AACB130}" type="slidenum">
              <a:rPr lang="en-PH" smtClean="0"/>
              <a:t>‹#›</a:t>
            </a:fld>
            <a:endParaRPr lang="en-PH"/>
          </a:p>
        </p:txBody>
      </p:sp>
    </p:spTree>
    <p:extLst>
      <p:ext uri="{BB962C8B-B14F-4D97-AF65-F5344CB8AC3E}">
        <p14:creationId xmlns:p14="http://schemas.microsoft.com/office/powerpoint/2010/main" val="3238054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p:cNvSpPr>
            <a:spLocks noGrp="1"/>
          </p:cNvSpPr>
          <p:nvPr>
            <p:ph type="dt" sz="half" idx="10"/>
          </p:nvPr>
        </p:nvSpPr>
        <p:spPr/>
        <p:txBody>
          <a:bodyPr/>
          <a:lstStyle/>
          <a:p>
            <a:fld id="{980CB133-2F99-49D8-B2FE-0299980CEAF2}" type="datetimeFigureOut">
              <a:rPr lang="en-PH" smtClean="0"/>
              <a:t>05/11/2024</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8F3DC94B-96A5-4A4D-9716-5B709AACB130}" type="slidenum">
              <a:rPr lang="en-PH" smtClean="0"/>
              <a:t>‹#›</a:t>
            </a:fld>
            <a:endParaRPr lang="en-PH"/>
          </a:p>
        </p:txBody>
      </p:sp>
    </p:spTree>
    <p:extLst>
      <p:ext uri="{BB962C8B-B14F-4D97-AF65-F5344CB8AC3E}">
        <p14:creationId xmlns:p14="http://schemas.microsoft.com/office/powerpoint/2010/main" val="3141109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Date Placeholder 2"/>
          <p:cNvSpPr>
            <a:spLocks noGrp="1"/>
          </p:cNvSpPr>
          <p:nvPr>
            <p:ph type="dt" sz="half" idx="10"/>
          </p:nvPr>
        </p:nvSpPr>
        <p:spPr/>
        <p:txBody>
          <a:bodyPr/>
          <a:lstStyle/>
          <a:p>
            <a:fld id="{980CB133-2F99-49D8-B2FE-0299980CEAF2}" type="datetimeFigureOut">
              <a:rPr lang="en-PH" smtClean="0"/>
              <a:t>05/11/2024</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8F3DC94B-96A5-4A4D-9716-5B709AACB130}" type="slidenum">
              <a:rPr lang="en-PH" smtClean="0"/>
              <a:t>‹#›</a:t>
            </a:fld>
            <a:endParaRPr lang="en-PH"/>
          </a:p>
        </p:txBody>
      </p:sp>
    </p:spTree>
    <p:extLst>
      <p:ext uri="{BB962C8B-B14F-4D97-AF65-F5344CB8AC3E}">
        <p14:creationId xmlns:p14="http://schemas.microsoft.com/office/powerpoint/2010/main" val="1663616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0CB133-2F99-49D8-B2FE-0299980CEAF2}" type="datetimeFigureOut">
              <a:rPr lang="en-PH" smtClean="0"/>
              <a:t>05/11/2024</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8F3DC94B-96A5-4A4D-9716-5B709AACB130}" type="slidenum">
              <a:rPr lang="en-PH" smtClean="0"/>
              <a:t>‹#›</a:t>
            </a:fld>
            <a:endParaRPr lang="en-PH"/>
          </a:p>
        </p:txBody>
      </p:sp>
    </p:spTree>
    <p:extLst>
      <p:ext uri="{BB962C8B-B14F-4D97-AF65-F5344CB8AC3E}">
        <p14:creationId xmlns:p14="http://schemas.microsoft.com/office/powerpoint/2010/main" val="600032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0CB133-2F99-49D8-B2FE-0299980CEAF2}" type="datetimeFigureOut">
              <a:rPr lang="en-PH" smtClean="0"/>
              <a:t>05/11/2024</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8F3DC94B-96A5-4A4D-9716-5B709AACB130}" type="slidenum">
              <a:rPr lang="en-PH" smtClean="0"/>
              <a:t>‹#›</a:t>
            </a:fld>
            <a:endParaRPr lang="en-PH"/>
          </a:p>
        </p:txBody>
      </p:sp>
    </p:spTree>
    <p:extLst>
      <p:ext uri="{BB962C8B-B14F-4D97-AF65-F5344CB8AC3E}">
        <p14:creationId xmlns:p14="http://schemas.microsoft.com/office/powerpoint/2010/main" val="10910859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0CB133-2F99-49D8-B2FE-0299980CEAF2}" type="datetimeFigureOut">
              <a:rPr lang="en-PH" smtClean="0"/>
              <a:t>05/11/2024</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8F3DC94B-96A5-4A4D-9716-5B709AACB130}" type="slidenum">
              <a:rPr lang="en-PH" smtClean="0"/>
              <a:t>‹#›</a:t>
            </a:fld>
            <a:endParaRPr lang="en-PH"/>
          </a:p>
        </p:txBody>
      </p:sp>
    </p:spTree>
    <p:extLst>
      <p:ext uri="{BB962C8B-B14F-4D97-AF65-F5344CB8AC3E}">
        <p14:creationId xmlns:p14="http://schemas.microsoft.com/office/powerpoint/2010/main" val="2985632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980CB133-2F99-49D8-B2FE-0299980CEAF2}" type="datetimeFigureOut">
              <a:rPr lang="en-PH" smtClean="0"/>
              <a:t>05/11/2024</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8F3DC94B-96A5-4A4D-9716-5B709AACB130}" type="slidenum">
              <a:rPr lang="en-PH" smtClean="0"/>
              <a:t>‹#›</a:t>
            </a:fld>
            <a:endParaRPr lang="en-PH"/>
          </a:p>
        </p:txBody>
      </p:sp>
    </p:spTree>
    <p:extLst>
      <p:ext uri="{BB962C8B-B14F-4D97-AF65-F5344CB8AC3E}">
        <p14:creationId xmlns:p14="http://schemas.microsoft.com/office/powerpoint/2010/main" val="727687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980CB133-2F99-49D8-B2FE-0299980CEAF2}" type="datetimeFigureOut">
              <a:rPr lang="en-PH" smtClean="0"/>
              <a:t>05/11/2024</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8F3DC94B-96A5-4A4D-9716-5B709AACB130}" type="slidenum">
              <a:rPr lang="en-PH" smtClean="0"/>
              <a:t>‹#›</a:t>
            </a:fld>
            <a:endParaRPr lang="en-PH"/>
          </a:p>
        </p:txBody>
      </p:sp>
    </p:spTree>
    <p:extLst>
      <p:ext uri="{BB962C8B-B14F-4D97-AF65-F5344CB8AC3E}">
        <p14:creationId xmlns:p14="http://schemas.microsoft.com/office/powerpoint/2010/main" val="1607876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0CB133-2F99-49D8-B2FE-0299980CEAF2}" type="datetimeFigureOut">
              <a:rPr lang="en-PH" smtClean="0"/>
              <a:t>05/11/2024</a:t>
            </a:fld>
            <a:endParaRPr lang="en-PH"/>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3DC94B-96A5-4A4D-9716-5B709AACB130}" type="slidenum">
              <a:rPr lang="en-PH" smtClean="0"/>
              <a:t>‹#›</a:t>
            </a:fld>
            <a:endParaRPr lang="en-PH"/>
          </a:p>
        </p:txBody>
      </p:sp>
    </p:spTree>
    <p:extLst>
      <p:ext uri="{BB962C8B-B14F-4D97-AF65-F5344CB8AC3E}">
        <p14:creationId xmlns:p14="http://schemas.microsoft.com/office/powerpoint/2010/main" val="42336405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PH" sz="5400" dirty="0"/>
              <a:t>DIRECT CURRENT METERS</a:t>
            </a:r>
          </a:p>
        </p:txBody>
      </p:sp>
      <p:sp>
        <p:nvSpPr>
          <p:cNvPr id="3" name="Content Placeholder 2"/>
          <p:cNvSpPr>
            <a:spLocks noGrp="1"/>
          </p:cNvSpPr>
          <p:nvPr>
            <p:ph idx="1"/>
          </p:nvPr>
        </p:nvSpPr>
        <p:spPr>
          <a:xfrm>
            <a:off x="495300" y="1825625"/>
            <a:ext cx="11150600" cy="4351338"/>
          </a:xfrm>
        </p:spPr>
        <p:txBody>
          <a:bodyPr>
            <a:normAutofit lnSpcReduction="10000"/>
          </a:bodyPr>
          <a:lstStyle/>
          <a:p>
            <a:pPr marL="0" indent="0">
              <a:buNone/>
            </a:pPr>
            <a:r>
              <a:rPr lang="en-PH" sz="4400" dirty="0"/>
              <a:t>An instrument intended for the measurement of electrical quantity in a direct current circuit.</a:t>
            </a:r>
          </a:p>
          <a:p>
            <a:pPr marL="0" indent="0">
              <a:buNone/>
            </a:pPr>
            <a:endParaRPr lang="en-PH" sz="4400" dirty="0"/>
          </a:p>
          <a:p>
            <a:pPr marL="0" indent="0">
              <a:buNone/>
            </a:pPr>
            <a:r>
              <a:rPr lang="en-PH" sz="4400" b="1" dirty="0"/>
              <a:t>Hans </a:t>
            </a:r>
            <a:r>
              <a:rPr lang="en-PH" sz="4400" b="1" dirty="0" err="1"/>
              <a:t>Oersted</a:t>
            </a:r>
            <a:r>
              <a:rPr lang="en-PH" sz="4400" b="1" dirty="0"/>
              <a:t> </a:t>
            </a:r>
            <a:r>
              <a:rPr lang="en-PH" sz="4400" dirty="0"/>
              <a:t>– discovered the relationship between current and magnetism.</a:t>
            </a:r>
          </a:p>
          <a:p>
            <a:pPr marL="0" indent="0">
              <a:buNone/>
            </a:pPr>
            <a:r>
              <a:rPr lang="en-PH" sz="4400" b="1" dirty="0"/>
              <a:t>Jacques D’Arsonval </a:t>
            </a:r>
            <a:r>
              <a:rPr lang="en-PH" sz="4400" dirty="0"/>
              <a:t>– patented the permanent moving coil galvanometer.</a:t>
            </a:r>
          </a:p>
        </p:txBody>
      </p:sp>
    </p:spTree>
    <p:extLst>
      <p:ext uri="{BB962C8B-B14F-4D97-AF65-F5344CB8AC3E}">
        <p14:creationId xmlns:p14="http://schemas.microsoft.com/office/powerpoint/2010/main" val="202919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dirty="0"/>
              <a:t>D’Arsonval Meter Movement or Permanent Magnet Moving Coil (PMMC) Meter Movement</a:t>
            </a:r>
          </a:p>
        </p:txBody>
      </p:sp>
      <p:pic>
        <p:nvPicPr>
          <p:cNvPr id="5" name="Picture 4"/>
          <p:cNvPicPr>
            <a:picLocks noChangeAspect="1"/>
          </p:cNvPicPr>
          <p:nvPr/>
        </p:nvPicPr>
        <p:blipFill>
          <a:blip r:embed="rId2"/>
          <a:stretch>
            <a:fillRect/>
          </a:stretch>
        </p:blipFill>
        <p:spPr>
          <a:xfrm>
            <a:off x="3495674" y="1854200"/>
            <a:ext cx="4015509" cy="4775200"/>
          </a:xfrm>
          <a:prstGeom prst="rect">
            <a:avLst/>
          </a:prstGeom>
        </p:spPr>
      </p:pic>
    </p:spTree>
    <p:extLst>
      <p:ext uri="{BB962C8B-B14F-4D97-AF65-F5344CB8AC3E}">
        <p14:creationId xmlns:p14="http://schemas.microsoft.com/office/powerpoint/2010/main" val="35354565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dirty="0"/>
              <a:t>	The d’Arsonval meter movement is very widely used. It can be used to indicate the value of dc and ac quantity. </a:t>
            </a:r>
          </a:p>
          <a:p>
            <a:pPr marL="0" indent="0">
              <a:buNone/>
            </a:pPr>
            <a:r>
              <a:rPr lang="en-PH" sz="4400" dirty="0"/>
              <a:t>	 Regardless of the units (volt, ohm, </a:t>
            </a:r>
            <a:r>
              <a:rPr lang="en-PH" sz="4400" dirty="0" err="1"/>
              <a:t>etc</a:t>
            </a:r>
            <a:r>
              <a:rPr lang="en-PH" sz="4400" dirty="0"/>
              <a:t>) for which the scale is calibrated, the moving coil responds to the amount of current through its winding.</a:t>
            </a:r>
          </a:p>
        </p:txBody>
      </p:sp>
    </p:spTree>
    <p:extLst>
      <p:ext uri="{BB962C8B-B14F-4D97-AF65-F5344CB8AC3E}">
        <p14:creationId xmlns:p14="http://schemas.microsoft.com/office/powerpoint/2010/main" val="1452258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dirty="0"/>
              <a:t>	When current flows through the coil, the core will rotate. The amount of rotation is proportional to the amount of current flowing through the coil. </a:t>
            </a:r>
          </a:p>
          <a:p>
            <a:pPr marL="0" indent="0">
              <a:buNone/>
            </a:pPr>
            <a:r>
              <a:rPr lang="en-PH" sz="4400" dirty="0"/>
              <a:t>	The meter requires low current (~50</a:t>
            </a:r>
            <a:r>
              <a:rPr lang="el-GR" sz="4400" dirty="0"/>
              <a:t>μ</a:t>
            </a:r>
            <a:r>
              <a:rPr lang="en-PH" sz="4400" dirty="0"/>
              <a:t>A) for a full scale deflection, thus consumes very low power (25-200 </a:t>
            </a:r>
            <a:r>
              <a:rPr lang="el-GR" sz="4400" dirty="0"/>
              <a:t>μ</a:t>
            </a:r>
            <a:r>
              <a:rPr lang="en-PH" sz="4400" dirty="0"/>
              <a:t>W). Its accuracy is about 2% -5% of full scale deflection.</a:t>
            </a:r>
          </a:p>
        </p:txBody>
      </p:sp>
    </p:spTree>
    <p:extLst>
      <p:ext uri="{BB962C8B-B14F-4D97-AF65-F5344CB8AC3E}">
        <p14:creationId xmlns:p14="http://schemas.microsoft.com/office/powerpoint/2010/main" val="1082582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3977536" y="1378861"/>
            <a:ext cx="3687764" cy="2642730"/>
          </a:xfrm>
          <a:prstGeom prst="rect">
            <a:avLst/>
          </a:prstGeom>
        </p:spPr>
      </p:pic>
      <p:pic>
        <p:nvPicPr>
          <p:cNvPr id="4" name="Picture 3"/>
          <p:cNvPicPr>
            <a:picLocks noChangeAspect="1"/>
          </p:cNvPicPr>
          <p:nvPr/>
        </p:nvPicPr>
        <p:blipFill>
          <a:blip r:embed="rId3"/>
          <a:stretch>
            <a:fillRect/>
          </a:stretch>
        </p:blipFill>
        <p:spPr>
          <a:xfrm>
            <a:off x="8108951" y="1241204"/>
            <a:ext cx="3373438" cy="2907014"/>
          </a:xfrm>
          <a:prstGeom prst="rect">
            <a:avLst/>
          </a:prstGeom>
        </p:spPr>
      </p:pic>
      <p:pic>
        <p:nvPicPr>
          <p:cNvPr id="5" name="Picture 4"/>
          <p:cNvPicPr>
            <a:picLocks noChangeAspect="1"/>
          </p:cNvPicPr>
          <p:nvPr/>
        </p:nvPicPr>
        <p:blipFill>
          <a:blip r:embed="rId4"/>
          <a:stretch>
            <a:fillRect/>
          </a:stretch>
        </p:blipFill>
        <p:spPr>
          <a:xfrm>
            <a:off x="608012" y="1241204"/>
            <a:ext cx="2925873" cy="2780387"/>
          </a:xfrm>
          <a:prstGeom prst="rect">
            <a:avLst/>
          </a:prstGeom>
        </p:spPr>
      </p:pic>
      <p:sp>
        <p:nvSpPr>
          <p:cNvPr id="6" name="Content Placeholder 2"/>
          <p:cNvSpPr txBox="1">
            <a:spLocks/>
          </p:cNvSpPr>
          <p:nvPr/>
        </p:nvSpPr>
        <p:spPr>
          <a:xfrm>
            <a:off x="395289" y="419100"/>
            <a:ext cx="11087100" cy="6172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PH" sz="4400" dirty="0"/>
              <a:t>	</a:t>
            </a:r>
          </a:p>
          <a:p>
            <a:pPr marL="0" indent="0">
              <a:buFont typeface="Arial" panose="020B0604020202020204" pitchFamily="34" charset="0"/>
              <a:buNone/>
            </a:pPr>
            <a:endParaRPr lang="en-PH" sz="4400" dirty="0"/>
          </a:p>
          <a:p>
            <a:pPr marL="0" indent="0">
              <a:buFont typeface="Arial" panose="020B0604020202020204" pitchFamily="34" charset="0"/>
              <a:buNone/>
            </a:pPr>
            <a:endParaRPr lang="en-PH" sz="4400" dirty="0"/>
          </a:p>
          <a:p>
            <a:pPr marL="0" indent="0">
              <a:buFont typeface="Arial" panose="020B0604020202020204" pitchFamily="34" charset="0"/>
              <a:buNone/>
            </a:pPr>
            <a:endParaRPr lang="en-PH" sz="4400" dirty="0"/>
          </a:p>
          <a:p>
            <a:pPr marL="0" indent="0">
              <a:buFont typeface="Arial" panose="020B0604020202020204" pitchFamily="34" charset="0"/>
              <a:buNone/>
            </a:pPr>
            <a:endParaRPr lang="en-PH" sz="4400" dirty="0"/>
          </a:p>
          <a:p>
            <a:pPr marL="0" indent="0">
              <a:buFont typeface="Arial" panose="020B0604020202020204" pitchFamily="34" charset="0"/>
              <a:buNone/>
            </a:pPr>
            <a:endParaRPr lang="en-PH" sz="4400" dirty="0"/>
          </a:p>
          <a:p>
            <a:pPr marL="0" indent="0">
              <a:buFont typeface="Arial" panose="020B0604020202020204" pitchFamily="34" charset="0"/>
              <a:buNone/>
            </a:pPr>
            <a:r>
              <a:rPr lang="en-PH" sz="4400" dirty="0"/>
              <a:t>Ohm meter, </a:t>
            </a:r>
            <a:r>
              <a:rPr lang="en-PH" sz="4400" dirty="0" err="1"/>
              <a:t>milliammeter</a:t>
            </a:r>
            <a:r>
              <a:rPr lang="en-PH" sz="4400" dirty="0"/>
              <a:t>, &amp; voltmeter with deflection type indicators.</a:t>
            </a:r>
          </a:p>
        </p:txBody>
      </p:sp>
    </p:spTree>
    <p:extLst>
      <p:ext uri="{BB962C8B-B14F-4D97-AF65-F5344CB8AC3E}">
        <p14:creationId xmlns:p14="http://schemas.microsoft.com/office/powerpoint/2010/main" val="2185243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rmAutofit lnSpcReduction="10000"/>
          </a:bodyPr>
          <a:lstStyle/>
          <a:p>
            <a:pPr marL="0" indent="0">
              <a:buNone/>
            </a:pPr>
            <a:r>
              <a:rPr lang="en-PH" sz="4400" dirty="0">
                <a:solidFill>
                  <a:srgbClr val="002060"/>
                </a:solidFill>
              </a:rPr>
              <a:t>DC AMMETER</a:t>
            </a:r>
          </a:p>
          <a:p>
            <a:pPr marL="0" indent="0">
              <a:buNone/>
            </a:pPr>
            <a:r>
              <a:rPr lang="en-PH" sz="4400" dirty="0"/>
              <a:t>If a resistor is placed in parallel with the Permanent Magnet Moving Coil (PMMC) galvanometer, then the entire combination acts as dc ammeter. </a:t>
            </a:r>
          </a:p>
          <a:p>
            <a:pPr marL="0" indent="0">
              <a:buNone/>
            </a:pPr>
            <a:r>
              <a:rPr lang="en-PH" sz="4400" dirty="0"/>
              <a:t>The parallel resistance, which is used in dc ammeter is also called </a:t>
            </a:r>
            <a:r>
              <a:rPr lang="en-PH" sz="4400" dirty="0">
                <a:solidFill>
                  <a:srgbClr val="002060"/>
                </a:solidFill>
              </a:rPr>
              <a:t>shunt resistance </a:t>
            </a:r>
            <a:r>
              <a:rPr lang="en-PH" sz="4400" dirty="0"/>
              <a:t>or </a:t>
            </a:r>
            <a:r>
              <a:rPr lang="en-PH" sz="4400" dirty="0">
                <a:solidFill>
                  <a:srgbClr val="002060"/>
                </a:solidFill>
              </a:rPr>
              <a:t>shunt</a:t>
            </a:r>
            <a:r>
              <a:rPr lang="en-PH" sz="4400" dirty="0"/>
              <a:t>. The value of this resistance should be considered small in order to measure </a:t>
            </a:r>
            <a:r>
              <a:rPr lang="en-PH" sz="4400"/>
              <a:t>the dc </a:t>
            </a:r>
            <a:r>
              <a:rPr lang="en-PH" sz="4400" dirty="0"/>
              <a:t>current of large value.</a:t>
            </a:r>
          </a:p>
          <a:p>
            <a:pPr marL="0" indent="0">
              <a:buNone/>
            </a:pPr>
            <a:endParaRPr lang="en-PH" sz="4400" dirty="0"/>
          </a:p>
        </p:txBody>
      </p:sp>
    </p:spTree>
    <p:extLst>
      <p:ext uri="{BB962C8B-B14F-4D97-AF65-F5344CB8AC3E}">
        <p14:creationId xmlns:p14="http://schemas.microsoft.com/office/powerpoint/2010/main" val="1256467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dirty="0">
                <a:solidFill>
                  <a:srgbClr val="002060"/>
                </a:solidFill>
              </a:rPr>
              <a:t>DC AMMETER</a:t>
            </a:r>
          </a:p>
          <a:p>
            <a:pPr marL="0" indent="0">
              <a:buNone/>
            </a:pPr>
            <a:r>
              <a:rPr lang="en-PH" sz="4000" dirty="0"/>
              <a:t>Where:</a:t>
            </a:r>
          </a:p>
          <a:p>
            <a:pPr marL="0" indent="0">
              <a:buNone/>
            </a:pPr>
            <a:r>
              <a:rPr lang="en-PH" sz="4000" dirty="0" err="1"/>
              <a:t>R</a:t>
            </a:r>
            <a:r>
              <a:rPr lang="en-PH" sz="3200" dirty="0" err="1"/>
              <a:t>sh</a:t>
            </a:r>
            <a:r>
              <a:rPr lang="en-PH" sz="4000" dirty="0"/>
              <a:t> = shunt resistance</a:t>
            </a:r>
          </a:p>
          <a:p>
            <a:pPr marL="0" indent="0">
              <a:buNone/>
            </a:pPr>
            <a:r>
              <a:rPr lang="en-PH" sz="4000" dirty="0"/>
              <a:t>R</a:t>
            </a:r>
            <a:r>
              <a:rPr lang="en-PH" sz="3200" dirty="0"/>
              <a:t>m</a:t>
            </a:r>
            <a:r>
              <a:rPr lang="en-PH" sz="4000" dirty="0"/>
              <a:t> = internal resistance</a:t>
            </a:r>
          </a:p>
          <a:p>
            <a:pPr marL="0" indent="0">
              <a:buNone/>
            </a:pPr>
            <a:r>
              <a:rPr lang="en-PH" sz="4000" dirty="0" err="1"/>
              <a:t>I</a:t>
            </a:r>
            <a:r>
              <a:rPr lang="en-PH" sz="3200" dirty="0" err="1"/>
              <a:t>sh</a:t>
            </a:r>
            <a:r>
              <a:rPr lang="en-PH" sz="4000" dirty="0"/>
              <a:t> = shunt current</a:t>
            </a:r>
          </a:p>
          <a:p>
            <a:pPr marL="0" indent="0">
              <a:buNone/>
            </a:pPr>
            <a:r>
              <a:rPr lang="en-PH" sz="4000" dirty="0" err="1"/>
              <a:t>I</a:t>
            </a:r>
            <a:r>
              <a:rPr lang="en-PH" sz="3200" dirty="0" err="1"/>
              <a:t>m</a:t>
            </a:r>
            <a:r>
              <a:rPr lang="en-PH" sz="4000" dirty="0"/>
              <a:t> = full scale deflection current</a:t>
            </a:r>
          </a:p>
          <a:p>
            <a:pPr marL="0" indent="0">
              <a:buNone/>
            </a:pPr>
            <a:r>
              <a:rPr lang="en-PH" sz="4000" dirty="0"/>
              <a:t>I = full scale deflection current for the ammeter</a:t>
            </a:r>
          </a:p>
          <a:p>
            <a:pPr marL="0" indent="0">
              <a:buNone/>
            </a:pPr>
            <a:endParaRPr lang="en-PH" sz="4400" dirty="0"/>
          </a:p>
          <a:p>
            <a:pPr marL="0" indent="0">
              <a:buNone/>
            </a:pPr>
            <a:endParaRPr lang="en-PH" sz="4400" dirty="0"/>
          </a:p>
        </p:txBody>
      </p:sp>
      <p:pic>
        <p:nvPicPr>
          <p:cNvPr id="7" name="Picture 6"/>
          <p:cNvPicPr>
            <a:picLocks noChangeAspect="1"/>
          </p:cNvPicPr>
          <p:nvPr/>
        </p:nvPicPr>
        <p:blipFill>
          <a:blip r:embed="rId2"/>
          <a:stretch>
            <a:fillRect/>
          </a:stretch>
        </p:blipFill>
        <p:spPr>
          <a:xfrm>
            <a:off x="6076950" y="-154674"/>
            <a:ext cx="5750977" cy="3844489"/>
          </a:xfrm>
          <a:prstGeom prst="rect">
            <a:avLst/>
          </a:prstGeom>
        </p:spPr>
      </p:pic>
    </p:spTree>
    <p:extLst>
      <p:ext uri="{BB962C8B-B14F-4D97-AF65-F5344CB8AC3E}">
        <p14:creationId xmlns:p14="http://schemas.microsoft.com/office/powerpoint/2010/main" val="3668961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dirty="0">
                    <a:solidFill>
                      <a:srgbClr val="002060"/>
                    </a:solidFill>
                  </a:rPr>
                  <a:t>DC AMMETER</a:t>
                </a:r>
              </a:p>
              <a:p>
                <a:pPr marL="0" indent="0">
                  <a:buNone/>
                </a:pPr>
                <a:r>
                  <a:rPr lang="en-PH" sz="4400" dirty="0" err="1"/>
                  <a:t>V</a:t>
                </a:r>
                <a:r>
                  <a:rPr lang="en-PH" sz="3200" dirty="0" err="1"/>
                  <a:t>m</a:t>
                </a:r>
                <a:r>
                  <a:rPr lang="en-PH" sz="4400" dirty="0"/>
                  <a:t> = </a:t>
                </a:r>
                <a:r>
                  <a:rPr lang="en-PH" sz="4400" dirty="0" err="1"/>
                  <a:t>I</a:t>
                </a:r>
                <a:r>
                  <a:rPr lang="en-PH" sz="3200" dirty="0" err="1"/>
                  <a:t>m</a:t>
                </a:r>
                <a:r>
                  <a:rPr lang="en-PH" sz="4400" dirty="0" err="1"/>
                  <a:t>R</a:t>
                </a:r>
                <a:r>
                  <a:rPr lang="en-PH" sz="3200" dirty="0" err="1"/>
                  <a:t>m</a:t>
                </a:r>
                <a:endParaRPr lang="en-PH" sz="3200" dirty="0"/>
              </a:p>
              <a:p>
                <a:pPr marL="0" indent="0">
                  <a:buNone/>
                </a:pPr>
                <a:endParaRPr lang="en-PH" sz="4400" dirty="0"/>
              </a:p>
              <a:p>
                <a:pPr marL="0" indent="0">
                  <a:buNone/>
                </a:pPr>
                <a:r>
                  <a:rPr lang="en-PH" sz="4400" dirty="0" err="1"/>
                  <a:t>R</a:t>
                </a:r>
                <a:r>
                  <a:rPr lang="en-PH" sz="3200" dirty="0" err="1"/>
                  <a:t>sh</a:t>
                </a:r>
                <a:r>
                  <a:rPr lang="en-PH" sz="4400" dirty="0"/>
                  <a:t>//R</a:t>
                </a:r>
                <a:r>
                  <a:rPr lang="en-PH" sz="3200" dirty="0"/>
                  <a:t>m</a:t>
                </a:r>
              </a:p>
              <a:p>
                <a:pPr marL="0" indent="0">
                  <a:buNone/>
                </a:pPr>
                <a:r>
                  <a:rPr lang="en-PH" sz="4400" dirty="0" err="1"/>
                  <a:t>V</a:t>
                </a:r>
                <a:r>
                  <a:rPr lang="en-PH" sz="3200" dirty="0" err="1"/>
                  <a:t>sh</a:t>
                </a:r>
                <a:r>
                  <a:rPr lang="en-PH" sz="4400" dirty="0"/>
                  <a:t> = </a:t>
                </a:r>
                <a:r>
                  <a:rPr lang="en-PH" sz="4400" dirty="0" err="1"/>
                  <a:t>V</a:t>
                </a:r>
                <a:r>
                  <a:rPr lang="en-PH" sz="3200" dirty="0" err="1"/>
                  <a:t>m</a:t>
                </a:r>
                <a:r>
                  <a:rPr lang="en-PH" sz="4400" dirty="0"/>
                  <a:t> ; </a:t>
                </a:r>
                <a:r>
                  <a:rPr lang="en-PH" sz="4400" dirty="0" err="1"/>
                  <a:t>I</a:t>
                </a:r>
                <a:r>
                  <a:rPr lang="en-PH" sz="3200" dirty="0" err="1"/>
                  <a:t>sh</a:t>
                </a:r>
                <a:r>
                  <a:rPr lang="en-PH" sz="4400" dirty="0"/>
                  <a:t> = I – </a:t>
                </a:r>
                <a:r>
                  <a:rPr lang="en-PH" sz="4400" dirty="0" err="1"/>
                  <a:t>I</a:t>
                </a:r>
                <a:r>
                  <a:rPr lang="en-PH" sz="3200" dirty="0" err="1"/>
                  <a:t>m</a:t>
                </a:r>
                <a:endParaRPr lang="en-PH" sz="4400" dirty="0"/>
              </a:p>
              <a:p>
                <a:pPr marL="0" indent="0">
                  <a:buNone/>
                </a:pPr>
                <a:endParaRPr lang="en-PH" sz="4400" dirty="0"/>
              </a:p>
              <a:p>
                <a:pPr marL="0" indent="0">
                  <a:buNone/>
                </a:pPr>
                <a:r>
                  <a:rPr lang="en-PH" sz="4400" dirty="0" err="1"/>
                  <a:t>R</a:t>
                </a:r>
                <a:r>
                  <a:rPr lang="en-PH" sz="3200" dirty="0" err="1"/>
                  <a:t>sh</a:t>
                </a:r>
                <a:r>
                  <a:rPr lang="en-PH" sz="4400" dirty="0"/>
                  <a:t> = </a:t>
                </a:r>
                <a14:m>
                  <m:oMath xmlns:m="http://schemas.openxmlformats.org/officeDocument/2006/math">
                    <m:f>
                      <m:fPr>
                        <m:ctrlPr>
                          <a:rPr lang="en-PH" sz="4400" i="1" smtClean="0">
                            <a:latin typeface="Cambria Math" panose="02040503050406030204" pitchFamily="18" charset="0"/>
                          </a:rPr>
                        </m:ctrlPr>
                      </m:fPr>
                      <m:num>
                        <m:r>
                          <a:rPr lang="en-PH" sz="4400" b="0" i="1" smtClean="0">
                            <a:latin typeface="Cambria Math" panose="02040503050406030204" pitchFamily="18" charset="0"/>
                          </a:rPr>
                          <m:t>𝑉𝑠h</m:t>
                        </m:r>
                      </m:num>
                      <m:den>
                        <m:r>
                          <a:rPr lang="en-PH" sz="4400" b="0" i="1" smtClean="0">
                            <a:latin typeface="Cambria Math" panose="02040503050406030204" pitchFamily="18" charset="0"/>
                          </a:rPr>
                          <m:t>𝐼𝑠h</m:t>
                        </m:r>
                      </m:den>
                    </m:f>
                  </m:oMath>
                </a14:m>
                <a:r>
                  <a:rPr lang="en-PH" sz="4400" dirty="0"/>
                  <a:t> = </a:t>
                </a:r>
                <a14:m>
                  <m:oMath xmlns:m="http://schemas.openxmlformats.org/officeDocument/2006/math">
                    <m:f>
                      <m:fPr>
                        <m:ctrlPr>
                          <a:rPr lang="en-PH" sz="4400" i="1" smtClean="0">
                            <a:latin typeface="Cambria Math" panose="02040503050406030204" pitchFamily="18" charset="0"/>
                          </a:rPr>
                        </m:ctrlPr>
                      </m:fPr>
                      <m:num>
                        <m:r>
                          <a:rPr lang="en-PH" sz="4400" b="0" i="1" smtClean="0">
                            <a:latin typeface="Cambria Math" panose="02040503050406030204" pitchFamily="18" charset="0"/>
                          </a:rPr>
                          <m:t>𝐼𝑚𝑅𝑚</m:t>
                        </m:r>
                      </m:num>
                      <m:den>
                        <m:r>
                          <a:rPr lang="en-PH" sz="4400" b="0" i="1" smtClean="0">
                            <a:latin typeface="Cambria Math" panose="02040503050406030204" pitchFamily="18" charset="0"/>
                          </a:rPr>
                          <m:t>𝐼𝑠h</m:t>
                        </m:r>
                      </m:den>
                    </m:f>
                  </m:oMath>
                </a14:m>
                <a:r>
                  <a:rPr lang="en-PH" sz="4400" dirty="0"/>
                  <a:t> = </a:t>
                </a:r>
                <a14:m>
                  <m:oMath xmlns:m="http://schemas.openxmlformats.org/officeDocument/2006/math">
                    <m:f>
                      <m:fPr>
                        <m:ctrlPr>
                          <a:rPr lang="en-PH" sz="4400" i="1" smtClean="0">
                            <a:latin typeface="Cambria Math" panose="02040503050406030204" pitchFamily="18" charset="0"/>
                          </a:rPr>
                        </m:ctrlPr>
                      </m:fPr>
                      <m:num>
                        <m:r>
                          <a:rPr lang="en-PH" sz="4400" b="0" i="1" smtClean="0">
                            <a:latin typeface="Cambria Math" panose="02040503050406030204" pitchFamily="18" charset="0"/>
                          </a:rPr>
                          <m:t>𝐼𝑚</m:t>
                        </m:r>
                      </m:num>
                      <m:den>
                        <m:r>
                          <a:rPr lang="en-PH" sz="4400" b="0" i="1" smtClean="0">
                            <a:latin typeface="Cambria Math" panose="02040503050406030204" pitchFamily="18" charset="0"/>
                          </a:rPr>
                          <m:t>𝐼</m:t>
                        </m:r>
                        <m:r>
                          <a:rPr lang="en-PH" sz="4400" b="0" i="1" smtClean="0">
                            <a:latin typeface="Cambria Math" panose="02040503050406030204" pitchFamily="18" charset="0"/>
                          </a:rPr>
                          <m:t> −</m:t>
                        </m:r>
                        <m:r>
                          <a:rPr lang="en-PH" sz="4400" b="0" i="1" smtClean="0">
                            <a:latin typeface="Cambria Math" panose="02040503050406030204" pitchFamily="18" charset="0"/>
                          </a:rPr>
                          <m:t>𝐼𝑚</m:t>
                        </m:r>
                      </m:den>
                    </m:f>
                    <m:r>
                      <m:rPr>
                        <m:sty m:val="p"/>
                      </m:rPr>
                      <a:rPr lang="en-PH" sz="4400" b="0" i="0" smtClean="0">
                        <a:latin typeface="Cambria Math" panose="02040503050406030204" pitchFamily="18" charset="0"/>
                      </a:rPr>
                      <m:t>Rm</m:t>
                    </m:r>
                  </m:oMath>
                </a14:m>
                <a:endParaRPr lang="en-PH" sz="4400" dirty="0"/>
              </a:p>
              <a:p>
                <a:pPr marL="0" indent="0">
                  <a:buNone/>
                </a:pPr>
                <a:endParaRPr lang="en-PH" sz="4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368300"/>
                <a:ext cx="11087100" cy="6172200"/>
              </a:xfrm>
              <a:blipFill rotWithShape="0">
                <a:blip r:embed="rId2"/>
                <a:stretch>
                  <a:fillRect l="-2255" t="-3060"/>
                </a:stretch>
              </a:blipFill>
            </p:spPr>
            <p:txBody>
              <a:bodyPr/>
              <a:lstStyle/>
              <a:p>
                <a:r>
                  <a:rPr lang="en-PH">
                    <a:noFill/>
                  </a:rPr>
                  <a:t> </a:t>
                </a:r>
              </a:p>
            </p:txBody>
          </p:sp>
        </mc:Fallback>
      </mc:AlternateContent>
      <p:pic>
        <p:nvPicPr>
          <p:cNvPr id="7" name="Picture 6"/>
          <p:cNvPicPr>
            <a:picLocks noChangeAspect="1"/>
          </p:cNvPicPr>
          <p:nvPr/>
        </p:nvPicPr>
        <p:blipFill>
          <a:blip r:embed="rId3"/>
          <a:stretch>
            <a:fillRect/>
          </a:stretch>
        </p:blipFill>
        <p:spPr>
          <a:xfrm>
            <a:off x="6076950" y="-154674"/>
            <a:ext cx="5750977" cy="3844489"/>
          </a:xfrm>
          <a:prstGeom prst="rect">
            <a:avLst/>
          </a:prstGeom>
        </p:spPr>
      </p:pic>
    </p:spTree>
    <p:extLst>
      <p:ext uri="{BB962C8B-B14F-4D97-AF65-F5344CB8AC3E}">
        <p14:creationId xmlns:p14="http://schemas.microsoft.com/office/powerpoint/2010/main" val="748098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dirty="0">
                    <a:solidFill>
                      <a:srgbClr val="002060"/>
                    </a:solidFill>
                  </a:rPr>
                  <a:t>DC AMMETER</a:t>
                </a:r>
              </a:p>
              <a:p>
                <a:pPr marL="0" indent="0">
                  <a:buNone/>
                </a:pPr>
                <a:r>
                  <a:rPr lang="en-PH" sz="4400" dirty="0"/>
                  <a:t>The ratio of total direct current that is to be measured, I	, and the full scale deflection current of the galvanometer </a:t>
                </a:r>
                <a:r>
                  <a:rPr lang="en-PH" sz="4400" dirty="0" err="1"/>
                  <a:t>Im</a:t>
                </a:r>
                <a:r>
                  <a:rPr lang="en-PH" sz="4400" dirty="0"/>
                  <a:t> is known as the multiplying factor, n.</a:t>
                </a:r>
              </a:p>
              <a:p>
                <a:pPr marL="0" indent="0">
                  <a:buNone/>
                </a:pPr>
                <a:r>
                  <a:rPr lang="en-PH" sz="4400" dirty="0"/>
                  <a:t>	n = </a:t>
                </a:r>
                <a14:m>
                  <m:oMath xmlns:m="http://schemas.openxmlformats.org/officeDocument/2006/math">
                    <m:f>
                      <m:fPr>
                        <m:ctrlPr>
                          <a:rPr lang="en-PH" sz="4400" i="1" smtClean="0">
                            <a:latin typeface="Cambria Math" panose="02040503050406030204" pitchFamily="18" charset="0"/>
                          </a:rPr>
                        </m:ctrlPr>
                      </m:fPr>
                      <m:num>
                        <m:r>
                          <a:rPr lang="en-PH" sz="4400" b="0" i="1" smtClean="0">
                            <a:latin typeface="Cambria Math" panose="02040503050406030204" pitchFamily="18" charset="0"/>
                          </a:rPr>
                          <m:t>𝐼</m:t>
                        </m:r>
                      </m:num>
                      <m:den>
                        <m:r>
                          <a:rPr lang="en-PH" sz="4400" b="0" i="1" smtClean="0">
                            <a:latin typeface="Cambria Math" panose="02040503050406030204" pitchFamily="18" charset="0"/>
                          </a:rPr>
                          <m:t>𝐼𝑚</m:t>
                        </m:r>
                      </m:den>
                    </m:f>
                  </m:oMath>
                </a14:m>
                <a:endParaRPr lang="en-PH" sz="4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368300"/>
                <a:ext cx="11087100" cy="6172200"/>
              </a:xfrm>
              <a:blipFill rotWithShape="0">
                <a:blip r:embed="rId2"/>
                <a:stretch>
                  <a:fillRect l="-2255" t="-3060" r="-1980"/>
                </a:stretch>
              </a:blipFill>
            </p:spPr>
            <p:txBody>
              <a:bodyPr/>
              <a:lstStyle/>
              <a:p>
                <a:r>
                  <a:rPr lang="en-PH">
                    <a:noFill/>
                  </a:rPr>
                  <a:t> </a:t>
                </a:r>
              </a:p>
            </p:txBody>
          </p:sp>
        </mc:Fallback>
      </mc:AlternateContent>
    </p:spTree>
    <p:extLst>
      <p:ext uri="{BB962C8B-B14F-4D97-AF65-F5344CB8AC3E}">
        <p14:creationId xmlns:p14="http://schemas.microsoft.com/office/powerpoint/2010/main" val="2622903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rmAutofit lnSpcReduction="10000"/>
          </a:bodyPr>
          <a:lstStyle/>
          <a:p>
            <a:pPr marL="0" indent="0">
              <a:buNone/>
            </a:pPr>
            <a:r>
              <a:rPr lang="en-PH" sz="4400" dirty="0">
                <a:solidFill>
                  <a:srgbClr val="002060"/>
                </a:solidFill>
              </a:rPr>
              <a:t>Example</a:t>
            </a:r>
          </a:p>
          <a:p>
            <a:pPr marL="0" indent="0">
              <a:buNone/>
            </a:pPr>
            <a:r>
              <a:rPr lang="en-PH" sz="4400" dirty="0"/>
              <a:t>Calculate the shunt resistance required to convert a 1 mA meter movement with a 100 </a:t>
            </a:r>
            <a:r>
              <a:rPr lang="el-GR" sz="4400" dirty="0"/>
              <a:t>Ω</a:t>
            </a:r>
            <a:r>
              <a:rPr lang="en-PH" sz="4400" dirty="0"/>
              <a:t> internal resistance into a 0 – 10 mA movement.</a:t>
            </a:r>
          </a:p>
          <a:p>
            <a:pPr marL="0" indent="0">
              <a:buNone/>
            </a:pPr>
            <a:r>
              <a:rPr lang="en-PH" sz="4400" dirty="0"/>
              <a:t>Given:</a:t>
            </a:r>
          </a:p>
          <a:p>
            <a:pPr marL="0" indent="0">
              <a:buNone/>
            </a:pPr>
            <a:r>
              <a:rPr lang="en-PH" sz="4400" dirty="0"/>
              <a:t>	</a:t>
            </a:r>
            <a:r>
              <a:rPr lang="en-PH" sz="4400" dirty="0" err="1"/>
              <a:t>I</a:t>
            </a:r>
            <a:r>
              <a:rPr lang="en-PH" sz="3200" dirty="0" err="1"/>
              <a:t>m</a:t>
            </a:r>
            <a:r>
              <a:rPr lang="en-PH" sz="4400" dirty="0"/>
              <a:t> = 1 mA</a:t>
            </a:r>
          </a:p>
          <a:p>
            <a:pPr marL="0" indent="0">
              <a:buNone/>
            </a:pPr>
            <a:r>
              <a:rPr lang="en-PH" sz="4400" dirty="0"/>
              <a:t>	R</a:t>
            </a:r>
            <a:r>
              <a:rPr lang="en-PH" sz="3200" dirty="0"/>
              <a:t>m</a:t>
            </a:r>
            <a:r>
              <a:rPr lang="en-PH" sz="4400" dirty="0"/>
              <a:t> = 100 </a:t>
            </a:r>
            <a:r>
              <a:rPr lang="el-GR" sz="4400" dirty="0"/>
              <a:t>Ω</a:t>
            </a:r>
            <a:r>
              <a:rPr lang="en-PH" sz="4400" dirty="0"/>
              <a:t> </a:t>
            </a:r>
          </a:p>
          <a:p>
            <a:pPr marL="0" indent="0">
              <a:buNone/>
            </a:pPr>
            <a:r>
              <a:rPr lang="en-PH" sz="4400" dirty="0" err="1"/>
              <a:t>Reqd</a:t>
            </a:r>
            <a:r>
              <a:rPr lang="en-PH" sz="4400" dirty="0"/>
              <a:t>:</a:t>
            </a:r>
          </a:p>
          <a:p>
            <a:pPr marL="0" indent="0">
              <a:buNone/>
            </a:pPr>
            <a:r>
              <a:rPr lang="en-PH" sz="4400" dirty="0"/>
              <a:t>	</a:t>
            </a:r>
            <a:r>
              <a:rPr lang="en-PH" sz="4400" dirty="0" err="1"/>
              <a:t>R</a:t>
            </a:r>
            <a:r>
              <a:rPr lang="en-PH" sz="3200" dirty="0" err="1"/>
              <a:t>sh</a:t>
            </a:r>
            <a:endParaRPr lang="en-PH" sz="4400" dirty="0"/>
          </a:p>
        </p:txBody>
      </p:sp>
    </p:spTree>
    <p:extLst>
      <p:ext uri="{BB962C8B-B14F-4D97-AF65-F5344CB8AC3E}">
        <p14:creationId xmlns:p14="http://schemas.microsoft.com/office/powerpoint/2010/main" val="34271049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dirty="0">
                    <a:solidFill>
                      <a:srgbClr val="002060"/>
                    </a:solidFill>
                  </a:rPr>
                  <a:t>Example: Solution 1</a:t>
                </a:r>
              </a:p>
              <a:p>
                <a:pPr marL="0" indent="0">
                  <a:buNone/>
                </a:pPr>
                <a:r>
                  <a:rPr lang="en-PH" sz="4400" dirty="0">
                    <a:solidFill>
                      <a:srgbClr val="002060"/>
                    </a:solidFill>
                  </a:rPr>
                  <a:t>		</a:t>
                </a:r>
                <a:r>
                  <a:rPr lang="en-PH" sz="4400" dirty="0" err="1"/>
                  <a:t>V</a:t>
                </a:r>
                <a:r>
                  <a:rPr lang="en-PH" sz="3200" dirty="0" err="1"/>
                  <a:t>m</a:t>
                </a:r>
                <a:r>
                  <a:rPr lang="en-PH" sz="4400" dirty="0"/>
                  <a:t> = </a:t>
                </a:r>
                <a:r>
                  <a:rPr lang="en-PH" sz="4400" dirty="0" err="1"/>
                  <a:t>I</a:t>
                </a:r>
                <a:r>
                  <a:rPr lang="en-PH" sz="3200" dirty="0" err="1"/>
                  <a:t>m</a:t>
                </a:r>
                <a:r>
                  <a:rPr lang="en-PH" sz="4400" dirty="0" err="1"/>
                  <a:t>R</a:t>
                </a:r>
                <a:r>
                  <a:rPr lang="en-PH" sz="3200" dirty="0" err="1"/>
                  <a:t>m</a:t>
                </a:r>
                <a:r>
                  <a:rPr lang="en-PH" sz="4400" dirty="0"/>
                  <a:t> = (1 mA)(100 </a:t>
                </a:r>
                <a:r>
                  <a:rPr lang="el-GR" sz="4400" dirty="0"/>
                  <a:t>Ω</a:t>
                </a:r>
                <a:r>
                  <a:rPr lang="en-PH" sz="4400" dirty="0"/>
                  <a:t>) = 0.1 V</a:t>
                </a:r>
              </a:p>
              <a:p>
                <a:pPr marL="0" indent="0">
                  <a:buNone/>
                </a:pPr>
                <a:r>
                  <a:rPr lang="en-PH" sz="4400" dirty="0">
                    <a:solidFill>
                      <a:srgbClr val="002060"/>
                    </a:solidFill>
                  </a:rPr>
                  <a:t>		</a:t>
                </a:r>
                <a:r>
                  <a:rPr lang="en-PH" sz="4400" dirty="0" err="1"/>
                  <a:t>V</a:t>
                </a:r>
                <a:r>
                  <a:rPr lang="en-PH" sz="3200" dirty="0" err="1"/>
                  <a:t>sh</a:t>
                </a:r>
                <a:r>
                  <a:rPr lang="en-PH" sz="4400" dirty="0"/>
                  <a:t> = </a:t>
                </a:r>
                <a:r>
                  <a:rPr lang="en-PH" sz="4400" dirty="0" err="1"/>
                  <a:t>V</a:t>
                </a:r>
                <a:r>
                  <a:rPr lang="en-PH" sz="3200" dirty="0" err="1"/>
                  <a:t>m</a:t>
                </a:r>
                <a:endParaRPr lang="en-PH" sz="3200" dirty="0"/>
              </a:p>
              <a:p>
                <a:pPr marL="0" indent="0">
                  <a:buNone/>
                </a:pPr>
                <a:r>
                  <a:rPr lang="en-PH" sz="4400" dirty="0">
                    <a:solidFill>
                      <a:srgbClr val="002060"/>
                    </a:solidFill>
                  </a:rPr>
                  <a:t>		</a:t>
                </a:r>
                <a:r>
                  <a:rPr lang="en-PH" sz="4400" dirty="0" err="1"/>
                  <a:t>I</a:t>
                </a:r>
                <a:r>
                  <a:rPr lang="en-PH" sz="3200" dirty="0" err="1"/>
                  <a:t>sh</a:t>
                </a:r>
                <a:r>
                  <a:rPr lang="en-PH" sz="4400" dirty="0"/>
                  <a:t> = I – </a:t>
                </a:r>
                <a:r>
                  <a:rPr lang="en-PH" sz="4400" dirty="0" err="1"/>
                  <a:t>I</a:t>
                </a:r>
                <a:r>
                  <a:rPr lang="en-PH" sz="3200" dirty="0" err="1"/>
                  <a:t>m</a:t>
                </a:r>
                <a:r>
                  <a:rPr lang="en-PH" sz="4400" dirty="0"/>
                  <a:t> = 10 mA – 1 mA = 9 mA</a:t>
                </a:r>
              </a:p>
              <a:p>
                <a:pPr marL="0" indent="0">
                  <a:buNone/>
                </a:pPr>
                <a:endParaRPr lang="en-PH" sz="4400" dirty="0"/>
              </a:p>
              <a:p>
                <a:pPr marL="0" indent="0">
                  <a:buNone/>
                </a:pPr>
                <a:r>
                  <a:rPr lang="en-PH" sz="4400" dirty="0"/>
                  <a:t>		</a:t>
                </a:r>
                <a:r>
                  <a:rPr lang="en-PH" sz="4400" dirty="0" err="1"/>
                  <a:t>R</a:t>
                </a:r>
                <a:r>
                  <a:rPr lang="en-PH" sz="3200" dirty="0" err="1"/>
                  <a:t>sh</a:t>
                </a:r>
                <a:r>
                  <a:rPr lang="en-PH" sz="4400" dirty="0"/>
                  <a:t> = </a:t>
                </a:r>
                <a14:m>
                  <m:oMath xmlns:m="http://schemas.openxmlformats.org/officeDocument/2006/math">
                    <m:f>
                      <m:fPr>
                        <m:ctrlPr>
                          <a:rPr lang="en-PH" sz="4400" i="1" smtClean="0">
                            <a:latin typeface="Cambria Math" panose="02040503050406030204" pitchFamily="18" charset="0"/>
                          </a:rPr>
                        </m:ctrlPr>
                      </m:fPr>
                      <m:num>
                        <m:r>
                          <a:rPr lang="en-PH" sz="4400" b="0" i="1" smtClean="0">
                            <a:latin typeface="Cambria Math" panose="02040503050406030204" pitchFamily="18" charset="0"/>
                          </a:rPr>
                          <m:t>𝑉𝑠h</m:t>
                        </m:r>
                      </m:num>
                      <m:den>
                        <m:r>
                          <a:rPr lang="en-PH" sz="4400" b="0" i="1" smtClean="0">
                            <a:latin typeface="Cambria Math" panose="02040503050406030204" pitchFamily="18" charset="0"/>
                          </a:rPr>
                          <m:t>𝐼𝑠h</m:t>
                        </m:r>
                      </m:den>
                    </m:f>
                  </m:oMath>
                </a14:m>
                <a:r>
                  <a:rPr lang="en-PH" sz="4400" dirty="0"/>
                  <a:t> = </a:t>
                </a:r>
                <a14:m>
                  <m:oMath xmlns:m="http://schemas.openxmlformats.org/officeDocument/2006/math">
                    <m:f>
                      <m:fPr>
                        <m:ctrlPr>
                          <a:rPr lang="en-PH" sz="4400" i="1" smtClean="0">
                            <a:latin typeface="Cambria Math" panose="02040503050406030204" pitchFamily="18" charset="0"/>
                          </a:rPr>
                        </m:ctrlPr>
                      </m:fPr>
                      <m:num>
                        <m:r>
                          <a:rPr lang="en-PH" sz="4400" b="0" i="1" smtClean="0">
                            <a:latin typeface="Cambria Math" panose="02040503050406030204" pitchFamily="18" charset="0"/>
                          </a:rPr>
                          <m:t>0.1 </m:t>
                        </m:r>
                        <m:r>
                          <a:rPr lang="en-PH" sz="4400" b="0" i="1" smtClean="0">
                            <a:latin typeface="Cambria Math" panose="02040503050406030204" pitchFamily="18" charset="0"/>
                          </a:rPr>
                          <m:t>𝑉</m:t>
                        </m:r>
                      </m:num>
                      <m:den>
                        <m:r>
                          <a:rPr lang="en-PH" sz="4400" b="0" i="1" smtClean="0">
                            <a:latin typeface="Cambria Math" panose="02040503050406030204" pitchFamily="18" charset="0"/>
                          </a:rPr>
                          <m:t>9 </m:t>
                        </m:r>
                        <m:r>
                          <a:rPr lang="en-PH" sz="4400" b="0" i="1" smtClean="0">
                            <a:latin typeface="Cambria Math" panose="02040503050406030204" pitchFamily="18" charset="0"/>
                          </a:rPr>
                          <m:t>𝑚𝐴</m:t>
                        </m:r>
                      </m:den>
                    </m:f>
                  </m:oMath>
                </a14:m>
                <a:r>
                  <a:rPr lang="en-PH" sz="4400" dirty="0"/>
                  <a:t> = 11.11 </a:t>
                </a:r>
                <a:r>
                  <a:rPr lang="el-GR" sz="4400" dirty="0"/>
                  <a:t>Ω</a:t>
                </a:r>
                <a:endParaRPr lang="en-PH" sz="4400" dirty="0"/>
              </a:p>
              <a:p>
                <a:pPr marL="0" indent="0">
                  <a:buNone/>
                </a:pPr>
                <a:endParaRPr lang="en-PH" sz="4400" dirty="0">
                  <a:solidFill>
                    <a:srgbClr val="002060"/>
                  </a:solidFill>
                </a:endParaRPr>
              </a:p>
              <a:p>
                <a:pPr marL="0" indent="0">
                  <a:buNone/>
                </a:pPr>
                <a:endParaRPr lang="en-PH" sz="4400" dirty="0">
                  <a:solidFill>
                    <a:srgbClr val="00206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368300"/>
                <a:ext cx="11087100" cy="6172200"/>
              </a:xfrm>
              <a:blipFill rotWithShape="0">
                <a:blip r:embed="rId2"/>
                <a:stretch>
                  <a:fillRect l="-2255" t="-3060"/>
                </a:stretch>
              </a:blipFill>
            </p:spPr>
            <p:txBody>
              <a:bodyPr/>
              <a:lstStyle/>
              <a:p>
                <a:r>
                  <a:rPr lang="en-PH">
                    <a:noFill/>
                  </a:rPr>
                  <a:t> </a:t>
                </a:r>
              </a:p>
            </p:txBody>
          </p:sp>
        </mc:Fallback>
      </mc:AlternateContent>
    </p:spTree>
    <p:extLst>
      <p:ext uri="{BB962C8B-B14F-4D97-AF65-F5344CB8AC3E}">
        <p14:creationId xmlns:p14="http://schemas.microsoft.com/office/powerpoint/2010/main" val="1967361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dirty="0">
                    <a:solidFill>
                      <a:srgbClr val="002060"/>
                    </a:solidFill>
                  </a:rPr>
                  <a:t>Example: Solution 2</a:t>
                </a:r>
              </a:p>
              <a:p>
                <a:pPr marL="0" indent="0">
                  <a:buNone/>
                </a:pPr>
                <a:r>
                  <a:rPr lang="en-PH" sz="4400" dirty="0"/>
                  <a:t>Using multiplying factor, n.</a:t>
                </a:r>
              </a:p>
              <a:p>
                <a:pPr marL="0" indent="0">
                  <a:buNone/>
                </a:pPr>
                <a:r>
                  <a:rPr lang="en-PH" sz="4400" dirty="0"/>
                  <a:t>	I = </a:t>
                </a:r>
                <a:r>
                  <a:rPr lang="en-PH" sz="4400" dirty="0" err="1"/>
                  <a:t>nI</a:t>
                </a:r>
                <a:r>
                  <a:rPr lang="en-PH" sz="3200" dirty="0" err="1"/>
                  <a:t>m</a:t>
                </a:r>
                <a:r>
                  <a:rPr lang="en-PH" sz="4400" dirty="0"/>
                  <a:t>                  </a:t>
                </a:r>
                <a:r>
                  <a:rPr lang="en-PH" sz="4400" dirty="0" err="1"/>
                  <a:t>eq</a:t>
                </a:r>
                <a:r>
                  <a:rPr lang="en-PH" sz="4400" dirty="0"/>
                  <a:t> 1</a:t>
                </a:r>
              </a:p>
              <a:p>
                <a:pPr marL="0" indent="0">
                  <a:buNone/>
                </a:pPr>
                <a:r>
                  <a:rPr lang="en-PH" sz="4400" dirty="0" err="1"/>
                  <a:t>R</a:t>
                </a:r>
                <a:r>
                  <a:rPr lang="en-PH" sz="3200" dirty="0" err="1"/>
                  <a:t>sh</a:t>
                </a:r>
                <a:r>
                  <a:rPr lang="en-PH" sz="4400" dirty="0"/>
                  <a:t> = </a:t>
                </a:r>
                <a14:m>
                  <m:oMath xmlns:m="http://schemas.openxmlformats.org/officeDocument/2006/math">
                    <m:f>
                      <m:fPr>
                        <m:ctrlPr>
                          <a:rPr lang="en-PH" sz="4000" i="1">
                            <a:latin typeface="Cambria Math" panose="02040503050406030204" pitchFamily="18" charset="0"/>
                          </a:rPr>
                        </m:ctrlPr>
                      </m:fPr>
                      <m:num>
                        <m:r>
                          <a:rPr lang="en-PH" sz="4000" i="1">
                            <a:latin typeface="Cambria Math" panose="02040503050406030204" pitchFamily="18" charset="0"/>
                          </a:rPr>
                          <m:t>𝐼𝑚</m:t>
                        </m:r>
                      </m:num>
                      <m:den>
                        <m:r>
                          <a:rPr lang="en-PH" sz="4000" i="1">
                            <a:latin typeface="Cambria Math" panose="02040503050406030204" pitchFamily="18" charset="0"/>
                          </a:rPr>
                          <m:t>𝐼</m:t>
                        </m:r>
                        <m:r>
                          <a:rPr lang="en-PH" sz="4000" i="1">
                            <a:latin typeface="Cambria Math" panose="02040503050406030204" pitchFamily="18" charset="0"/>
                          </a:rPr>
                          <m:t> −</m:t>
                        </m:r>
                        <m:r>
                          <a:rPr lang="en-PH" sz="4000" i="1">
                            <a:latin typeface="Cambria Math" panose="02040503050406030204" pitchFamily="18" charset="0"/>
                          </a:rPr>
                          <m:t>𝐼𝑚</m:t>
                        </m:r>
                      </m:den>
                    </m:f>
                    <m:r>
                      <m:rPr>
                        <m:sty m:val="p"/>
                      </m:rPr>
                      <a:rPr lang="en-PH" sz="4000">
                        <a:latin typeface="Cambria Math" panose="02040503050406030204" pitchFamily="18" charset="0"/>
                      </a:rPr>
                      <m:t>Rm</m:t>
                    </m:r>
                  </m:oMath>
                </a14:m>
                <a:r>
                  <a:rPr lang="en-PH" sz="4400" dirty="0"/>
                  <a:t>        	  </a:t>
                </a:r>
                <a:r>
                  <a:rPr lang="en-PH" sz="4400" dirty="0" err="1"/>
                  <a:t>eq</a:t>
                </a:r>
                <a:r>
                  <a:rPr lang="en-PH" sz="4400" dirty="0"/>
                  <a:t> 2</a:t>
                </a:r>
              </a:p>
              <a:p>
                <a:pPr marL="0" indent="0">
                  <a:buNone/>
                </a:pPr>
                <a:r>
                  <a:rPr lang="en-PH" sz="4400" dirty="0" err="1"/>
                  <a:t>R</a:t>
                </a:r>
                <a:r>
                  <a:rPr lang="en-PH" sz="3200" dirty="0" err="1"/>
                  <a:t>sh</a:t>
                </a:r>
                <a:r>
                  <a:rPr lang="en-PH" sz="4400" dirty="0"/>
                  <a:t> = </a:t>
                </a:r>
                <a14:m>
                  <m:oMath xmlns:m="http://schemas.openxmlformats.org/officeDocument/2006/math">
                    <m:f>
                      <m:fPr>
                        <m:ctrlPr>
                          <a:rPr lang="en-PH" sz="4000" i="1">
                            <a:latin typeface="Cambria Math" panose="02040503050406030204" pitchFamily="18" charset="0"/>
                          </a:rPr>
                        </m:ctrlPr>
                      </m:fPr>
                      <m:num>
                        <m:r>
                          <a:rPr lang="en-PH" sz="4000" i="1">
                            <a:latin typeface="Cambria Math" panose="02040503050406030204" pitchFamily="18" charset="0"/>
                          </a:rPr>
                          <m:t>𝐼𝑚</m:t>
                        </m:r>
                      </m:num>
                      <m:den>
                        <m:r>
                          <a:rPr lang="en-PH" sz="4000" b="0" i="1" smtClean="0">
                            <a:latin typeface="Cambria Math" panose="02040503050406030204" pitchFamily="18" charset="0"/>
                          </a:rPr>
                          <m:t>𝑛</m:t>
                        </m:r>
                        <m:r>
                          <a:rPr lang="en-PH" sz="4000" i="1">
                            <a:latin typeface="Cambria Math" panose="02040503050406030204" pitchFamily="18" charset="0"/>
                          </a:rPr>
                          <m:t>𝐼</m:t>
                        </m:r>
                        <m:r>
                          <a:rPr lang="en-PH" sz="4000" b="0" i="1" smtClean="0">
                            <a:latin typeface="Cambria Math" panose="02040503050406030204" pitchFamily="18" charset="0"/>
                          </a:rPr>
                          <m:t>𝑚</m:t>
                        </m:r>
                        <m:r>
                          <a:rPr lang="en-PH" sz="4000" i="1">
                            <a:latin typeface="Cambria Math" panose="02040503050406030204" pitchFamily="18" charset="0"/>
                          </a:rPr>
                          <m:t> −</m:t>
                        </m:r>
                        <m:r>
                          <a:rPr lang="en-PH" sz="4000" i="1">
                            <a:latin typeface="Cambria Math" panose="02040503050406030204" pitchFamily="18" charset="0"/>
                          </a:rPr>
                          <m:t>𝐼𝑚</m:t>
                        </m:r>
                      </m:den>
                    </m:f>
                    <m:r>
                      <m:rPr>
                        <m:sty m:val="p"/>
                      </m:rPr>
                      <a:rPr lang="en-PH" sz="4000">
                        <a:latin typeface="Cambria Math" panose="02040503050406030204" pitchFamily="18" charset="0"/>
                      </a:rPr>
                      <m:t>Rm</m:t>
                    </m:r>
                  </m:oMath>
                </a14:m>
                <a:r>
                  <a:rPr lang="en-PH" sz="4400" dirty="0"/>
                  <a:t> = </a:t>
                </a:r>
                <a14:m>
                  <m:oMath xmlns:m="http://schemas.openxmlformats.org/officeDocument/2006/math">
                    <m:f>
                      <m:fPr>
                        <m:ctrlPr>
                          <a:rPr lang="en-PH" sz="4000" i="1">
                            <a:latin typeface="Cambria Math" panose="02040503050406030204" pitchFamily="18" charset="0"/>
                          </a:rPr>
                        </m:ctrlPr>
                      </m:fPr>
                      <m:num>
                        <m:r>
                          <a:rPr lang="en-PH" sz="4000" i="1">
                            <a:latin typeface="Cambria Math" panose="02040503050406030204" pitchFamily="18" charset="0"/>
                          </a:rPr>
                          <m:t>𝐼𝑚</m:t>
                        </m:r>
                      </m:num>
                      <m:den>
                        <m:r>
                          <a:rPr lang="en-PH" sz="4000" i="1">
                            <a:latin typeface="Cambria Math" panose="02040503050406030204" pitchFamily="18" charset="0"/>
                          </a:rPr>
                          <m:t>𝐼𝑚</m:t>
                        </m:r>
                        <m:r>
                          <a:rPr lang="en-PH" sz="4000" i="1">
                            <a:latin typeface="Cambria Math" panose="02040503050406030204" pitchFamily="18" charset="0"/>
                          </a:rPr>
                          <m:t> (</m:t>
                        </m:r>
                        <m:r>
                          <a:rPr lang="en-PH" sz="4000" b="0" i="1" smtClean="0">
                            <a:latin typeface="Cambria Math" panose="02040503050406030204" pitchFamily="18" charset="0"/>
                          </a:rPr>
                          <m:t>𝑛</m:t>
                        </m:r>
                        <m:r>
                          <a:rPr lang="en-PH" sz="4000" b="0" i="1" smtClean="0">
                            <a:latin typeface="Cambria Math" panose="02040503050406030204" pitchFamily="18" charset="0"/>
                          </a:rPr>
                          <m:t> −1)</m:t>
                        </m:r>
                      </m:den>
                    </m:f>
                    <m:r>
                      <m:rPr>
                        <m:sty m:val="p"/>
                      </m:rPr>
                      <a:rPr lang="en-PH" sz="4000">
                        <a:latin typeface="Cambria Math" panose="02040503050406030204" pitchFamily="18" charset="0"/>
                      </a:rPr>
                      <m:t>Rm</m:t>
                    </m:r>
                  </m:oMath>
                </a14:m>
                <a:endParaRPr lang="en-PH" sz="4000" dirty="0"/>
              </a:p>
              <a:p>
                <a:pPr marL="0" indent="0">
                  <a:buNone/>
                </a:pPr>
                <a:r>
                  <a:rPr lang="en-PH" sz="4400" dirty="0" err="1"/>
                  <a:t>R</a:t>
                </a:r>
                <a:r>
                  <a:rPr lang="en-PH" sz="3200" dirty="0" err="1"/>
                  <a:t>sh</a:t>
                </a:r>
                <a:r>
                  <a:rPr lang="en-PH" sz="4400" dirty="0"/>
                  <a:t> = </a:t>
                </a:r>
                <a14:m>
                  <m:oMath xmlns:m="http://schemas.openxmlformats.org/officeDocument/2006/math">
                    <m:f>
                      <m:fPr>
                        <m:ctrlPr>
                          <a:rPr lang="en-PH" sz="4400" i="1">
                            <a:latin typeface="Cambria Math" panose="02040503050406030204" pitchFamily="18" charset="0"/>
                          </a:rPr>
                        </m:ctrlPr>
                      </m:fPr>
                      <m:num>
                        <m:r>
                          <a:rPr lang="en-PH" sz="4400" b="0" i="1" smtClean="0">
                            <a:latin typeface="Cambria Math" panose="02040503050406030204" pitchFamily="18" charset="0"/>
                          </a:rPr>
                          <m:t>𝑅</m:t>
                        </m:r>
                        <m:r>
                          <a:rPr lang="en-PH" sz="4400" i="1">
                            <a:latin typeface="Cambria Math" panose="02040503050406030204" pitchFamily="18" charset="0"/>
                          </a:rPr>
                          <m:t>𝑚</m:t>
                        </m:r>
                      </m:num>
                      <m:den>
                        <m:r>
                          <a:rPr lang="en-PH" sz="4400" i="1">
                            <a:latin typeface="Cambria Math" panose="02040503050406030204" pitchFamily="18" charset="0"/>
                          </a:rPr>
                          <m:t>(</m:t>
                        </m:r>
                        <m:r>
                          <a:rPr lang="en-PH" sz="4400" i="1">
                            <a:latin typeface="Cambria Math" panose="02040503050406030204" pitchFamily="18" charset="0"/>
                          </a:rPr>
                          <m:t>𝑛</m:t>
                        </m:r>
                        <m:r>
                          <a:rPr lang="en-PH" sz="4400" i="1">
                            <a:latin typeface="Cambria Math" panose="02040503050406030204" pitchFamily="18" charset="0"/>
                          </a:rPr>
                          <m:t> −1)</m:t>
                        </m:r>
                      </m:den>
                    </m:f>
                  </m:oMath>
                </a14:m>
                <a:endParaRPr lang="en-PH" sz="4400" dirty="0">
                  <a:solidFill>
                    <a:srgbClr val="00206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368300"/>
                <a:ext cx="11087100" cy="6172200"/>
              </a:xfrm>
              <a:blipFill rotWithShape="0">
                <a:blip r:embed="rId2"/>
                <a:stretch>
                  <a:fillRect l="-2255" t="-3060"/>
                </a:stretch>
              </a:blipFill>
            </p:spPr>
            <p:txBody>
              <a:bodyPr/>
              <a:lstStyle/>
              <a:p>
                <a:r>
                  <a:rPr lang="en-PH">
                    <a:noFill/>
                  </a:rPr>
                  <a:t> </a:t>
                </a:r>
              </a:p>
            </p:txBody>
          </p:sp>
        </mc:Fallback>
      </mc:AlternateContent>
      <p:cxnSp>
        <p:nvCxnSpPr>
          <p:cNvPr id="4" name="Straight Connector 3"/>
          <p:cNvCxnSpPr/>
          <p:nvPr/>
        </p:nvCxnSpPr>
        <p:spPr>
          <a:xfrm flipH="1">
            <a:off x="5302250" y="3416300"/>
            <a:ext cx="584200" cy="4572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a:off x="4673600" y="4000500"/>
            <a:ext cx="584200" cy="4572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0717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dirty="0">
                    <a:solidFill>
                      <a:srgbClr val="002060"/>
                    </a:solidFill>
                  </a:rPr>
                  <a:t>Example: Solution 2</a:t>
                </a:r>
              </a:p>
              <a:p>
                <a:pPr marL="0" indent="0">
                  <a:buNone/>
                </a:pPr>
                <a:r>
                  <a:rPr lang="en-PH" sz="4400" dirty="0"/>
                  <a:t>Using multiplying factor, n.</a:t>
                </a:r>
              </a:p>
              <a:p>
                <a:pPr marL="0" indent="0">
                  <a:buNone/>
                </a:pPr>
                <a:r>
                  <a:rPr lang="en-PH" sz="4400" dirty="0"/>
                  <a:t>n = </a:t>
                </a:r>
                <a14:m>
                  <m:oMath xmlns:m="http://schemas.openxmlformats.org/officeDocument/2006/math">
                    <m:f>
                      <m:fPr>
                        <m:ctrlPr>
                          <a:rPr lang="en-PH" sz="4400" i="1">
                            <a:latin typeface="Cambria Math" panose="02040503050406030204" pitchFamily="18" charset="0"/>
                          </a:rPr>
                        </m:ctrlPr>
                      </m:fPr>
                      <m:num>
                        <m:r>
                          <a:rPr lang="en-PH" sz="4400" i="1">
                            <a:latin typeface="Cambria Math" panose="02040503050406030204" pitchFamily="18" charset="0"/>
                          </a:rPr>
                          <m:t>𝐼</m:t>
                        </m:r>
                      </m:num>
                      <m:den>
                        <m:r>
                          <a:rPr lang="en-PH" sz="4400" i="1">
                            <a:latin typeface="Cambria Math" panose="02040503050406030204" pitchFamily="18" charset="0"/>
                          </a:rPr>
                          <m:t>𝐼𝑚</m:t>
                        </m:r>
                      </m:den>
                    </m:f>
                  </m:oMath>
                </a14:m>
                <a:r>
                  <a:rPr lang="en-PH" sz="4400" dirty="0"/>
                  <a:t> = </a:t>
                </a:r>
                <a14:m>
                  <m:oMath xmlns:m="http://schemas.openxmlformats.org/officeDocument/2006/math">
                    <m:f>
                      <m:fPr>
                        <m:ctrlPr>
                          <a:rPr lang="en-PH" sz="4400" i="1">
                            <a:latin typeface="Cambria Math" panose="02040503050406030204" pitchFamily="18" charset="0"/>
                          </a:rPr>
                        </m:ctrlPr>
                      </m:fPr>
                      <m:num>
                        <m:r>
                          <a:rPr lang="en-PH" sz="4400" b="0" i="1" smtClean="0">
                            <a:latin typeface="Cambria Math" panose="02040503050406030204" pitchFamily="18" charset="0"/>
                          </a:rPr>
                          <m:t>10 </m:t>
                        </m:r>
                        <m:r>
                          <a:rPr lang="en-PH" sz="4400" b="0" i="1" smtClean="0">
                            <a:latin typeface="Cambria Math" panose="02040503050406030204" pitchFamily="18" charset="0"/>
                          </a:rPr>
                          <m:t>𝑚𝐴</m:t>
                        </m:r>
                      </m:num>
                      <m:den>
                        <m:r>
                          <a:rPr lang="en-PH" sz="4400" b="0" i="1" smtClean="0">
                            <a:latin typeface="Cambria Math" panose="02040503050406030204" pitchFamily="18" charset="0"/>
                          </a:rPr>
                          <m:t>1 </m:t>
                        </m:r>
                        <m:r>
                          <a:rPr lang="en-PH" sz="4400" b="0" i="1" smtClean="0">
                            <a:latin typeface="Cambria Math" panose="02040503050406030204" pitchFamily="18" charset="0"/>
                          </a:rPr>
                          <m:t>𝑚𝐴</m:t>
                        </m:r>
                      </m:den>
                    </m:f>
                  </m:oMath>
                </a14:m>
                <a:r>
                  <a:rPr lang="en-PH" sz="4400" dirty="0"/>
                  <a:t> = 10</a:t>
                </a:r>
              </a:p>
              <a:p>
                <a:pPr marL="0" indent="0">
                  <a:buNone/>
                </a:pPr>
                <a:endParaRPr lang="en-PH" sz="4400" dirty="0"/>
              </a:p>
              <a:p>
                <a:pPr marL="0" indent="0">
                  <a:buNone/>
                </a:pPr>
                <a:r>
                  <a:rPr lang="en-PH" sz="4400" dirty="0" err="1"/>
                  <a:t>R</a:t>
                </a:r>
                <a:r>
                  <a:rPr lang="en-PH" sz="3200" dirty="0" err="1"/>
                  <a:t>sh</a:t>
                </a:r>
                <a:r>
                  <a:rPr lang="en-PH" sz="4400" dirty="0"/>
                  <a:t> = </a:t>
                </a:r>
                <a14:m>
                  <m:oMath xmlns:m="http://schemas.openxmlformats.org/officeDocument/2006/math">
                    <m:f>
                      <m:fPr>
                        <m:ctrlPr>
                          <a:rPr lang="en-PH" sz="4400" i="1">
                            <a:latin typeface="Cambria Math" panose="02040503050406030204" pitchFamily="18" charset="0"/>
                          </a:rPr>
                        </m:ctrlPr>
                      </m:fPr>
                      <m:num>
                        <m:r>
                          <a:rPr lang="en-PH" sz="4400" b="0" i="1" smtClean="0">
                            <a:latin typeface="Cambria Math" panose="02040503050406030204" pitchFamily="18" charset="0"/>
                          </a:rPr>
                          <m:t>𝑅</m:t>
                        </m:r>
                        <m:r>
                          <a:rPr lang="en-PH" sz="4400" i="1">
                            <a:latin typeface="Cambria Math" panose="02040503050406030204" pitchFamily="18" charset="0"/>
                          </a:rPr>
                          <m:t>𝑚</m:t>
                        </m:r>
                      </m:num>
                      <m:den>
                        <m:r>
                          <a:rPr lang="en-PH" sz="4400" i="1">
                            <a:latin typeface="Cambria Math" panose="02040503050406030204" pitchFamily="18" charset="0"/>
                          </a:rPr>
                          <m:t>(</m:t>
                        </m:r>
                        <m:r>
                          <a:rPr lang="en-PH" sz="4400" i="1">
                            <a:latin typeface="Cambria Math" panose="02040503050406030204" pitchFamily="18" charset="0"/>
                          </a:rPr>
                          <m:t>𝑛</m:t>
                        </m:r>
                        <m:r>
                          <a:rPr lang="en-PH" sz="4400" i="1">
                            <a:latin typeface="Cambria Math" panose="02040503050406030204" pitchFamily="18" charset="0"/>
                          </a:rPr>
                          <m:t> −1)</m:t>
                        </m:r>
                      </m:den>
                    </m:f>
                  </m:oMath>
                </a14:m>
                <a:r>
                  <a:rPr lang="en-PH" sz="4400" dirty="0">
                    <a:solidFill>
                      <a:srgbClr val="002060"/>
                    </a:solidFill>
                  </a:rPr>
                  <a:t> </a:t>
                </a:r>
                <a:r>
                  <a:rPr lang="en-PH" sz="4400" dirty="0"/>
                  <a:t>=</a:t>
                </a:r>
                <a:r>
                  <a:rPr lang="en-PH" sz="4400" dirty="0">
                    <a:solidFill>
                      <a:srgbClr val="002060"/>
                    </a:solidFill>
                  </a:rPr>
                  <a:t> </a:t>
                </a:r>
                <a14:m>
                  <m:oMath xmlns:m="http://schemas.openxmlformats.org/officeDocument/2006/math">
                    <m:f>
                      <m:fPr>
                        <m:ctrlPr>
                          <a:rPr lang="en-PH" sz="4400" i="1">
                            <a:latin typeface="Cambria Math" panose="02040503050406030204" pitchFamily="18" charset="0"/>
                          </a:rPr>
                        </m:ctrlPr>
                      </m:fPr>
                      <m:num>
                        <m:r>
                          <a:rPr lang="en-PH" sz="4400" b="0" i="1" smtClean="0">
                            <a:latin typeface="Cambria Math" panose="02040503050406030204" pitchFamily="18" charset="0"/>
                          </a:rPr>
                          <m:t>100 </m:t>
                        </m:r>
                        <m:r>
                          <m:rPr>
                            <m:sty m:val="p"/>
                          </m:rPr>
                          <a:rPr lang="el-GR" sz="4400" b="0" i="1" smtClean="0">
                            <a:latin typeface="Cambria Math" panose="02040503050406030204" pitchFamily="18" charset="0"/>
                          </a:rPr>
                          <m:t>Ω</m:t>
                        </m:r>
                      </m:num>
                      <m:den>
                        <m:r>
                          <a:rPr lang="en-PH" sz="4400" i="1">
                            <a:latin typeface="Cambria Math" panose="02040503050406030204" pitchFamily="18" charset="0"/>
                          </a:rPr>
                          <m:t>(</m:t>
                        </m:r>
                        <m:r>
                          <a:rPr lang="en-PH" sz="4400" b="0" i="1" smtClean="0">
                            <a:latin typeface="Cambria Math" panose="02040503050406030204" pitchFamily="18" charset="0"/>
                          </a:rPr>
                          <m:t>10</m:t>
                        </m:r>
                        <m:r>
                          <a:rPr lang="en-PH" sz="4400" i="1">
                            <a:latin typeface="Cambria Math" panose="02040503050406030204" pitchFamily="18" charset="0"/>
                          </a:rPr>
                          <m:t> −1)</m:t>
                        </m:r>
                      </m:den>
                    </m:f>
                  </m:oMath>
                </a14:m>
                <a:r>
                  <a:rPr lang="en-PH" sz="4400" dirty="0">
                    <a:solidFill>
                      <a:srgbClr val="002060"/>
                    </a:solidFill>
                  </a:rPr>
                  <a:t> </a:t>
                </a:r>
                <a:r>
                  <a:rPr lang="en-PH" sz="4400" dirty="0"/>
                  <a:t>=</a:t>
                </a:r>
                <a:r>
                  <a:rPr lang="en-PH" sz="4400" dirty="0">
                    <a:solidFill>
                      <a:srgbClr val="002060"/>
                    </a:solidFill>
                  </a:rPr>
                  <a:t> </a:t>
                </a:r>
                <a14:m>
                  <m:oMath xmlns:m="http://schemas.openxmlformats.org/officeDocument/2006/math">
                    <m:f>
                      <m:fPr>
                        <m:ctrlPr>
                          <a:rPr lang="en-PH" sz="4400" i="1">
                            <a:latin typeface="Cambria Math" panose="02040503050406030204" pitchFamily="18" charset="0"/>
                          </a:rPr>
                        </m:ctrlPr>
                      </m:fPr>
                      <m:num>
                        <m:r>
                          <a:rPr lang="en-PH" sz="4400" i="1">
                            <a:latin typeface="Cambria Math" panose="02040503050406030204" pitchFamily="18" charset="0"/>
                          </a:rPr>
                          <m:t>100 </m:t>
                        </m:r>
                        <m:r>
                          <m:rPr>
                            <m:sty m:val="p"/>
                          </m:rPr>
                          <a:rPr lang="el-GR" sz="4400" i="1">
                            <a:latin typeface="Cambria Math" panose="02040503050406030204" pitchFamily="18" charset="0"/>
                          </a:rPr>
                          <m:t>Ω</m:t>
                        </m:r>
                      </m:num>
                      <m:den>
                        <m:r>
                          <a:rPr lang="en-PH" sz="4400" b="0" i="1" smtClean="0">
                            <a:latin typeface="Cambria Math" panose="02040503050406030204" pitchFamily="18" charset="0"/>
                          </a:rPr>
                          <m:t>9</m:t>
                        </m:r>
                      </m:den>
                    </m:f>
                  </m:oMath>
                </a14:m>
                <a:endParaRPr lang="en-PH" sz="4400" dirty="0">
                  <a:solidFill>
                    <a:srgbClr val="002060"/>
                  </a:solidFill>
                </a:endParaRPr>
              </a:p>
              <a:p>
                <a:pPr marL="0" indent="0">
                  <a:buNone/>
                </a:pPr>
                <a:r>
                  <a:rPr lang="en-PH" sz="4400" dirty="0" err="1"/>
                  <a:t>R</a:t>
                </a:r>
                <a:r>
                  <a:rPr lang="en-PH" sz="3200" dirty="0" err="1"/>
                  <a:t>sh</a:t>
                </a:r>
                <a:r>
                  <a:rPr lang="en-PH" sz="4400" dirty="0"/>
                  <a:t> = 11.11 </a:t>
                </a:r>
                <a:r>
                  <a:rPr lang="el-GR" sz="4400" dirty="0"/>
                  <a:t>Ω</a:t>
                </a:r>
                <a:endParaRPr lang="en-PH" sz="4400" dirty="0">
                  <a:solidFill>
                    <a:srgbClr val="00206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368300"/>
                <a:ext cx="11087100" cy="6172200"/>
              </a:xfrm>
              <a:blipFill rotWithShape="0">
                <a:blip r:embed="rId2"/>
                <a:stretch>
                  <a:fillRect l="-2255" t="-3060"/>
                </a:stretch>
              </a:blipFill>
            </p:spPr>
            <p:txBody>
              <a:bodyPr/>
              <a:lstStyle/>
              <a:p>
                <a:r>
                  <a:rPr lang="en-PH">
                    <a:noFill/>
                  </a:rPr>
                  <a:t> </a:t>
                </a:r>
              </a:p>
            </p:txBody>
          </p:sp>
        </mc:Fallback>
      </mc:AlternateContent>
    </p:spTree>
    <p:extLst>
      <p:ext uri="{BB962C8B-B14F-4D97-AF65-F5344CB8AC3E}">
        <p14:creationId xmlns:p14="http://schemas.microsoft.com/office/powerpoint/2010/main" val="2093987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dirty="0" err="1">
                <a:solidFill>
                  <a:srgbClr val="002060"/>
                </a:solidFill>
              </a:rPr>
              <a:t>Ayrton</a:t>
            </a:r>
            <a:r>
              <a:rPr lang="en-PH" sz="4400" dirty="0">
                <a:solidFill>
                  <a:srgbClr val="002060"/>
                </a:solidFill>
              </a:rPr>
              <a:t> Shunt – Universal Shunt</a:t>
            </a:r>
          </a:p>
          <a:p>
            <a:pPr marL="0" indent="0">
              <a:buNone/>
            </a:pPr>
            <a:r>
              <a:rPr lang="en-PH" sz="4400" dirty="0">
                <a:solidFill>
                  <a:srgbClr val="002060"/>
                </a:solidFill>
              </a:rPr>
              <a:t>	</a:t>
            </a:r>
            <a:r>
              <a:rPr lang="en-PH" sz="4400" dirty="0"/>
              <a:t>Used on a multiple range ammeter. It eliminates the possibility of the meter movement being in the circuit without any shunt resistance. It can be used with a wide range of meter movement.</a:t>
            </a:r>
            <a:endParaRPr lang="en-PH" sz="4400" dirty="0">
              <a:solidFill>
                <a:srgbClr val="002060"/>
              </a:solidFill>
            </a:endParaRPr>
          </a:p>
        </p:txBody>
      </p:sp>
    </p:spTree>
    <p:extLst>
      <p:ext uri="{BB962C8B-B14F-4D97-AF65-F5344CB8AC3E}">
        <p14:creationId xmlns:p14="http://schemas.microsoft.com/office/powerpoint/2010/main" val="2333815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368300"/>
                <a:ext cx="11087100" cy="6172200"/>
              </a:xfrm>
            </p:spPr>
            <p:txBody>
              <a:bodyPr>
                <a:normAutofit lnSpcReduction="10000"/>
              </a:bodyPr>
              <a:lstStyle/>
              <a:p>
                <a:pPr marL="0" indent="0">
                  <a:buNone/>
                </a:pPr>
                <a:r>
                  <a:rPr lang="en-PH" sz="4400" dirty="0">
                    <a:solidFill>
                      <a:srgbClr val="002060"/>
                    </a:solidFill>
                  </a:rPr>
                  <a:t>Multi Range Ammeter (series resistors)</a:t>
                </a:r>
              </a:p>
              <a:p>
                <a:pPr marL="0" indent="0">
                  <a:buNone/>
                </a:pPr>
                <a:endParaRPr lang="en-PH" sz="4400" dirty="0">
                  <a:solidFill>
                    <a:srgbClr val="002060"/>
                  </a:solidFill>
                </a:endParaRPr>
              </a:p>
              <a:p>
                <a:pPr marL="0" indent="0">
                  <a:buNone/>
                </a:pPr>
                <a:r>
                  <a:rPr lang="en-PH" sz="4400" dirty="0"/>
                  <a:t>	n = </a:t>
                </a:r>
                <a14:m>
                  <m:oMath xmlns:m="http://schemas.openxmlformats.org/officeDocument/2006/math">
                    <m:f>
                      <m:fPr>
                        <m:ctrlPr>
                          <a:rPr lang="en-PH" sz="4400" i="1">
                            <a:latin typeface="Cambria Math" panose="02040503050406030204" pitchFamily="18" charset="0"/>
                          </a:rPr>
                        </m:ctrlPr>
                      </m:fPr>
                      <m:num>
                        <m:r>
                          <a:rPr lang="en-PH" sz="4400" i="1">
                            <a:latin typeface="Cambria Math" panose="02040503050406030204" pitchFamily="18" charset="0"/>
                          </a:rPr>
                          <m:t>𝐼</m:t>
                        </m:r>
                      </m:num>
                      <m:den>
                        <m:r>
                          <a:rPr lang="en-PH" sz="4400" i="1">
                            <a:latin typeface="Cambria Math" panose="02040503050406030204" pitchFamily="18" charset="0"/>
                          </a:rPr>
                          <m:t>𝐼𝑚</m:t>
                        </m:r>
                      </m:den>
                    </m:f>
                  </m:oMath>
                </a14:m>
                <a:endParaRPr lang="en-PH" sz="4400" dirty="0">
                  <a:solidFill>
                    <a:srgbClr val="002060"/>
                  </a:solidFill>
                </a:endParaRPr>
              </a:p>
              <a:p>
                <a:pPr marL="0" indent="0">
                  <a:buNone/>
                </a:pPr>
                <a:r>
                  <a:rPr lang="en-PH" sz="4400" dirty="0"/>
                  <a:t>	</a:t>
                </a:r>
              </a:p>
              <a:p>
                <a:pPr marL="0" indent="0">
                  <a:buNone/>
                </a:pPr>
                <a:endParaRPr lang="en-PH" sz="4400" dirty="0"/>
              </a:p>
              <a:p>
                <a:pPr marL="0" indent="0">
                  <a:buNone/>
                </a:pPr>
                <a:r>
                  <a:rPr lang="en-PH" sz="4400" dirty="0"/>
                  <a:t>	</a:t>
                </a:r>
                <a:r>
                  <a:rPr lang="en-PH" sz="4400" dirty="0" err="1"/>
                  <a:t>R</a:t>
                </a:r>
                <a:r>
                  <a:rPr lang="en-PH" sz="3200" dirty="0" err="1"/>
                  <a:t>sh</a:t>
                </a:r>
                <a:r>
                  <a:rPr lang="en-PH" sz="4400" dirty="0"/>
                  <a:t> = </a:t>
                </a:r>
                <a14:m>
                  <m:oMath xmlns:m="http://schemas.openxmlformats.org/officeDocument/2006/math">
                    <m:f>
                      <m:fPr>
                        <m:ctrlPr>
                          <a:rPr lang="en-PH" sz="4800" i="1">
                            <a:latin typeface="Cambria Math" panose="02040503050406030204" pitchFamily="18" charset="0"/>
                          </a:rPr>
                        </m:ctrlPr>
                      </m:fPr>
                      <m:num>
                        <m:r>
                          <m:rPr>
                            <m:nor/>
                          </m:rPr>
                          <a:rPr lang="en-PH" sz="4400" dirty="0"/>
                          <m:t>R</m:t>
                        </m:r>
                        <m:r>
                          <m:rPr>
                            <m:nor/>
                          </m:rPr>
                          <a:rPr lang="en-PH" sz="3600" dirty="0"/>
                          <m:t>m</m:t>
                        </m:r>
                      </m:num>
                      <m:den>
                        <m:r>
                          <a:rPr lang="en-PH" sz="4800" i="1">
                            <a:latin typeface="Cambria Math" panose="02040503050406030204" pitchFamily="18" charset="0"/>
                          </a:rPr>
                          <m:t>(</m:t>
                        </m:r>
                        <m:r>
                          <m:rPr>
                            <m:nor/>
                          </m:rPr>
                          <a:rPr lang="en-PH" sz="4400" dirty="0"/>
                          <m:t>n</m:t>
                        </m:r>
                        <m:r>
                          <a:rPr lang="en-PH" sz="4800" i="1">
                            <a:latin typeface="Cambria Math" panose="02040503050406030204" pitchFamily="18" charset="0"/>
                          </a:rPr>
                          <m:t>−1)</m:t>
                        </m:r>
                      </m:den>
                    </m:f>
                  </m:oMath>
                </a14:m>
                <a:endParaRPr lang="en-PH" sz="4400" dirty="0">
                  <a:solidFill>
                    <a:srgbClr val="002060"/>
                  </a:solidFill>
                </a:endParaRPr>
              </a:p>
              <a:p>
                <a:pPr marL="0" indent="0">
                  <a:buNone/>
                </a:pPr>
                <a:endParaRPr lang="en-PH" sz="4400" dirty="0">
                  <a:solidFill>
                    <a:srgbClr val="002060"/>
                  </a:solidFill>
                </a:endParaRPr>
              </a:p>
              <a:p>
                <a:pPr marL="0" indent="0">
                  <a:buNone/>
                </a:pPr>
                <a:r>
                  <a:rPr lang="en-PH" sz="4400" dirty="0"/>
                  <a:t>	</a:t>
                </a:r>
                <a:r>
                  <a:rPr lang="en-PH" sz="4400" dirty="0" err="1"/>
                  <a:t>R</a:t>
                </a:r>
                <a:r>
                  <a:rPr lang="en-PH" sz="3200" dirty="0" err="1"/>
                  <a:t>sh</a:t>
                </a:r>
                <a:r>
                  <a:rPr lang="en-PH" sz="3200" dirty="0"/>
                  <a:t> </a:t>
                </a:r>
                <a:r>
                  <a:rPr lang="en-PH" sz="4000" dirty="0"/>
                  <a:t>= </a:t>
                </a:r>
                <a:r>
                  <a:rPr lang="en-PH" sz="4400" dirty="0"/>
                  <a:t>R</a:t>
                </a:r>
                <a:r>
                  <a:rPr lang="en-PH" sz="3200" dirty="0"/>
                  <a:t>a</a:t>
                </a:r>
                <a:r>
                  <a:rPr lang="en-PH" sz="4400" dirty="0"/>
                  <a:t> + </a:t>
                </a:r>
                <a:r>
                  <a:rPr lang="en-PH" sz="4400" dirty="0" err="1"/>
                  <a:t>R</a:t>
                </a:r>
                <a:r>
                  <a:rPr lang="en-PH" sz="3200" dirty="0" err="1"/>
                  <a:t>b</a:t>
                </a:r>
                <a:r>
                  <a:rPr lang="en-PH" sz="4400" dirty="0"/>
                  <a:t> + </a:t>
                </a:r>
                <a:r>
                  <a:rPr lang="en-PH" sz="4400" dirty="0" err="1"/>
                  <a:t>R</a:t>
                </a:r>
                <a:r>
                  <a:rPr lang="en-PH" sz="3200" dirty="0" err="1"/>
                  <a:t>c</a:t>
                </a:r>
                <a:r>
                  <a:rPr lang="en-PH" sz="4400" dirty="0"/>
                  <a:t> 	</a:t>
                </a:r>
              </a:p>
              <a:p>
                <a:pPr marL="0" indent="0">
                  <a:buNone/>
                </a:pPr>
                <a:endParaRPr lang="en-PH" sz="4400" dirty="0">
                  <a:solidFill>
                    <a:srgbClr val="00206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368300"/>
                <a:ext cx="11087100" cy="6172200"/>
              </a:xfrm>
              <a:blipFill rotWithShape="0">
                <a:blip r:embed="rId2"/>
                <a:stretch>
                  <a:fillRect l="-2255" t="-3949" b="-888"/>
                </a:stretch>
              </a:blipFill>
            </p:spPr>
            <p:txBody>
              <a:bodyPr/>
              <a:lstStyle/>
              <a:p>
                <a:r>
                  <a:rPr lang="en-PH">
                    <a:noFill/>
                  </a:rPr>
                  <a:t> </a:t>
                </a:r>
              </a:p>
            </p:txBody>
          </p:sp>
        </mc:Fallback>
      </mc:AlternateContent>
      <p:sp>
        <p:nvSpPr>
          <p:cNvPr id="6" name="TextBox 21"/>
          <p:cNvSpPr txBox="1"/>
          <p:nvPr/>
        </p:nvSpPr>
        <p:spPr>
          <a:xfrm>
            <a:off x="6291262" y="6128773"/>
            <a:ext cx="4432300" cy="34290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PH" sz="2400" b="1" dirty="0"/>
              <a:t>An Ammeter using </a:t>
            </a:r>
            <a:r>
              <a:rPr lang="en-PH" sz="2400" b="1" dirty="0" err="1"/>
              <a:t>Ayrton</a:t>
            </a:r>
            <a:r>
              <a:rPr lang="en-PH" sz="2400" b="1" dirty="0"/>
              <a:t> shunt</a:t>
            </a:r>
          </a:p>
        </p:txBody>
      </p:sp>
      <p:pic>
        <p:nvPicPr>
          <p:cNvPr id="2" name="Picture 1"/>
          <p:cNvPicPr>
            <a:picLocks noChangeAspect="1"/>
          </p:cNvPicPr>
          <p:nvPr/>
        </p:nvPicPr>
        <p:blipFill>
          <a:blip r:embed="rId3"/>
          <a:stretch>
            <a:fillRect/>
          </a:stretch>
        </p:blipFill>
        <p:spPr>
          <a:xfrm>
            <a:off x="6651625" y="1119445"/>
            <a:ext cx="3711575" cy="5009328"/>
          </a:xfrm>
          <a:prstGeom prst="rect">
            <a:avLst/>
          </a:prstGeom>
        </p:spPr>
      </p:pic>
    </p:spTree>
    <p:extLst>
      <p:ext uri="{BB962C8B-B14F-4D97-AF65-F5344CB8AC3E}">
        <p14:creationId xmlns:p14="http://schemas.microsoft.com/office/powerpoint/2010/main" val="31842245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dirty="0">
                <a:solidFill>
                  <a:srgbClr val="002060"/>
                </a:solidFill>
              </a:rPr>
              <a:t>Multi Range Ammeter (series resistors)</a:t>
            </a:r>
          </a:p>
          <a:p>
            <a:pPr marL="0" indent="0">
              <a:buNone/>
            </a:pPr>
            <a:r>
              <a:rPr lang="en-PH" sz="4400" dirty="0"/>
              <a:t>If the switch is in the middle position:</a:t>
            </a:r>
          </a:p>
          <a:p>
            <a:pPr marL="0" indent="0">
              <a:buNone/>
            </a:pPr>
            <a:r>
              <a:rPr lang="en-PH" sz="4400" dirty="0"/>
              <a:t>	</a:t>
            </a:r>
            <a:r>
              <a:rPr lang="en-PH" sz="4400" dirty="0" err="1"/>
              <a:t>R</a:t>
            </a:r>
            <a:r>
              <a:rPr lang="en-PH" sz="3200" dirty="0" err="1"/>
              <a:t>b</a:t>
            </a:r>
            <a:r>
              <a:rPr lang="en-PH" sz="4400" dirty="0"/>
              <a:t> + </a:t>
            </a:r>
            <a:r>
              <a:rPr lang="en-PH" sz="4400" dirty="0" err="1"/>
              <a:t>R</a:t>
            </a:r>
            <a:r>
              <a:rPr lang="en-PH" sz="3200" dirty="0" err="1"/>
              <a:t>c</a:t>
            </a:r>
            <a:r>
              <a:rPr lang="en-PH" sz="4400" dirty="0"/>
              <a:t> // R</a:t>
            </a:r>
            <a:r>
              <a:rPr lang="en-PH" sz="3200" dirty="0"/>
              <a:t>m</a:t>
            </a:r>
            <a:r>
              <a:rPr lang="en-PH" sz="4400" dirty="0"/>
              <a:t> + R</a:t>
            </a:r>
            <a:r>
              <a:rPr lang="en-PH" sz="3200" dirty="0"/>
              <a:t>a</a:t>
            </a:r>
          </a:p>
          <a:p>
            <a:pPr marL="0" indent="0">
              <a:buNone/>
            </a:pPr>
            <a:r>
              <a:rPr lang="en-PH" sz="4400" dirty="0"/>
              <a:t>	</a:t>
            </a:r>
            <a:r>
              <a:rPr lang="en-PH" sz="4400" dirty="0" err="1"/>
              <a:t>V</a:t>
            </a:r>
            <a:r>
              <a:rPr lang="en-PH" dirty="0" err="1"/>
              <a:t>Rb</a:t>
            </a:r>
            <a:r>
              <a:rPr lang="en-PH" dirty="0"/>
              <a:t> + </a:t>
            </a:r>
            <a:r>
              <a:rPr lang="en-PH" dirty="0" err="1"/>
              <a:t>Rc</a:t>
            </a:r>
            <a:r>
              <a:rPr lang="en-PH" dirty="0"/>
              <a:t>  </a:t>
            </a:r>
            <a:r>
              <a:rPr lang="en-PH" sz="4400" dirty="0"/>
              <a:t>=</a:t>
            </a:r>
            <a:r>
              <a:rPr lang="en-PH" sz="3600" dirty="0"/>
              <a:t> </a:t>
            </a:r>
            <a:r>
              <a:rPr lang="en-PH" sz="4400" dirty="0" err="1"/>
              <a:t>V</a:t>
            </a:r>
            <a:r>
              <a:rPr lang="en-PH" dirty="0" err="1"/>
              <a:t>Rm</a:t>
            </a:r>
            <a:r>
              <a:rPr lang="en-PH" dirty="0"/>
              <a:t> + Ra</a:t>
            </a:r>
            <a:endParaRPr lang="en-PH" sz="4000" dirty="0"/>
          </a:p>
          <a:p>
            <a:pPr marL="0" indent="0">
              <a:buNone/>
            </a:pPr>
            <a:r>
              <a:rPr lang="en-PH" sz="4400" dirty="0"/>
              <a:t>In current &amp; resistance terms:</a:t>
            </a:r>
          </a:p>
          <a:p>
            <a:pPr marL="0" indent="0">
              <a:buNone/>
            </a:pPr>
            <a:r>
              <a:rPr lang="en-PH" sz="4400" dirty="0"/>
              <a:t>	(</a:t>
            </a:r>
            <a:r>
              <a:rPr lang="en-PH" sz="4400" dirty="0" err="1"/>
              <a:t>R</a:t>
            </a:r>
            <a:r>
              <a:rPr lang="en-PH" sz="3200" dirty="0" err="1"/>
              <a:t>b</a:t>
            </a:r>
            <a:r>
              <a:rPr lang="en-PH" sz="4400" dirty="0"/>
              <a:t> + </a:t>
            </a:r>
            <a:r>
              <a:rPr lang="en-PH" sz="4400" dirty="0" err="1"/>
              <a:t>R</a:t>
            </a:r>
            <a:r>
              <a:rPr lang="en-PH" sz="3200" dirty="0" err="1"/>
              <a:t>c</a:t>
            </a:r>
            <a:r>
              <a:rPr lang="en-PH" sz="4400" dirty="0"/>
              <a:t>)(I</a:t>
            </a:r>
            <a:r>
              <a:rPr lang="en-PH" sz="3200" dirty="0"/>
              <a:t>2</a:t>
            </a:r>
            <a:r>
              <a:rPr lang="en-PH" sz="4400" dirty="0"/>
              <a:t> – </a:t>
            </a:r>
            <a:r>
              <a:rPr lang="en-PH" sz="4400" dirty="0" err="1"/>
              <a:t>I</a:t>
            </a:r>
            <a:r>
              <a:rPr lang="en-PH" sz="3200" dirty="0" err="1"/>
              <a:t>m</a:t>
            </a:r>
            <a:r>
              <a:rPr lang="en-PH" sz="4400" dirty="0"/>
              <a:t>) = </a:t>
            </a:r>
            <a:r>
              <a:rPr lang="en-PH" sz="4400" dirty="0" err="1"/>
              <a:t>I</a:t>
            </a:r>
            <a:r>
              <a:rPr lang="en-PH" sz="3200" dirty="0" err="1"/>
              <a:t>m</a:t>
            </a:r>
            <a:r>
              <a:rPr lang="en-PH" sz="4400" dirty="0"/>
              <a:t>(R</a:t>
            </a:r>
            <a:r>
              <a:rPr lang="en-PH" sz="3200" dirty="0"/>
              <a:t>a</a:t>
            </a:r>
            <a:r>
              <a:rPr lang="en-PH" sz="4400" dirty="0"/>
              <a:t> + R</a:t>
            </a:r>
            <a:r>
              <a:rPr lang="en-PH" sz="3200" dirty="0"/>
              <a:t>m</a:t>
            </a:r>
            <a:r>
              <a:rPr lang="en-PH" sz="4400" dirty="0"/>
              <a:t>)</a:t>
            </a:r>
          </a:p>
          <a:p>
            <a:pPr marL="0" indent="0">
              <a:buNone/>
            </a:pPr>
            <a:r>
              <a:rPr lang="en-PH" sz="4400" dirty="0"/>
              <a:t>Or</a:t>
            </a:r>
          </a:p>
          <a:p>
            <a:pPr marL="0" indent="0">
              <a:buNone/>
            </a:pPr>
            <a:r>
              <a:rPr lang="en-PH" sz="4400" dirty="0"/>
              <a:t>I</a:t>
            </a:r>
            <a:r>
              <a:rPr lang="en-PH" sz="3200" dirty="0"/>
              <a:t>2</a:t>
            </a:r>
            <a:r>
              <a:rPr lang="en-PH" sz="4400" dirty="0"/>
              <a:t>(</a:t>
            </a:r>
            <a:r>
              <a:rPr lang="en-PH" sz="4400" dirty="0" err="1"/>
              <a:t>R</a:t>
            </a:r>
            <a:r>
              <a:rPr lang="en-PH" sz="3200" dirty="0" err="1"/>
              <a:t>b</a:t>
            </a:r>
            <a:r>
              <a:rPr lang="en-PH" sz="4400" dirty="0"/>
              <a:t> + </a:t>
            </a:r>
            <a:r>
              <a:rPr lang="en-PH" sz="4400" dirty="0" err="1"/>
              <a:t>R</a:t>
            </a:r>
            <a:r>
              <a:rPr lang="en-PH" sz="3200" dirty="0" err="1"/>
              <a:t>c</a:t>
            </a:r>
            <a:r>
              <a:rPr lang="en-PH" sz="4400" dirty="0"/>
              <a:t>) - </a:t>
            </a:r>
            <a:r>
              <a:rPr lang="en-PH" sz="4400" dirty="0" err="1"/>
              <a:t>I</a:t>
            </a:r>
            <a:r>
              <a:rPr lang="en-PH" sz="3200" dirty="0" err="1"/>
              <a:t>m</a:t>
            </a:r>
            <a:r>
              <a:rPr lang="en-PH" sz="4400" dirty="0"/>
              <a:t>(</a:t>
            </a:r>
            <a:r>
              <a:rPr lang="en-PH" sz="4400" dirty="0" err="1"/>
              <a:t>R</a:t>
            </a:r>
            <a:r>
              <a:rPr lang="en-PH" sz="3200" dirty="0" err="1"/>
              <a:t>b</a:t>
            </a:r>
            <a:r>
              <a:rPr lang="en-PH" sz="4400" dirty="0"/>
              <a:t> + </a:t>
            </a:r>
            <a:r>
              <a:rPr lang="en-PH" sz="4400" dirty="0" err="1"/>
              <a:t>R</a:t>
            </a:r>
            <a:r>
              <a:rPr lang="en-PH" sz="3200" dirty="0" err="1"/>
              <a:t>c</a:t>
            </a:r>
            <a:r>
              <a:rPr lang="en-PH" sz="4400" dirty="0"/>
              <a:t>) = </a:t>
            </a:r>
            <a:r>
              <a:rPr lang="en-PH" sz="4400" dirty="0" err="1"/>
              <a:t>I</a:t>
            </a:r>
            <a:r>
              <a:rPr lang="en-PH" sz="3200" dirty="0" err="1"/>
              <a:t>m</a:t>
            </a:r>
            <a:r>
              <a:rPr lang="en-PH" sz="4400" dirty="0"/>
              <a:t>[</a:t>
            </a:r>
            <a:r>
              <a:rPr lang="en-PH" sz="4400" dirty="0" err="1"/>
              <a:t>R</a:t>
            </a:r>
            <a:r>
              <a:rPr lang="en-PH" sz="3200" dirty="0" err="1"/>
              <a:t>sh</a:t>
            </a:r>
            <a:r>
              <a:rPr lang="en-PH" sz="3200" dirty="0"/>
              <a:t> - </a:t>
            </a:r>
            <a:r>
              <a:rPr lang="en-PH" sz="4400" dirty="0"/>
              <a:t>(</a:t>
            </a:r>
            <a:r>
              <a:rPr lang="en-PH" sz="4400" dirty="0" err="1"/>
              <a:t>R</a:t>
            </a:r>
            <a:r>
              <a:rPr lang="en-PH" sz="3200" dirty="0" err="1"/>
              <a:t>b</a:t>
            </a:r>
            <a:r>
              <a:rPr lang="en-PH" sz="4400" dirty="0"/>
              <a:t> + </a:t>
            </a:r>
            <a:r>
              <a:rPr lang="en-PH" sz="4400" dirty="0" err="1"/>
              <a:t>R</a:t>
            </a:r>
            <a:r>
              <a:rPr lang="en-PH" sz="3200" dirty="0" err="1"/>
              <a:t>c</a:t>
            </a:r>
            <a:r>
              <a:rPr lang="en-PH" sz="4400" dirty="0"/>
              <a:t>) + R</a:t>
            </a:r>
            <a:r>
              <a:rPr lang="en-PH" sz="3200" dirty="0"/>
              <a:t>m</a:t>
            </a:r>
            <a:r>
              <a:rPr lang="en-PH" sz="4400" dirty="0"/>
              <a:t>]</a:t>
            </a:r>
          </a:p>
        </p:txBody>
      </p:sp>
      <p:pic>
        <p:nvPicPr>
          <p:cNvPr id="2" name="Picture 1"/>
          <p:cNvPicPr>
            <a:picLocks noChangeAspect="1"/>
          </p:cNvPicPr>
          <p:nvPr/>
        </p:nvPicPr>
        <p:blipFill>
          <a:blip r:embed="rId2"/>
          <a:stretch>
            <a:fillRect/>
          </a:stretch>
        </p:blipFill>
        <p:spPr>
          <a:xfrm>
            <a:off x="9144001" y="995362"/>
            <a:ext cx="2374900" cy="4066889"/>
          </a:xfrm>
          <a:prstGeom prst="rect">
            <a:avLst/>
          </a:prstGeom>
        </p:spPr>
      </p:pic>
    </p:spTree>
    <p:extLst>
      <p:ext uri="{BB962C8B-B14F-4D97-AF65-F5344CB8AC3E}">
        <p14:creationId xmlns:p14="http://schemas.microsoft.com/office/powerpoint/2010/main" val="40759305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66700" y="419100"/>
                <a:ext cx="11493500" cy="6172200"/>
              </a:xfrm>
            </p:spPr>
            <p:txBody>
              <a:bodyPr>
                <a:normAutofit/>
              </a:bodyPr>
              <a:lstStyle/>
              <a:p>
                <a:pPr marL="0" indent="0">
                  <a:buNone/>
                </a:pPr>
                <a:r>
                  <a:rPr lang="en-PH" sz="4400" dirty="0">
                    <a:solidFill>
                      <a:srgbClr val="002060"/>
                    </a:solidFill>
                  </a:rPr>
                  <a:t>Multi Range Ammeter (series resistors)</a:t>
                </a:r>
              </a:p>
              <a:p>
                <a:pPr marL="0" indent="0">
                  <a:buNone/>
                </a:pPr>
                <a:r>
                  <a:rPr lang="en-PH" sz="4400" dirty="0"/>
                  <a:t>I</a:t>
                </a:r>
                <a:r>
                  <a:rPr lang="en-PH" sz="3200" dirty="0"/>
                  <a:t>2</a:t>
                </a:r>
                <a:r>
                  <a:rPr lang="en-PH" sz="4400" dirty="0"/>
                  <a:t>(</a:t>
                </a:r>
                <a:r>
                  <a:rPr lang="en-PH" sz="4400" dirty="0" err="1"/>
                  <a:t>R</a:t>
                </a:r>
                <a:r>
                  <a:rPr lang="en-PH" sz="3200" dirty="0" err="1"/>
                  <a:t>b</a:t>
                </a:r>
                <a:r>
                  <a:rPr lang="en-PH" sz="4400" dirty="0"/>
                  <a:t> + </a:t>
                </a:r>
                <a:r>
                  <a:rPr lang="en-PH" sz="4400" dirty="0" err="1"/>
                  <a:t>R</a:t>
                </a:r>
                <a:r>
                  <a:rPr lang="en-PH" sz="3200" dirty="0" err="1"/>
                  <a:t>c</a:t>
                </a:r>
                <a:r>
                  <a:rPr lang="en-PH" sz="4400" dirty="0"/>
                  <a:t>) - </a:t>
                </a:r>
                <a:r>
                  <a:rPr lang="en-PH" sz="4400" dirty="0" err="1"/>
                  <a:t>I</a:t>
                </a:r>
                <a:r>
                  <a:rPr lang="en-PH" sz="3200" dirty="0" err="1"/>
                  <a:t>m</a:t>
                </a:r>
                <a:r>
                  <a:rPr lang="en-PH" sz="4400" dirty="0"/>
                  <a:t>(</a:t>
                </a:r>
                <a:r>
                  <a:rPr lang="en-PH" sz="4400" dirty="0" err="1"/>
                  <a:t>R</a:t>
                </a:r>
                <a:r>
                  <a:rPr lang="en-PH" sz="3200" dirty="0" err="1"/>
                  <a:t>b</a:t>
                </a:r>
                <a:r>
                  <a:rPr lang="en-PH" sz="4400" dirty="0"/>
                  <a:t> + </a:t>
                </a:r>
                <a:r>
                  <a:rPr lang="en-PH" sz="4400" dirty="0" err="1"/>
                  <a:t>R</a:t>
                </a:r>
                <a:r>
                  <a:rPr lang="en-PH" sz="3200" dirty="0" err="1"/>
                  <a:t>c</a:t>
                </a:r>
                <a:r>
                  <a:rPr lang="en-PH" sz="4400" dirty="0"/>
                  <a:t>) = </a:t>
                </a:r>
                <a:r>
                  <a:rPr lang="en-PH" sz="4400" dirty="0" err="1"/>
                  <a:t>I</a:t>
                </a:r>
                <a:r>
                  <a:rPr lang="en-PH" sz="3200" dirty="0" err="1"/>
                  <a:t>m</a:t>
                </a:r>
                <a:r>
                  <a:rPr lang="en-PH" sz="4400" dirty="0" err="1"/>
                  <a:t>R</a:t>
                </a:r>
                <a:r>
                  <a:rPr lang="en-PH" sz="3200" dirty="0" err="1"/>
                  <a:t>sh</a:t>
                </a:r>
                <a:r>
                  <a:rPr lang="en-PH" sz="3200" dirty="0"/>
                  <a:t> - </a:t>
                </a:r>
                <a:r>
                  <a:rPr lang="en-PH" sz="4400" dirty="0" err="1"/>
                  <a:t>I</a:t>
                </a:r>
                <a:r>
                  <a:rPr lang="en-PH" sz="3200" dirty="0" err="1"/>
                  <a:t>m</a:t>
                </a:r>
                <a:r>
                  <a:rPr lang="en-PH" sz="4400" dirty="0"/>
                  <a:t>(</a:t>
                </a:r>
                <a:r>
                  <a:rPr lang="en-PH" sz="4400" dirty="0" err="1"/>
                  <a:t>R</a:t>
                </a:r>
                <a:r>
                  <a:rPr lang="en-PH" sz="3200" dirty="0" err="1"/>
                  <a:t>b</a:t>
                </a:r>
                <a:r>
                  <a:rPr lang="en-PH" sz="4400" dirty="0"/>
                  <a:t> + </a:t>
                </a:r>
                <a:r>
                  <a:rPr lang="en-PH" sz="4400" dirty="0" err="1"/>
                  <a:t>R</a:t>
                </a:r>
                <a:r>
                  <a:rPr lang="en-PH" sz="3200" dirty="0" err="1"/>
                  <a:t>c</a:t>
                </a:r>
                <a:r>
                  <a:rPr lang="en-PH" sz="4400" dirty="0"/>
                  <a:t>) + </a:t>
                </a:r>
                <a:r>
                  <a:rPr lang="en-PH" sz="4400" dirty="0" err="1"/>
                  <a:t>I</a:t>
                </a:r>
                <a:r>
                  <a:rPr lang="en-PH" sz="3200" dirty="0" err="1"/>
                  <a:t>m</a:t>
                </a:r>
                <a:r>
                  <a:rPr lang="en-PH" sz="4400" dirty="0" err="1"/>
                  <a:t>R</a:t>
                </a:r>
                <a:r>
                  <a:rPr lang="en-PH" sz="3200" dirty="0" err="1"/>
                  <a:t>m</a:t>
                </a:r>
                <a:endParaRPr lang="en-PH" sz="3200" dirty="0"/>
              </a:p>
              <a:p>
                <a:pPr marL="0" indent="0">
                  <a:buNone/>
                </a:pPr>
                <a:r>
                  <a:rPr lang="en-PH" sz="4800" dirty="0"/>
                  <a:t>	 </a:t>
                </a:r>
              </a:p>
              <a:p>
                <a:pPr marL="0" indent="0">
                  <a:buNone/>
                </a:pPr>
                <a:r>
                  <a:rPr lang="en-PH" sz="4800" dirty="0"/>
                  <a:t>	</a:t>
                </a:r>
                <a:r>
                  <a:rPr lang="en-PH" sz="4400" dirty="0"/>
                  <a:t>(</a:t>
                </a:r>
                <a:r>
                  <a:rPr lang="en-PH" sz="4400" dirty="0" err="1"/>
                  <a:t>R</a:t>
                </a:r>
                <a:r>
                  <a:rPr lang="en-PH" sz="3200" dirty="0" err="1"/>
                  <a:t>b</a:t>
                </a:r>
                <a:r>
                  <a:rPr lang="en-PH" sz="4400" dirty="0"/>
                  <a:t> + </a:t>
                </a:r>
                <a:r>
                  <a:rPr lang="en-PH" sz="4400" dirty="0" err="1"/>
                  <a:t>R</a:t>
                </a:r>
                <a:r>
                  <a:rPr lang="en-PH" sz="3200" dirty="0" err="1"/>
                  <a:t>c</a:t>
                </a:r>
                <a:r>
                  <a:rPr lang="en-PH" sz="4400" dirty="0"/>
                  <a:t>) </a:t>
                </a:r>
                <a:r>
                  <a:rPr lang="en-PH" sz="4800" dirty="0"/>
                  <a:t>= </a:t>
                </a:r>
                <a14:m>
                  <m:oMath xmlns:m="http://schemas.openxmlformats.org/officeDocument/2006/math">
                    <m:f>
                      <m:fPr>
                        <m:ctrlPr>
                          <a:rPr lang="en-PH" sz="4800" i="1" smtClean="0">
                            <a:latin typeface="Cambria Math" panose="02040503050406030204" pitchFamily="18" charset="0"/>
                          </a:rPr>
                        </m:ctrlPr>
                      </m:fPr>
                      <m:num>
                        <m:r>
                          <m:rPr>
                            <m:nor/>
                          </m:rPr>
                          <a:rPr lang="en-PH" sz="4400" dirty="0"/>
                          <m:t>I</m:t>
                        </m:r>
                        <m:r>
                          <m:rPr>
                            <m:nor/>
                          </m:rPr>
                          <a:rPr lang="en-PH" sz="3200" dirty="0"/>
                          <m:t>m</m:t>
                        </m:r>
                        <m:r>
                          <m:rPr>
                            <m:nor/>
                          </m:rPr>
                          <a:rPr lang="en-PH" sz="4000" dirty="0"/>
                          <m:t>(</m:t>
                        </m:r>
                        <m:r>
                          <m:rPr>
                            <m:nor/>
                          </m:rPr>
                          <a:rPr lang="en-PH" sz="4400" dirty="0"/>
                          <m:t>R</m:t>
                        </m:r>
                        <m:r>
                          <m:rPr>
                            <m:nor/>
                          </m:rPr>
                          <a:rPr lang="en-PH" sz="3200" dirty="0"/>
                          <m:t>sh</m:t>
                        </m:r>
                        <m:r>
                          <m:rPr>
                            <m:nor/>
                          </m:rPr>
                          <a:rPr lang="en-PH" sz="3200" dirty="0"/>
                          <m:t> + </m:t>
                        </m:r>
                        <m:r>
                          <m:rPr>
                            <m:nor/>
                          </m:rPr>
                          <a:rPr lang="en-PH" sz="4000" dirty="0"/>
                          <m:t>R</m:t>
                        </m:r>
                        <m:r>
                          <m:rPr>
                            <m:nor/>
                          </m:rPr>
                          <a:rPr lang="en-PH" sz="3200" dirty="0"/>
                          <m:t>m</m:t>
                        </m:r>
                        <m:r>
                          <m:rPr>
                            <m:nor/>
                          </m:rPr>
                          <a:rPr lang="en-PH" sz="4400" dirty="0"/>
                          <m:t>) </m:t>
                        </m:r>
                      </m:num>
                      <m:den>
                        <m:r>
                          <m:rPr>
                            <m:nor/>
                          </m:rPr>
                          <a:rPr lang="en-PH" sz="4400" dirty="0"/>
                          <m:t>I</m:t>
                        </m:r>
                        <m:r>
                          <m:rPr>
                            <m:nor/>
                          </m:rPr>
                          <a:rPr lang="en-PH" sz="3200" dirty="0"/>
                          <m:t>2</m:t>
                        </m:r>
                      </m:den>
                    </m:f>
                  </m:oMath>
                </a14:m>
                <a:r>
                  <a:rPr lang="en-PH" sz="4800" dirty="0"/>
                  <a:t>			</a:t>
                </a:r>
                <a:r>
                  <a:rPr lang="en-PH" sz="4400" dirty="0" err="1"/>
                  <a:t>eq</a:t>
                </a:r>
                <a:r>
                  <a:rPr lang="en-PH" sz="4400" dirty="0"/>
                  <a:t> 1</a:t>
                </a:r>
              </a:p>
              <a:p>
                <a:pPr marL="0" indent="0">
                  <a:buNone/>
                </a:pPr>
                <a:r>
                  <a:rPr lang="en-PH" sz="4400" dirty="0"/>
                  <a:t>	R</a:t>
                </a:r>
                <a:r>
                  <a:rPr lang="en-PH" sz="3200" dirty="0"/>
                  <a:t>a</a:t>
                </a:r>
                <a:r>
                  <a:rPr lang="en-PH" sz="4400" dirty="0"/>
                  <a:t> = </a:t>
                </a:r>
                <a:r>
                  <a:rPr lang="en-PH" sz="4400" dirty="0" err="1"/>
                  <a:t>R</a:t>
                </a:r>
                <a:r>
                  <a:rPr lang="en-PH" sz="3200" dirty="0" err="1"/>
                  <a:t>sh</a:t>
                </a:r>
                <a:r>
                  <a:rPr lang="en-PH" sz="4400" dirty="0"/>
                  <a:t> – (</a:t>
                </a:r>
                <a:r>
                  <a:rPr lang="en-PH" sz="4400" dirty="0" err="1"/>
                  <a:t>R</a:t>
                </a:r>
                <a:r>
                  <a:rPr lang="en-PH" sz="3200" dirty="0" err="1"/>
                  <a:t>b</a:t>
                </a:r>
                <a:r>
                  <a:rPr lang="en-PH" sz="4400" dirty="0"/>
                  <a:t> + </a:t>
                </a:r>
                <a:r>
                  <a:rPr lang="en-PH" sz="4400" dirty="0" err="1"/>
                  <a:t>R</a:t>
                </a:r>
                <a:r>
                  <a:rPr lang="en-PH" sz="3200" dirty="0" err="1"/>
                  <a:t>c</a:t>
                </a:r>
                <a:r>
                  <a:rPr lang="en-PH" sz="4400" dirty="0"/>
                  <a:t>)				</a:t>
                </a:r>
                <a:r>
                  <a:rPr lang="en-PH" sz="4400" dirty="0" err="1"/>
                  <a:t>eq</a:t>
                </a:r>
                <a:r>
                  <a:rPr lang="en-PH" sz="4400" dirty="0"/>
                  <a:t> 2</a:t>
                </a:r>
              </a:p>
              <a:p>
                <a:pPr marL="0" indent="0">
                  <a:buNone/>
                </a:pPr>
                <a:r>
                  <a:rPr lang="en-PH" sz="4800" dirty="0"/>
                  <a:t>	</a:t>
                </a:r>
                <a:r>
                  <a:rPr lang="en-PH" sz="4400" dirty="0" err="1"/>
                  <a:t>R</a:t>
                </a:r>
                <a:r>
                  <a:rPr lang="en-PH" sz="3200" dirty="0" err="1"/>
                  <a:t>c</a:t>
                </a:r>
                <a:r>
                  <a:rPr lang="en-PH" sz="3200" dirty="0"/>
                  <a:t> </a:t>
                </a:r>
                <a:r>
                  <a:rPr lang="en-PH" sz="4400" dirty="0"/>
                  <a:t>=</a:t>
                </a:r>
                <a:r>
                  <a:rPr lang="en-PH" sz="3200" dirty="0"/>
                  <a:t> </a:t>
                </a:r>
                <a14:m>
                  <m:oMath xmlns:m="http://schemas.openxmlformats.org/officeDocument/2006/math">
                    <m:f>
                      <m:fPr>
                        <m:ctrlPr>
                          <a:rPr lang="en-PH" sz="3600" i="1">
                            <a:latin typeface="Cambria Math" panose="02040503050406030204" pitchFamily="18" charset="0"/>
                          </a:rPr>
                        </m:ctrlPr>
                      </m:fPr>
                      <m:num>
                        <m:r>
                          <m:rPr>
                            <m:nor/>
                          </m:rPr>
                          <a:rPr lang="en-PH" sz="3600" dirty="0"/>
                          <m:t>Im</m:t>
                        </m:r>
                        <m:r>
                          <m:rPr>
                            <m:nor/>
                          </m:rPr>
                          <a:rPr lang="en-PH" sz="3600" dirty="0"/>
                          <m:t>(</m:t>
                        </m:r>
                        <m:r>
                          <m:rPr>
                            <m:nor/>
                          </m:rPr>
                          <a:rPr lang="en-PH" sz="3600" dirty="0"/>
                          <m:t>Rsh</m:t>
                        </m:r>
                        <m:r>
                          <m:rPr>
                            <m:nor/>
                          </m:rPr>
                          <a:rPr lang="en-PH" sz="3600" dirty="0"/>
                          <m:t> + </m:t>
                        </m:r>
                        <m:r>
                          <m:rPr>
                            <m:nor/>
                          </m:rPr>
                          <a:rPr lang="en-PH" sz="3600" dirty="0"/>
                          <m:t>Rm</m:t>
                        </m:r>
                        <m:r>
                          <m:rPr>
                            <m:nor/>
                          </m:rPr>
                          <a:rPr lang="en-PH" sz="3600" dirty="0"/>
                          <m:t>) </m:t>
                        </m:r>
                      </m:num>
                      <m:den>
                        <m:r>
                          <m:rPr>
                            <m:nor/>
                          </m:rPr>
                          <a:rPr lang="en-PH" sz="4800" dirty="0"/>
                          <m:t>I</m:t>
                        </m:r>
                        <m:r>
                          <a:rPr lang="en-PH" sz="3600" dirty="0">
                            <a:latin typeface="Cambria Math" panose="02040503050406030204" pitchFamily="18" charset="0"/>
                          </a:rPr>
                          <m:t>3</m:t>
                        </m:r>
                        <m:r>
                          <m:rPr>
                            <m:nor/>
                          </m:rPr>
                          <a:rPr lang="en-PH" sz="3600" dirty="0"/>
                          <m:t> </m:t>
                        </m:r>
                      </m:den>
                    </m:f>
                  </m:oMath>
                </a14:m>
                <a:r>
                  <a:rPr lang="en-PH" sz="3200" dirty="0"/>
                  <a:t>					</a:t>
                </a:r>
                <a:r>
                  <a:rPr lang="en-PH" sz="4400" dirty="0" err="1"/>
                  <a:t>eq</a:t>
                </a:r>
                <a:r>
                  <a:rPr lang="en-PH" sz="4400" dirty="0"/>
                  <a:t> 3</a:t>
                </a:r>
              </a:p>
              <a:p>
                <a:pPr marL="0" indent="0">
                  <a:buNone/>
                </a:pPr>
                <a:r>
                  <a:rPr lang="en-PH" sz="4400" dirty="0"/>
                  <a:t>	</a:t>
                </a:r>
                <a:r>
                  <a:rPr lang="en-PH" sz="4400" dirty="0" err="1"/>
                  <a:t>R</a:t>
                </a:r>
                <a:r>
                  <a:rPr lang="en-PH" sz="3200" dirty="0" err="1"/>
                  <a:t>b</a:t>
                </a:r>
                <a:r>
                  <a:rPr lang="en-PH" sz="3200" dirty="0"/>
                  <a:t> </a:t>
                </a:r>
                <a:r>
                  <a:rPr lang="en-PH" sz="4000" dirty="0"/>
                  <a:t>= </a:t>
                </a:r>
                <a:r>
                  <a:rPr lang="en-PH" sz="4400" dirty="0"/>
                  <a:t>(</a:t>
                </a:r>
                <a:r>
                  <a:rPr lang="en-PH" sz="4400" dirty="0" err="1"/>
                  <a:t>R</a:t>
                </a:r>
                <a:r>
                  <a:rPr lang="en-PH" sz="3200" dirty="0" err="1"/>
                  <a:t>b</a:t>
                </a:r>
                <a:r>
                  <a:rPr lang="en-PH" sz="4400" dirty="0"/>
                  <a:t> + </a:t>
                </a:r>
                <a:r>
                  <a:rPr lang="en-PH" sz="4400" dirty="0" err="1"/>
                  <a:t>R</a:t>
                </a:r>
                <a:r>
                  <a:rPr lang="en-PH" sz="3200" dirty="0" err="1"/>
                  <a:t>c</a:t>
                </a:r>
                <a:r>
                  <a:rPr lang="en-PH" sz="4400" dirty="0"/>
                  <a:t>) – </a:t>
                </a:r>
                <a:r>
                  <a:rPr lang="en-PH" sz="4400" dirty="0" err="1"/>
                  <a:t>Rc</a:t>
                </a:r>
                <a:r>
                  <a:rPr lang="en-PH" sz="4400" dirty="0"/>
                  <a:t>				</a:t>
                </a:r>
                <a:r>
                  <a:rPr lang="en-PH" sz="4400" dirty="0" err="1"/>
                  <a:t>eq</a:t>
                </a:r>
                <a:r>
                  <a:rPr lang="en-PH" sz="4400" dirty="0"/>
                  <a:t> 4</a:t>
                </a:r>
                <a:endParaRPr lang="en-PH" sz="4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66700" y="419100"/>
                <a:ext cx="11493500" cy="6172200"/>
              </a:xfrm>
              <a:blipFill rotWithShape="0">
                <a:blip r:embed="rId2"/>
                <a:stretch>
                  <a:fillRect l="-2175" t="-3162"/>
                </a:stretch>
              </a:blipFill>
            </p:spPr>
            <p:txBody>
              <a:bodyPr/>
              <a:lstStyle/>
              <a:p>
                <a:r>
                  <a:rPr lang="en-PH">
                    <a:noFill/>
                  </a:rPr>
                  <a:t> </a:t>
                </a:r>
              </a:p>
            </p:txBody>
          </p:sp>
        </mc:Fallback>
      </mc:AlternateContent>
      <p:cxnSp>
        <p:nvCxnSpPr>
          <p:cNvPr id="4" name="Straight Connector 3"/>
          <p:cNvCxnSpPr/>
          <p:nvPr/>
        </p:nvCxnSpPr>
        <p:spPr>
          <a:xfrm flipH="1">
            <a:off x="3048000" y="1295400"/>
            <a:ext cx="2324100" cy="4953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7404100" y="1295400"/>
            <a:ext cx="2324100" cy="4953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658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dirty="0">
                <a:solidFill>
                  <a:srgbClr val="002060"/>
                </a:solidFill>
              </a:rPr>
              <a:t>Example</a:t>
            </a:r>
          </a:p>
          <a:p>
            <a:pPr marL="0" indent="0">
              <a:buNone/>
            </a:pPr>
            <a:r>
              <a:rPr lang="en-PH" sz="4400" dirty="0"/>
              <a:t>Calculate the value of the shunt resistors if </a:t>
            </a:r>
            <a:r>
              <a:rPr lang="en-PH" sz="4400" dirty="0" err="1"/>
              <a:t>Im</a:t>
            </a:r>
            <a:r>
              <a:rPr lang="en-PH" sz="4400" dirty="0"/>
              <a:t> = 100 </a:t>
            </a:r>
            <a:r>
              <a:rPr lang="el-GR" sz="4400" dirty="0"/>
              <a:t>μ</a:t>
            </a:r>
            <a:r>
              <a:rPr lang="en-PH" sz="4400" dirty="0"/>
              <a:t>A and Rm = 1k</a:t>
            </a:r>
            <a:r>
              <a:rPr lang="el-GR" sz="4400" dirty="0"/>
              <a:t>Ω</a:t>
            </a:r>
            <a:endParaRPr lang="en-PH" sz="4400" dirty="0"/>
          </a:p>
        </p:txBody>
      </p:sp>
      <p:pic>
        <p:nvPicPr>
          <p:cNvPr id="4" name="Picture 3"/>
          <p:cNvPicPr>
            <a:picLocks noChangeAspect="1"/>
          </p:cNvPicPr>
          <p:nvPr/>
        </p:nvPicPr>
        <p:blipFill>
          <a:blip r:embed="rId2"/>
          <a:stretch>
            <a:fillRect/>
          </a:stretch>
        </p:blipFill>
        <p:spPr>
          <a:xfrm>
            <a:off x="2971800" y="2406310"/>
            <a:ext cx="4889500" cy="4147344"/>
          </a:xfrm>
          <a:prstGeom prst="rect">
            <a:avLst/>
          </a:prstGeom>
        </p:spPr>
      </p:pic>
    </p:spTree>
    <p:extLst>
      <p:ext uri="{BB962C8B-B14F-4D97-AF65-F5344CB8AC3E}">
        <p14:creationId xmlns:p14="http://schemas.microsoft.com/office/powerpoint/2010/main" val="25618984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58800" y="368300"/>
                <a:ext cx="11087100" cy="6172200"/>
              </a:xfrm>
            </p:spPr>
            <p:txBody>
              <a:bodyPr>
                <a:normAutofit/>
              </a:bodyPr>
              <a:lstStyle/>
              <a:p>
                <a:pPr marL="0" indent="0">
                  <a:buNone/>
                </a:pPr>
                <a:r>
                  <a:rPr lang="en-PH" sz="4400" dirty="0">
                    <a:solidFill>
                      <a:srgbClr val="002060"/>
                    </a:solidFill>
                  </a:rPr>
                  <a:t>Solution:</a:t>
                </a:r>
              </a:p>
              <a:p>
                <a:pPr marL="0" indent="0">
                  <a:buNone/>
                </a:pPr>
                <a:r>
                  <a:rPr lang="en-PH" sz="4400" dirty="0">
                    <a:solidFill>
                      <a:srgbClr val="002060"/>
                    </a:solidFill>
                  </a:rPr>
                  <a:t>	</a:t>
                </a:r>
                <a:r>
                  <a:rPr lang="en-PH" sz="4400" dirty="0"/>
                  <a:t>n = </a:t>
                </a:r>
                <a14:m>
                  <m:oMath xmlns:m="http://schemas.openxmlformats.org/officeDocument/2006/math">
                    <m:f>
                      <m:fPr>
                        <m:ctrlPr>
                          <a:rPr lang="en-PH" sz="4400" i="1">
                            <a:latin typeface="Cambria Math" panose="02040503050406030204" pitchFamily="18" charset="0"/>
                          </a:rPr>
                        </m:ctrlPr>
                      </m:fPr>
                      <m:num>
                        <m:r>
                          <a:rPr lang="en-PH" sz="4400" i="1">
                            <a:latin typeface="Cambria Math" panose="02040503050406030204" pitchFamily="18" charset="0"/>
                          </a:rPr>
                          <m:t>𝐼</m:t>
                        </m:r>
                      </m:num>
                      <m:den>
                        <m:r>
                          <a:rPr lang="en-PH" sz="4400" i="1">
                            <a:latin typeface="Cambria Math" panose="02040503050406030204" pitchFamily="18" charset="0"/>
                          </a:rPr>
                          <m:t>𝐼𝑚</m:t>
                        </m:r>
                      </m:den>
                    </m:f>
                  </m:oMath>
                </a14:m>
                <a:r>
                  <a:rPr lang="en-PH" sz="4400" dirty="0">
                    <a:solidFill>
                      <a:srgbClr val="002060"/>
                    </a:solidFill>
                  </a:rPr>
                  <a:t> =</a:t>
                </a:r>
                <a:r>
                  <a:rPr lang="en-PH" sz="4400" dirty="0"/>
                  <a:t> </a:t>
                </a:r>
                <a14:m>
                  <m:oMath xmlns:m="http://schemas.openxmlformats.org/officeDocument/2006/math">
                    <m:f>
                      <m:fPr>
                        <m:ctrlPr>
                          <a:rPr lang="en-PH" sz="4400" i="1">
                            <a:latin typeface="Cambria Math" panose="02040503050406030204" pitchFamily="18" charset="0"/>
                          </a:rPr>
                        </m:ctrlPr>
                      </m:fPr>
                      <m:num>
                        <m:r>
                          <a:rPr lang="en-PH" sz="4400" b="0" i="1" smtClean="0">
                            <a:latin typeface="Cambria Math" panose="02040503050406030204" pitchFamily="18" charset="0"/>
                          </a:rPr>
                          <m:t>10 </m:t>
                        </m:r>
                        <m:r>
                          <a:rPr lang="en-PH" sz="4400" b="0" i="1" smtClean="0">
                            <a:latin typeface="Cambria Math" panose="02040503050406030204" pitchFamily="18" charset="0"/>
                          </a:rPr>
                          <m:t>𝑚𝐴</m:t>
                        </m:r>
                      </m:num>
                      <m:den>
                        <m:r>
                          <a:rPr lang="en-PH" sz="4400" b="0" i="1" smtClean="0">
                            <a:latin typeface="Cambria Math" panose="02040503050406030204" pitchFamily="18" charset="0"/>
                          </a:rPr>
                          <m:t>100 </m:t>
                        </m:r>
                        <m:r>
                          <m:rPr>
                            <m:sty m:val="p"/>
                          </m:rPr>
                          <a:rPr lang="el-GR" sz="4400" b="0" i="1" smtClean="0">
                            <a:latin typeface="Cambria Math" panose="02040503050406030204" pitchFamily="18" charset="0"/>
                          </a:rPr>
                          <m:t>μ</m:t>
                        </m:r>
                        <m:r>
                          <a:rPr lang="en-PH" sz="4400" b="0" i="1" smtClean="0">
                            <a:latin typeface="Cambria Math" panose="02040503050406030204" pitchFamily="18" charset="0"/>
                          </a:rPr>
                          <m:t>𝐴</m:t>
                        </m:r>
                      </m:den>
                    </m:f>
                  </m:oMath>
                </a14:m>
                <a:r>
                  <a:rPr lang="en-PH" sz="4400" dirty="0">
                    <a:solidFill>
                      <a:srgbClr val="002060"/>
                    </a:solidFill>
                  </a:rPr>
                  <a:t> = </a:t>
                </a:r>
                <a:r>
                  <a:rPr lang="en-PH" sz="4400" dirty="0"/>
                  <a:t>100</a:t>
                </a:r>
              </a:p>
              <a:p>
                <a:pPr marL="0" indent="0">
                  <a:buNone/>
                </a:pPr>
                <a:r>
                  <a:rPr lang="en-PH" sz="4400" dirty="0">
                    <a:solidFill>
                      <a:srgbClr val="002060"/>
                    </a:solidFill>
                  </a:rPr>
                  <a:t>	</a:t>
                </a:r>
                <a:r>
                  <a:rPr lang="en-PH" sz="4400" dirty="0" err="1"/>
                  <a:t>Rsh</a:t>
                </a:r>
                <a:r>
                  <a:rPr lang="en-PH" sz="4400" dirty="0"/>
                  <a:t> = </a:t>
                </a:r>
                <a14:m>
                  <m:oMath xmlns:m="http://schemas.openxmlformats.org/officeDocument/2006/math">
                    <m:f>
                      <m:fPr>
                        <m:ctrlPr>
                          <a:rPr lang="en-PH" sz="5400" i="1">
                            <a:latin typeface="Cambria Math" panose="02040503050406030204" pitchFamily="18" charset="0"/>
                          </a:rPr>
                        </m:ctrlPr>
                      </m:fPr>
                      <m:num>
                        <m:r>
                          <m:rPr>
                            <m:nor/>
                          </m:rPr>
                          <a:rPr lang="en-PH" sz="4800" dirty="0"/>
                          <m:t>R</m:t>
                        </m:r>
                        <m:r>
                          <m:rPr>
                            <m:nor/>
                          </m:rPr>
                          <a:rPr lang="en-PH" sz="4000" dirty="0"/>
                          <m:t>m</m:t>
                        </m:r>
                      </m:num>
                      <m:den>
                        <m:r>
                          <a:rPr lang="en-PH" sz="5400" i="1">
                            <a:latin typeface="Cambria Math" panose="02040503050406030204" pitchFamily="18" charset="0"/>
                          </a:rPr>
                          <m:t>(</m:t>
                        </m:r>
                        <m:r>
                          <m:rPr>
                            <m:nor/>
                          </m:rPr>
                          <a:rPr lang="en-PH" sz="4800" dirty="0"/>
                          <m:t>n</m:t>
                        </m:r>
                        <m:r>
                          <a:rPr lang="en-PH" sz="5400" i="1">
                            <a:latin typeface="Cambria Math" panose="02040503050406030204" pitchFamily="18" charset="0"/>
                          </a:rPr>
                          <m:t>−1)</m:t>
                        </m:r>
                      </m:den>
                    </m:f>
                  </m:oMath>
                </a14:m>
                <a:r>
                  <a:rPr lang="en-PH" sz="4400" dirty="0">
                    <a:solidFill>
                      <a:srgbClr val="002060"/>
                    </a:solidFill>
                  </a:rPr>
                  <a:t> </a:t>
                </a:r>
                <a:r>
                  <a:rPr lang="en-PH" sz="4400" dirty="0"/>
                  <a:t>=</a:t>
                </a:r>
                <a:r>
                  <a:rPr lang="en-PH" sz="4400" dirty="0">
                    <a:solidFill>
                      <a:srgbClr val="002060"/>
                    </a:solidFill>
                  </a:rPr>
                  <a:t> </a:t>
                </a:r>
                <a14:m>
                  <m:oMath xmlns:m="http://schemas.openxmlformats.org/officeDocument/2006/math">
                    <m:f>
                      <m:fPr>
                        <m:ctrlPr>
                          <a:rPr lang="en-PH" sz="4400" i="1">
                            <a:latin typeface="Cambria Math" panose="02040503050406030204" pitchFamily="18" charset="0"/>
                          </a:rPr>
                        </m:ctrlPr>
                      </m:fPr>
                      <m:num>
                        <m:r>
                          <m:rPr>
                            <m:nor/>
                          </m:rPr>
                          <a:rPr lang="en-PH" sz="4400" dirty="0"/>
                          <m:t>1</m:t>
                        </m:r>
                        <m:r>
                          <m:rPr>
                            <m:nor/>
                          </m:rPr>
                          <a:rPr lang="en-PH" sz="4400" b="0" i="0" dirty="0" smtClean="0"/>
                          <m:t> </m:t>
                        </m:r>
                        <m:r>
                          <m:rPr>
                            <m:nor/>
                          </m:rPr>
                          <a:rPr lang="en-PH" sz="4400" b="0" i="0" dirty="0" smtClean="0"/>
                          <m:t>k</m:t>
                        </m:r>
                        <m:r>
                          <m:rPr>
                            <m:nor/>
                          </m:rPr>
                          <a:rPr lang="el-GR" sz="4400" dirty="0"/>
                          <m:t>Ω</m:t>
                        </m:r>
                      </m:num>
                      <m:den>
                        <m:r>
                          <a:rPr lang="en-PH" sz="4400" i="1">
                            <a:latin typeface="Cambria Math" panose="02040503050406030204" pitchFamily="18" charset="0"/>
                          </a:rPr>
                          <m:t>(</m:t>
                        </m:r>
                        <m:r>
                          <m:rPr>
                            <m:nor/>
                          </m:rPr>
                          <a:rPr lang="en-PH" sz="4000" b="0" i="0" dirty="0" smtClean="0"/>
                          <m:t>100 </m:t>
                        </m:r>
                        <m:r>
                          <a:rPr lang="en-PH" sz="4400" i="1">
                            <a:latin typeface="Cambria Math" panose="02040503050406030204" pitchFamily="18" charset="0"/>
                          </a:rPr>
                          <m:t>−1)</m:t>
                        </m:r>
                      </m:den>
                    </m:f>
                    <m:r>
                      <a:rPr lang="en-PH" sz="4400" b="0" i="0" smtClean="0">
                        <a:latin typeface="Cambria Math" panose="02040503050406030204" pitchFamily="18" charset="0"/>
                      </a:rPr>
                      <m:t>=</m:t>
                    </m:r>
                    <m:r>
                      <m:rPr>
                        <m:nor/>
                      </m:rPr>
                      <a:rPr lang="en-PH" sz="4400" dirty="0"/>
                      <m:t>10.1 </m:t>
                    </m:r>
                    <m:r>
                      <m:rPr>
                        <m:nor/>
                      </m:rPr>
                      <a:rPr lang="el-GR" sz="4400" dirty="0"/>
                      <m:t>Ω</m:t>
                    </m:r>
                  </m:oMath>
                </a14:m>
                <a:endParaRPr lang="en-PH" sz="4400" dirty="0">
                  <a:solidFill>
                    <a:srgbClr val="002060"/>
                  </a:solidFill>
                </a:endParaRPr>
              </a:p>
              <a:p>
                <a:pPr marL="0" indent="0">
                  <a:buNone/>
                </a:pPr>
                <a:endParaRPr lang="en-PH" sz="4400" dirty="0">
                  <a:solidFill>
                    <a:srgbClr val="002060"/>
                  </a:solidFill>
                </a:endParaRPr>
              </a:p>
              <a:p>
                <a:pPr marL="0" indent="0">
                  <a:buNone/>
                </a:pPr>
                <a:r>
                  <a:rPr lang="en-PH" sz="4400" dirty="0"/>
                  <a:t>(</a:t>
                </a:r>
                <a:r>
                  <a:rPr lang="en-PH" sz="4400" dirty="0" err="1"/>
                  <a:t>R</a:t>
                </a:r>
                <a:r>
                  <a:rPr lang="en-PH" sz="3200" dirty="0" err="1"/>
                  <a:t>b</a:t>
                </a:r>
                <a:r>
                  <a:rPr lang="en-PH" sz="4400" dirty="0"/>
                  <a:t> + </a:t>
                </a:r>
                <a:r>
                  <a:rPr lang="en-PH" sz="4400" dirty="0" err="1"/>
                  <a:t>R</a:t>
                </a:r>
                <a:r>
                  <a:rPr lang="en-PH" sz="3200" dirty="0" err="1"/>
                  <a:t>c</a:t>
                </a:r>
                <a:r>
                  <a:rPr lang="en-PH" sz="4400" dirty="0"/>
                  <a:t>) </a:t>
                </a:r>
                <a:r>
                  <a:rPr lang="en-PH" sz="4800" dirty="0"/>
                  <a:t>= </a:t>
                </a:r>
                <a14:m>
                  <m:oMath xmlns:m="http://schemas.openxmlformats.org/officeDocument/2006/math">
                    <m:f>
                      <m:fPr>
                        <m:ctrlPr>
                          <a:rPr lang="en-PH" sz="4800" i="1">
                            <a:latin typeface="Cambria Math" panose="02040503050406030204" pitchFamily="18" charset="0"/>
                          </a:rPr>
                        </m:ctrlPr>
                      </m:fPr>
                      <m:num>
                        <m:r>
                          <m:rPr>
                            <m:nor/>
                          </m:rPr>
                          <a:rPr lang="en-PH" sz="4400" dirty="0"/>
                          <m:t>I</m:t>
                        </m:r>
                        <m:r>
                          <m:rPr>
                            <m:nor/>
                          </m:rPr>
                          <a:rPr lang="en-PH" sz="3200" dirty="0"/>
                          <m:t>m</m:t>
                        </m:r>
                        <m:r>
                          <m:rPr>
                            <m:nor/>
                          </m:rPr>
                          <a:rPr lang="en-PH" sz="4000" dirty="0"/>
                          <m:t>(</m:t>
                        </m:r>
                        <m:r>
                          <m:rPr>
                            <m:nor/>
                          </m:rPr>
                          <a:rPr lang="en-PH" sz="4400" dirty="0"/>
                          <m:t>R</m:t>
                        </m:r>
                        <m:r>
                          <m:rPr>
                            <m:nor/>
                          </m:rPr>
                          <a:rPr lang="en-PH" sz="3200" dirty="0"/>
                          <m:t>sh</m:t>
                        </m:r>
                        <m:r>
                          <m:rPr>
                            <m:nor/>
                          </m:rPr>
                          <a:rPr lang="en-PH" sz="3200" dirty="0"/>
                          <m:t> + </m:t>
                        </m:r>
                        <m:r>
                          <m:rPr>
                            <m:nor/>
                          </m:rPr>
                          <a:rPr lang="en-PH" sz="4000" dirty="0"/>
                          <m:t>R</m:t>
                        </m:r>
                        <m:r>
                          <m:rPr>
                            <m:nor/>
                          </m:rPr>
                          <a:rPr lang="en-PH" sz="3200" dirty="0"/>
                          <m:t>m</m:t>
                        </m:r>
                        <m:r>
                          <m:rPr>
                            <m:nor/>
                          </m:rPr>
                          <a:rPr lang="en-PH" sz="4400" dirty="0"/>
                          <m:t>) </m:t>
                        </m:r>
                      </m:num>
                      <m:den>
                        <m:r>
                          <m:rPr>
                            <m:nor/>
                          </m:rPr>
                          <a:rPr lang="en-PH" sz="4400" dirty="0"/>
                          <m:t>I</m:t>
                        </m:r>
                        <m:r>
                          <m:rPr>
                            <m:nor/>
                          </m:rPr>
                          <a:rPr lang="en-PH" sz="3200" dirty="0"/>
                          <m:t>2</m:t>
                        </m:r>
                      </m:den>
                    </m:f>
                    <m:r>
                      <a:rPr lang="en-PH" sz="3200" b="0" i="0" dirty="0" smtClean="0">
                        <a:latin typeface="Cambria Math" panose="02040503050406030204" pitchFamily="18" charset="0"/>
                      </a:rPr>
                      <m:t> = </m:t>
                    </m:r>
                    <m:f>
                      <m:fPr>
                        <m:ctrlPr>
                          <a:rPr lang="en-PH" sz="4800" i="1">
                            <a:latin typeface="Cambria Math" panose="02040503050406030204" pitchFamily="18" charset="0"/>
                          </a:rPr>
                        </m:ctrlPr>
                      </m:fPr>
                      <m:num>
                        <m:r>
                          <m:rPr>
                            <m:nor/>
                          </m:rPr>
                          <a:rPr lang="en-PH" sz="4400" b="0" i="0" dirty="0" smtClean="0"/>
                          <m:t>100 </m:t>
                        </m:r>
                        <m:r>
                          <m:rPr>
                            <m:sty m:val="p"/>
                          </m:rPr>
                          <a:rPr lang="el-GR" sz="4400" b="0" i="1" dirty="0" smtClean="0">
                            <a:latin typeface="Cambria Math" panose="02040503050406030204" pitchFamily="18" charset="0"/>
                          </a:rPr>
                          <m:t>μ</m:t>
                        </m:r>
                        <m:r>
                          <m:rPr>
                            <m:nor/>
                          </m:rPr>
                          <a:rPr lang="en-PH" sz="4400" b="0" i="0" dirty="0" smtClean="0">
                            <a:latin typeface="Cambria Math" panose="02040503050406030204" pitchFamily="18" charset="0"/>
                          </a:rPr>
                          <m:t>A</m:t>
                        </m:r>
                        <m:r>
                          <m:rPr>
                            <m:nor/>
                          </m:rPr>
                          <a:rPr lang="en-PH" sz="4400" b="0" i="0" dirty="0" smtClean="0">
                            <a:latin typeface="Cambria Math" panose="02040503050406030204" pitchFamily="18" charset="0"/>
                          </a:rPr>
                          <m:t> (</m:t>
                        </m:r>
                        <m:r>
                          <m:rPr>
                            <m:nor/>
                          </m:rPr>
                          <a:rPr lang="en-PH" sz="4400" dirty="0"/>
                          <m:t>10.1 </m:t>
                        </m:r>
                        <m:r>
                          <m:rPr>
                            <m:nor/>
                          </m:rPr>
                          <a:rPr lang="el-GR" sz="4400" dirty="0"/>
                          <m:t>Ω</m:t>
                        </m:r>
                        <m:r>
                          <a:rPr lang="en-PH" sz="4400" b="0" i="1" dirty="0" smtClean="0">
                            <a:latin typeface="Cambria Math" panose="02040503050406030204" pitchFamily="18" charset="0"/>
                          </a:rPr>
                          <m:t> +</m:t>
                        </m:r>
                        <m:r>
                          <m:rPr>
                            <m:nor/>
                          </m:rPr>
                          <a:rPr lang="en-PH" sz="4400" dirty="0"/>
                          <m:t>1</m:t>
                        </m:r>
                        <m:r>
                          <a:rPr lang="en-PH" sz="4400" b="0" i="1" dirty="0" smtClean="0">
                            <a:latin typeface="Cambria Math" panose="02040503050406030204" pitchFamily="18" charset="0"/>
                          </a:rPr>
                          <m:t> </m:t>
                        </m:r>
                        <m:r>
                          <a:rPr lang="en-PH" sz="4400" b="0" i="1" dirty="0" smtClean="0">
                            <a:latin typeface="Cambria Math" panose="02040503050406030204" pitchFamily="18" charset="0"/>
                          </a:rPr>
                          <m:t>𝑘</m:t>
                        </m:r>
                        <m:r>
                          <m:rPr>
                            <m:sty m:val="p"/>
                          </m:rPr>
                          <a:rPr lang="el-GR" sz="4400" b="0" i="1" dirty="0" smtClean="0">
                            <a:latin typeface="Cambria Math" panose="02040503050406030204" pitchFamily="18" charset="0"/>
                          </a:rPr>
                          <m:t>Ω</m:t>
                        </m:r>
                        <m:r>
                          <m:rPr>
                            <m:nor/>
                          </m:rPr>
                          <a:rPr lang="en-PH" sz="4400" b="0" i="0" dirty="0" smtClean="0">
                            <a:latin typeface="Cambria Math" panose="02040503050406030204" pitchFamily="18" charset="0"/>
                          </a:rPr>
                          <m:t>)</m:t>
                        </m:r>
                        <m:r>
                          <m:rPr>
                            <m:nor/>
                          </m:rPr>
                          <a:rPr lang="en-PH" sz="4400" dirty="0"/>
                          <m:t> </m:t>
                        </m:r>
                      </m:num>
                      <m:den>
                        <m:r>
                          <m:rPr>
                            <m:nor/>
                          </m:rPr>
                          <a:rPr lang="en-PH" sz="4400" b="0" i="0" dirty="0" smtClean="0"/>
                          <m:t>100 </m:t>
                        </m:r>
                        <m:r>
                          <m:rPr>
                            <m:nor/>
                          </m:rPr>
                          <a:rPr lang="en-PH" sz="4400" b="0" i="0" dirty="0" smtClean="0"/>
                          <m:t>mA</m:t>
                        </m:r>
                      </m:den>
                    </m:f>
                  </m:oMath>
                </a14:m>
                <a:endParaRPr lang="en-PH" sz="4400" dirty="0">
                  <a:solidFill>
                    <a:srgbClr val="002060"/>
                  </a:solidFill>
                </a:endParaRPr>
              </a:p>
              <a:p>
                <a:pPr marL="0" indent="0">
                  <a:buNone/>
                </a:pPr>
                <a:r>
                  <a:rPr lang="en-PH" sz="4400" dirty="0"/>
                  <a:t>(</a:t>
                </a:r>
                <a:r>
                  <a:rPr lang="en-PH" sz="4400" dirty="0" err="1"/>
                  <a:t>R</a:t>
                </a:r>
                <a:r>
                  <a:rPr lang="en-PH" sz="3200" dirty="0" err="1"/>
                  <a:t>b</a:t>
                </a:r>
                <a:r>
                  <a:rPr lang="en-PH" sz="4400" dirty="0"/>
                  <a:t> + </a:t>
                </a:r>
                <a:r>
                  <a:rPr lang="en-PH" sz="4400" dirty="0" err="1"/>
                  <a:t>R</a:t>
                </a:r>
                <a:r>
                  <a:rPr lang="en-PH" sz="3200" dirty="0" err="1"/>
                  <a:t>c</a:t>
                </a:r>
                <a:r>
                  <a:rPr lang="en-PH" sz="4400" dirty="0"/>
                  <a:t>) = 1.01 </a:t>
                </a:r>
                <a:r>
                  <a:rPr lang="el-GR" sz="4400" dirty="0"/>
                  <a:t>Ω</a:t>
                </a:r>
                <a:endParaRPr lang="en-PH" sz="4400" dirty="0">
                  <a:solidFill>
                    <a:srgbClr val="002060"/>
                  </a:solidFill>
                </a:endParaRPr>
              </a:p>
              <a:p>
                <a:pPr marL="0" indent="0">
                  <a:buNone/>
                </a:pPr>
                <a:endParaRPr lang="en-PH" sz="4400" dirty="0">
                  <a:solidFill>
                    <a:srgbClr val="002060"/>
                  </a:solidFill>
                </a:endParaRPr>
              </a:p>
              <a:p>
                <a:pPr marL="0" indent="0">
                  <a:buNone/>
                </a:pPr>
                <a:endParaRPr lang="en-PH" sz="4400" dirty="0">
                  <a:solidFill>
                    <a:srgbClr val="00206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58800" y="368300"/>
                <a:ext cx="11087100" cy="6172200"/>
              </a:xfrm>
              <a:blipFill rotWithShape="0">
                <a:blip r:embed="rId2"/>
                <a:stretch>
                  <a:fillRect l="-2255" t="-3060"/>
                </a:stretch>
              </a:blipFill>
            </p:spPr>
            <p:txBody>
              <a:bodyPr/>
              <a:lstStyle/>
              <a:p>
                <a:r>
                  <a:rPr lang="en-PH">
                    <a:noFill/>
                  </a:rPr>
                  <a:t> </a:t>
                </a:r>
              </a:p>
            </p:txBody>
          </p:sp>
        </mc:Fallback>
      </mc:AlternateContent>
      <p:sp>
        <p:nvSpPr>
          <p:cNvPr id="2" name="Rectangle 1"/>
          <p:cNvSpPr/>
          <p:nvPr/>
        </p:nvSpPr>
        <p:spPr>
          <a:xfrm>
            <a:off x="584200" y="5384800"/>
            <a:ext cx="4165600" cy="7493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824242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dirty="0">
                    <a:solidFill>
                      <a:srgbClr val="002060"/>
                    </a:solidFill>
                  </a:rPr>
                  <a:t>Solution:</a:t>
                </a:r>
              </a:p>
              <a:p>
                <a:pPr marL="0" indent="0">
                  <a:buNone/>
                </a:pPr>
                <a:r>
                  <a:rPr lang="en-PH" sz="4400" dirty="0"/>
                  <a:t>R</a:t>
                </a:r>
                <a:r>
                  <a:rPr lang="en-PH" sz="3200" dirty="0"/>
                  <a:t>a</a:t>
                </a:r>
                <a:r>
                  <a:rPr lang="en-PH" sz="4400" dirty="0"/>
                  <a:t> = </a:t>
                </a:r>
                <a:r>
                  <a:rPr lang="en-PH" sz="4400" dirty="0" err="1"/>
                  <a:t>R</a:t>
                </a:r>
                <a:r>
                  <a:rPr lang="en-PH" sz="3200" dirty="0" err="1"/>
                  <a:t>sh</a:t>
                </a:r>
                <a:r>
                  <a:rPr lang="en-PH" sz="4400" dirty="0"/>
                  <a:t> – (</a:t>
                </a:r>
                <a:r>
                  <a:rPr lang="en-PH" sz="4400" dirty="0" err="1"/>
                  <a:t>R</a:t>
                </a:r>
                <a:r>
                  <a:rPr lang="en-PH" sz="3200" dirty="0" err="1"/>
                  <a:t>b</a:t>
                </a:r>
                <a:r>
                  <a:rPr lang="en-PH" sz="4400" dirty="0"/>
                  <a:t> + </a:t>
                </a:r>
                <a:r>
                  <a:rPr lang="en-PH" sz="4400" dirty="0" err="1"/>
                  <a:t>R</a:t>
                </a:r>
                <a:r>
                  <a:rPr lang="en-PH" sz="3200" dirty="0" err="1"/>
                  <a:t>c</a:t>
                </a:r>
                <a:r>
                  <a:rPr lang="en-PH" sz="4400" dirty="0"/>
                  <a:t>) = 10.1 </a:t>
                </a:r>
                <a:r>
                  <a:rPr lang="el-GR" sz="4400" dirty="0"/>
                  <a:t>Ω</a:t>
                </a:r>
                <a:r>
                  <a:rPr lang="en-PH" sz="4400" dirty="0"/>
                  <a:t> – 1.01 </a:t>
                </a:r>
                <a:r>
                  <a:rPr lang="el-GR" sz="4400" dirty="0"/>
                  <a:t>Ω </a:t>
                </a:r>
                <a:endParaRPr lang="en-PH" sz="4400" dirty="0"/>
              </a:p>
              <a:p>
                <a:pPr marL="0" indent="0">
                  <a:buNone/>
                </a:pPr>
                <a:r>
                  <a:rPr lang="en-PH" sz="4400" dirty="0"/>
                  <a:t>R</a:t>
                </a:r>
                <a:r>
                  <a:rPr lang="en-PH" sz="3200" dirty="0"/>
                  <a:t>a</a:t>
                </a:r>
                <a:r>
                  <a:rPr lang="en-PH" sz="4400" dirty="0"/>
                  <a:t> = 9.09 </a:t>
                </a:r>
                <a:r>
                  <a:rPr lang="el-GR" sz="4400" dirty="0"/>
                  <a:t>Ω</a:t>
                </a:r>
                <a:endParaRPr lang="en-PH" sz="4400" dirty="0"/>
              </a:p>
              <a:p>
                <a:pPr marL="0" indent="0">
                  <a:buNone/>
                </a:pPr>
                <a:endParaRPr lang="en-PH" sz="4400" dirty="0">
                  <a:solidFill>
                    <a:srgbClr val="002060"/>
                  </a:solidFill>
                </a:endParaRPr>
              </a:p>
              <a:p>
                <a:pPr marL="0" indent="0">
                  <a:buNone/>
                </a:pPr>
                <a:r>
                  <a:rPr lang="en-PH" sz="5400" dirty="0"/>
                  <a:t>R</a:t>
                </a:r>
                <a:r>
                  <a:rPr lang="en-PH" sz="4000" dirty="0" err="1"/>
                  <a:t>c</a:t>
                </a:r>
                <a:r>
                  <a:rPr lang="en-PH" sz="4000" dirty="0"/>
                  <a:t> </a:t>
                </a:r>
                <a:r>
                  <a:rPr lang="en-PH" sz="5400" dirty="0"/>
                  <a:t>=</a:t>
                </a:r>
                <a:r>
                  <a:rPr lang="en-PH" sz="4000" dirty="0"/>
                  <a:t> </a:t>
                </a:r>
                <a14:m>
                  <m:oMath xmlns:m="http://schemas.openxmlformats.org/officeDocument/2006/math">
                    <m:f>
                      <m:fPr>
                        <m:ctrlPr>
                          <a:rPr lang="en-PH" sz="4400" i="1">
                            <a:latin typeface="Cambria Math" panose="02040503050406030204" pitchFamily="18" charset="0"/>
                          </a:rPr>
                        </m:ctrlPr>
                      </m:fPr>
                      <m:num>
                        <m:r>
                          <m:rPr>
                            <m:nor/>
                          </m:rPr>
                          <a:rPr lang="en-PH" sz="4400" dirty="0"/>
                          <m:t>Im</m:t>
                        </m:r>
                        <m:r>
                          <m:rPr>
                            <m:nor/>
                          </m:rPr>
                          <a:rPr lang="en-PH" sz="4400" dirty="0"/>
                          <m:t>(</m:t>
                        </m:r>
                        <m:r>
                          <m:rPr>
                            <m:nor/>
                          </m:rPr>
                          <a:rPr lang="en-PH" sz="4400" dirty="0"/>
                          <m:t>Rsh</m:t>
                        </m:r>
                        <m:r>
                          <m:rPr>
                            <m:nor/>
                          </m:rPr>
                          <a:rPr lang="en-PH" sz="4400" dirty="0"/>
                          <m:t> + </m:t>
                        </m:r>
                        <m:r>
                          <m:rPr>
                            <m:nor/>
                          </m:rPr>
                          <a:rPr lang="en-PH" sz="4400" dirty="0"/>
                          <m:t>Rm</m:t>
                        </m:r>
                        <m:r>
                          <m:rPr>
                            <m:nor/>
                          </m:rPr>
                          <a:rPr lang="en-PH" sz="4400" dirty="0"/>
                          <m:t>) </m:t>
                        </m:r>
                      </m:num>
                      <m:den>
                        <m:r>
                          <m:rPr>
                            <m:nor/>
                          </m:rPr>
                          <a:rPr lang="en-PH" sz="6000" dirty="0"/>
                          <m:t>I</m:t>
                        </m:r>
                        <m:r>
                          <a:rPr lang="en-PH" sz="4400" dirty="0">
                            <a:latin typeface="Cambria Math" panose="02040503050406030204" pitchFamily="18" charset="0"/>
                          </a:rPr>
                          <m:t>3</m:t>
                        </m:r>
                        <m:r>
                          <m:rPr>
                            <m:nor/>
                          </m:rPr>
                          <a:rPr lang="en-PH" sz="4400" dirty="0"/>
                          <m:t> </m:t>
                        </m:r>
                      </m:den>
                    </m:f>
                  </m:oMath>
                </a14:m>
                <a:r>
                  <a:rPr lang="en-PH" sz="4000" dirty="0"/>
                  <a:t>	= </a:t>
                </a:r>
                <a14:m>
                  <m:oMath xmlns:m="http://schemas.openxmlformats.org/officeDocument/2006/math">
                    <m:f>
                      <m:fPr>
                        <m:ctrlPr>
                          <a:rPr lang="en-PH" sz="4400" i="1">
                            <a:latin typeface="Cambria Math" panose="02040503050406030204" pitchFamily="18" charset="0"/>
                          </a:rPr>
                        </m:ctrlPr>
                      </m:fPr>
                      <m:num>
                        <m:r>
                          <m:rPr>
                            <m:nor/>
                          </m:rPr>
                          <a:rPr lang="en-PH" sz="4400" dirty="0"/>
                          <m:t>100 </m:t>
                        </m:r>
                        <m:r>
                          <m:rPr>
                            <m:sty m:val="p"/>
                          </m:rPr>
                          <a:rPr lang="el-GR" sz="4400" i="1" dirty="0">
                            <a:latin typeface="Cambria Math" panose="02040503050406030204" pitchFamily="18" charset="0"/>
                          </a:rPr>
                          <m:t>μ</m:t>
                        </m:r>
                        <m:r>
                          <m:rPr>
                            <m:nor/>
                          </m:rPr>
                          <a:rPr lang="en-PH" sz="4400" dirty="0">
                            <a:latin typeface="Cambria Math" panose="02040503050406030204" pitchFamily="18" charset="0"/>
                          </a:rPr>
                          <m:t>A</m:t>
                        </m:r>
                        <m:r>
                          <m:rPr>
                            <m:nor/>
                          </m:rPr>
                          <a:rPr lang="en-PH" sz="4400" dirty="0">
                            <a:latin typeface="Cambria Math" panose="02040503050406030204" pitchFamily="18" charset="0"/>
                          </a:rPr>
                          <m:t> (</m:t>
                        </m:r>
                        <m:r>
                          <m:rPr>
                            <m:nor/>
                          </m:rPr>
                          <a:rPr lang="en-PH" sz="4400" dirty="0"/>
                          <m:t>10.1 </m:t>
                        </m:r>
                        <m:r>
                          <m:rPr>
                            <m:nor/>
                          </m:rPr>
                          <a:rPr lang="el-GR" sz="4400" dirty="0"/>
                          <m:t>Ω</m:t>
                        </m:r>
                        <m:r>
                          <a:rPr lang="en-PH" sz="4400" i="1" dirty="0">
                            <a:latin typeface="Cambria Math" panose="02040503050406030204" pitchFamily="18" charset="0"/>
                          </a:rPr>
                          <m:t> +</m:t>
                        </m:r>
                        <m:r>
                          <m:rPr>
                            <m:nor/>
                          </m:rPr>
                          <a:rPr lang="en-PH" sz="4400" dirty="0"/>
                          <m:t>1</m:t>
                        </m:r>
                        <m:r>
                          <a:rPr lang="en-PH" sz="4400" i="1" dirty="0">
                            <a:latin typeface="Cambria Math" panose="02040503050406030204" pitchFamily="18" charset="0"/>
                          </a:rPr>
                          <m:t> </m:t>
                        </m:r>
                        <m:r>
                          <a:rPr lang="en-PH" sz="4400" i="1" dirty="0">
                            <a:latin typeface="Cambria Math" panose="02040503050406030204" pitchFamily="18" charset="0"/>
                          </a:rPr>
                          <m:t>𝑘</m:t>
                        </m:r>
                        <m:r>
                          <m:rPr>
                            <m:sty m:val="p"/>
                          </m:rPr>
                          <a:rPr lang="el-GR" sz="4400" i="1" dirty="0">
                            <a:latin typeface="Cambria Math" panose="02040503050406030204" pitchFamily="18" charset="0"/>
                          </a:rPr>
                          <m:t>Ω</m:t>
                        </m:r>
                        <m:r>
                          <m:rPr>
                            <m:nor/>
                          </m:rPr>
                          <a:rPr lang="en-PH" sz="4400" dirty="0">
                            <a:latin typeface="Cambria Math" panose="02040503050406030204" pitchFamily="18" charset="0"/>
                          </a:rPr>
                          <m:t>)</m:t>
                        </m:r>
                      </m:num>
                      <m:den>
                        <m:r>
                          <m:rPr>
                            <m:nor/>
                          </m:rPr>
                          <a:rPr lang="en-PH" sz="4400" dirty="0">
                            <a:latin typeface="Cambria Math" panose="02040503050406030204" pitchFamily="18" charset="0"/>
                          </a:rPr>
                          <m:t>1 </m:t>
                        </m:r>
                        <m:r>
                          <m:rPr>
                            <m:nor/>
                          </m:rPr>
                          <a:rPr lang="en-PH" sz="4400" dirty="0">
                            <a:latin typeface="Cambria Math" panose="02040503050406030204" pitchFamily="18" charset="0"/>
                          </a:rPr>
                          <m:t>A</m:t>
                        </m:r>
                        <m:r>
                          <m:rPr>
                            <m:nor/>
                          </m:rPr>
                          <a:rPr lang="en-PH" sz="4400" dirty="0">
                            <a:latin typeface="Cambria Math" panose="02040503050406030204" pitchFamily="18" charset="0"/>
                          </a:rPr>
                          <m:t> </m:t>
                        </m:r>
                      </m:den>
                    </m:f>
                  </m:oMath>
                </a14:m>
                <a:endParaRPr lang="en-PH" sz="4400" dirty="0">
                  <a:latin typeface="Cambria Math" panose="02040503050406030204" pitchFamily="18" charset="0"/>
                </a:endParaRPr>
              </a:p>
              <a:p>
                <a:pPr marL="0" indent="0">
                  <a:buNone/>
                </a:pPr>
                <a:r>
                  <a:rPr lang="en-PH" sz="4400" dirty="0" err="1"/>
                  <a:t>R</a:t>
                </a:r>
                <a:r>
                  <a:rPr lang="en-PH" sz="3200" dirty="0" err="1"/>
                  <a:t>c</a:t>
                </a:r>
                <a:r>
                  <a:rPr lang="en-PH" sz="3200" dirty="0"/>
                  <a:t> </a:t>
                </a:r>
                <a:r>
                  <a:rPr lang="en-PH" sz="4400" dirty="0"/>
                  <a:t>= 0.101 </a:t>
                </a:r>
                <a:r>
                  <a:rPr lang="el-GR" sz="4400" dirty="0"/>
                  <a:t>Ω</a:t>
                </a:r>
                <a:endParaRPr lang="en-PH" sz="3200" dirty="0">
                  <a:solidFill>
                    <a:srgbClr val="00206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368300"/>
                <a:ext cx="11087100" cy="6172200"/>
              </a:xfrm>
              <a:blipFill rotWithShape="0">
                <a:blip r:embed="rId2"/>
                <a:stretch>
                  <a:fillRect l="-2970" t="-3060"/>
                </a:stretch>
              </a:blipFill>
            </p:spPr>
            <p:txBody>
              <a:bodyPr/>
              <a:lstStyle/>
              <a:p>
                <a:r>
                  <a:rPr lang="en-PH">
                    <a:noFill/>
                  </a:rPr>
                  <a:t> </a:t>
                </a:r>
              </a:p>
            </p:txBody>
          </p:sp>
        </mc:Fallback>
      </mc:AlternateContent>
      <p:sp>
        <p:nvSpPr>
          <p:cNvPr id="4" name="Rectangle 3"/>
          <p:cNvSpPr/>
          <p:nvPr/>
        </p:nvSpPr>
        <p:spPr>
          <a:xfrm>
            <a:off x="304800" y="4483100"/>
            <a:ext cx="3352800" cy="7493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Rectangle 5"/>
          <p:cNvSpPr/>
          <p:nvPr/>
        </p:nvSpPr>
        <p:spPr>
          <a:xfrm>
            <a:off x="228600" y="1790700"/>
            <a:ext cx="3352800" cy="7493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39264587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dirty="0">
                <a:solidFill>
                  <a:srgbClr val="002060"/>
                </a:solidFill>
              </a:rPr>
              <a:t>Solution:</a:t>
            </a:r>
          </a:p>
          <a:p>
            <a:pPr marL="0" indent="0">
              <a:buNone/>
            </a:pPr>
            <a:r>
              <a:rPr lang="en-PH" sz="4400" dirty="0" err="1"/>
              <a:t>R</a:t>
            </a:r>
            <a:r>
              <a:rPr lang="en-PH" sz="3200" dirty="0" err="1"/>
              <a:t>b</a:t>
            </a:r>
            <a:r>
              <a:rPr lang="en-PH" sz="3200" dirty="0"/>
              <a:t> </a:t>
            </a:r>
            <a:r>
              <a:rPr lang="en-PH" sz="4000" dirty="0"/>
              <a:t>= </a:t>
            </a:r>
            <a:r>
              <a:rPr lang="en-PH" sz="4400" dirty="0"/>
              <a:t>(</a:t>
            </a:r>
            <a:r>
              <a:rPr lang="en-PH" sz="4400" dirty="0" err="1"/>
              <a:t>R</a:t>
            </a:r>
            <a:r>
              <a:rPr lang="en-PH" sz="3200" dirty="0" err="1"/>
              <a:t>b</a:t>
            </a:r>
            <a:r>
              <a:rPr lang="en-PH" sz="4400" dirty="0"/>
              <a:t> + </a:t>
            </a:r>
            <a:r>
              <a:rPr lang="en-PH" sz="4400" dirty="0" err="1"/>
              <a:t>R</a:t>
            </a:r>
            <a:r>
              <a:rPr lang="en-PH" sz="3200" dirty="0" err="1"/>
              <a:t>c</a:t>
            </a:r>
            <a:r>
              <a:rPr lang="en-PH" sz="4400" dirty="0"/>
              <a:t>) – </a:t>
            </a:r>
            <a:r>
              <a:rPr lang="en-PH" sz="4400" dirty="0" err="1"/>
              <a:t>Rc</a:t>
            </a:r>
            <a:r>
              <a:rPr lang="en-PH" sz="4400" dirty="0"/>
              <a:t> = 1.01 </a:t>
            </a:r>
            <a:r>
              <a:rPr lang="el-GR" sz="4400" dirty="0"/>
              <a:t>Ω</a:t>
            </a:r>
            <a:r>
              <a:rPr lang="en-PH" sz="4400" dirty="0"/>
              <a:t> – 0.101</a:t>
            </a:r>
            <a:r>
              <a:rPr lang="el-GR" sz="4400" dirty="0"/>
              <a:t>Ω</a:t>
            </a:r>
            <a:endParaRPr lang="en-PH" sz="4400" dirty="0"/>
          </a:p>
          <a:p>
            <a:pPr marL="0" indent="0">
              <a:buNone/>
            </a:pPr>
            <a:r>
              <a:rPr lang="en-PH" sz="4800" dirty="0" err="1"/>
              <a:t>R</a:t>
            </a:r>
            <a:r>
              <a:rPr lang="en-PH" sz="3600" dirty="0" err="1"/>
              <a:t>b</a:t>
            </a:r>
            <a:r>
              <a:rPr lang="en-PH" sz="3600" dirty="0"/>
              <a:t> </a:t>
            </a:r>
            <a:r>
              <a:rPr lang="en-PH" sz="4400" dirty="0"/>
              <a:t>= 0.909 </a:t>
            </a:r>
            <a:r>
              <a:rPr lang="el-GR" sz="4400" dirty="0"/>
              <a:t>Ω</a:t>
            </a:r>
            <a:endParaRPr lang="en-PH" sz="4400" dirty="0"/>
          </a:p>
          <a:p>
            <a:pPr marL="0" indent="0">
              <a:buNone/>
            </a:pPr>
            <a:endParaRPr lang="en-PH" sz="4400" dirty="0">
              <a:solidFill>
                <a:srgbClr val="002060"/>
              </a:solidFill>
            </a:endParaRPr>
          </a:p>
          <a:p>
            <a:pPr marL="0" indent="0">
              <a:buNone/>
            </a:pPr>
            <a:r>
              <a:rPr lang="en-PH" sz="4400" dirty="0" err="1"/>
              <a:t>R</a:t>
            </a:r>
            <a:r>
              <a:rPr lang="en-PH" sz="3200" dirty="0" err="1"/>
              <a:t>sh</a:t>
            </a:r>
            <a:r>
              <a:rPr lang="en-PH" sz="3200" dirty="0"/>
              <a:t> </a:t>
            </a:r>
            <a:r>
              <a:rPr lang="en-PH" sz="4000" dirty="0"/>
              <a:t>= </a:t>
            </a:r>
            <a:r>
              <a:rPr lang="en-PH" sz="4400" dirty="0"/>
              <a:t>R</a:t>
            </a:r>
            <a:r>
              <a:rPr lang="en-PH" sz="3200" dirty="0"/>
              <a:t>a</a:t>
            </a:r>
            <a:r>
              <a:rPr lang="en-PH" sz="4400" dirty="0"/>
              <a:t> + </a:t>
            </a:r>
            <a:r>
              <a:rPr lang="en-PH" sz="4400" dirty="0" err="1"/>
              <a:t>R</a:t>
            </a:r>
            <a:r>
              <a:rPr lang="en-PH" sz="3200" dirty="0" err="1"/>
              <a:t>b</a:t>
            </a:r>
            <a:r>
              <a:rPr lang="en-PH" sz="4400" dirty="0"/>
              <a:t> + </a:t>
            </a:r>
            <a:r>
              <a:rPr lang="en-PH" sz="4400" dirty="0" err="1"/>
              <a:t>Rc</a:t>
            </a:r>
            <a:r>
              <a:rPr lang="en-PH" sz="4400" dirty="0"/>
              <a:t> = 9.09 </a:t>
            </a:r>
            <a:r>
              <a:rPr lang="el-GR" sz="4400" dirty="0"/>
              <a:t>Ω</a:t>
            </a:r>
            <a:r>
              <a:rPr lang="en-PH" sz="4400" dirty="0"/>
              <a:t> + 0.909 </a:t>
            </a:r>
            <a:r>
              <a:rPr lang="el-GR" sz="4400" dirty="0"/>
              <a:t>Ω</a:t>
            </a:r>
            <a:r>
              <a:rPr lang="en-PH" sz="4400" dirty="0"/>
              <a:t> + 0.101 </a:t>
            </a:r>
            <a:r>
              <a:rPr lang="el-GR" sz="4400" dirty="0"/>
              <a:t>Ω</a:t>
            </a:r>
            <a:endParaRPr lang="en-PH" sz="4400" dirty="0">
              <a:solidFill>
                <a:srgbClr val="002060"/>
              </a:solidFill>
            </a:endParaRPr>
          </a:p>
          <a:p>
            <a:pPr marL="0" indent="0">
              <a:buNone/>
            </a:pPr>
            <a:r>
              <a:rPr lang="en-PH" sz="4800" dirty="0" err="1"/>
              <a:t>R</a:t>
            </a:r>
            <a:r>
              <a:rPr lang="en-PH" sz="3600" dirty="0" err="1"/>
              <a:t>sh</a:t>
            </a:r>
            <a:r>
              <a:rPr lang="en-PH" sz="3600" dirty="0"/>
              <a:t> </a:t>
            </a:r>
            <a:r>
              <a:rPr lang="en-PH" sz="4400" dirty="0"/>
              <a:t>= 10.1 </a:t>
            </a:r>
            <a:r>
              <a:rPr lang="el-GR" sz="4400" dirty="0"/>
              <a:t>Ω</a:t>
            </a:r>
            <a:endParaRPr lang="en-PH" sz="3600" dirty="0">
              <a:solidFill>
                <a:srgbClr val="002060"/>
              </a:solidFill>
            </a:endParaRPr>
          </a:p>
        </p:txBody>
      </p:sp>
      <p:sp>
        <p:nvSpPr>
          <p:cNvPr id="4" name="Rectangle 3"/>
          <p:cNvSpPr/>
          <p:nvPr/>
        </p:nvSpPr>
        <p:spPr>
          <a:xfrm>
            <a:off x="457200" y="1854200"/>
            <a:ext cx="3352800" cy="7493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Rectangle 4"/>
          <p:cNvSpPr/>
          <p:nvPr/>
        </p:nvSpPr>
        <p:spPr>
          <a:xfrm>
            <a:off x="457200" y="4089400"/>
            <a:ext cx="3352800" cy="7493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30063346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dirty="0">
                    <a:solidFill>
                      <a:srgbClr val="002060"/>
                    </a:solidFill>
                  </a:rPr>
                  <a:t>Multi Range Ammeter (parallel resistors)</a:t>
                </a:r>
              </a:p>
              <a:p>
                <a:pPr marL="0" indent="0">
                  <a:buNone/>
                </a:pPr>
                <a:endParaRPr lang="en-PH" sz="4400" dirty="0">
                  <a:solidFill>
                    <a:srgbClr val="002060"/>
                  </a:solidFill>
                </a:endParaRPr>
              </a:p>
              <a:p>
                <a:pPr marL="0" indent="0">
                  <a:buNone/>
                </a:pPr>
                <a:r>
                  <a:rPr lang="en-PH" sz="4400" dirty="0"/>
                  <a:t>n</a:t>
                </a:r>
                <a:r>
                  <a:rPr lang="en-PH" sz="3200" dirty="0"/>
                  <a:t>1</a:t>
                </a:r>
                <a:r>
                  <a:rPr lang="en-PH" sz="4400" dirty="0"/>
                  <a:t> = </a:t>
                </a:r>
                <a14:m>
                  <m:oMath xmlns:m="http://schemas.openxmlformats.org/officeDocument/2006/math">
                    <m:f>
                      <m:fPr>
                        <m:ctrlPr>
                          <a:rPr lang="en-PH" sz="4400" i="1">
                            <a:latin typeface="Cambria Math" panose="02040503050406030204" pitchFamily="18" charset="0"/>
                          </a:rPr>
                        </m:ctrlPr>
                      </m:fPr>
                      <m:num>
                        <m:r>
                          <a:rPr lang="en-PH" sz="4400">
                            <a:latin typeface="Cambria Math" panose="02040503050406030204" pitchFamily="18" charset="0"/>
                          </a:rPr>
                          <m:t>𝐼</m:t>
                        </m:r>
                        <m:r>
                          <m:rPr>
                            <m:sty m:val="p"/>
                          </m:rPr>
                          <a:rPr lang="en-PH" sz="4400" b="0" i="0" smtClean="0">
                            <a:latin typeface="Cambria Math" panose="02040503050406030204" pitchFamily="18" charset="0"/>
                          </a:rPr>
                          <m:t>sh</m:t>
                        </m:r>
                        <m:r>
                          <a:rPr lang="en-PH" sz="4400" b="0" i="1" smtClean="0">
                            <a:latin typeface="Cambria Math" panose="02040503050406030204" pitchFamily="18" charset="0"/>
                          </a:rPr>
                          <m:t>₁</m:t>
                        </m:r>
                      </m:num>
                      <m:den>
                        <m:r>
                          <a:rPr lang="en-PH" sz="4400">
                            <a:latin typeface="Cambria Math" panose="02040503050406030204" pitchFamily="18" charset="0"/>
                          </a:rPr>
                          <m:t>𝐼𝑚</m:t>
                        </m:r>
                      </m:den>
                    </m:f>
                  </m:oMath>
                </a14:m>
                <a:r>
                  <a:rPr lang="en-PH" sz="4400" dirty="0"/>
                  <a:t>		n</a:t>
                </a:r>
                <a:r>
                  <a:rPr lang="en-PH" sz="3200" dirty="0"/>
                  <a:t>2</a:t>
                </a:r>
                <a:r>
                  <a:rPr lang="en-PH" sz="4400" dirty="0"/>
                  <a:t> = </a:t>
                </a:r>
                <a14:m>
                  <m:oMath xmlns:m="http://schemas.openxmlformats.org/officeDocument/2006/math">
                    <m:f>
                      <m:fPr>
                        <m:ctrlPr>
                          <a:rPr lang="en-PH" sz="4400" i="1">
                            <a:latin typeface="Cambria Math" panose="02040503050406030204" pitchFamily="18" charset="0"/>
                          </a:rPr>
                        </m:ctrlPr>
                      </m:fPr>
                      <m:num>
                        <m:r>
                          <a:rPr lang="en-PH" sz="4400">
                            <a:latin typeface="Cambria Math" panose="02040503050406030204" pitchFamily="18" charset="0"/>
                          </a:rPr>
                          <m:t>𝐼</m:t>
                        </m:r>
                        <m:r>
                          <m:rPr>
                            <m:sty m:val="p"/>
                          </m:rPr>
                          <a:rPr lang="en-PH" sz="4400">
                            <a:latin typeface="Cambria Math" panose="02040503050406030204" pitchFamily="18" charset="0"/>
                          </a:rPr>
                          <m:t>sh</m:t>
                        </m:r>
                        <m:r>
                          <a:rPr lang="en-PH" sz="4400" i="1">
                            <a:latin typeface="Cambria Math" panose="02040503050406030204" pitchFamily="18" charset="0"/>
                          </a:rPr>
                          <m:t>₂</m:t>
                        </m:r>
                      </m:num>
                      <m:den>
                        <m:r>
                          <a:rPr lang="en-PH" sz="4400">
                            <a:latin typeface="Cambria Math" panose="02040503050406030204" pitchFamily="18" charset="0"/>
                          </a:rPr>
                          <m:t>𝐼𝑚</m:t>
                        </m:r>
                      </m:den>
                    </m:f>
                  </m:oMath>
                </a14:m>
                <a:endParaRPr lang="en-PH" sz="4400" dirty="0"/>
              </a:p>
              <a:p>
                <a:pPr marL="0" indent="0">
                  <a:buNone/>
                </a:pPr>
                <a:endParaRPr lang="en-PH" sz="4400" dirty="0">
                  <a:solidFill>
                    <a:srgbClr val="002060"/>
                  </a:solidFill>
                </a:endParaRPr>
              </a:p>
              <a:p>
                <a:pPr marL="0" indent="0">
                  <a:buNone/>
                </a:pPr>
                <a:r>
                  <a:rPr lang="en-PH" sz="4400" dirty="0"/>
                  <a:t>n</a:t>
                </a:r>
                <a:r>
                  <a:rPr lang="en-PH" sz="3200" dirty="0"/>
                  <a:t>3</a:t>
                </a:r>
                <a:r>
                  <a:rPr lang="en-PH" sz="4400" dirty="0"/>
                  <a:t> = </a:t>
                </a:r>
                <a14:m>
                  <m:oMath xmlns:m="http://schemas.openxmlformats.org/officeDocument/2006/math">
                    <m:f>
                      <m:fPr>
                        <m:ctrlPr>
                          <a:rPr lang="en-PH" sz="4400" i="1">
                            <a:latin typeface="Cambria Math" panose="02040503050406030204" pitchFamily="18" charset="0"/>
                          </a:rPr>
                        </m:ctrlPr>
                      </m:fPr>
                      <m:num>
                        <m:r>
                          <a:rPr lang="en-PH" sz="4400">
                            <a:latin typeface="Cambria Math" panose="02040503050406030204" pitchFamily="18" charset="0"/>
                          </a:rPr>
                          <m:t>𝐼</m:t>
                        </m:r>
                        <m:r>
                          <m:rPr>
                            <m:sty m:val="p"/>
                          </m:rPr>
                          <a:rPr lang="en-PH" sz="4400">
                            <a:latin typeface="Cambria Math" panose="02040503050406030204" pitchFamily="18" charset="0"/>
                          </a:rPr>
                          <m:t>sh</m:t>
                        </m:r>
                        <m:r>
                          <a:rPr lang="en-PH" sz="4400" i="1" smtClean="0">
                            <a:latin typeface="Cambria Math" panose="02040503050406030204" pitchFamily="18" charset="0"/>
                          </a:rPr>
                          <m:t>₃</m:t>
                        </m:r>
                      </m:num>
                      <m:den>
                        <m:r>
                          <a:rPr lang="en-PH" sz="4400">
                            <a:latin typeface="Cambria Math" panose="02040503050406030204" pitchFamily="18" charset="0"/>
                          </a:rPr>
                          <m:t>𝐼𝑚</m:t>
                        </m:r>
                      </m:den>
                    </m:f>
                  </m:oMath>
                </a14:m>
                <a:r>
                  <a:rPr lang="en-PH" sz="4400" dirty="0">
                    <a:solidFill>
                      <a:srgbClr val="002060"/>
                    </a:solidFill>
                  </a:rPr>
                  <a:t>		</a:t>
                </a:r>
                <a:r>
                  <a:rPr lang="en-PH" sz="4400" dirty="0"/>
                  <a:t>n</a:t>
                </a:r>
                <a:r>
                  <a:rPr lang="en-PH" sz="3200" dirty="0"/>
                  <a:t>4</a:t>
                </a:r>
                <a:r>
                  <a:rPr lang="en-PH" sz="4400" dirty="0"/>
                  <a:t> = </a:t>
                </a:r>
                <a14:m>
                  <m:oMath xmlns:m="http://schemas.openxmlformats.org/officeDocument/2006/math">
                    <m:f>
                      <m:fPr>
                        <m:ctrlPr>
                          <a:rPr lang="en-PH" sz="4400" i="1">
                            <a:latin typeface="Cambria Math" panose="02040503050406030204" pitchFamily="18" charset="0"/>
                          </a:rPr>
                        </m:ctrlPr>
                      </m:fPr>
                      <m:num>
                        <m:r>
                          <a:rPr lang="en-PH" sz="4400">
                            <a:latin typeface="Cambria Math" panose="02040503050406030204" pitchFamily="18" charset="0"/>
                          </a:rPr>
                          <m:t>𝐼</m:t>
                        </m:r>
                        <m:r>
                          <m:rPr>
                            <m:sty m:val="p"/>
                          </m:rPr>
                          <a:rPr lang="en-PH" sz="4400">
                            <a:latin typeface="Cambria Math" panose="02040503050406030204" pitchFamily="18" charset="0"/>
                          </a:rPr>
                          <m:t>sh</m:t>
                        </m:r>
                        <m:r>
                          <a:rPr lang="en-PH" sz="4400" i="1" smtClean="0">
                            <a:latin typeface="Cambria Math" panose="02040503050406030204" pitchFamily="18" charset="0"/>
                          </a:rPr>
                          <m:t>₄</m:t>
                        </m:r>
                      </m:num>
                      <m:den>
                        <m:r>
                          <a:rPr lang="en-PH" sz="4400">
                            <a:latin typeface="Cambria Math" panose="02040503050406030204" pitchFamily="18" charset="0"/>
                          </a:rPr>
                          <m:t>𝐼𝑚</m:t>
                        </m:r>
                      </m:den>
                    </m:f>
                  </m:oMath>
                </a14:m>
                <a:endParaRPr lang="en-PH" sz="4400" dirty="0">
                  <a:solidFill>
                    <a:srgbClr val="00206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368300"/>
                <a:ext cx="11087100" cy="6172200"/>
              </a:xfrm>
              <a:blipFill rotWithShape="0">
                <a:blip r:embed="rId2"/>
                <a:stretch>
                  <a:fillRect l="-2255" t="-3060"/>
                </a:stretch>
              </a:blipFill>
            </p:spPr>
            <p:txBody>
              <a:bodyPr/>
              <a:lstStyle/>
              <a:p>
                <a:r>
                  <a:rPr lang="en-PH">
                    <a:noFill/>
                  </a:rPr>
                  <a:t> </a:t>
                </a:r>
              </a:p>
            </p:txBody>
          </p:sp>
        </mc:Fallback>
      </mc:AlternateContent>
      <p:pic>
        <p:nvPicPr>
          <p:cNvPr id="6" name="Picture 5"/>
          <p:cNvPicPr>
            <a:picLocks noChangeAspect="1"/>
          </p:cNvPicPr>
          <p:nvPr/>
        </p:nvPicPr>
        <p:blipFill>
          <a:blip r:embed="rId3"/>
          <a:stretch>
            <a:fillRect/>
          </a:stretch>
        </p:blipFill>
        <p:spPr>
          <a:xfrm>
            <a:off x="5527674" y="1231057"/>
            <a:ext cx="5965825" cy="3985468"/>
          </a:xfrm>
          <a:prstGeom prst="rect">
            <a:avLst/>
          </a:prstGeom>
        </p:spPr>
      </p:pic>
    </p:spTree>
    <p:extLst>
      <p:ext uri="{BB962C8B-B14F-4D97-AF65-F5344CB8AC3E}">
        <p14:creationId xmlns:p14="http://schemas.microsoft.com/office/powerpoint/2010/main" val="22423829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5260974" y="1243757"/>
            <a:ext cx="5965825" cy="3985468"/>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dirty="0">
                    <a:solidFill>
                      <a:srgbClr val="002060"/>
                    </a:solidFill>
                  </a:rPr>
                  <a:t>Multi Range Ammeter (parallel resistors)</a:t>
                </a:r>
              </a:p>
              <a:p>
                <a:pPr marL="0" indent="0">
                  <a:buNone/>
                </a:pPr>
                <a:r>
                  <a:rPr lang="en-PH" sz="4400" dirty="0"/>
                  <a:t>R</a:t>
                </a:r>
                <a:r>
                  <a:rPr lang="en-PH" sz="3200" dirty="0"/>
                  <a:t>sh</a:t>
                </a:r>
                <a:r>
                  <a:rPr lang="en-PH" dirty="0"/>
                  <a:t>1</a:t>
                </a:r>
                <a:r>
                  <a:rPr lang="en-PH" sz="4400" dirty="0"/>
                  <a:t> = </a:t>
                </a:r>
                <a14:m>
                  <m:oMath xmlns:m="http://schemas.openxmlformats.org/officeDocument/2006/math">
                    <m:f>
                      <m:fPr>
                        <m:ctrlPr>
                          <a:rPr lang="en-PH" sz="4400" i="1">
                            <a:latin typeface="Cambria Math" panose="02040503050406030204" pitchFamily="18" charset="0"/>
                          </a:rPr>
                        </m:ctrlPr>
                      </m:fPr>
                      <m:num>
                        <m:r>
                          <a:rPr lang="en-PH" sz="4400" i="1">
                            <a:latin typeface="Cambria Math" panose="02040503050406030204" pitchFamily="18" charset="0"/>
                          </a:rPr>
                          <m:t>𝑅𝑚</m:t>
                        </m:r>
                      </m:num>
                      <m:den>
                        <m:r>
                          <a:rPr lang="en-PH" sz="4400" i="1">
                            <a:latin typeface="Cambria Math" panose="02040503050406030204" pitchFamily="18" charset="0"/>
                          </a:rPr>
                          <m:t>(</m:t>
                        </m:r>
                        <m:r>
                          <a:rPr lang="en-PH" sz="4400" i="1">
                            <a:latin typeface="Cambria Math" panose="02040503050406030204" pitchFamily="18" charset="0"/>
                          </a:rPr>
                          <m:t>𝑛</m:t>
                        </m:r>
                        <m:r>
                          <a:rPr lang="en-PH" sz="4400" i="1" smtClean="0">
                            <a:latin typeface="Cambria Math" panose="02040503050406030204" pitchFamily="18" charset="0"/>
                          </a:rPr>
                          <m:t>₁</m:t>
                        </m:r>
                        <m:r>
                          <a:rPr lang="en-PH" sz="4400" i="1">
                            <a:latin typeface="Cambria Math" panose="02040503050406030204" pitchFamily="18" charset="0"/>
                          </a:rPr>
                          <m:t> −1)</m:t>
                        </m:r>
                      </m:den>
                    </m:f>
                  </m:oMath>
                </a14:m>
                <a:endParaRPr lang="en-PH" sz="4400" dirty="0">
                  <a:solidFill>
                    <a:srgbClr val="002060"/>
                  </a:solidFill>
                </a:endParaRPr>
              </a:p>
              <a:p>
                <a:pPr marL="0" indent="0">
                  <a:buNone/>
                </a:pPr>
                <a:r>
                  <a:rPr lang="en-PH" sz="4400" dirty="0"/>
                  <a:t>R</a:t>
                </a:r>
                <a:r>
                  <a:rPr lang="en-PH" sz="3200" dirty="0"/>
                  <a:t>sh2</a:t>
                </a:r>
                <a:r>
                  <a:rPr lang="en-PH" sz="4400" dirty="0"/>
                  <a:t> = </a:t>
                </a:r>
                <a14:m>
                  <m:oMath xmlns:m="http://schemas.openxmlformats.org/officeDocument/2006/math">
                    <m:f>
                      <m:fPr>
                        <m:ctrlPr>
                          <a:rPr lang="en-PH" sz="4400" i="1">
                            <a:latin typeface="Cambria Math" panose="02040503050406030204" pitchFamily="18" charset="0"/>
                          </a:rPr>
                        </m:ctrlPr>
                      </m:fPr>
                      <m:num>
                        <m:r>
                          <a:rPr lang="en-PH" sz="4400" i="1">
                            <a:latin typeface="Cambria Math" panose="02040503050406030204" pitchFamily="18" charset="0"/>
                          </a:rPr>
                          <m:t>𝑅𝑚</m:t>
                        </m:r>
                      </m:num>
                      <m:den>
                        <m:r>
                          <a:rPr lang="en-PH" sz="4400" i="1">
                            <a:latin typeface="Cambria Math" panose="02040503050406030204" pitchFamily="18" charset="0"/>
                          </a:rPr>
                          <m:t>(</m:t>
                        </m:r>
                        <m:r>
                          <a:rPr lang="en-PH" sz="4400" i="1">
                            <a:latin typeface="Cambria Math" panose="02040503050406030204" pitchFamily="18" charset="0"/>
                          </a:rPr>
                          <m:t>𝑛</m:t>
                        </m:r>
                        <m:r>
                          <a:rPr lang="en-PH" sz="4400" i="1" smtClean="0">
                            <a:latin typeface="Cambria Math" panose="02040503050406030204" pitchFamily="18" charset="0"/>
                          </a:rPr>
                          <m:t>₂</m:t>
                        </m:r>
                        <m:r>
                          <a:rPr lang="en-PH" sz="4400" i="1">
                            <a:latin typeface="Cambria Math" panose="02040503050406030204" pitchFamily="18" charset="0"/>
                          </a:rPr>
                          <m:t> −1)</m:t>
                        </m:r>
                      </m:den>
                    </m:f>
                  </m:oMath>
                </a14:m>
                <a:endParaRPr lang="en-PH" sz="4400" dirty="0">
                  <a:solidFill>
                    <a:srgbClr val="002060"/>
                  </a:solidFill>
                </a:endParaRPr>
              </a:p>
              <a:p>
                <a:pPr marL="0" indent="0">
                  <a:buNone/>
                </a:pPr>
                <a:r>
                  <a:rPr lang="en-PH" sz="4400" dirty="0"/>
                  <a:t>R</a:t>
                </a:r>
                <a:r>
                  <a:rPr lang="en-PH" sz="3200" dirty="0"/>
                  <a:t>sh3</a:t>
                </a:r>
                <a:r>
                  <a:rPr lang="en-PH" sz="4400" dirty="0"/>
                  <a:t> = </a:t>
                </a:r>
                <a14:m>
                  <m:oMath xmlns:m="http://schemas.openxmlformats.org/officeDocument/2006/math">
                    <m:f>
                      <m:fPr>
                        <m:ctrlPr>
                          <a:rPr lang="en-PH" sz="4400" i="1">
                            <a:latin typeface="Cambria Math" panose="02040503050406030204" pitchFamily="18" charset="0"/>
                          </a:rPr>
                        </m:ctrlPr>
                      </m:fPr>
                      <m:num>
                        <m:r>
                          <a:rPr lang="en-PH" sz="4400" i="1">
                            <a:latin typeface="Cambria Math" panose="02040503050406030204" pitchFamily="18" charset="0"/>
                          </a:rPr>
                          <m:t>𝑅𝑚</m:t>
                        </m:r>
                      </m:num>
                      <m:den>
                        <m:r>
                          <a:rPr lang="en-PH" sz="4400" i="1">
                            <a:latin typeface="Cambria Math" panose="02040503050406030204" pitchFamily="18" charset="0"/>
                          </a:rPr>
                          <m:t>(</m:t>
                        </m:r>
                        <m:r>
                          <a:rPr lang="en-PH" sz="4400" i="1">
                            <a:latin typeface="Cambria Math" panose="02040503050406030204" pitchFamily="18" charset="0"/>
                          </a:rPr>
                          <m:t>𝑛</m:t>
                        </m:r>
                        <m:r>
                          <a:rPr lang="en-PH" sz="4400" i="1" smtClean="0">
                            <a:latin typeface="Cambria Math" panose="02040503050406030204" pitchFamily="18" charset="0"/>
                          </a:rPr>
                          <m:t>₃</m:t>
                        </m:r>
                        <m:r>
                          <a:rPr lang="en-PH" sz="4400" i="1">
                            <a:latin typeface="Cambria Math" panose="02040503050406030204" pitchFamily="18" charset="0"/>
                          </a:rPr>
                          <m:t> −1)</m:t>
                        </m:r>
                      </m:den>
                    </m:f>
                  </m:oMath>
                </a14:m>
                <a:endParaRPr lang="en-PH" sz="4400" dirty="0">
                  <a:solidFill>
                    <a:srgbClr val="002060"/>
                  </a:solidFill>
                </a:endParaRPr>
              </a:p>
              <a:p>
                <a:pPr marL="0" indent="0">
                  <a:buNone/>
                </a:pPr>
                <a:r>
                  <a:rPr lang="en-PH" sz="4400" dirty="0"/>
                  <a:t>R</a:t>
                </a:r>
                <a:r>
                  <a:rPr lang="en-PH" sz="3200" dirty="0"/>
                  <a:t>sh4</a:t>
                </a:r>
                <a:r>
                  <a:rPr lang="en-PH" sz="4400" dirty="0"/>
                  <a:t> = </a:t>
                </a:r>
                <a14:m>
                  <m:oMath xmlns:m="http://schemas.openxmlformats.org/officeDocument/2006/math">
                    <m:f>
                      <m:fPr>
                        <m:ctrlPr>
                          <a:rPr lang="en-PH" sz="4400" i="1">
                            <a:latin typeface="Cambria Math" panose="02040503050406030204" pitchFamily="18" charset="0"/>
                          </a:rPr>
                        </m:ctrlPr>
                      </m:fPr>
                      <m:num>
                        <m:r>
                          <a:rPr lang="en-PH" sz="4400" i="1">
                            <a:latin typeface="Cambria Math" panose="02040503050406030204" pitchFamily="18" charset="0"/>
                          </a:rPr>
                          <m:t>𝑅𝑚</m:t>
                        </m:r>
                      </m:num>
                      <m:den>
                        <m:r>
                          <a:rPr lang="en-PH" sz="4400" i="1">
                            <a:latin typeface="Cambria Math" panose="02040503050406030204" pitchFamily="18" charset="0"/>
                          </a:rPr>
                          <m:t>(</m:t>
                        </m:r>
                        <m:r>
                          <a:rPr lang="en-PH" sz="4400" i="1">
                            <a:latin typeface="Cambria Math" panose="02040503050406030204" pitchFamily="18" charset="0"/>
                          </a:rPr>
                          <m:t>𝑛</m:t>
                        </m:r>
                        <m:r>
                          <a:rPr lang="en-PH" sz="4400" i="1" smtClean="0">
                            <a:latin typeface="Cambria Math" panose="02040503050406030204" pitchFamily="18" charset="0"/>
                          </a:rPr>
                          <m:t>₄</m:t>
                        </m:r>
                        <m:r>
                          <a:rPr lang="en-PH" sz="4400" i="1">
                            <a:latin typeface="Cambria Math" panose="02040503050406030204" pitchFamily="18" charset="0"/>
                          </a:rPr>
                          <m:t> −1)</m:t>
                        </m:r>
                      </m:den>
                    </m:f>
                  </m:oMath>
                </a14:m>
                <a:endParaRPr lang="en-PH" sz="4400" dirty="0">
                  <a:solidFill>
                    <a:srgbClr val="00206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368300"/>
                <a:ext cx="11087100" cy="6172200"/>
              </a:xfrm>
              <a:blipFill rotWithShape="0">
                <a:blip r:embed="rId3"/>
                <a:stretch>
                  <a:fillRect l="-2255" t="-3060"/>
                </a:stretch>
              </a:blipFill>
            </p:spPr>
            <p:txBody>
              <a:bodyPr/>
              <a:lstStyle/>
              <a:p>
                <a:r>
                  <a:rPr lang="en-PH">
                    <a:noFill/>
                  </a:rPr>
                  <a:t> </a:t>
                </a:r>
              </a:p>
            </p:txBody>
          </p:sp>
        </mc:Fallback>
      </mc:AlternateContent>
      <p:pic>
        <p:nvPicPr>
          <p:cNvPr id="2" name="Picture 1"/>
          <p:cNvPicPr>
            <a:picLocks noChangeAspect="1"/>
          </p:cNvPicPr>
          <p:nvPr/>
        </p:nvPicPr>
        <p:blipFill>
          <a:blip r:embed="rId4"/>
          <a:stretch>
            <a:fillRect/>
          </a:stretch>
        </p:blipFill>
        <p:spPr>
          <a:xfrm>
            <a:off x="5362575" y="3814762"/>
            <a:ext cx="1428750" cy="523875"/>
          </a:xfrm>
          <a:prstGeom prst="rect">
            <a:avLst/>
          </a:prstGeom>
        </p:spPr>
      </p:pic>
      <p:pic>
        <p:nvPicPr>
          <p:cNvPr id="4" name="Picture 3"/>
          <p:cNvPicPr>
            <a:picLocks noChangeAspect="1"/>
          </p:cNvPicPr>
          <p:nvPr/>
        </p:nvPicPr>
        <p:blipFill>
          <a:blip r:embed="rId4"/>
          <a:stretch>
            <a:fillRect/>
          </a:stretch>
        </p:blipFill>
        <p:spPr>
          <a:xfrm>
            <a:off x="11071225" y="3192462"/>
            <a:ext cx="549275" cy="523875"/>
          </a:xfrm>
          <a:prstGeom prst="rect">
            <a:avLst/>
          </a:prstGeom>
        </p:spPr>
      </p:pic>
    </p:spTree>
    <p:extLst>
      <p:ext uri="{BB962C8B-B14F-4D97-AF65-F5344CB8AC3E}">
        <p14:creationId xmlns:p14="http://schemas.microsoft.com/office/powerpoint/2010/main" val="34562182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rmAutofit fontScale="92500" lnSpcReduction="20000"/>
          </a:bodyPr>
          <a:lstStyle/>
          <a:p>
            <a:pPr marL="0" indent="0">
              <a:buNone/>
            </a:pPr>
            <a:r>
              <a:rPr lang="en-PH" sz="4400" dirty="0">
                <a:solidFill>
                  <a:srgbClr val="002060"/>
                </a:solidFill>
              </a:rPr>
              <a:t>DC VOLTMETER</a:t>
            </a:r>
          </a:p>
          <a:p>
            <a:pPr marL="0" indent="0">
              <a:buNone/>
            </a:pPr>
            <a:r>
              <a:rPr lang="en-PH" sz="4400" dirty="0"/>
              <a:t>	</a:t>
            </a:r>
            <a:r>
              <a:rPr lang="en-PH" sz="4800" dirty="0"/>
              <a:t>DC voltmeter is used to measure the dc voltage across any two points of electric circuit. If a resistor is placed in series with the Permanent Magnet Moving Coil (PMMC) galvanometer, then the entire combination together acts as a dc voltmeter.</a:t>
            </a:r>
          </a:p>
          <a:p>
            <a:pPr marL="0" indent="0">
              <a:buNone/>
            </a:pPr>
            <a:r>
              <a:rPr lang="en-PH" sz="4800" dirty="0"/>
              <a:t>	The series resistance basically limits the amount of current that flows through the galvanometer in order to prevent the meter current from exceeding the full scale deflection value.</a:t>
            </a:r>
          </a:p>
        </p:txBody>
      </p:sp>
    </p:spTree>
    <p:extLst>
      <p:ext uri="{BB962C8B-B14F-4D97-AF65-F5344CB8AC3E}">
        <p14:creationId xmlns:p14="http://schemas.microsoft.com/office/powerpoint/2010/main" val="28946438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dirty="0">
                <a:solidFill>
                  <a:srgbClr val="002060"/>
                </a:solidFill>
              </a:rPr>
              <a:t>DC VOLTMETER</a:t>
            </a:r>
          </a:p>
          <a:p>
            <a:pPr marL="0" indent="0">
              <a:buNone/>
            </a:pPr>
            <a:r>
              <a:rPr lang="en-PH" sz="4400" dirty="0"/>
              <a:t>The basic d’Arsonval meter movement can be converted to a dc voltmeter by connecting a multiplier resistor, R</a:t>
            </a:r>
            <a:r>
              <a:rPr lang="en-PH" sz="3200" dirty="0"/>
              <a:t>s</a:t>
            </a:r>
            <a:r>
              <a:rPr lang="en-PH" sz="4400" dirty="0"/>
              <a:t> in series with the meter movement.</a:t>
            </a:r>
          </a:p>
          <a:p>
            <a:pPr marL="0" indent="0">
              <a:buNone/>
            </a:pPr>
            <a:r>
              <a:rPr lang="en-PH" sz="3600" dirty="0"/>
              <a:t>R</a:t>
            </a:r>
            <a:r>
              <a:rPr lang="en-PH" sz="3200" dirty="0"/>
              <a:t>s</a:t>
            </a:r>
            <a:r>
              <a:rPr lang="en-PH" sz="3600" dirty="0"/>
              <a:t> = multiplier resistor</a:t>
            </a:r>
          </a:p>
          <a:p>
            <a:pPr marL="0" indent="0">
              <a:buNone/>
            </a:pPr>
            <a:r>
              <a:rPr lang="en-PH" sz="4000" dirty="0">
                <a:latin typeface="Times New Roman" panose="02020603050405020304" pitchFamily="18" charset="0"/>
                <a:cs typeface="Times New Roman" panose="02020603050405020304" pitchFamily="18" charset="0"/>
              </a:rPr>
              <a:t>I</a:t>
            </a:r>
            <a:r>
              <a:rPr lang="en-PH" sz="2800" dirty="0"/>
              <a:t>fs</a:t>
            </a:r>
            <a:r>
              <a:rPr lang="en-PH" dirty="0"/>
              <a:t> </a:t>
            </a:r>
            <a:r>
              <a:rPr lang="en-PH" sz="3600" dirty="0"/>
              <a:t>= full scale </a:t>
            </a:r>
          </a:p>
          <a:p>
            <a:pPr marL="0" indent="0">
              <a:buNone/>
            </a:pPr>
            <a:r>
              <a:rPr lang="en-PH" sz="3600" dirty="0"/>
              <a:t>	deflection </a:t>
            </a:r>
          </a:p>
          <a:p>
            <a:pPr marL="914400" lvl="2" indent="0">
              <a:buNone/>
            </a:pPr>
            <a:r>
              <a:rPr lang="en-PH" sz="3600" dirty="0"/>
              <a:t>current</a:t>
            </a:r>
            <a:endParaRPr lang="en-PH" sz="2800" dirty="0"/>
          </a:p>
          <a:p>
            <a:pPr marL="0" indent="0">
              <a:buNone/>
            </a:pPr>
            <a:endParaRPr lang="en-PH" sz="4400" dirty="0"/>
          </a:p>
        </p:txBody>
      </p:sp>
      <p:pic>
        <p:nvPicPr>
          <p:cNvPr id="2" name="Picture 1"/>
          <p:cNvPicPr>
            <a:picLocks noChangeAspect="1"/>
          </p:cNvPicPr>
          <p:nvPr/>
        </p:nvPicPr>
        <p:blipFill>
          <a:blip r:embed="rId2"/>
          <a:stretch>
            <a:fillRect/>
          </a:stretch>
        </p:blipFill>
        <p:spPr>
          <a:xfrm>
            <a:off x="5080000" y="2885380"/>
            <a:ext cx="5524500" cy="3553520"/>
          </a:xfrm>
          <a:prstGeom prst="rect">
            <a:avLst/>
          </a:prstGeom>
        </p:spPr>
      </p:pic>
    </p:spTree>
    <p:extLst>
      <p:ext uri="{BB962C8B-B14F-4D97-AF65-F5344CB8AC3E}">
        <p14:creationId xmlns:p14="http://schemas.microsoft.com/office/powerpoint/2010/main" val="27291263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dirty="0">
                    <a:solidFill>
                      <a:srgbClr val="002060"/>
                    </a:solidFill>
                  </a:rPr>
                  <a:t>DC VOLTMETER</a:t>
                </a:r>
              </a:p>
              <a:p>
                <a:pPr marL="0" indent="0">
                  <a:buNone/>
                </a:pPr>
                <a:r>
                  <a:rPr lang="en-PH" sz="4400" dirty="0"/>
                  <a:t>	Sensitivity, S</a:t>
                </a:r>
              </a:p>
              <a:p>
                <a:pPr marL="0" indent="0">
                  <a:buNone/>
                </a:pPr>
                <a:endParaRPr lang="en-PH" sz="4400" dirty="0"/>
              </a:p>
              <a:p>
                <a:pPr marL="0" indent="0">
                  <a:buNone/>
                </a:pPr>
                <a:r>
                  <a:rPr lang="en-PH" sz="4400" dirty="0"/>
                  <a:t>	S = </a:t>
                </a:r>
                <a14:m>
                  <m:oMath xmlns:m="http://schemas.openxmlformats.org/officeDocument/2006/math">
                    <m:f>
                      <m:fPr>
                        <m:ctrlPr>
                          <a:rPr lang="en-PH" sz="4400" i="1" smtClean="0">
                            <a:latin typeface="Cambria Math" panose="02040503050406030204" pitchFamily="18" charset="0"/>
                            <a:ea typeface="Cambria Math" panose="02040503050406030204" pitchFamily="18" charset="0"/>
                          </a:rPr>
                        </m:ctrlPr>
                      </m:fPr>
                      <m:num>
                        <m:r>
                          <m:rPr>
                            <m:nor/>
                          </m:rPr>
                          <a:rPr lang="en-PH" sz="4400" b="0" i="0" smtClean="0">
                            <a:latin typeface="Cambria Math" panose="02040503050406030204" pitchFamily="18" charset="0"/>
                            <a:ea typeface="Cambria Math" panose="02040503050406030204" pitchFamily="18" charset="0"/>
                          </a:rPr>
                          <m:t>1</m:t>
                        </m:r>
                      </m:num>
                      <m:den>
                        <m:r>
                          <m:rPr>
                            <m:nor/>
                          </m:rPr>
                          <a:rPr lang="en-PH" sz="4000" dirty="0">
                            <a:latin typeface="Times New Roman" panose="02020603050405020304" pitchFamily="18" charset="0"/>
                            <a:cs typeface="Times New Roman" panose="02020603050405020304" pitchFamily="18" charset="0"/>
                          </a:rPr>
                          <m:t>I</m:t>
                        </m:r>
                        <m:r>
                          <m:rPr>
                            <m:nor/>
                          </m:rPr>
                          <a:rPr lang="en-PH" dirty="0"/>
                          <m:t>fs</m:t>
                        </m:r>
                      </m:den>
                    </m:f>
                  </m:oMath>
                </a14:m>
                <a:r>
                  <a:rPr lang="en-PH" sz="4400" dirty="0">
                    <a:latin typeface="Cambria Math" panose="02040503050406030204" pitchFamily="18" charset="0"/>
                    <a:ea typeface="Cambria Math" panose="02040503050406030204" pitchFamily="18" charset="0"/>
                  </a:rPr>
                  <a:t> (</a:t>
                </a:r>
                <a:r>
                  <a:rPr lang="el-GR" sz="4400" dirty="0">
                    <a:latin typeface="Cambria Math" panose="02040503050406030204" pitchFamily="18" charset="0"/>
                    <a:ea typeface="Cambria Math" panose="02040503050406030204" pitchFamily="18" charset="0"/>
                  </a:rPr>
                  <a:t>Ω</a:t>
                </a:r>
                <a:r>
                  <a:rPr lang="en-PH" sz="4400" dirty="0">
                    <a:latin typeface="Cambria Math" panose="02040503050406030204" pitchFamily="18" charset="0"/>
                    <a:ea typeface="Cambria Math" panose="02040503050406030204" pitchFamily="18" charset="0"/>
                  </a:rPr>
                  <a:t>/V)</a:t>
                </a:r>
              </a:p>
              <a:p>
                <a:pPr marL="0" indent="0">
                  <a:buNone/>
                </a:pPr>
                <a:endParaRPr lang="en-PH" sz="4400" dirty="0">
                  <a:latin typeface="Cambria Math" panose="02040503050406030204" pitchFamily="18" charset="0"/>
                  <a:ea typeface="Cambria Math" panose="02040503050406030204" pitchFamily="18" charset="0"/>
                </a:endParaRPr>
              </a:p>
              <a:p>
                <a:pPr marL="0" indent="0">
                  <a:buNone/>
                </a:pPr>
                <a:r>
                  <a:rPr lang="en-PH" sz="4400" dirty="0"/>
                  <a:t>	R</a:t>
                </a:r>
                <a:r>
                  <a:rPr lang="en-PH" sz="3200" dirty="0"/>
                  <a:t>s </a:t>
                </a:r>
                <a:r>
                  <a:rPr lang="en-PH" sz="4400" dirty="0"/>
                  <a:t>= S x Range - R</a:t>
                </a:r>
                <a:r>
                  <a:rPr lang="en-PH" sz="3200" dirty="0"/>
                  <a:t>m</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368300"/>
                <a:ext cx="11087100" cy="6172200"/>
              </a:xfrm>
              <a:blipFill rotWithShape="0">
                <a:blip r:embed="rId2"/>
                <a:stretch>
                  <a:fillRect l="-2255" t="-3060"/>
                </a:stretch>
              </a:blipFill>
            </p:spPr>
            <p:txBody>
              <a:bodyPr/>
              <a:lstStyle/>
              <a:p>
                <a:r>
                  <a:rPr lang="en-PH">
                    <a:noFill/>
                  </a:rPr>
                  <a:t> </a:t>
                </a:r>
              </a:p>
            </p:txBody>
          </p:sp>
        </mc:Fallback>
      </mc:AlternateContent>
      <p:pic>
        <p:nvPicPr>
          <p:cNvPr id="2" name="Picture 1"/>
          <p:cNvPicPr>
            <a:picLocks noChangeAspect="1"/>
          </p:cNvPicPr>
          <p:nvPr/>
        </p:nvPicPr>
        <p:blipFill>
          <a:blip r:embed="rId3"/>
          <a:stretch>
            <a:fillRect/>
          </a:stretch>
        </p:blipFill>
        <p:spPr>
          <a:xfrm>
            <a:off x="6076950" y="749300"/>
            <a:ext cx="5169106" cy="3324920"/>
          </a:xfrm>
          <a:prstGeom prst="rect">
            <a:avLst/>
          </a:prstGeom>
        </p:spPr>
      </p:pic>
    </p:spTree>
    <p:extLst>
      <p:ext uri="{BB962C8B-B14F-4D97-AF65-F5344CB8AC3E}">
        <p14:creationId xmlns:p14="http://schemas.microsoft.com/office/powerpoint/2010/main" val="38481348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solidFill>
                      <a:srgbClr val="002060"/>
                    </a:solidFill>
                  </a:rPr>
                  <a:t>Examples:</a:t>
                </a:r>
              </a:p>
              <a:p>
                <a:pPr marL="0" indent="0">
                  <a:buNone/>
                </a:pPr>
                <a:r>
                  <a:rPr lang="en-PH" sz="4400" dirty="0"/>
                  <a:t>1. Calculate the sensitivity of a 100 </a:t>
                </a:r>
                <a:r>
                  <a:rPr lang="el-GR" sz="4400" dirty="0"/>
                  <a:t>μ</a:t>
                </a:r>
                <a:r>
                  <a:rPr lang="en-PH" sz="4400" dirty="0"/>
                  <a:t>A meter movement which is to be used as a dc voltmeter. </a:t>
                </a:r>
              </a:p>
              <a:p>
                <a:pPr marL="0" indent="0">
                  <a:buNone/>
                </a:pPr>
                <a:endParaRPr lang="en-PH" sz="1400" dirty="0"/>
              </a:p>
              <a:p>
                <a:pPr marL="0" indent="0">
                  <a:buNone/>
                </a:pPr>
                <a:r>
                  <a:rPr lang="en-PH" sz="4400" dirty="0">
                    <a:latin typeface="Cambria Math" panose="02040503050406030204" pitchFamily="18" charset="0"/>
                    <a:ea typeface="Cambria Math" panose="02040503050406030204" pitchFamily="18" charset="0"/>
                  </a:rPr>
                  <a:t>S </a:t>
                </a:r>
                <a:r>
                  <a:rPr lang="en-PH" sz="4400" dirty="0"/>
                  <a:t>= </a:t>
                </a:r>
                <a14:m>
                  <m:oMath xmlns:m="http://schemas.openxmlformats.org/officeDocument/2006/math">
                    <m:f>
                      <m:fPr>
                        <m:ctrlPr>
                          <a:rPr lang="en-PH" sz="4400" i="1">
                            <a:latin typeface="Cambria Math" panose="02040503050406030204" pitchFamily="18" charset="0"/>
                            <a:ea typeface="Cambria Math" panose="02040503050406030204" pitchFamily="18" charset="0"/>
                          </a:rPr>
                        </m:ctrlPr>
                      </m:fPr>
                      <m:num>
                        <m:r>
                          <m:rPr>
                            <m:nor/>
                          </m:rPr>
                          <a:rPr lang="en-PH" sz="4400">
                            <a:latin typeface="Cambria Math" panose="02040503050406030204" pitchFamily="18" charset="0"/>
                            <a:ea typeface="Cambria Math" panose="02040503050406030204" pitchFamily="18" charset="0"/>
                          </a:rPr>
                          <m:t>1</m:t>
                        </m:r>
                      </m:num>
                      <m:den>
                        <m:r>
                          <m:rPr>
                            <m:nor/>
                          </m:rPr>
                          <a:rPr lang="en-PH" sz="4000" dirty="0">
                            <a:latin typeface="Times New Roman" panose="02020603050405020304" pitchFamily="18" charset="0"/>
                            <a:cs typeface="Times New Roman" panose="02020603050405020304" pitchFamily="18" charset="0"/>
                          </a:rPr>
                          <m:t>I</m:t>
                        </m:r>
                        <m:r>
                          <m:rPr>
                            <m:nor/>
                          </m:rPr>
                          <a:rPr lang="en-PH" sz="4000" dirty="0"/>
                          <m:t>fs</m:t>
                        </m:r>
                      </m:den>
                    </m:f>
                  </m:oMath>
                </a14:m>
                <a:r>
                  <a:rPr lang="en-PH" sz="4400" dirty="0">
                    <a:latin typeface="Cambria Math" panose="02040503050406030204" pitchFamily="18" charset="0"/>
                    <a:ea typeface="Cambria Math" panose="02040503050406030204" pitchFamily="18" charset="0"/>
                  </a:rPr>
                  <a:t> (</a:t>
                </a:r>
                <a:r>
                  <a:rPr lang="el-GR" sz="4400" dirty="0">
                    <a:latin typeface="Cambria Math" panose="02040503050406030204" pitchFamily="18" charset="0"/>
                    <a:ea typeface="Cambria Math" panose="02040503050406030204" pitchFamily="18" charset="0"/>
                  </a:rPr>
                  <a:t>Ω</a:t>
                </a:r>
                <a:r>
                  <a:rPr lang="en-PH" sz="4400" dirty="0">
                    <a:latin typeface="Cambria Math" panose="02040503050406030204" pitchFamily="18" charset="0"/>
                    <a:ea typeface="Cambria Math" panose="02040503050406030204" pitchFamily="18" charset="0"/>
                  </a:rPr>
                  <a:t>/V) = </a:t>
                </a:r>
                <a14:m>
                  <m:oMath xmlns:m="http://schemas.openxmlformats.org/officeDocument/2006/math">
                    <m:f>
                      <m:fPr>
                        <m:ctrlPr>
                          <a:rPr lang="en-PH" sz="4400" i="1" smtClean="0">
                            <a:latin typeface="Cambria Math" panose="02040503050406030204" pitchFamily="18" charset="0"/>
                            <a:ea typeface="Cambria Math" panose="02040503050406030204" pitchFamily="18" charset="0"/>
                          </a:rPr>
                        </m:ctrlPr>
                      </m:fPr>
                      <m:num>
                        <m:r>
                          <m:rPr>
                            <m:nor/>
                          </m:rPr>
                          <a:rPr lang="en-PH" sz="4400">
                            <a:latin typeface="Cambria Math" panose="02040503050406030204" pitchFamily="18" charset="0"/>
                            <a:ea typeface="Cambria Math" panose="02040503050406030204" pitchFamily="18" charset="0"/>
                          </a:rPr>
                          <m:t>1</m:t>
                        </m:r>
                      </m:num>
                      <m:den>
                        <m:r>
                          <m:rPr>
                            <m:nor/>
                          </m:rPr>
                          <a:rPr lang="en-PH" sz="4400" b="0" i="0" smtClean="0">
                            <a:latin typeface="Cambria Math" panose="02040503050406030204" pitchFamily="18" charset="0"/>
                            <a:ea typeface="Cambria Math" panose="02040503050406030204" pitchFamily="18" charset="0"/>
                          </a:rPr>
                          <m:t>100 </m:t>
                        </m:r>
                        <m:r>
                          <m:rPr>
                            <m:sty m:val="p"/>
                          </m:rPr>
                          <a:rPr lang="el-GR" sz="4400" b="0" i="1" smtClean="0">
                            <a:latin typeface="Cambria Math" panose="02040503050406030204" pitchFamily="18" charset="0"/>
                            <a:ea typeface="Cambria Math" panose="02040503050406030204" pitchFamily="18" charset="0"/>
                          </a:rPr>
                          <m:t>μ</m:t>
                        </m:r>
                        <m:r>
                          <a:rPr lang="en-PH" sz="4400" b="0" i="1" smtClean="0">
                            <a:latin typeface="Cambria Math" panose="02040503050406030204" pitchFamily="18" charset="0"/>
                            <a:ea typeface="Cambria Math" panose="02040503050406030204" pitchFamily="18" charset="0"/>
                          </a:rPr>
                          <m:t>𝐴</m:t>
                        </m:r>
                      </m:den>
                    </m:f>
                  </m:oMath>
                </a14:m>
                <a:endParaRPr lang="en-PH" sz="4400" dirty="0">
                  <a:latin typeface="Cambria Math" panose="02040503050406030204" pitchFamily="18" charset="0"/>
                  <a:ea typeface="Cambria Math" panose="02040503050406030204" pitchFamily="18" charset="0"/>
                </a:endParaRPr>
              </a:p>
              <a:p>
                <a:pPr marL="0" indent="0">
                  <a:buNone/>
                </a:pPr>
                <a:endParaRPr lang="en-PH" sz="1600" dirty="0">
                  <a:latin typeface="Cambria Math" panose="02040503050406030204" pitchFamily="18" charset="0"/>
                  <a:ea typeface="Cambria Math" panose="02040503050406030204" pitchFamily="18" charset="0"/>
                </a:endParaRPr>
              </a:p>
              <a:p>
                <a:pPr marL="0" indent="0">
                  <a:buNone/>
                </a:pPr>
                <a:r>
                  <a:rPr lang="en-PH" sz="4400" dirty="0">
                    <a:latin typeface="Cambria Math" panose="02040503050406030204" pitchFamily="18" charset="0"/>
                    <a:ea typeface="Cambria Math" panose="02040503050406030204" pitchFamily="18" charset="0"/>
                  </a:rPr>
                  <a:t>S = 10 k</a:t>
                </a:r>
                <a:r>
                  <a:rPr lang="el-GR" sz="4400" dirty="0">
                    <a:latin typeface="Cambria Math" panose="02040503050406030204" pitchFamily="18" charset="0"/>
                    <a:ea typeface="Cambria Math" panose="02040503050406030204" pitchFamily="18" charset="0"/>
                  </a:rPr>
                  <a:t>Ω</a:t>
                </a:r>
                <a:r>
                  <a:rPr lang="en-PH" sz="4400" dirty="0">
                    <a:latin typeface="Cambria Math" panose="02040503050406030204" pitchFamily="18" charset="0"/>
                    <a:ea typeface="Cambria Math" panose="02040503050406030204" pitchFamily="18" charset="0"/>
                  </a:rPr>
                  <a:t>/V</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368300"/>
                <a:ext cx="11087100" cy="6172200"/>
              </a:xfrm>
              <a:blipFill rotWithShape="0">
                <a:blip r:embed="rId2"/>
                <a:stretch>
                  <a:fillRect l="-2255" t="-3060"/>
                </a:stretch>
              </a:blipFill>
            </p:spPr>
            <p:txBody>
              <a:bodyPr/>
              <a:lstStyle/>
              <a:p>
                <a:r>
                  <a:rPr lang="en-PH">
                    <a:noFill/>
                  </a:rPr>
                  <a:t> </a:t>
                </a:r>
              </a:p>
            </p:txBody>
          </p:sp>
        </mc:Fallback>
      </mc:AlternateContent>
      <p:sp>
        <p:nvSpPr>
          <p:cNvPr id="4" name="Rectangle 3"/>
          <p:cNvSpPr/>
          <p:nvPr/>
        </p:nvSpPr>
        <p:spPr>
          <a:xfrm>
            <a:off x="533400" y="4851400"/>
            <a:ext cx="3352800" cy="7493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32408499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2. Calculate the value of the multiplier resistance on the 50 V range on a dc voltmeter that uses a 500 </a:t>
                </a:r>
                <a:r>
                  <a:rPr lang="el-GR" sz="4400" dirty="0"/>
                  <a:t>μ</a:t>
                </a:r>
                <a:r>
                  <a:rPr lang="en-PH" sz="4400" dirty="0"/>
                  <a:t>A meter movement with an internal resistance of 1 k</a:t>
                </a:r>
                <a:r>
                  <a:rPr lang="el-GR" sz="4400" dirty="0"/>
                  <a:t>Ω</a:t>
                </a:r>
                <a:r>
                  <a:rPr lang="en-PH" sz="4400" dirty="0"/>
                  <a:t>.</a:t>
                </a:r>
              </a:p>
              <a:p>
                <a:pPr marL="0" indent="0">
                  <a:buNone/>
                </a:pPr>
                <a:r>
                  <a:rPr lang="en-PH" sz="4000" dirty="0">
                    <a:latin typeface="Cambria Math" panose="02040503050406030204" pitchFamily="18" charset="0"/>
                    <a:ea typeface="Cambria Math" panose="02040503050406030204" pitchFamily="18" charset="0"/>
                  </a:rPr>
                  <a:t>S </a:t>
                </a:r>
                <a:r>
                  <a:rPr lang="en-PH" sz="4000" dirty="0"/>
                  <a:t>= </a:t>
                </a:r>
                <a14:m>
                  <m:oMath xmlns:m="http://schemas.openxmlformats.org/officeDocument/2006/math">
                    <m:f>
                      <m:fPr>
                        <m:ctrlPr>
                          <a:rPr lang="en-PH" sz="4000" i="1">
                            <a:latin typeface="Cambria Math" panose="02040503050406030204" pitchFamily="18" charset="0"/>
                            <a:ea typeface="Cambria Math" panose="02040503050406030204" pitchFamily="18" charset="0"/>
                          </a:rPr>
                        </m:ctrlPr>
                      </m:fPr>
                      <m:num>
                        <m:r>
                          <m:rPr>
                            <m:nor/>
                          </m:rPr>
                          <a:rPr lang="en-PH" sz="4000">
                            <a:latin typeface="Cambria Math" panose="02040503050406030204" pitchFamily="18" charset="0"/>
                            <a:ea typeface="Cambria Math" panose="02040503050406030204" pitchFamily="18" charset="0"/>
                          </a:rPr>
                          <m:t>1</m:t>
                        </m:r>
                      </m:num>
                      <m:den>
                        <m:r>
                          <m:rPr>
                            <m:nor/>
                          </m:rPr>
                          <a:rPr lang="en-PH" sz="3600" dirty="0">
                            <a:latin typeface="Times New Roman" panose="02020603050405020304" pitchFamily="18" charset="0"/>
                            <a:cs typeface="Times New Roman" panose="02020603050405020304" pitchFamily="18" charset="0"/>
                          </a:rPr>
                          <m:t>I</m:t>
                        </m:r>
                        <m:r>
                          <m:rPr>
                            <m:nor/>
                          </m:rPr>
                          <a:rPr lang="en-PH" sz="3600" dirty="0"/>
                          <m:t>fs</m:t>
                        </m:r>
                      </m:den>
                    </m:f>
                  </m:oMath>
                </a14:m>
                <a:r>
                  <a:rPr lang="en-PH" sz="4000" dirty="0">
                    <a:latin typeface="Cambria Math" panose="02040503050406030204" pitchFamily="18" charset="0"/>
                    <a:ea typeface="Cambria Math" panose="02040503050406030204" pitchFamily="18" charset="0"/>
                  </a:rPr>
                  <a:t> (</a:t>
                </a:r>
                <a:r>
                  <a:rPr lang="el-GR" sz="4000" dirty="0">
                    <a:latin typeface="Cambria Math" panose="02040503050406030204" pitchFamily="18" charset="0"/>
                    <a:ea typeface="Cambria Math" panose="02040503050406030204" pitchFamily="18" charset="0"/>
                  </a:rPr>
                  <a:t>Ω</a:t>
                </a:r>
                <a:r>
                  <a:rPr lang="en-PH" sz="4000" dirty="0">
                    <a:latin typeface="Cambria Math" panose="02040503050406030204" pitchFamily="18" charset="0"/>
                    <a:ea typeface="Cambria Math" panose="02040503050406030204" pitchFamily="18" charset="0"/>
                  </a:rPr>
                  <a:t>/V) = </a:t>
                </a:r>
                <a14:m>
                  <m:oMath xmlns:m="http://schemas.openxmlformats.org/officeDocument/2006/math">
                    <m:f>
                      <m:fPr>
                        <m:ctrlPr>
                          <a:rPr lang="en-PH" sz="4000" i="1">
                            <a:latin typeface="Cambria Math" panose="02040503050406030204" pitchFamily="18" charset="0"/>
                            <a:ea typeface="Cambria Math" panose="02040503050406030204" pitchFamily="18" charset="0"/>
                          </a:rPr>
                        </m:ctrlPr>
                      </m:fPr>
                      <m:num>
                        <m:r>
                          <m:rPr>
                            <m:nor/>
                          </m:rPr>
                          <a:rPr lang="en-PH" sz="4000">
                            <a:latin typeface="Cambria Math" panose="02040503050406030204" pitchFamily="18" charset="0"/>
                            <a:ea typeface="Cambria Math" panose="02040503050406030204" pitchFamily="18" charset="0"/>
                          </a:rPr>
                          <m:t>1</m:t>
                        </m:r>
                      </m:num>
                      <m:den>
                        <m:r>
                          <m:rPr>
                            <m:nor/>
                          </m:rPr>
                          <a:rPr lang="en-PH" sz="4000" b="0" i="0" smtClean="0">
                            <a:latin typeface="Cambria Math" panose="02040503050406030204" pitchFamily="18" charset="0"/>
                            <a:ea typeface="Cambria Math" panose="02040503050406030204" pitchFamily="18" charset="0"/>
                          </a:rPr>
                          <m:t>5</m:t>
                        </m:r>
                        <m:r>
                          <m:rPr>
                            <m:nor/>
                          </m:rPr>
                          <a:rPr lang="en-PH" sz="4000">
                            <a:latin typeface="Cambria Math" panose="02040503050406030204" pitchFamily="18" charset="0"/>
                            <a:ea typeface="Cambria Math" panose="02040503050406030204" pitchFamily="18" charset="0"/>
                          </a:rPr>
                          <m:t>00 </m:t>
                        </m:r>
                        <m:r>
                          <m:rPr>
                            <m:sty m:val="p"/>
                          </m:rPr>
                          <a:rPr lang="el-GR" sz="4000" i="1">
                            <a:latin typeface="Cambria Math" panose="02040503050406030204" pitchFamily="18" charset="0"/>
                            <a:ea typeface="Cambria Math" panose="02040503050406030204" pitchFamily="18" charset="0"/>
                          </a:rPr>
                          <m:t>μ</m:t>
                        </m:r>
                        <m:r>
                          <a:rPr lang="en-PH" sz="4000" i="1">
                            <a:latin typeface="Cambria Math" panose="02040503050406030204" pitchFamily="18" charset="0"/>
                            <a:ea typeface="Cambria Math" panose="02040503050406030204" pitchFamily="18" charset="0"/>
                          </a:rPr>
                          <m:t>𝐴</m:t>
                        </m:r>
                      </m:den>
                    </m:f>
                  </m:oMath>
                </a14:m>
                <a:r>
                  <a:rPr lang="en-PH" sz="4000" dirty="0">
                    <a:latin typeface="Cambria Math" panose="02040503050406030204" pitchFamily="18" charset="0"/>
                    <a:ea typeface="Cambria Math" panose="02040503050406030204" pitchFamily="18" charset="0"/>
                  </a:rPr>
                  <a:t> = 2 k</a:t>
                </a:r>
                <a:r>
                  <a:rPr lang="el-GR" sz="4000" dirty="0">
                    <a:latin typeface="Cambria Math" panose="02040503050406030204" pitchFamily="18" charset="0"/>
                    <a:ea typeface="Cambria Math" panose="02040503050406030204" pitchFamily="18" charset="0"/>
                  </a:rPr>
                  <a:t>Ω</a:t>
                </a:r>
                <a:r>
                  <a:rPr lang="en-PH" sz="4000" dirty="0">
                    <a:latin typeface="Cambria Math" panose="02040503050406030204" pitchFamily="18" charset="0"/>
                    <a:ea typeface="Cambria Math" panose="02040503050406030204" pitchFamily="18" charset="0"/>
                  </a:rPr>
                  <a:t>/V</a:t>
                </a:r>
              </a:p>
              <a:p>
                <a:pPr marL="0" indent="0">
                  <a:buNone/>
                </a:pPr>
                <a:endParaRPr lang="en-PH" sz="4000" dirty="0"/>
              </a:p>
              <a:p>
                <a:pPr marL="0" indent="0">
                  <a:buNone/>
                </a:pPr>
                <a:r>
                  <a:rPr lang="en-PH" sz="4400" dirty="0"/>
                  <a:t>R</a:t>
                </a:r>
                <a:r>
                  <a:rPr lang="en-PH" sz="3600" dirty="0"/>
                  <a:t>s </a:t>
                </a:r>
                <a:r>
                  <a:rPr lang="en-PH" sz="4400" dirty="0"/>
                  <a:t>= S x Range – R</a:t>
                </a:r>
                <a:r>
                  <a:rPr lang="en-PH" sz="3600" dirty="0"/>
                  <a:t>m</a:t>
                </a:r>
                <a:r>
                  <a:rPr lang="en-PH" sz="4400" dirty="0"/>
                  <a:t> = (</a:t>
                </a:r>
                <a:r>
                  <a:rPr lang="en-PH" sz="3600" dirty="0">
                    <a:latin typeface="Cambria Math" panose="02040503050406030204" pitchFamily="18" charset="0"/>
                    <a:ea typeface="Cambria Math" panose="02040503050406030204" pitchFamily="18" charset="0"/>
                  </a:rPr>
                  <a:t>2 k</a:t>
                </a:r>
                <a:r>
                  <a:rPr lang="el-GR" sz="3600" dirty="0">
                    <a:latin typeface="Cambria Math" panose="02040503050406030204" pitchFamily="18" charset="0"/>
                    <a:ea typeface="Cambria Math" panose="02040503050406030204" pitchFamily="18" charset="0"/>
                  </a:rPr>
                  <a:t>Ω</a:t>
                </a:r>
                <a:r>
                  <a:rPr lang="en-PH" sz="3600" dirty="0">
                    <a:latin typeface="Cambria Math" panose="02040503050406030204" pitchFamily="18" charset="0"/>
                    <a:ea typeface="Cambria Math" panose="02040503050406030204" pitchFamily="18" charset="0"/>
                  </a:rPr>
                  <a:t>/V)(50 V) – 1 k</a:t>
                </a:r>
                <a:r>
                  <a:rPr lang="el-GR" sz="3600" dirty="0">
                    <a:latin typeface="Cambria Math" panose="02040503050406030204" pitchFamily="18" charset="0"/>
                    <a:ea typeface="Cambria Math" panose="02040503050406030204" pitchFamily="18" charset="0"/>
                  </a:rPr>
                  <a:t>Ω</a:t>
                </a:r>
                <a:endParaRPr lang="en-PH" sz="3600" dirty="0">
                  <a:latin typeface="Cambria Math" panose="02040503050406030204" pitchFamily="18" charset="0"/>
                  <a:ea typeface="Cambria Math" panose="02040503050406030204" pitchFamily="18" charset="0"/>
                </a:endParaRPr>
              </a:p>
              <a:p>
                <a:pPr marL="0" indent="0">
                  <a:buNone/>
                </a:pPr>
                <a:r>
                  <a:rPr lang="en-PH" sz="4400" dirty="0"/>
                  <a:t>R</a:t>
                </a:r>
                <a:r>
                  <a:rPr lang="en-PH" sz="3600" dirty="0"/>
                  <a:t>s</a:t>
                </a:r>
                <a:r>
                  <a:rPr lang="en-PH" sz="4400" dirty="0"/>
                  <a:t> = 99 </a:t>
                </a:r>
                <a:r>
                  <a:rPr lang="en-PH" sz="3600" dirty="0">
                    <a:latin typeface="Cambria Math" panose="02040503050406030204" pitchFamily="18" charset="0"/>
                    <a:ea typeface="Cambria Math" panose="02040503050406030204" pitchFamily="18" charset="0"/>
                  </a:rPr>
                  <a:t>k</a:t>
                </a:r>
                <a:r>
                  <a:rPr lang="el-GR" sz="3600" dirty="0">
                    <a:latin typeface="Cambria Math" panose="02040503050406030204" pitchFamily="18" charset="0"/>
                    <a:ea typeface="Cambria Math" panose="02040503050406030204" pitchFamily="18" charset="0"/>
                  </a:rPr>
                  <a:t>Ω</a:t>
                </a:r>
                <a:endParaRPr lang="en-PH" sz="36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368300"/>
                <a:ext cx="11087100" cy="6172200"/>
              </a:xfrm>
              <a:blipFill rotWithShape="0">
                <a:blip r:embed="rId2"/>
                <a:stretch>
                  <a:fillRect l="-2255" t="-3060" r="-275"/>
                </a:stretch>
              </a:blipFill>
            </p:spPr>
            <p:txBody>
              <a:bodyPr/>
              <a:lstStyle/>
              <a:p>
                <a:r>
                  <a:rPr lang="en-PH">
                    <a:noFill/>
                  </a:rPr>
                  <a:t> </a:t>
                </a:r>
              </a:p>
            </p:txBody>
          </p:sp>
        </mc:Fallback>
      </mc:AlternateContent>
      <p:sp>
        <p:nvSpPr>
          <p:cNvPr id="4" name="Rectangle 3"/>
          <p:cNvSpPr/>
          <p:nvPr/>
        </p:nvSpPr>
        <p:spPr>
          <a:xfrm>
            <a:off x="533400" y="5461000"/>
            <a:ext cx="2540000" cy="5715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2589501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dirty="0">
                <a:solidFill>
                  <a:srgbClr val="002060"/>
                </a:solidFill>
              </a:rPr>
              <a:t>Multi Range Voltmeter (parallel resistors)</a:t>
            </a:r>
          </a:p>
          <a:p>
            <a:pPr marL="0" indent="0">
              <a:buNone/>
            </a:pPr>
            <a:endParaRPr lang="en-PH" sz="4400" dirty="0">
              <a:solidFill>
                <a:srgbClr val="002060"/>
              </a:solidFill>
            </a:endParaRPr>
          </a:p>
          <a:p>
            <a:pPr marL="0" indent="0">
              <a:buNone/>
            </a:pPr>
            <a:r>
              <a:rPr lang="en-PH" sz="4400" dirty="0"/>
              <a:t>R</a:t>
            </a:r>
            <a:r>
              <a:rPr lang="en-PH" sz="3200" dirty="0"/>
              <a:t>s</a:t>
            </a:r>
            <a:r>
              <a:rPr lang="en-PH" dirty="0"/>
              <a:t>1</a:t>
            </a:r>
            <a:r>
              <a:rPr lang="en-PH" sz="4400" dirty="0"/>
              <a:t> = S x V</a:t>
            </a:r>
            <a:r>
              <a:rPr lang="en-PH" sz="3200" dirty="0"/>
              <a:t>1 </a:t>
            </a:r>
            <a:r>
              <a:rPr lang="en-PH" sz="4400" dirty="0"/>
              <a:t>– R</a:t>
            </a:r>
            <a:r>
              <a:rPr lang="en-PH" sz="3200" dirty="0"/>
              <a:t>m</a:t>
            </a:r>
          </a:p>
          <a:p>
            <a:pPr marL="0" indent="0">
              <a:buNone/>
            </a:pPr>
            <a:endParaRPr lang="en-PH" sz="3200" dirty="0">
              <a:solidFill>
                <a:srgbClr val="002060"/>
              </a:solidFill>
            </a:endParaRPr>
          </a:p>
          <a:p>
            <a:pPr marL="0" indent="0">
              <a:buNone/>
            </a:pPr>
            <a:r>
              <a:rPr lang="en-PH" sz="4400" dirty="0"/>
              <a:t>R</a:t>
            </a:r>
            <a:r>
              <a:rPr lang="en-PH" sz="3200" dirty="0"/>
              <a:t>s</a:t>
            </a:r>
            <a:r>
              <a:rPr lang="en-PH" dirty="0"/>
              <a:t>2</a:t>
            </a:r>
            <a:r>
              <a:rPr lang="en-PH" sz="4400" dirty="0"/>
              <a:t> = S x V</a:t>
            </a:r>
            <a:r>
              <a:rPr lang="en-PH" sz="3200" dirty="0"/>
              <a:t>2 </a:t>
            </a:r>
            <a:r>
              <a:rPr lang="en-PH" sz="4400" dirty="0"/>
              <a:t>– R</a:t>
            </a:r>
            <a:r>
              <a:rPr lang="en-PH" sz="3200" dirty="0"/>
              <a:t>m</a:t>
            </a:r>
          </a:p>
          <a:p>
            <a:pPr marL="0" indent="0">
              <a:buNone/>
            </a:pPr>
            <a:endParaRPr lang="en-PH" sz="3200" dirty="0">
              <a:solidFill>
                <a:srgbClr val="002060"/>
              </a:solidFill>
            </a:endParaRPr>
          </a:p>
          <a:p>
            <a:pPr marL="0" indent="0">
              <a:buNone/>
            </a:pPr>
            <a:r>
              <a:rPr lang="en-PH" sz="4400" dirty="0"/>
              <a:t>R</a:t>
            </a:r>
            <a:r>
              <a:rPr lang="en-PH" sz="3200" dirty="0"/>
              <a:t>s</a:t>
            </a:r>
            <a:r>
              <a:rPr lang="en-PH" dirty="0"/>
              <a:t>3</a:t>
            </a:r>
            <a:r>
              <a:rPr lang="en-PH" sz="4400" dirty="0"/>
              <a:t> = S x V</a:t>
            </a:r>
            <a:r>
              <a:rPr lang="en-PH" sz="3200" dirty="0"/>
              <a:t>3 </a:t>
            </a:r>
            <a:r>
              <a:rPr lang="en-PH" sz="4400" dirty="0"/>
              <a:t>– R</a:t>
            </a:r>
            <a:r>
              <a:rPr lang="en-PH" sz="3200" dirty="0"/>
              <a:t>m</a:t>
            </a:r>
            <a:endParaRPr lang="en-PH" sz="3200" dirty="0">
              <a:solidFill>
                <a:srgbClr val="002060"/>
              </a:solidFill>
            </a:endParaRPr>
          </a:p>
          <a:p>
            <a:pPr marL="0" indent="0">
              <a:buNone/>
            </a:pPr>
            <a:endParaRPr lang="en-PH" sz="3200" dirty="0">
              <a:solidFill>
                <a:srgbClr val="002060"/>
              </a:solidFill>
            </a:endParaRPr>
          </a:p>
          <a:p>
            <a:pPr marL="0" indent="0">
              <a:buNone/>
            </a:pPr>
            <a:endParaRPr lang="en-PH" sz="3200" dirty="0">
              <a:solidFill>
                <a:srgbClr val="002060"/>
              </a:solidFill>
            </a:endParaRPr>
          </a:p>
        </p:txBody>
      </p:sp>
      <p:pic>
        <p:nvPicPr>
          <p:cNvPr id="2" name="Picture 1"/>
          <p:cNvPicPr>
            <a:picLocks noChangeAspect="1"/>
          </p:cNvPicPr>
          <p:nvPr/>
        </p:nvPicPr>
        <p:blipFill>
          <a:blip r:embed="rId2"/>
          <a:stretch>
            <a:fillRect/>
          </a:stretch>
        </p:blipFill>
        <p:spPr>
          <a:xfrm>
            <a:off x="5013532" y="1231900"/>
            <a:ext cx="6303548" cy="4279900"/>
          </a:xfrm>
          <a:prstGeom prst="rect">
            <a:avLst/>
          </a:prstGeom>
        </p:spPr>
      </p:pic>
    </p:spTree>
    <p:extLst>
      <p:ext uri="{BB962C8B-B14F-4D97-AF65-F5344CB8AC3E}">
        <p14:creationId xmlns:p14="http://schemas.microsoft.com/office/powerpoint/2010/main" val="37594976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rmAutofit lnSpcReduction="10000"/>
          </a:bodyPr>
          <a:lstStyle/>
          <a:p>
            <a:pPr marL="0" indent="0">
              <a:buNone/>
            </a:pPr>
            <a:r>
              <a:rPr lang="en-PH" sz="4400" dirty="0">
                <a:solidFill>
                  <a:srgbClr val="002060"/>
                </a:solidFill>
              </a:rPr>
              <a:t>Multi Range Voltmeter (series resistors)</a:t>
            </a:r>
          </a:p>
          <a:p>
            <a:pPr marL="0" indent="0">
              <a:buNone/>
            </a:pPr>
            <a:endParaRPr lang="en-PH" sz="4400" dirty="0">
              <a:solidFill>
                <a:srgbClr val="002060"/>
              </a:solidFill>
            </a:endParaRPr>
          </a:p>
          <a:p>
            <a:pPr marL="0" indent="0">
              <a:buNone/>
            </a:pPr>
            <a:endParaRPr lang="en-PH" sz="4400" dirty="0"/>
          </a:p>
          <a:p>
            <a:pPr marL="0" indent="0">
              <a:buNone/>
            </a:pPr>
            <a:endParaRPr lang="en-PH" sz="4400" dirty="0"/>
          </a:p>
          <a:p>
            <a:pPr marL="0" indent="0">
              <a:buNone/>
            </a:pPr>
            <a:r>
              <a:rPr lang="en-PH" sz="4400" dirty="0"/>
              <a:t>R</a:t>
            </a:r>
            <a:r>
              <a:rPr lang="en-PH" sz="3200" dirty="0"/>
              <a:t>s</a:t>
            </a:r>
            <a:r>
              <a:rPr lang="en-PH" dirty="0"/>
              <a:t>1</a:t>
            </a:r>
            <a:r>
              <a:rPr lang="en-PH" sz="4400" dirty="0"/>
              <a:t> = S x V</a:t>
            </a:r>
            <a:r>
              <a:rPr lang="en-PH" sz="3200" dirty="0"/>
              <a:t>1 </a:t>
            </a:r>
            <a:r>
              <a:rPr lang="en-PH" sz="4400" dirty="0"/>
              <a:t>– R</a:t>
            </a:r>
            <a:r>
              <a:rPr lang="en-PH" sz="3200" dirty="0"/>
              <a:t>m</a:t>
            </a:r>
          </a:p>
          <a:p>
            <a:pPr marL="0" indent="0">
              <a:buNone/>
            </a:pPr>
            <a:endParaRPr lang="en-PH" sz="3200" dirty="0">
              <a:solidFill>
                <a:srgbClr val="002060"/>
              </a:solidFill>
            </a:endParaRPr>
          </a:p>
          <a:p>
            <a:pPr marL="0" indent="0">
              <a:buNone/>
            </a:pPr>
            <a:r>
              <a:rPr lang="en-PH" sz="4400" dirty="0"/>
              <a:t>R</a:t>
            </a:r>
            <a:r>
              <a:rPr lang="en-PH" sz="3200" dirty="0"/>
              <a:t>s</a:t>
            </a:r>
            <a:r>
              <a:rPr lang="en-PH" dirty="0"/>
              <a:t>2</a:t>
            </a:r>
            <a:r>
              <a:rPr lang="en-PH" sz="4400" dirty="0"/>
              <a:t> = S x V</a:t>
            </a:r>
            <a:r>
              <a:rPr lang="en-PH" sz="3200" dirty="0"/>
              <a:t>2 </a:t>
            </a:r>
            <a:r>
              <a:rPr lang="en-PH" sz="4400" dirty="0"/>
              <a:t>– (R</a:t>
            </a:r>
            <a:r>
              <a:rPr lang="en-PH" sz="3200" dirty="0"/>
              <a:t>s</a:t>
            </a:r>
            <a:r>
              <a:rPr lang="en-PH" dirty="0"/>
              <a:t>1</a:t>
            </a:r>
            <a:r>
              <a:rPr lang="en-PH" sz="4400" dirty="0"/>
              <a:t> + R</a:t>
            </a:r>
            <a:r>
              <a:rPr lang="en-PH" sz="3200" dirty="0"/>
              <a:t>m</a:t>
            </a:r>
            <a:r>
              <a:rPr lang="en-PH" sz="4400" dirty="0"/>
              <a:t>)</a:t>
            </a:r>
            <a:endParaRPr lang="en-PH" sz="3200" dirty="0"/>
          </a:p>
          <a:p>
            <a:pPr marL="0" indent="0">
              <a:buNone/>
            </a:pPr>
            <a:endParaRPr lang="en-PH" sz="3200" dirty="0">
              <a:solidFill>
                <a:srgbClr val="002060"/>
              </a:solidFill>
            </a:endParaRPr>
          </a:p>
          <a:p>
            <a:pPr marL="0" indent="0">
              <a:buNone/>
            </a:pPr>
            <a:r>
              <a:rPr lang="en-PH" sz="4400" dirty="0"/>
              <a:t>R</a:t>
            </a:r>
            <a:r>
              <a:rPr lang="en-PH" sz="3200" dirty="0"/>
              <a:t>s</a:t>
            </a:r>
            <a:r>
              <a:rPr lang="en-PH" dirty="0"/>
              <a:t>3</a:t>
            </a:r>
            <a:r>
              <a:rPr lang="en-PH" sz="4400" dirty="0"/>
              <a:t> = S x V</a:t>
            </a:r>
            <a:r>
              <a:rPr lang="en-PH" sz="3200" dirty="0"/>
              <a:t>3 </a:t>
            </a:r>
            <a:r>
              <a:rPr lang="en-PH" sz="4400" dirty="0"/>
              <a:t>– (R</a:t>
            </a:r>
            <a:r>
              <a:rPr lang="en-PH" sz="3200" dirty="0"/>
              <a:t>s</a:t>
            </a:r>
            <a:r>
              <a:rPr lang="en-PH" dirty="0"/>
              <a:t>1</a:t>
            </a:r>
            <a:r>
              <a:rPr lang="en-PH" sz="4400" dirty="0"/>
              <a:t> + R</a:t>
            </a:r>
            <a:r>
              <a:rPr lang="en-PH" sz="3200" dirty="0"/>
              <a:t>s</a:t>
            </a:r>
            <a:r>
              <a:rPr lang="en-PH" dirty="0"/>
              <a:t>2</a:t>
            </a:r>
            <a:r>
              <a:rPr lang="en-PH" sz="4400" dirty="0"/>
              <a:t> + R</a:t>
            </a:r>
            <a:r>
              <a:rPr lang="en-PH" sz="3200" dirty="0"/>
              <a:t>m</a:t>
            </a:r>
            <a:r>
              <a:rPr lang="en-PH" sz="4400" dirty="0"/>
              <a:t>)</a:t>
            </a:r>
            <a:endParaRPr lang="en-PH" sz="3200" dirty="0"/>
          </a:p>
          <a:p>
            <a:pPr marL="0" indent="0">
              <a:buNone/>
            </a:pPr>
            <a:endParaRPr lang="en-PH" sz="3200" dirty="0">
              <a:solidFill>
                <a:srgbClr val="002060"/>
              </a:solidFill>
            </a:endParaRPr>
          </a:p>
          <a:p>
            <a:pPr marL="0" indent="0">
              <a:buNone/>
            </a:pPr>
            <a:endParaRPr lang="en-PH" sz="3200" dirty="0">
              <a:solidFill>
                <a:srgbClr val="002060"/>
              </a:solidFill>
            </a:endParaRPr>
          </a:p>
        </p:txBody>
      </p:sp>
      <p:pic>
        <p:nvPicPr>
          <p:cNvPr id="4" name="Picture 3"/>
          <p:cNvPicPr>
            <a:picLocks noChangeAspect="1"/>
          </p:cNvPicPr>
          <p:nvPr/>
        </p:nvPicPr>
        <p:blipFill>
          <a:blip r:embed="rId2"/>
          <a:stretch>
            <a:fillRect/>
          </a:stretch>
        </p:blipFill>
        <p:spPr>
          <a:xfrm>
            <a:off x="5676900" y="1139824"/>
            <a:ext cx="6377524" cy="3622676"/>
          </a:xfrm>
          <a:prstGeom prst="rect">
            <a:avLst/>
          </a:prstGeom>
        </p:spPr>
      </p:pic>
    </p:spTree>
    <p:extLst>
      <p:ext uri="{BB962C8B-B14F-4D97-AF65-F5344CB8AC3E}">
        <p14:creationId xmlns:p14="http://schemas.microsoft.com/office/powerpoint/2010/main" val="10693664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368300"/>
                <a:ext cx="11087100" cy="6172200"/>
              </a:xfrm>
            </p:spPr>
            <p:txBody>
              <a:bodyPr>
                <a:normAutofit fontScale="25000" lnSpcReduction="20000"/>
              </a:bodyPr>
              <a:lstStyle/>
              <a:p>
                <a:pPr marL="0" indent="0">
                  <a:buNone/>
                </a:pPr>
                <a:r>
                  <a:rPr lang="en-PH" sz="17600" dirty="0">
                    <a:solidFill>
                      <a:srgbClr val="002060"/>
                    </a:solidFill>
                  </a:rPr>
                  <a:t>Examples:</a:t>
                </a:r>
              </a:p>
              <a:p>
                <a:pPr marL="0" indent="0">
                  <a:buNone/>
                </a:pPr>
                <a:r>
                  <a:rPr lang="en-PH" sz="17600" dirty="0">
                    <a:latin typeface="Cambria Math" panose="02040503050406030204" pitchFamily="18" charset="0"/>
                    <a:ea typeface="Cambria Math" panose="02040503050406030204" pitchFamily="18" charset="0"/>
                  </a:rPr>
                  <a:t>S </a:t>
                </a:r>
                <a:r>
                  <a:rPr lang="en-PH" sz="17600" dirty="0"/>
                  <a:t>= </a:t>
                </a:r>
                <a14:m>
                  <m:oMath xmlns:m="http://schemas.openxmlformats.org/officeDocument/2006/math">
                    <m:f>
                      <m:fPr>
                        <m:ctrlPr>
                          <a:rPr lang="en-PH" sz="17600" i="1">
                            <a:latin typeface="Cambria Math" panose="02040503050406030204" pitchFamily="18" charset="0"/>
                            <a:ea typeface="Cambria Math" panose="02040503050406030204" pitchFamily="18" charset="0"/>
                          </a:rPr>
                        </m:ctrlPr>
                      </m:fPr>
                      <m:num>
                        <m:r>
                          <m:rPr>
                            <m:nor/>
                          </m:rPr>
                          <a:rPr lang="en-PH" sz="17600">
                            <a:latin typeface="Cambria Math" panose="02040503050406030204" pitchFamily="18" charset="0"/>
                            <a:ea typeface="Cambria Math" panose="02040503050406030204" pitchFamily="18" charset="0"/>
                          </a:rPr>
                          <m:t>1</m:t>
                        </m:r>
                      </m:num>
                      <m:den>
                        <m:r>
                          <m:rPr>
                            <m:nor/>
                          </m:rPr>
                          <a:rPr lang="en-PH" sz="17600" dirty="0">
                            <a:latin typeface="Times New Roman" panose="02020603050405020304" pitchFamily="18" charset="0"/>
                            <a:cs typeface="Times New Roman" panose="02020603050405020304" pitchFamily="18" charset="0"/>
                          </a:rPr>
                          <m:t>I</m:t>
                        </m:r>
                        <m:r>
                          <m:rPr>
                            <m:nor/>
                          </m:rPr>
                          <a:rPr lang="en-PH" sz="17600" dirty="0"/>
                          <m:t>fs</m:t>
                        </m:r>
                      </m:den>
                    </m:f>
                  </m:oMath>
                </a14:m>
                <a:r>
                  <a:rPr lang="en-PH" sz="17600" dirty="0">
                    <a:latin typeface="Cambria Math" panose="02040503050406030204" pitchFamily="18" charset="0"/>
                    <a:ea typeface="Cambria Math" panose="02040503050406030204" pitchFamily="18" charset="0"/>
                  </a:rPr>
                  <a:t> = </a:t>
                </a:r>
                <a14:m>
                  <m:oMath xmlns:m="http://schemas.openxmlformats.org/officeDocument/2006/math">
                    <m:f>
                      <m:fPr>
                        <m:ctrlPr>
                          <a:rPr lang="en-PH" sz="17600" i="1">
                            <a:latin typeface="Cambria Math" panose="02040503050406030204" pitchFamily="18" charset="0"/>
                            <a:ea typeface="Cambria Math" panose="02040503050406030204" pitchFamily="18" charset="0"/>
                          </a:rPr>
                        </m:ctrlPr>
                      </m:fPr>
                      <m:num>
                        <m:r>
                          <m:rPr>
                            <m:nor/>
                          </m:rPr>
                          <a:rPr lang="en-PH" sz="17600">
                            <a:latin typeface="Cambria Math" panose="02040503050406030204" pitchFamily="18" charset="0"/>
                            <a:ea typeface="Cambria Math" panose="02040503050406030204" pitchFamily="18" charset="0"/>
                          </a:rPr>
                          <m:t>1</m:t>
                        </m:r>
                      </m:num>
                      <m:den>
                        <m:r>
                          <m:rPr>
                            <m:nor/>
                          </m:rPr>
                          <a:rPr lang="en-PH" sz="17600">
                            <a:latin typeface="Cambria Math" panose="02040503050406030204" pitchFamily="18" charset="0"/>
                            <a:ea typeface="Cambria Math" panose="02040503050406030204" pitchFamily="18" charset="0"/>
                          </a:rPr>
                          <m:t>50 </m:t>
                        </m:r>
                        <m:r>
                          <m:rPr>
                            <m:sty m:val="p"/>
                          </m:rPr>
                          <a:rPr lang="el-GR" sz="17600" i="1">
                            <a:latin typeface="Cambria Math" panose="02040503050406030204" pitchFamily="18" charset="0"/>
                            <a:ea typeface="Cambria Math" panose="02040503050406030204" pitchFamily="18" charset="0"/>
                          </a:rPr>
                          <m:t>μ</m:t>
                        </m:r>
                        <m:r>
                          <a:rPr lang="en-PH" sz="17600" i="1">
                            <a:latin typeface="Cambria Math" panose="02040503050406030204" pitchFamily="18" charset="0"/>
                            <a:ea typeface="Cambria Math" panose="02040503050406030204" pitchFamily="18" charset="0"/>
                          </a:rPr>
                          <m:t>𝐴</m:t>
                        </m:r>
                      </m:den>
                    </m:f>
                  </m:oMath>
                </a14:m>
                <a:endParaRPr lang="en-PH" sz="17600" dirty="0">
                  <a:latin typeface="Times New Roman" panose="02020603050405020304" pitchFamily="18" charset="0"/>
                  <a:cs typeface="Times New Roman" panose="02020603050405020304" pitchFamily="18" charset="0"/>
                </a:endParaRPr>
              </a:p>
              <a:p>
                <a:pPr marL="0" indent="0">
                  <a:buNone/>
                </a:pPr>
                <a:endParaRPr lang="en-PH" sz="17600" dirty="0">
                  <a:latin typeface="Cambria Math" panose="02040503050406030204" pitchFamily="18" charset="0"/>
                  <a:ea typeface="Cambria Math" panose="02040503050406030204" pitchFamily="18" charset="0"/>
                </a:endParaRPr>
              </a:p>
              <a:p>
                <a:pPr marL="0" indent="0">
                  <a:buNone/>
                </a:pPr>
                <a:r>
                  <a:rPr lang="en-PH" sz="17600" dirty="0"/>
                  <a:t>S = 20 k</a:t>
                </a:r>
                <a:r>
                  <a:rPr lang="el-GR" sz="17600" dirty="0"/>
                  <a:t>Ω</a:t>
                </a:r>
                <a:r>
                  <a:rPr lang="en-PH" sz="17600" dirty="0"/>
                  <a:t>/V</a:t>
                </a:r>
              </a:p>
              <a:p>
                <a:pPr marL="0" indent="0">
                  <a:buNone/>
                </a:pPr>
                <a:endParaRPr lang="en-PH" sz="17600" dirty="0"/>
              </a:p>
              <a:p>
                <a:pPr marL="0" indent="0">
                  <a:buNone/>
                </a:pPr>
                <a:r>
                  <a:rPr lang="en-PH" sz="17600" dirty="0"/>
                  <a:t>R</a:t>
                </a:r>
                <a:r>
                  <a:rPr lang="en-PH" sz="12800" dirty="0"/>
                  <a:t>s</a:t>
                </a:r>
                <a:r>
                  <a:rPr lang="en-PH" sz="11200" dirty="0"/>
                  <a:t>1</a:t>
                </a:r>
                <a:r>
                  <a:rPr lang="en-PH" sz="17600" dirty="0"/>
                  <a:t> = S x V</a:t>
                </a:r>
                <a:r>
                  <a:rPr lang="en-PH" sz="12800" dirty="0"/>
                  <a:t>1 </a:t>
                </a:r>
                <a:r>
                  <a:rPr lang="en-PH" sz="17600" dirty="0"/>
                  <a:t>– R</a:t>
                </a:r>
                <a:r>
                  <a:rPr lang="en-PH" sz="12800" dirty="0"/>
                  <a:t>m</a:t>
                </a:r>
              </a:p>
              <a:p>
                <a:pPr marL="0" indent="0">
                  <a:buNone/>
                </a:pPr>
                <a:r>
                  <a:rPr lang="en-PH" sz="17600" dirty="0"/>
                  <a:t>R</a:t>
                </a:r>
                <a:r>
                  <a:rPr lang="en-PH" sz="12800" dirty="0"/>
                  <a:t>s</a:t>
                </a:r>
                <a:r>
                  <a:rPr lang="en-PH" sz="11200" dirty="0"/>
                  <a:t>1</a:t>
                </a:r>
                <a:r>
                  <a:rPr lang="en-PH" sz="17600" dirty="0"/>
                  <a:t> = (20 k</a:t>
                </a:r>
                <a:r>
                  <a:rPr lang="el-GR" sz="17600" dirty="0"/>
                  <a:t>Ω</a:t>
                </a:r>
                <a:r>
                  <a:rPr lang="en-PH" sz="17600" dirty="0"/>
                  <a:t>/V)(3 V)</a:t>
                </a:r>
                <a:r>
                  <a:rPr lang="en-PH" sz="12800" dirty="0"/>
                  <a:t> </a:t>
                </a:r>
                <a:r>
                  <a:rPr lang="en-PH" sz="17600" dirty="0"/>
                  <a:t>– 1</a:t>
                </a:r>
                <a:r>
                  <a:rPr lang="en-PH" sz="12800" dirty="0"/>
                  <a:t> </a:t>
                </a:r>
                <a:r>
                  <a:rPr lang="en-PH" sz="17600" dirty="0"/>
                  <a:t>k</a:t>
                </a:r>
                <a:r>
                  <a:rPr lang="el-GR" sz="17600" dirty="0"/>
                  <a:t>Ω</a:t>
                </a:r>
                <a:r>
                  <a:rPr lang="en-PH" sz="17600" dirty="0"/>
                  <a:t> = 60 k</a:t>
                </a:r>
                <a:r>
                  <a:rPr lang="el-GR" sz="17600" dirty="0"/>
                  <a:t>Ω</a:t>
                </a:r>
                <a:r>
                  <a:rPr lang="en-PH" sz="17600" dirty="0"/>
                  <a:t> – 1</a:t>
                </a:r>
                <a:r>
                  <a:rPr lang="en-PH" sz="12800" dirty="0"/>
                  <a:t> </a:t>
                </a:r>
                <a:r>
                  <a:rPr lang="en-PH" sz="17600" dirty="0"/>
                  <a:t>k</a:t>
                </a:r>
                <a:r>
                  <a:rPr lang="el-GR" sz="17600" dirty="0"/>
                  <a:t>Ω</a:t>
                </a:r>
                <a:r>
                  <a:rPr lang="en-PH" sz="17600" dirty="0"/>
                  <a:t> </a:t>
                </a:r>
              </a:p>
              <a:p>
                <a:pPr marL="0" indent="0">
                  <a:buNone/>
                </a:pPr>
                <a:r>
                  <a:rPr lang="en-PH" sz="17600" dirty="0"/>
                  <a:t>R</a:t>
                </a:r>
                <a:r>
                  <a:rPr lang="en-PH" sz="12800" dirty="0"/>
                  <a:t>s</a:t>
                </a:r>
                <a:r>
                  <a:rPr lang="en-PH" sz="11200" dirty="0"/>
                  <a:t>1</a:t>
                </a:r>
                <a:r>
                  <a:rPr lang="en-PH" sz="17600" dirty="0"/>
                  <a:t> = 59 k</a:t>
                </a:r>
                <a:r>
                  <a:rPr lang="el-GR" sz="17600" dirty="0"/>
                  <a:t>Ω</a:t>
                </a:r>
                <a:endParaRPr lang="en-PH" sz="17600" dirty="0">
                  <a:solidFill>
                    <a:srgbClr val="00206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368300"/>
                <a:ext cx="11087100" cy="6172200"/>
              </a:xfrm>
              <a:blipFill rotWithShape="0">
                <a:blip r:embed="rId2"/>
                <a:stretch>
                  <a:fillRect l="-2255" t="-4738"/>
                </a:stretch>
              </a:blipFill>
            </p:spPr>
            <p:txBody>
              <a:bodyPr/>
              <a:lstStyle/>
              <a:p>
                <a:r>
                  <a:rPr lang="en-PH">
                    <a:noFill/>
                  </a:rPr>
                  <a:t> </a:t>
                </a:r>
              </a:p>
            </p:txBody>
          </p:sp>
        </mc:Fallback>
      </mc:AlternateContent>
      <p:pic>
        <p:nvPicPr>
          <p:cNvPr id="4" name="Picture 3"/>
          <p:cNvPicPr>
            <a:picLocks noChangeAspect="1"/>
          </p:cNvPicPr>
          <p:nvPr/>
        </p:nvPicPr>
        <p:blipFill>
          <a:blip r:embed="rId3"/>
          <a:stretch>
            <a:fillRect/>
          </a:stretch>
        </p:blipFill>
        <p:spPr>
          <a:xfrm>
            <a:off x="5934209" y="368300"/>
            <a:ext cx="5686291" cy="3743326"/>
          </a:xfrm>
          <a:prstGeom prst="rect">
            <a:avLst/>
          </a:prstGeom>
        </p:spPr>
      </p:pic>
      <p:sp>
        <p:nvSpPr>
          <p:cNvPr id="6" name="Rectangle 5"/>
          <p:cNvSpPr/>
          <p:nvPr/>
        </p:nvSpPr>
        <p:spPr>
          <a:xfrm>
            <a:off x="533400" y="2387600"/>
            <a:ext cx="2794000" cy="6604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p:cNvSpPr/>
          <p:nvPr/>
        </p:nvSpPr>
        <p:spPr>
          <a:xfrm>
            <a:off x="571500" y="4813300"/>
            <a:ext cx="2755900" cy="6477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18806341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dirty="0">
                <a:solidFill>
                  <a:srgbClr val="002060"/>
                </a:solidFill>
              </a:rPr>
              <a:t>Examples:</a:t>
            </a:r>
            <a:endParaRPr lang="en-PH" sz="4000" dirty="0">
              <a:solidFill>
                <a:srgbClr val="002060"/>
              </a:solidFill>
            </a:endParaRPr>
          </a:p>
          <a:p>
            <a:pPr marL="0" indent="0">
              <a:buNone/>
            </a:pPr>
            <a:r>
              <a:rPr lang="en-PH" sz="4400" dirty="0"/>
              <a:t>R</a:t>
            </a:r>
            <a:r>
              <a:rPr lang="en-PH" sz="3200" dirty="0"/>
              <a:t>s</a:t>
            </a:r>
            <a:r>
              <a:rPr lang="en-PH" sz="2400" dirty="0"/>
              <a:t>2</a:t>
            </a:r>
            <a:r>
              <a:rPr lang="en-PH" sz="4400" dirty="0"/>
              <a:t> = S x V</a:t>
            </a:r>
            <a:r>
              <a:rPr lang="en-PH" sz="3200" dirty="0"/>
              <a:t>2 </a:t>
            </a:r>
            <a:r>
              <a:rPr lang="en-PH" sz="4400" dirty="0"/>
              <a:t>– R</a:t>
            </a:r>
            <a:r>
              <a:rPr lang="en-PH" sz="3200" dirty="0"/>
              <a:t>m</a:t>
            </a:r>
          </a:p>
          <a:p>
            <a:pPr marL="0" indent="0">
              <a:buNone/>
            </a:pPr>
            <a:r>
              <a:rPr lang="en-PH" sz="4400" dirty="0"/>
              <a:t>R</a:t>
            </a:r>
            <a:r>
              <a:rPr lang="en-PH" sz="3200" dirty="0"/>
              <a:t>s</a:t>
            </a:r>
            <a:r>
              <a:rPr lang="en-PH" sz="2400" dirty="0"/>
              <a:t>2</a:t>
            </a:r>
            <a:r>
              <a:rPr lang="en-PH" sz="4400" dirty="0"/>
              <a:t> = </a:t>
            </a:r>
            <a:r>
              <a:rPr lang="en-PH" sz="4000" dirty="0"/>
              <a:t>(20 k</a:t>
            </a:r>
            <a:r>
              <a:rPr lang="el-GR" sz="4000" dirty="0"/>
              <a:t>Ω</a:t>
            </a:r>
            <a:r>
              <a:rPr lang="en-PH" sz="4000" dirty="0"/>
              <a:t>/V)(10 V) – 1 k</a:t>
            </a:r>
            <a:r>
              <a:rPr lang="el-GR" sz="4000" dirty="0"/>
              <a:t>Ω</a:t>
            </a:r>
            <a:r>
              <a:rPr lang="en-PH" sz="4000" dirty="0"/>
              <a:t> = 200 k</a:t>
            </a:r>
            <a:r>
              <a:rPr lang="el-GR" sz="4000" dirty="0"/>
              <a:t>Ω</a:t>
            </a:r>
            <a:r>
              <a:rPr lang="en-PH" sz="4000" dirty="0"/>
              <a:t> </a:t>
            </a:r>
            <a:r>
              <a:rPr lang="en-PH" sz="3600" dirty="0"/>
              <a:t>– 1 k</a:t>
            </a:r>
            <a:r>
              <a:rPr lang="el-GR" sz="3600" dirty="0"/>
              <a:t>Ω</a:t>
            </a:r>
            <a:r>
              <a:rPr lang="en-PH" sz="3600" dirty="0"/>
              <a:t> </a:t>
            </a:r>
            <a:endParaRPr lang="en-PH" sz="4000" dirty="0">
              <a:solidFill>
                <a:srgbClr val="002060"/>
              </a:solidFill>
            </a:endParaRPr>
          </a:p>
          <a:p>
            <a:pPr marL="0" indent="0">
              <a:buNone/>
            </a:pPr>
            <a:r>
              <a:rPr lang="en-PH" sz="4400" dirty="0"/>
              <a:t>R</a:t>
            </a:r>
            <a:r>
              <a:rPr lang="en-PH" sz="3200" dirty="0"/>
              <a:t>s</a:t>
            </a:r>
            <a:r>
              <a:rPr lang="en-PH" sz="2400" dirty="0"/>
              <a:t>2</a:t>
            </a:r>
            <a:r>
              <a:rPr lang="en-PH" sz="4400" dirty="0"/>
              <a:t> = 199 k</a:t>
            </a:r>
            <a:r>
              <a:rPr lang="el-GR" sz="4400" dirty="0"/>
              <a:t>Ω</a:t>
            </a:r>
            <a:endParaRPr lang="en-PH" sz="4400" dirty="0"/>
          </a:p>
          <a:p>
            <a:pPr marL="0" indent="0">
              <a:buNone/>
            </a:pPr>
            <a:endParaRPr lang="en-PH" sz="4400" dirty="0"/>
          </a:p>
          <a:p>
            <a:pPr marL="0" indent="0">
              <a:buNone/>
            </a:pPr>
            <a:r>
              <a:rPr lang="en-PH" sz="4400" dirty="0"/>
              <a:t>R</a:t>
            </a:r>
            <a:r>
              <a:rPr lang="en-PH" sz="3200" dirty="0"/>
              <a:t>s</a:t>
            </a:r>
            <a:r>
              <a:rPr lang="en-PH" sz="2400" dirty="0"/>
              <a:t>3</a:t>
            </a:r>
            <a:r>
              <a:rPr lang="en-PH" sz="4800" dirty="0"/>
              <a:t> = </a:t>
            </a:r>
            <a:r>
              <a:rPr lang="en-PH" sz="4400" dirty="0"/>
              <a:t>S x V</a:t>
            </a:r>
            <a:r>
              <a:rPr lang="en-PH" sz="3200" dirty="0"/>
              <a:t>3</a:t>
            </a:r>
            <a:r>
              <a:rPr lang="en-PH" sz="3600" dirty="0"/>
              <a:t> </a:t>
            </a:r>
            <a:r>
              <a:rPr lang="en-PH" sz="4800" dirty="0"/>
              <a:t>– </a:t>
            </a:r>
            <a:r>
              <a:rPr lang="en-PH" sz="4400" dirty="0"/>
              <a:t>R</a:t>
            </a:r>
            <a:r>
              <a:rPr lang="en-PH" sz="3200" dirty="0"/>
              <a:t>m</a:t>
            </a:r>
          </a:p>
          <a:p>
            <a:pPr marL="0" indent="0">
              <a:buNone/>
            </a:pPr>
            <a:r>
              <a:rPr lang="en-PH" sz="4400" dirty="0"/>
              <a:t>R</a:t>
            </a:r>
            <a:r>
              <a:rPr lang="en-PH" sz="3200" dirty="0"/>
              <a:t>s</a:t>
            </a:r>
            <a:r>
              <a:rPr lang="en-PH" sz="2400" dirty="0"/>
              <a:t>3</a:t>
            </a:r>
            <a:r>
              <a:rPr lang="en-PH" sz="4400" dirty="0"/>
              <a:t> = (20 k</a:t>
            </a:r>
            <a:r>
              <a:rPr lang="el-GR" sz="4400" dirty="0"/>
              <a:t>Ω</a:t>
            </a:r>
            <a:r>
              <a:rPr lang="en-PH" sz="4400" dirty="0"/>
              <a:t>/V)(30 V) – 1 k</a:t>
            </a:r>
            <a:r>
              <a:rPr lang="el-GR" sz="4400" dirty="0"/>
              <a:t>Ω</a:t>
            </a:r>
            <a:r>
              <a:rPr lang="en-PH" sz="4400" dirty="0"/>
              <a:t> = 600 k</a:t>
            </a:r>
            <a:r>
              <a:rPr lang="el-GR" sz="4400" dirty="0"/>
              <a:t>Ω</a:t>
            </a:r>
            <a:r>
              <a:rPr lang="en-PH" sz="4400" dirty="0"/>
              <a:t> – 1 k</a:t>
            </a:r>
            <a:r>
              <a:rPr lang="el-GR" sz="4400" dirty="0"/>
              <a:t>Ω</a:t>
            </a:r>
            <a:r>
              <a:rPr lang="en-PH" sz="4400" dirty="0"/>
              <a:t> </a:t>
            </a:r>
            <a:endParaRPr lang="en-PH" sz="3600" dirty="0">
              <a:solidFill>
                <a:srgbClr val="002060"/>
              </a:solidFill>
            </a:endParaRPr>
          </a:p>
          <a:p>
            <a:pPr marL="0" indent="0">
              <a:buNone/>
            </a:pPr>
            <a:r>
              <a:rPr lang="en-PH" sz="4400" dirty="0"/>
              <a:t>R</a:t>
            </a:r>
            <a:r>
              <a:rPr lang="en-PH" sz="3200" dirty="0"/>
              <a:t>s</a:t>
            </a:r>
            <a:r>
              <a:rPr lang="en-PH" sz="2400" dirty="0"/>
              <a:t>3</a:t>
            </a:r>
            <a:r>
              <a:rPr lang="en-PH" sz="4400" dirty="0"/>
              <a:t> = 599 k</a:t>
            </a:r>
            <a:r>
              <a:rPr lang="el-GR" sz="4400" dirty="0"/>
              <a:t>Ω </a:t>
            </a:r>
            <a:r>
              <a:rPr lang="el-GR" sz="3600" dirty="0"/>
              <a:t> </a:t>
            </a:r>
            <a:endParaRPr lang="en-PH" sz="3600" dirty="0"/>
          </a:p>
        </p:txBody>
      </p:sp>
      <p:sp>
        <p:nvSpPr>
          <p:cNvPr id="7" name="Rectangle 6"/>
          <p:cNvSpPr/>
          <p:nvPr/>
        </p:nvSpPr>
        <p:spPr>
          <a:xfrm>
            <a:off x="533400" y="2647950"/>
            <a:ext cx="2895600" cy="5461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Rectangle 7"/>
          <p:cNvSpPr/>
          <p:nvPr/>
        </p:nvSpPr>
        <p:spPr>
          <a:xfrm>
            <a:off x="533400" y="5588000"/>
            <a:ext cx="2895600" cy="5461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41731733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368300"/>
                <a:ext cx="11087100" cy="6172200"/>
              </a:xfrm>
            </p:spPr>
            <p:txBody>
              <a:bodyPr>
                <a:normAutofit fontScale="25000" lnSpcReduction="20000"/>
              </a:bodyPr>
              <a:lstStyle/>
              <a:p>
                <a:pPr marL="0" indent="0">
                  <a:buNone/>
                </a:pPr>
                <a:r>
                  <a:rPr lang="en-PH" sz="17600" dirty="0">
                    <a:solidFill>
                      <a:srgbClr val="002060"/>
                    </a:solidFill>
                  </a:rPr>
                  <a:t>Examples:</a:t>
                </a:r>
              </a:p>
              <a:p>
                <a:pPr marL="0" indent="0">
                  <a:buNone/>
                </a:pPr>
                <a:r>
                  <a:rPr lang="en-PH" sz="17600" dirty="0">
                    <a:latin typeface="Cambria Math" panose="02040503050406030204" pitchFamily="18" charset="0"/>
                    <a:ea typeface="Cambria Math" panose="02040503050406030204" pitchFamily="18" charset="0"/>
                  </a:rPr>
                  <a:t>S </a:t>
                </a:r>
                <a:r>
                  <a:rPr lang="en-PH" sz="17600" dirty="0"/>
                  <a:t>= </a:t>
                </a:r>
                <a14:m>
                  <m:oMath xmlns:m="http://schemas.openxmlformats.org/officeDocument/2006/math">
                    <m:f>
                      <m:fPr>
                        <m:ctrlPr>
                          <a:rPr lang="en-PH" sz="17600" i="1">
                            <a:latin typeface="Cambria Math" panose="02040503050406030204" pitchFamily="18" charset="0"/>
                            <a:ea typeface="Cambria Math" panose="02040503050406030204" pitchFamily="18" charset="0"/>
                          </a:rPr>
                        </m:ctrlPr>
                      </m:fPr>
                      <m:num>
                        <m:r>
                          <m:rPr>
                            <m:nor/>
                          </m:rPr>
                          <a:rPr lang="en-PH" sz="17600">
                            <a:latin typeface="Cambria Math" panose="02040503050406030204" pitchFamily="18" charset="0"/>
                            <a:ea typeface="Cambria Math" panose="02040503050406030204" pitchFamily="18" charset="0"/>
                          </a:rPr>
                          <m:t>1</m:t>
                        </m:r>
                      </m:num>
                      <m:den>
                        <m:r>
                          <m:rPr>
                            <m:nor/>
                          </m:rPr>
                          <a:rPr lang="en-PH" sz="17600" dirty="0">
                            <a:latin typeface="Times New Roman" panose="02020603050405020304" pitchFamily="18" charset="0"/>
                            <a:cs typeface="Times New Roman" panose="02020603050405020304" pitchFamily="18" charset="0"/>
                          </a:rPr>
                          <m:t>I</m:t>
                        </m:r>
                        <m:r>
                          <m:rPr>
                            <m:nor/>
                          </m:rPr>
                          <a:rPr lang="en-PH" sz="17600" dirty="0"/>
                          <m:t>fs</m:t>
                        </m:r>
                      </m:den>
                    </m:f>
                  </m:oMath>
                </a14:m>
                <a:r>
                  <a:rPr lang="en-PH" sz="17600" dirty="0">
                    <a:latin typeface="Cambria Math" panose="02040503050406030204" pitchFamily="18" charset="0"/>
                    <a:ea typeface="Cambria Math" panose="02040503050406030204" pitchFamily="18" charset="0"/>
                  </a:rPr>
                  <a:t> = </a:t>
                </a:r>
                <a14:m>
                  <m:oMath xmlns:m="http://schemas.openxmlformats.org/officeDocument/2006/math">
                    <m:f>
                      <m:fPr>
                        <m:ctrlPr>
                          <a:rPr lang="en-PH" sz="17600" i="1">
                            <a:latin typeface="Cambria Math" panose="02040503050406030204" pitchFamily="18" charset="0"/>
                            <a:ea typeface="Cambria Math" panose="02040503050406030204" pitchFamily="18" charset="0"/>
                          </a:rPr>
                        </m:ctrlPr>
                      </m:fPr>
                      <m:num>
                        <m:r>
                          <m:rPr>
                            <m:nor/>
                          </m:rPr>
                          <a:rPr lang="en-PH" sz="17600">
                            <a:latin typeface="Cambria Math" panose="02040503050406030204" pitchFamily="18" charset="0"/>
                            <a:ea typeface="Cambria Math" panose="02040503050406030204" pitchFamily="18" charset="0"/>
                          </a:rPr>
                          <m:t>1</m:t>
                        </m:r>
                      </m:num>
                      <m:den>
                        <m:r>
                          <m:rPr>
                            <m:nor/>
                          </m:rPr>
                          <a:rPr lang="en-PH" sz="17600">
                            <a:latin typeface="Cambria Math" panose="02040503050406030204" pitchFamily="18" charset="0"/>
                            <a:ea typeface="Cambria Math" panose="02040503050406030204" pitchFamily="18" charset="0"/>
                          </a:rPr>
                          <m:t>50 </m:t>
                        </m:r>
                        <m:r>
                          <m:rPr>
                            <m:sty m:val="p"/>
                          </m:rPr>
                          <a:rPr lang="el-GR" sz="17600" i="1">
                            <a:latin typeface="Cambria Math" panose="02040503050406030204" pitchFamily="18" charset="0"/>
                            <a:ea typeface="Cambria Math" panose="02040503050406030204" pitchFamily="18" charset="0"/>
                          </a:rPr>
                          <m:t>μ</m:t>
                        </m:r>
                        <m:r>
                          <a:rPr lang="en-PH" sz="17600" i="1">
                            <a:latin typeface="Cambria Math" panose="02040503050406030204" pitchFamily="18" charset="0"/>
                            <a:ea typeface="Cambria Math" panose="02040503050406030204" pitchFamily="18" charset="0"/>
                          </a:rPr>
                          <m:t>𝐴</m:t>
                        </m:r>
                      </m:den>
                    </m:f>
                  </m:oMath>
                </a14:m>
                <a:endParaRPr lang="en-PH" sz="17600" dirty="0">
                  <a:latin typeface="Times New Roman" panose="02020603050405020304" pitchFamily="18" charset="0"/>
                  <a:cs typeface="Times New Roman" panose="02020603050405020304" pitchFamily="18" charset="0"/>
                </a:endParaRPr>
              </a:p>
              <a:p>
                <a:pPr marL="0" indent="0">
                  <a:buNone/>
                </a:pPr>
                <a:endParaRPr lang="en-PH" sz="17600" dirty="0">
                  <a:latin typeface="Cambria Math" panose="02040503050406030204" pitchFamily="18" charset="0"/>
                  <a:ea typeface="Cambria Math" panose="02040503050406030204" pitchFamily="18" charset="0"/>
                </a:endParaRPr>
              </a:p>
              <a:p>
                <a:pPr marL="0" indent="0">
                  <a:buNone/>
                </a:pPr>
                <a:r>
                  <a:rPr lang="en-PH" sz="17600" dirty="0"/>
                  <a:t>S = 20 k</a:t>
                </a:r>
                <a:r>
                  <a:rPr lang="el-GR" sz="17600" dirty="0"/>
                  <a:t>Ω</a:t>
                </a:r>
                <a:r>
                  <a:rPr lang="en-PH" sz="17600" dirty="0"/>
                  <a:t>/V</a:t>
                </a:r>
              </a:p>
              <a:p>
                <a:pPr marL="0" indent="0">
                  <a:buNone/>
                </a:pPr>
                <a:endParaRPr lang="en-PH" sz="17600" dirty="0"/>
              </a:p>
              <a:p>
                <a:pPr marL="0" indent="0">
                  <a:buNone/>
                </a:pPr>
                <a:r>
                  <a:rPr lang="en-PH" sz="17600" dirty="0"/>
                  <a:t>R</a:t>
                </a:r>
                <a:r>
                  <a:rPr lang="en-PH" sz="12800" dirty="0"/>
                  <a:t>s</a:t>
                </a:r>
                <a:r>
                  <a:rPr lang="en-PH" sz="11200" dirty="0"/>
                  <a:t>1</a:t>
                </a:r>
                <a:r>
                  <a:rPr lang="en-PH" sz="17600" dirty="0"/>
                  <a:t> = S x V</a:t>
                </a:r>
                <a:r>
                  <a:rPr lang="en-PH" sz="12800" dirty="0"/>
                  <a:t>1 </a:t>
                </a:r>
                <a:r>
                  <a:rPr lang="en-PH" sz="17600" dirty="0"/>
                  <a:t>– R</a:t>
                </a:r>
                <a:r>
                  <a:rPr lang="en-PH" sz="12800" dirty="0"/>
                  <a:t>m</a:t>
                </a:r>
              </a:p>
              <a:p>
                <a:pPr marL="0" indent="0">
                  <a:buNone/>
                </a:pPr>
                <a:r>
                  <a:rPr lang="en-PH" sz="17600" dirty="0"/>
                  <a:t>R</a:t>
                </a:r>
                <a:r>
                  <a:rPr lang="en-PH" sz="12800" dirty="0"/>
                  <a:t>s</a:t>
                </a:r>
                <a:r>
                  <a:rPr lang="en-PH" sz="11200" dirty="0"/>
                  <a:t>1</a:t>
                </a:r>
                <a:r>
                  <a:rPr lang="en-PH" sz="17600" dirty="0"/>
                  <a:t> = (20 k</a:t>
                </a:r>
                <a:r>
                  <a:rPr lang="el-GR" sz="17600" dirty="0"/>
                  <a:t>Ω</a:t>
                </a:r>
                <a:r>
                  <a:rPr lang="en-PH" sz="17600" dirty="0"/>
                  <a:t>/V)(3 V)</a:t>
                </a:r>
                <a:r>
                  <a:rPr lang="en-PH" sz="12800" dirty="0"/>
                  <a:t> </a:t>
                </a:r>
                <a:r>
                  <a:rPr lang="en-PH" sz="17600" dirty="0"/>
                  <a:t>– 1</a:t>
                </a:r>
                <a:r>
                  <a:rPr lang="en-PH" sz="12800" dirty="0"/>
                  <a:t> </a:t>
                </a:r>
                <a:r>
                  <a:rPr lang="en-PH" sz="17600" dirty="0"/>
                  <a:t>k</a:t>
                </a:r>
                <a:r>
                  <a:rPr lang="el-GR" sz="17600" dirty="0"/>
                  <a:t>Ω</a:t>
                </a:r>
                <a:r>
                  <a:rPr lang="en-PH" sz="17600" dirty="0"/>
                  <a:t> = 60 k</a:t>
                </a:r>
                <a:r>
                  <a:rPr lang="el-GR" sz="17600" dirty="0"/>
                  <a:t>Ω</a:t>
                </a:r>
                <a:r>
                  <a:rPr lang="en-PH" sz="17600" dirty="0"/>
                  <a:t> – 1</a:t>
                </a:r>
                <a:r>
                  <a:rPr lang="en-PH" sz="12800" dirty="0"/>
                  <a:t> </a:t>
                </a:r>
                <a:r>
                  <a:rPr lang="en-PH" sz="17600" dirty="0"/>
                  <a:t>k</a:t>
                </a:r>
                <a:r>
                  <a:rPr lang="el-GR" sz="17600" dirty="0"/>
                  <a:t>Ω</a:t>
                </a:r>
                <a:r>
                  <a:rPr lang="en-PH" sz="17600" dirty="0"/>
                  <a:t> </a:t>
                </a:r>
              </a:p>
              <a:p>
                <a:pPr marL="0" indent="0">
                  <a:buNone/>
                </a:pPr>
                <a:r>
                  <a:rPr lang="en-PH" sz="17600" dirty="0"/>
                  <a:t>R</a:t>
                </a:r>
                <a:r>
                  <a:rPr lang="en-PH" sz="12800" dirty="0"/>
                  <a:t>s</a:t>
                </a:r>
                <a:r>
                  <a:rPr lang="en-PH" sz="11200" dirty="0"/>
                  <a:t>1</a:t>
                </a:r>
                <a:r>
                  <a:rPr lang="en-PH" sz="17600" dirty="0"/>
                  <a:t> = 59 k</a:t>
                </a:r>
                <a:r>
                  <a:rPr lang="el-GR" sz="17600" dirty="0"/>
                  <a:t>Ω</a:t>
                </a:r>
                <a:endParaRPr lang="en-PH" sz="17600" dirty="0">
                  <a:solidFill>
                    <a:srgbClr val="00206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368300"/>
                <a:ext cx="11087100" cy="6172200"/>
              </a:xfrm>
              <a:blipFill rotWithShape="0">
                <a:blip r:embed="rId2"/>
                <a:stretch>
                  <a:fillRect l="-2255" t="-4738"/>
                </a:stretch>
              </a:blipFill>
            </p:spPr>
            <p:txBody>
              <a:bodyPr/>
              <a:lstStyle/>
              <a:p>
                <a:r>
                  <a:rPr lang="en-PH">
                    <a:noFill/>
                  </a:rPr>
                  <a:t> </a:t>
                </a:r>
              </a:p>
            </p:txBody>
          </p:sp>
        </mc:Fallback>
      </mc:AlternateContent>
      <p:sp>
        <p:nvSpPr>
          <p:cNvPr id="6" name="Rectangle 5"/>
          <p:cNvSpPr/>
          <p:nvPr/>
        </p:nvSpPr>
        <p:spPr>
          <a:xfrm>
            <a:off x="533400" y="2387600"/>
            <a:ext cx="2794000" cy="6604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p:cNvSpPr/>
          <p:nvPr/>
        </p:nvSpPr>
        <p:spPr>
          <a:xfrm>
            <a:off x="571500" y="4813300"/>
            <a:ext cx="2755900" cy="6477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5" name="Picture 4"/>
          <p:cNvPicPr>
            <a:picLocks noChangeAspect="1"/>
          </p:cNvPicPr>
          <p:nvPr/>
        </p:nvPicPr>
        <p:blipFill>
          <a:blip r:embed="rId3"/>
          <a:stretch>
            <a:fillRect/>
          </a:stretch>
        </p:blipFill>
        <p:spPr>
          <a:xfrm>
            <a:off x="4926012" y="329754"/>
            <a:ext cx="6199188" cy="3480246"/>
          </a:xfrm>
          <a:prstGeom prst="rect">
            <a:avLst/>
          </a:prstGeom>
        </p:spPr>
      </p:pic>
    </p:spTree>
    <p:extLst>
      <p:ext uri="{BB962C8B-B14F-4D97-AF65-F5344CB8AC3E}">
        <p14:creationId xmlns:p14="http://schemas.microsoft.com/office/powerpoint/2010/main" val="26886648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rmAutofit fontScale="92500" lnSpcReduction="20000"/>
          </a:bodyPr>
          <a:lstStyle/>
          <a:p>
            <a:pPr marL="0" indent="0">
              <a:buNone/>
            </a:pPr>
            <a:r>
              <a:rPr lang="en-PH" sz="4400" dirty="0">
                <a:solidFill>
                  <a:srgbClr val="002060"/>
                </a:solidFill>
              </a:rPr>
              <a:t>Examples:</a:t>
            </a:r>
            <a:endParaRPr lang="en-PH" sz="4000" dirty="0">
              <a:solidFill>
                <a:srgbClr val="002060"/>
              </a:solidFill>
            </a:endParaRPr>
          </a:p>
          <a:p>
            <a:pPr marL="0" indent="0">
              <a:buNone/>
            </a:pPr>
            <a:r>
              <a:rPr lang="en-PH" sz="4400" dirty="0"/>
              <a:t>R</a:t>
            </a:r>
            <a:r>
              <a:rPr lang="en-PH" sz="3200" dirty="0"/>
              <a:t>s</a:t>
            </a:r>
            <a:r>
              <a:rPr lang="en-PH" sz="2400" dirty="0"/>
              <a:t>2</a:t>
            </a:r>
            <a:r>
              <a:rPr lang="en-PH" sz="4400" dirty="0"/>
              <a:t> = S x V</a:t>
            </a:r>
            <a:r>
              <a:rPr lang="en-PH" sz="3200" dirty="0"/>
              <a:t>2 </a:t>
            </a:r>
            <a:r>
              <a:rPr lang="en-PH" sz="4400" dirty="0"/>
              <a:t>– (R</a:t>
            </a:r>
            <a:r>
              <a:rPr lang="en-PH" sz="3200" dirty="0"/>
              <a:t>s</a:t>
            </a:r>
            <a:r>
              <a:rPr lang="en-PH" sz="2600" dirty="0"/>
              <a:t>1</a:t>
            </a:r>
            <a:r>
              <a:rPr lang="en-PH" sz="4400" dirty="0"/>
              <a:t> + R</a:t>
            </a:r>
            <a:r>
              <a:rPr lang="en-PH" sz="3200" dirty="0"/>
              <a:t>m</a:t>
            </a:r>
            <a:r>
              <a:rPr lang="en-PH" sz="4400" dirty="0"/>
              <a:t>)</a:t>
            </a:r>
            <a:endParaRPr lang="en-PH" sz="3200" dirty="0"/>
          </a:p>
          <a:p>
            <a:pPr marL="0" indent="0">
              <a:buNone/>
            </a:pPr>
            <a:r>
              <a:rPr lang="en-PH" sz="4400" dirty="0"/>
              <a:t>R</a:t>
            </a:r>
            <a:r>
              <a:rPr lang="en-PH" sz="3200" dirty="0"/>
              <a:t>s</a:t>
            </a:r>
            <a:r>
              <a:rPr lang="en-PH" sz="2400" dirty="0"/>
              <a:t>2</a:t>
            </a:r>
            <a:r>
              <a:rPr lang="en-PH" sz="4400" dirty="0"/>
              <a:t> = </a:t>
            </a:r>
            <a:r>
              <a:rPr lang="en-PH" sz="4000" dirty="0"/>
              <a:t>(20 k</a:t>
            </a:r>
            <a:r>
              <a:rPr lang="el-GR" sz="4000" dirty="0"/>
              <a:t>Ω</a:t>
            </a:r>
            <a:r>
              <a:rPr lang="en-PH" sz="4000" dirty="0"/>
              <a:t>/V)(10 V) – (59 k</a:t>
            </a:r>
            <a:r>
              <a:rPr lang="el-GR" sz="4000" dirty="0"/>
              <a:t>Ω</a:t>
            </a:r>
            <a:r>
              <a:rPr lang="en-PH" sz="4000" dirty="0"/>
              <a:t> + 1 k</a:t>
            </a:r>
            <a:r>
              <a:rPr lang="el-GR" sz="4000" dirty="0"/>
              <a:t>Ω</a:t>
            </a:r>
            <a:r>
              <a:rPr lang="en-PH" sz="4000" dirty="0"/>
              <a:t>)</a:t>
            </a:r>
          </a:p>
          <a:p>
            <a:pPr marL="0" indent="0">
              <a:buNone/>
            </a:pPr>
            <a:r>
              <a:rPr lang="en-PH" sz="4400" dirty="0"/>
              <a:t>R</a:t>
            </a:r>
            <a:r>
              <a:rPr lang="en-PH" sz="3500" dirty="0"/>
              <a:t>s</a:t>
            </a:r>
            <a:r>
              <a:rPr lang="en-PH" sz="3000" dirty="0"/>
              <a:t>2</a:t>
            </a:r>
            <a:r>
              <a:rPr lang="en-PH" sz="4000" dirty="0"/>
              <a:t> = 200 k</a:t>
            </a:r>
            <a:r>
              <a:rPr lang="el-GR" sz="4000" dirty="0"/>
              <a:t>Ω</a:t>
            </a:r>
            <a:r>
              <a:rPr lang="en-PH" sz="4000" dirty="0"/>
              <a:t> </a:t>
            </a:r>
            <a:r>
              <a:rPr lang="en-PH" sz="3600" dirty="0"/>
              <a:t>– </a:t>
            </a:r>
            <a:r>
              <a:rPr lang="en-PH" sz="4000" dirty="0"/>
              <a:t>60 k</a:t>
            </a:r>
            <a:r>
              <a:rPr lang="el-GR" sz="4000" dirty="0"/>
              <a:t>Ω</a:t>
            </a:r>
            <a:r>
              <a:rPr lang="en-PH" sz="4000" dirty="0"/>
              <a:t> </a:t>
            </a:r>
          </a:p>
          <a:p>
            <a:pPr marL="0" indent="0">
              <a:buNone/>
            </a:pPr>
            <a:r>
              <a:rPr lang="en-PH" sz="4400" dirty="0"/>
              <a:t>R</a:t>
            </a:r>
            <a:r>
              <a:rPr lang="en-PH" sz="3200" dirty="0"/>
              <a:t>s</a:t>
            </a:r>
            <a:r>
              <a:rPr lang="en-PH" sz="2400" dirty="0"/>
              <a:t>2</a:t>
            </a:r>
            <a:r>
              <a:rPr lang="en-PH" sz="4400" dirty="0"/>
              <a:t> = 140 k</a:t>
            </a:r>
            <a:r>
              <a:rPr lang="el-GR" sz="4400" dirty="0"/>
              <a:t>Ω</a:t>
            </a:r>
            <a:endParaRPr lang="en-PH" sz="4400" dirty="0"/>
          </a:p>
          <a:p>
            <a:pPr marL="0" indent="0">
              <a:buNone/>
            </a:pPr>
            <a:endParaRPr lang="en-PH" sz="4400" dirty="0"/>
          </a:p>
          <a:p>
            <a:pPr marL="0" indent="0">
              <a:buNone/>
            </a:pPr>
            <a:r>
              <a:rPr lang="en-PH" sz="4400" dirty="0"/>
              <a:t>R</a:t>
            </a:r>
            <a:r>
              <a:rPr lang="en-PH" sz="3200" dirty="0"/>
              <a:t>s</a:t>
            </a:r>
            <a:r>
              <a:rPr lang="en-PH" sz="2400" dirty="0"/>
              <a:t>3</a:t>
            </a:r>
            <a:r>
              <a:rPr lang="en-PH" sz="4800" dirty="0"/>
              <a:t> = </a:t>
            </a:r>
            <a:r>
              <a:rPr lang="en-PH" sz="4400" dirty="0"/>
              <a:t>S x V</a:t>
            </a:r>
            <a:r>
              <a:rPr lang="en-PH" sz="3200" dirty="0"/>
              <a:t>3</a:t>
            </a:r>
            <a:r>
              <a:rPr lang="en-PH" sz="3600" dirty="0"/>
              <a:t> </a:t>
            </a:r>
            <a:r>
              <a:rPr lang="en-PH" sz="4800" dirty="0"/>
              <a:t>– </a:t>
            </a:r>
            <a:r>
              <a:rPr lang="en-PH" sz="4400" dirty="0"/>
              <a:t>(R</a:t>
            </a:r>
            <a:r>
              <a:rPr lang="en-PH" sz="3200" dirty="0"/>
              <a:t>s</a:t>
            </a:r>
            <a:r>
              <a:rPr lang="en-PH" sz="2600" dirty="0"/>
              <a:t>1</a:t>
            </a:r>
            <a:r>
              <a:rPr lang="en-PH" sz="4400" dirty="0"/>
              <a:t> + R</a:t>
            </a:r>
            <a:r>
              <a:rPr lang="en-PH" sz="3200" dirty="0"/>
              <a:t>s</a:t>
            </a:r>
            <a:r>
              <a:rPr lang="en-PH" sz="2600" dirty="0"/>
              <a:t>2 </a:t>
            </a:r>
            <a:r>
              <a:rPr lang="en-PH" sz="4400" dirty="0"/>
              <a:t>+ R</a:t>
            </a:r>
            <a:r>
              <a:rPr lang="en-PH" sz="3200" dirty="0"/>
              <a:t>m</a:t>
            </a:r>
            <a:r>
              <a:rPr lang="en-PH" sz="4400" dirty="0"/>
              <a:t>)</a:t>
            </a:r>
            <a:endParaRPr lang="en-PH" sz="3200" dirty="0"/>
          </a:p>
          <a:p>
            <a:pPr marL="0" indent="0">
              <a:buNone/>
            </a:pPr>
            <a:r>
              <a:rPr lang="en-PH" sz="4400" dirty="0"/>
              <a:t>R</a:t>
            </a:r>
            <a:r>
              <a:rPr lang="en-PH" sz="3200" dirty="0"/>
              <a:t>s</a:t>
            </a:r>
            <a:r>
              <a:rPr lang="en-PH" sz="2400" dirty="0"/>
              <a:t>3</a:t>
            </a:r>
            <a:r>
              <a:rPr lang="en-PH" sz="4400" dirty="0"/>
              <a:t> = (20 k</a:t>
            </a:r>
            <a:r>
              <a:rPr lang="el-GR" sz="4400" dirty="0"/>
              <a:t>Ω</a:t>
            </a:r>
            <a:r>
              <a:rPr lang="en-PH" sz="4400" dirty="0"/>
              <a:t>/V)(30 V) – (59 k</a:t>
            </a:r>
            <a:r>
              <a:rPr lang="el-GR" sz="4400" dirty="0"/>
              <a:t>Ω</a:t>
            </a:r>
            <a:r>
              <a:rPr lang="en-PH" sz="4400" dirty="0"/>
              <a:t> + 140 k</a:t>
            </a:r>
            <a:r>
              <a:rPr lang="el-GR" sz="4400" dirty="0"/>
              <a:t>Ω</a:t>
            </a:r>
            <a:r>
              <a:rPr lang="en-PH" sz="4400" dirty="0"/>
              <a:t> + 1 k</a:t>
            </a:r>
            <a:r>
              <a:rPr lang="el-GR" sz="4400" dirty="0"/>
              <a:t>Ω</a:t>
            </a:r>
            <a:r>
              <a:rPr lang="en-PH" sz="4400" dirty="0"/>
              <a:t>)</a:t>
            </a:r>
          </a:p>
          <a:p>
            <a:pPr marL="0" indent="0">
              <a:buNone/>
            </a:pPr>
            <a:r>
              <a:rPr lang="en-PH" sz="4300" dirty="0"/>
              <a:t>R</a:t>
            </a:r>
            <a:r>
              <a:rPr lang="en-PH" sz="3500" dirty="0"/>
              <a:t>s</a:t>
            </a:r>
            <a:r>
              <a:rPr lang="en-PH" sz="2600" dirty="0"/>
              <a:t>3</a:t>
            </a:r>
            <a:r>
              <a:rPr lang="en-PH" sz="4400" dirty="0"/>
              <a:t> = 600 k</a:t>
            </a:r>
            <a:r>
              <a:rPr lang="el-GR" sz="4400" dirty="0"/>
              <a:t>Ω</a:t>
            </a:r>
            <a:r>
              <a:rPr lang="en-PH" sz="4400" dirty="0"/>
              <a:t> – 200 k</a:t>
            </a:r>
            <a:r>
              <a:rPr lang="el-GR" sz="4400" dirty="0"/>
              <a:t>Ω</a:t>
            </a:r>
            <a:r>
              <a:rPr lang="en-PH" sz="4400" dirty="0"/>
              <a:t> </a:t>
            </a:r>
            <a:endParaRPr lang="en-PH" sz="3600" dirty="0">
              <a:solidFill>
                <a:srgbClr val="002060"/>
              </a:solidFill>
            </a:endParaRPr>
          </a:p>
          <a:p>
            <a:pPr marL="0" indent="0">
              <a:buNone/>
            </a:pPr>
            <a:r>
              <a:rPr lang="en-PH" sz="4400" dirty="0"/>
              <a:t>R</a:t>
            </a:r>
            <a:r>
              <a:rPr lang="en-PH" sz="3200" dirty="0"/>
              <a:t>s</a:t>
            </a:r>
            <a:r>
              <a:rPr lang="en-PH" sz="2400" dirty="0"/>
              <a:t>3</a:t>
            </a:r>
            <a:r>
              <a:rPr lang="en-PH" sz="4400" dirty="0"/>
              <a:t> = 400 k</a:t>
            </a:r>
            <a:r>
              <a:rPr lang="el-GR" sz="4400" dirty="0"/>
              <a:t>Ω </a:t>
            </a:r>
            <a:r>
              <a:rPr lang="el-GR" sz="3600" dirty="0"/>
              <a:t> </a:t>
            </a:r>
            <a:endParaRPr lang="en-PH" sz="3600" dirty="0"/>
          </a:p>
        </p:txBody>
      </p:sp>
      <p:sp>
        <p:nvSpPr>
          <p:cNvPr id="7" name="Rectangle 6"/>
          <p:cNvSpPr/>
          <p:nvPr/>
        </p:nvSpPr>
        <p:spPr>
          <a:xfrm>
            <a:off x="533400" y="2584450"/>
            <a:ext cx="2895600" cy="5461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Rectangle 7"/>
          <p:cNvSpPr/>
          <p:nvPr/>
        </p:nvSpPr>
        <p:spPr>
          <a:xfrm>
            <a:off x="533400" y="5448300"/>
            <a:ext cx="2895600" cy="5461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31137828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dirty="0">
                <a:solidFill>
                  <a:srgbClr val="002060"/>
                </a:solidFill>
              </a:rPr>
              <a:t>OHMMETER</a:t>
            </a:r>
          </a:p>
          <a:p>
            <a:pPr marL="0" indent="0">
              <a:buNone/>
            </a:pPr>
            <a:r>
              <a:rPr lang="en-PH" sz="4400" dirty="0"/>
              <a:t>	The instrument, which is used to measure the value of resistance between any two points in an electric circuit is called ohmmeter. It can also be used to find the value of an unknown resistor.</a:t>
            </a:r>
          </a:p>
          <a:p>
            <a:pPr marL="0" indent="0">
              <a:buNone/>
            </a:pPr>
            <a:r>
              <a:rPr lang="en-PH" sz="4400" dirty="0">
                <a:solidFill>
                  <a:srgbClr val="002060"/>
                </a:solidFill>
              </a:rPr>
              <a:t>	</a:t>
            </a:r>
            <a:r>
              <a:rPr lang="en-PH" sz="4400" dirty="0"/>
              <a:t>Errors in Ohmmeter reading is usually due to battery voltage decay (battery aging).</a:t>
            </a:r>
          </a:p>
        </p:txBody>
      </p:sp>
    </p:spTree>
    <p:extLst>
      <p:ext uri="{BB962C8B-B14F-4D97-AF65-F5344CB8AC3E}">
        <p14:creationId xmlns:p14="http://schemas.microsoft.com/office/powerpoint/2010/main" val="5169233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dirty="0"/>
                  <a:t>Ohmmeter</a:t>
                </a:r>
              </a:p>
              <a:p>
                <a:pPr marL="0" indent="0">
                  <a:buNone/>
                </a:pPr>
                <a:r>
                  <a:rPr lang="en-PH" sz="4400" dirty="0"/>
                  <a:t>Shorted:</a:t>
                </a:r>
              </a:p>
              <a:p>
                <a:pPr marL="0" indent="0">
                  <a:buNone/>
                </a:pPr>
                <a14:m>
                  <m:oMath xmlns:m="http://schemas.openxmlformats.org/officeDocument/2006/math">
                    <m:r>
                      <m:rPr>
                        <m:nor/>
                      </m:rPr>
                      <a:rPr lang="en-PH" sz="4400" dirty="0" smtClean="0">
                        <a:latin typeface="Times New Roman" panose="02020603050405020304" pitchFamily="18" charset="0"/>
                        <a:cs typeface="Times New Roman" panose="02020603050405020304" pitchFamily="18" charset="0"/>
                      </a:rPr>
                      <m:t>I</m:t>
                    </m:r>
                    <m:r>
                      <m:rPr>
                        <m:nor/>
                      </m:rPr>
                      <a:rPr lang="en-PH" sz="4400" dirty="0" smtClean="0"/>
                      <m:t>fs</m:t>
                    </m:r>
                  </m:oMath>
                </a14:m>
                <a:r>
                  <a:rPr lang="en-PH" sz="4400" dirty="0">
                    <a:latin typeface="Cambria Math" panose="02040503050406030204" pitchFamily="18" charset="0"/>
                    <a:ea typeface="Cambria Math" panose="02040503050406030204" pitchFamily="18" charset="0"/>
                  </a:rPr>
                  <a:t> </a:t>
                </a:r>
                <a:r>
                  <a:rPr lang="en-PH" sz="4400" dirty="0"/>
                  <a:t>= </a:t>
                </a:r>
                <a14:m>
                  <m:oMath xmlns:m="http://schemas.openxmlformats.org/officeDocument/2006/math">
                    <m:f>
                      <m:fPr>
                        <m:ctrlPr>
                          <a:rPr lang="en-PH" sz="4400" i="1">
                            <a:latin typeface="Cambria Math" panose="02040503050406030204" pitchFamily="18" charset="0"/>
                            <a:ea typeface="Cambria Math" panose="02040503050406030204" pitchFamily="18" charset="0"/>
                          </a:rPr>
                        </m:ctrlPr>
                      </m:fPr>
                      <m:num>
                        <m:r>
                          <m:rPr>
                            <m:nor/>
                          </m:rPr>
                          <a:rPr lang="en-PH" sz="4400" b="0" i="0" smtClean="0">
                            <a:latin typeface="Cambria Math" panose="02040503050406030204" pitchFamily="18" charset="0"/>
                            <a:ea typeface="Cambria Math" panose="02040503050406030204" pitchFamily="18" charset="0"/>
                          </a:rPr>
                          <m:t>E</m:t>
                        </m:r>
                      </m:num>
                      <m:den>
                        <m:r>
                          <m:rPr>
                            <m:nor/>
                          </m:rPr>
                          <a:rPr lang="en-PH" sz="4400" b="0" i="0" smtClean="0">
                            <a:latin typeface="Cambria Math" panose="02040503050406030204" pitchFamily="18" charset="0"/>
                            <a:ea typeface="Cambria Math" panose="02040503050406030204" pitchFamily="18" charset="0"/>
                          </a:rPr>
                          <m:t>Rz</m:t>
                        </m:r>
                        <m:r>
                          <m:rPr>
                            <m:nor/>
                          </m:rPr>
                          <a:rPr lang="en-PH" sz="4400" b="0" i="0" smtClean="0">
                            <a:latin typeface="Cambria Math" panose="02040503050406030204" pitchFamily="18" charset="0"/>
                            <a:ea typeface="Cambria Math" panose="02040503050406030204" pitchFamily="18" charset="0"/>
                          </a:rPr>
                          <m:t> + </m:t>
                        </m:r>
                        <m:r>
                          <m:rPr>
                            <m:nor/>
                          </m:rPr>
                          <a:rPr lang="en-PH" sz="4400" b="0" i="0" smtClean="0">
                            <a:latin typeface="Cambria Math" panose="02040503050406030204" pitchFamily="18" charset="0"/>
                            <a:ea typeface="Cambria Math" panose="02040503050406030204" pitchFamily="18" charset="0"/>
                          </a:rPr>
                          <m:t>Rm</m:t>
                        </m:r>
                      </m:den>
                    </m:f>
                  </m:oMath>
                </a14:m>
                <a:r>
                  <a:rPr lang="en-PH" sz="4400" dirty="0"/>
                  <a:t>		</a:t>
                </a:r>
                <a:r>
                  <a:rPr lang="en-PH" sz="4400" dirty="0" err="1"/>
                  <a:t>eq</a:t>
                </a:r>
                <a:r>
                  <a:rPr lang="en-PH" sz="4400" dirty="0"/>
                  <a:t> 1</a:t>
                </a:r>
              </a:p>
              <a:p>
                <a:pPr marL="0" indent="0">
                  <a:buNone/>
                </a:pPr>
                <a:endParaRPr lang="en-PH" sz="4400" dirty="0"/>
              </a:p>
              <a:p>
                <a:pPr marL="0" indent="0">
                  <a:buNone/>
                </a:pPr>
                <a:r>
                  <a:rPr lang="en-PH" sz="4400" dirty="0"/>
                  <a:t>With R</a:t>
                </a:r>
                <a:r>
                  <a:rPr lang="en-PH" sz="3200" dirty="0"/>
                  <a:t>x</a:t>
                </a:r>
                <a:r>
                  <a:rPr lang="en-PH" sz="4400" dirty="0"/>
                  <a:t> load</a:t>
                </a:r>
              </a:p>
              <a:p>
                <a:pPr marL="0" indent="0">
                  <a:buNone/>
                </a:pPr>
                <a14:m>
                  <m:oMath xmlns:m="http://schemas.openxmlformats.org/officeDocument/2006/math">
                    <m:r>
                      <m:rPr>
                        <m:nor/>
                      </m:rPr>
                      <a:rPr lang="en-PH" sz="4400" dirty="0" smtClean="0">
                        <a:latin typeface="Times New Roman" panose="02020603050405020304" pitchFamily="18" charset="0"/>
                        <a:cs typeface="Times New Roman" panose="02020603050405020304" pitchFamily="18" charset="0"/>
                      </a:rPr>
                      <m:t>I</m:t>
                    </m:r>
                  </m:oMath>
                </a14:m>
                <a:r>
                  <a:rPr lang="en-PH" sz="4400" dirty="0">
                    <a:latin typeface="Cambria Math" panose="02040503050406030204" pitchFamily="18" charset="0"/>
                    <a:ea typeface="Cambria Math" panose="02040503050406030204" pitchFamily="18" charset="0"/>
                  </a:rPr>
                  <a:t> </a:t>
                </a:r>
                <a:r>
                  <a:rPr lang="en-PH" sz="4400" dirty="0"/>
                  <a:t>= </a:t>
                </a:r>
                <a14:m>
                  <m:oMath xmlns:m="http://schemas.openxmlformats.org/officeDocument/2006/math">
                    <m:f>
                      <m:fPr>
                        <m:ctrlPr>
                          <a:rPr lang="en-PH" sz="4400" i="1">
                            <a:latin typeface="Cambria Math" panose="02040503050406030204" pitchFamily="18" charset="0"/>
                            <a:ea typeface="Cambria Math" panose="02040503050406030204" pitchFamily="18" charset="0"/>
                          </a:rPr>
                        </m:ctrlPr>
                      </m:fPr>
                      <m:num>
                        <m:r>
                          <m:rPr>
                            <m:nor/>
                          </m:rPr>
                          <a:rPr lang="en-PH" sz="4400" b="0" i="0" smtClean="0">
                            <a:latin typeface="Cambria Math" panose="02040503050406030204" pitchFamily="18" charset="0"/>
                            <a:ea typeface="Cambria Math" panose="02040503050406030204" pitchFamily="18" charset="0"/>
                          </a:rPr>
                          <m:t>E</m:t>
                        </m:r>
                      </m:num>
                      <m:den>
                        <m:r>
                          <m:rPr>
                            <m:nor/>
                          </m:rPr>
                          <a:rPr lang="en-PH" sz="4400" b="0" i="0" smtClean="0">
                            <a:latin typeface="Cambria Math" panose="02040503050406030204" pitchFamily="18" charset="0"/>
                            <a:ea typeface="Cambria Math" panose="02040503050406030204" pitchFamily="18" charset="0"/>
                          </a:rPr>
                          <m:t>Rz</m:t>
                        </m:r>
                        <m:r>
                          <m:rPr>
                            <m:nor/>
                          </m:rPr>
                          <a:rPr lang="en-PH" sz="4400" b="0" i="0" smtClean="0">
                            <a:latin typeface="Cambria Math" panose="02040503050406030204" pitchFamily="18" charset="0"/>
                            <a:ea typeface="Cambria Math" panose="02040503050406030204" pitchFamily="18" charset="0"/>
                          </a:rPr>
                          <m:t> + </m:t>
                        </m:r>
                        <m:r>
                          <m:rPr>
                            <m:nor/>
                          </m:rPr>
                          <a:rPr lang="en-PH" sz="4400" b="0" i="0" smtClean="0">
                            <a:latin typeface="Cambria Math" panose="02040503050406030204" pitchFamily="18" charset="0"/>
                            <a:ea typeface="Cambria Math" panose="02040503050406030204" pitchFamily="18" charset="0"/>
                          </a:rPr>
                          <m:t>Rm</m:t>
                        </m:r>
                        <m:r>
                          <m:rPr>
                            <m:nor/>
                          </m:rPr>
                          <a:rPr lang="en-PH" sz="4400" b="0" i="0" smtClean="0">
                            <a:latin typeface="Cambria Math" panose="02040503050406030204" pitchFamily="18" charset="0"/>
                            <a:ea typeface="Cambria Math" panose="02040503050406030204" pitchFamily="18" charset="0"/>
                          </a:rPr>
                          <m:t> + </m:t>
                        </m:r>
                        <m:r>
                          <m:rPr>
                            <m:nor/>
                          </m:rPr>
                          <a:rPr lang="en-PH" sz="4400" b="0" i="0" smtClean="0">
                            <a:latin typeface="Cambria Math" panose="02040503050406030204" pitchFamily="18" charset="0"/>
                            <a:ea typeface="Cambria Math" panose="02040503050406030204" pitchFamily="18" charset="0"/>
                          </a:rPr>
                          <m:t>Rx</m:t>
                        </m:r>
                      </m:den>
                    </m:f>
                  </m:oMath>
                </a14:m>
                <a:r>
                  <a:rPr lang="en-PH" sz="4400" dirty="0"/>
                  <a:t>	</a:t>
                </a:r>
                <a:r>
                  <a:rPr lang="en-PH" sz="4400" dirty="0" err="1"/>
                  <a:t>eq</a:t>
                </a:r>
                <a:r>
                  <a:rPr lang="en-PH" sz="4400" dirty="0"/>
                  <a:t> 2</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368300"/>
                <a:ext cx="11087100" cy="6172200"/>
              </a:xfrm>
              <a:blipFill rotWithShape="0">
                <a:blip r:embed="rId2"/>
                <a:stretch>
                  <a:fillRect l="-2255" t="-3060"/>
                </a:stretch>
              </a:blipFill>
            </p:spPr>
            <p:txBody>
              <a:bodyPr/>
              <a:lstStyle/>
              <a:p>
                <a:r>
                  <a:rPr lang="en-PH">
                    <a:noFill/>
                  </a:rPr>
                  <a:t> </a:t>
                </a:r>
              </a:p>
            </p:txBody>
          </p:sp>
        </mc:Fallback>
      </mc:AlternateContent>
      <p:pic>
        <p:nvPicPr>
          <p:cNvPr id="4" name="Picture 3"/>
          <p:cNvPicPr>
            <a:picLocks noChangeAspect="1"/>
          </p:cNvPicPr>
          <p:nvPr/>
        </p:nvPicPr>
        <p:blipFill>
          <a:blip r:embed="rId3"/>
          <a:stretch>
            <a:fillRect/>
          </a:stretch>
        </p:blipFill>
        <p:spPr>
          <a:xfrm>
            <a:off x="6669087" y="804633"/>
            <a:ext cx="4824413" cy="4548417"/>
          </a:xfrm>
          <a:prstGeom prst="rect">
            <a:avLst/>
          </a:prstGeom>
        </p:spPr>
      </p:pic>
    </p:spTree>
    <p:extLst>
      <p:ext uri="{BB962C8B-B14F-4D97-AF65-F5344CB8AC3E}">
        <p14:creationId xmlns:p14="http://schemas.microsoft.com/office/powerpoint/2010/main" val="29875550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368300"/>
                <a:ext cx="11087100" cy="6172200"/>
              </a:xfrm>
            </p:spPr>
            <p:txBody>
              <a:bodyPr>
                <a:normAutofit lnSpcReduction="10000"/>
              </a:bodyPr>
              <a:lstStyle/>
              <a:p>
                <a:pPr marL="0" indent="0">
                  <a:buNone/>
                </a:pPr>
                <a:r>
                  <a:rPr lang="en-PH" sz="4400" dirty="0"/>
                  <a:t>Ohmmeter</a:t>
                </a:r>
              </a:p>
              <a:p>
                <a:pPr marL="0" indent="0">
                  <a:buNone/>
                </a:pPr>
                <a14:m>
                  <m:oMath xmlns:m="http://schemas.openxmlformats.org/officeDocument/2006/math">
                    <m:f>
                      <m:fPr>
                        <m:ctrlPr>
                          <a:rPr lang="en-PH" sz="4800" i="1" smtClean="0">
                            <a:latin typeface="Cambria Math" panose="02040503050406030204" pitchFamily="18" charset="0"/>
                            <a:ea typeface="Cambria Math" panose="02040503050406030204" pitchFamily="18" charset="0"/>
                          </a:rPr>
                        </m:ctrlPr>
                      </m:fPr>
                      <m:num>
                        <m:r>
                          <m:rPr>
                            <m:nor/>
                          </m:rPr>
                          <a:rPr lang="en-PH" sz="4800" b="0" i="0" smtClean="0">
                            <a:latin typeface="Cambria Math" panose="02040503050406030204" pitchFamily="18" charset="0"/>
                            <a:ea typeface="Cambria Math" panose="02040503050406030204" pitchFamily="18" charset="0"/>
                          </a:rPr>
                          <m:t>I</m:t>
                        </m:r>
                      </m:num>
                      <m:den>
                        <m:r>
                          <m:rPr>
                            <m:nor/>
                          </m:rPr>
                          <a:rPr lang="en-PH" sz="4400" dirty="0">
                            <a:latin typeface="Times New Roman" panose="02020603050405020304" pitchFamily="18" charset="0"/>
                            <a:cs typeface="Times New Roman" panose="02020603050405020304" pitchFamily="18" charset="0"/>
                          </a:rPr>
                          <m:t>I</m:t>
                        </m:r>
                        <m:r>
                          <m:rPr>
                            <m:nor/>
                          </m:rPr>
                          <a:rPr lang="en-PH" sz="4400" dirty="0"/>
                          <m:t>fs</m:t>
                        </m:r>
                      </m:den>
                    </m:f>
                  </m:oMath>
                </a14:m>
                <a:r>
                  <a:rPr lang="en-PH" sz="4400" dirty="0"/>
                  <a:t> =  </a:t>
                </a:r>
                <a14:m>
                  <m:oMath xmlns:m="http://schemas.openxmlformats.org/officeDocument/2006/math">
                    <m:f>
                      <m:fPr>
                        <m:ctrlPr>
                          <a:rPr lang="en-PH" sz="4400" i="1">
                            <a:latin typeface="Cambria Math" panose="02040503050406030204" pitchFamily="18" charset="0"/>
                            <a:ea typeface="Cambria Math" panose="02040503050406030204" pitchFamily="18" charset="0"/>
                          </a:rPr>
                        </m:ctrlPr>
                      </m:fPr>
                      <m:num>
                        <m:f>
                          <m:fPr>
                            <m:ctrlPr>
                              <a:rPr lang="en-PH" sz="4400" b="0" i="1" smtClean="0">
                                <a:latin typeface="Cambria Math" panose="02040503050406030204" pitchFamily="18" charset="0"/>
                                <a:ea typeface="Cambria Math" panose="02040503050406030204" pitchFamily="18" charset="0"/>
                              </a:rPr>
                            </m:ctrlPr>
                          </m:fPr>
                          <m:num>
                            <m:r>
                              <m:rPr>
                                <m:nor/>
                              </m:rPr>
                              <a:rPr lang="en-PH" sz="4400" b="0" i="0" smtClean="0">
                                <a:latin typeface="Cambria Math" panose="02040503050406030204" pitchFamily="18" charset="0"/>
                                <a:ea typeface="Cambria Math" panose="02040503050406030204" pitchFamily="18" charset="0"/>
                              </a:rPr>
                              <m:t>E</m:t>
                            </m:r>
                          </m:num>
                          <m:den>
                            <m:r>
                              <m:rPr>
                                <m:nor/>
                              </m:rPr>
                              <a:rPr lang="en-PH" sz="4400" b="0" i="0" smtClean="0">
                                <a:latin typeface="Cambria Math" panose="02040503050406030204" pitchFamily="18" charset="0"/>
                                <a:ea typeface="Cambria Math" panose="02040503050406030204" pitchFamily="18" charset="0"/>
                              </a:rPr>
                              <m:t>Rz</m:t>
                            </m:r>
                            <m:r>
                              <m:rPr>
                                <m:nor/>
                              </m:rPr>
                              <a:rPr lang="en-PH" sz="4400" b="0" i="0" smtClean="0">
                                <a:latin typeface="Cambria Math" panose="02040503050406030204" pitchFamily="18" charset="0"/>
                                <a:ea typeface="Cambria Math" panose="02040503050406030204" pitchFamily="18" charset="0"/>
                              </a:rPr>
                              <m:t> + </m:t>
                            </m:r>
                            <m:r>
                              <m:rPr>
                                <m:nor/>
                              </m:rPr>
                              <a:rPr lang="en-PH" sz="4400" b="0" i="0" smtClean="0">
                                <a:latin typeface="Cambria Math" panose="02040503050406030204" pitchFamily="18" charset="0"/>
                                <a:ea typeface="Cambria Math" panose="02040503050406030204" pitchFamily="18" charset="0"/>
                              </a:rPr>
                              <m:t>Rm</m:t>
                            </m:r>
                            <m:r>
                              <m:rPr>
                                <m:nor/>
                              </m:rPr>
                              <a:rPr lang="en-PH" sz="4400" b="0" i="0" smtClean="0">
                                <a:latin typeface="Cambria Math" panose="02040503050406030204" pitchFamily="18" charset="0"/>
                                <a:ea typeface="Cambria Math" panose="02040503050406030204" pitchFamily="18" charset="0"/>
                              </a:rPr>
                              <m:t> + </m:t>
                            </m:r>
                            <m:r>
                              <m:rPr>
                                <m:nor/>
                              </m:rPr>
                              <a:rPr lang="en-PH" sz="4400" b="0" i="0" smtClean="0">
                                <a:latin typeface="Cambria Math" panose="02040503050406030204" pitchFamily="18" charset="0"/>
                                <a:ea typeface="Cambria Math" panose="02040503050406030204" pitchFamily="18" charset="0"/>
                              </a:rPr>
                              <m:t>Rx</m:t>
                            </m:r>
                          </m:den>
                        </m:f>
                      </m:num>
                      <m:den>
                        <m:f>
                          <m:fPr>
                            <m:ctrlPr>
                              <a:rPr lang="en-PH" sz="4400" b="0" i="1" smtClean="0">
                                <a:latin typeface="Cambria Math" panose="02040503050406030204" pitchFamily="18" charset="0"/>
                                <a:ea typeface="Cambria Math" panose="02040503050406030204" pitchFamily="18" charset="0"/>
                              </a:rPr>
                            </m:ctrlPr>
                          </m:fPr>
                          <m:num>
                            <m:r>
                              <m:rPr>
                                <m:nor/>
                              </m:rPr>
                              <a:rPr lang="en-PH" sz="4400" b="0" i="0" smtClean="0">
                                <a:latin typeface="Cambria Math" panose="02040503050406030204" pitchFamily="18" charset="0"/>
                                <a:ea typeface="Cambria Math" panose="02040503050406030204" pitchFamily="18" charset="0"/>
                              </a:rPr>
                              <m:t>E</m:t>
                            </m:r>
                          </m:num>
                          <m:den>
                            <m:r>
                              <m:rPr>
                                <m:nor/>
                              </m:rPr>
                              <a:rPr lang="en-PH" sz="4400" b="0" i="0" smtClean="0">
                                <a:latin typeface="Cambria Math" panose="02040503050406030204" pitchFamily="18" charset="0"/>
                                <a:ea typeface="Cambria Math" panose="02040503050406030204" pitchFamily="18" charset="0"/>
                              </a:rPr>
                              <m:t>Rz</m:t>
                            </m:r>
                            <m:r>
                              <m:rPr>
                                <m:nor/>
                              </m:rPr>
                              <a:rPr lang="en-PH" sz="4400" b="0" i="0" smtClean="0">
                                <a:latin typeface="Cambria Math" panose="02040503050406030204" pitchFamily="18" charset="0"/>
                                <a:ea typeface="Cambria Math" panose="02040503050406030204" pitchFamily="18" charset="0"/>
                              </a:rPr>
                              <m:t> + </m:t>
                            </m:r>
                            <m:r>
                              <m:rPr>
                                <m:nor/>
                              </m:rPr>
                              <a:rPr lang="en-PH" sz="4400" b="0" i="0" smtClean="0">
                                <a:latin typeface="Cambria Math" panose="02040503050406030204" pitchFamily="18" charset="0"/>
                                <a:ea typeface="Cambria Math" panose="02040503050406030204" pitchFamily="18" charset="0"/>
                              </a:rPr>
                              <m:t>Rm</m:t>
                            </m:r>
                          </m:den>
                        </m:f>
                      </m:den>
                    </m:f>
                  </m:oMath>
                </a14:m>
                <a:r>
                  <a:rPr lang="en-PH" sz="4400" dirty="0"/>
                  <a:t>  =  </a:t>
                </a:r>
                <a14:m>
                  <m:oMath xmlns:m="http://schemas.openxmlformats.org/officeDocument/2006/math">
                    <m:f>
                      <m:fPr>
                        <m:ctrlPr>
                          <a:rPr lang="en-PH" sz="4400" i="1" smtClean="0">
                            <a:latin typeface="Cambria Math" panose="02040503050406030204" pitchFamily="18" charset="0"/>
                          </a:rPr>
                        </m:ctrlPr>
                      </m:fPr>
                      <m:num>
                        <m:r>
                          <m:rPr>
                            <m:nor/>
                          </m:rPr>
                          <a:rPr lang="en-PH" sz="4400" b="0" i="0" smtClean="0">
                            <a:latin typeface="Cambria Math" panose="02040503050406030204" pitchFamily="18" charset="0"/>
                            <a:ea typeface="Cambria Math" panose="02040503050406030204" pitchFamily="18" charset="0"/>
                          </a:rPr>
                          <m:t>Rz</m:t>
                        </m:r>
                        <m:r>
                          <m:rPr>
                            <m:nor/>
                          </m:rPr>
                          <a:rPr lang="en-PH" sz="4400" b="0" i="0" smtClean="0">
                            <a:latin typeface="Cambria Math" panose="02040503050406030204" pitchFamily="18" charset="0"/>
                            <a:ea typeface="Cambria Math" panose="02040503050406030204" pitchFamily="18" charset="0"/>
                          </a:rPr>
                          <m:t> + </m:t>
                        </m:r>
                        <m:r>
                          <m:rPr>
                            <m:nor/>
                          </m:rPr>
                          <a:rPr lang="en-PH" sz="4400" b="0" i="0" smtClean="0">
                            <a:latin typeface="Cambria Math" panose="02040503050406030204" pitchFamily="18" charset="0"/>
                            <a:ea typeface="Cambria Math" panose="02040503050406030204" pitchFamily="18" charset="0"/>
                          </a:rPr>
                          <m:t>Rm</m:t>
                        </m:r>
                        <m:r>
                          <m:rPr>
                            <m:nor/>
                          </m:rPr>
                          <a:rPr lang="en-PH" sz="4400" b="0" i="0" smtClean="0">
                            <a:latin typeface="Cambria Math" panose="02040503050406030204" pitchFamily="18" charset="0"/>
                            <a:ea typeface="Cambria Math" panose="02040503050406030204" pitchFamily="18" charset="0"/>
                          </a:rPr>
                          <m:t> </m:t>
                        </m:r>
                      </m:num>
                      <m:den>
                        <m:r>
                          <m:rPr>
                            <m:nor/>
                          </m:rPr>
                          <a:rPr lang="en-PH" sz="4400" b="0" i="0" smtClean="0">
                            <a:latin typeface="Cambria Math" panose="02040503050406030204" pitchFamily="18" charset="0"/>
                            <a:ea typeface="Cambria Math" panose="02040503050406030204" pitchFamily="18" charset="0"/>
                          </a:rPr>
                          <m:t>Rz</m:t>
                        </m:r>
                        <m:r>
                          <m:rPr>
                            <m:nor/>
                          </m:rPr>
                          <a:rPr lang="en-PH" sz="4400" b="0" i="0" smtClean="0">
                            <a:latin typeface="Cambria Math" panose="02040503050406030204" pitchFamily="18" charset="0"/>
                            <a:ea typeface="Cambria Math" panose="02040503050406030204" pitchFamily="18" charset="0"/>
                          </a:rPr>
                          <m:t> + </m:t>
                        </m:r>
                        <m:r>
                          <m:rPr>
                            <m:nor/>
                          </m:rPr>
                          <a:rPr lang="en-PH" sz="4400" b="0" i="0" smtClean="0">
                            <a:latin typeface="Cambria Math" panose="02040503050406030204" pitchFamily="18" charset="0"/>
                            <a:ea typeface="Cambria Math" panose="02040503050406030204" pitchFamily="18" charset="0"/>
                          </a:rPr>
                          <m:t>Rm</m:t>
                        </m:r>
                        <m:r>
                          <m:rPr>
                            <m:nor/>
                          </m:rPr>
                          <a:rPr lang="en-PH" sz="4400" b="0" i="0" smtClean="0">
                            <a:latin typeface="Cambria Math" panose="02040503050406030204" pitchFamily="18" charset="0"/>
                            <a:ea typeface="Cambria Math" panose="02040503050406030204" pitchFamily="18" charset="0"/>
                          </a:rPr>
                          <m:t>+ </m:t>
                        </m:r>
                        <m:r>
                          <m:rPr>
                            <m:nor/>
                          </m:rPr>
                          <a:rPr lang="en-PH" sz="4400" b="0" i="0" smtClean="0">
                            <a:latin typeface="Cambria Math" panose="02040503050406030204" pitchFamily="18" charset="0"/>
                            <a:ea typeface="Cambria Math" panose="02040503050406030204" pitchFamily="18" charset="0"/>
                          </a:rPr>
                          <m:t>Rx</m:t>
                        </m:r>
                      </m:den>
                    </m:f>
                  </m:oMath>
                </a14:m>
                <a:endParaRPr lang="en-PH" sz="4400" dirty="0"/>
              </a:p>
              <a:p>
                <a:pPr marL="0" indent="0">
                  <a:buNone/>
                </a:pPr>
                <a:endParaRPr lang="en-PH" sz="4400" dirty="0"/>
              </a:p>
              <a:p>
                <a:pPr marL="0" indent="0">
                  <a:buNone/>
                </a:pPr>
                <a:r>
                  <a:rPr lang="el-GR" sz="5400" dirty="0"/>
                  <a:t>ρ</a:t>
                </a:r>
                <a:r>
                  <a:rPr lang="en-PH" sz="4400" dirty="0"/>
                  <a:t> = </a:t>
                </a:r>
                <a14:m>
                  <m:oMath xmlns:m="http://schemas.openxmlformats.org/officeDocument/2006/math">
                    <m:f>
                      <m:fPr>
                        <m:ctrlPr>
                          <a:rPr lang="en-PH" sz="4800" i="1" smtClean="0">
                            <a:latin typeface="Cambria Math" panose="02040503050406030204" pitchFamily="18" charset="0"/>
                            <a:ea typeface="Cambria Math" panose="02040503050406030204" pitchFamily="18" charset="0"/>
                          </a:rPr>
                        </m:ctrlPr>
                      </m:fPr>
                      <m:num>
                        <m:r>
                          <m:rPr>
                            <m:nor/>
                          </m:rPr>
                          <a:rPr lang="en-PH" sz="4800" b="0" i="0" smtClean="0">
                            <a:latin typeface="Cambria Math" panose="02040503050406030204" pitchFamily="18" charset="0"/>
                            <a:ea typeface="Cambria Math" panose="02040503050406030204" pitchFamily="18" charset="0"/>
                          </a:rPr>
                          <m:t>I</m:t>
                        </m:r>
                      </m:num>
                      <m:den>
                        <m:r>
                          <m:rPr>
                            <m:nor/>
                          </m:rPr>
                          <a:rPr lang="en-PH" sz="4400" dirty="0">
                            <a:latin typeface="Times New Roman" panose="02020603050405020304" pitchFamily="18" charset="0"/>
                            <a:cs typeface="Times New Roman" panose="02020603050405020304" pitchFamily="18" charset="0"/>
                          </a:rPr>
                          <m:t>I</m:t>
                        </m:r>
                        <m:r>
                          <m:rPr>
                            <m:nor/>
                          </m:rPr>
                          <a:rPr lang="en-PH" sz="4400" dirty="0"/>
                          <m:t>fs</m:t>
                        </m:r>
                      </m:den>
                    </m:f>
                  </m:oMath>
                </a14:m>
                <a:r>
                  <a:rPr lang="en-PH" sz="4400" dirty="0"/>
                  <a:t> = </a:t>
                </a:r>
                <a14:m>
                  <m:oMath xmlns:m="http://schemas.openxmlformats.org/officeDocument/2006/math">
                    <m:f>
                      <m:fPr>
                        <m:ctrlPr>
                          <a:rPr lang="en-PH" sz="4400" i="1" smtClean="0">
                            <a:latin typeface="Cambria Math" panose="02040503050406030204" pitchFamily="18" charset="0"/>
                          </a:rPr>
                        </m:ctrlPr>
                      </m:fPr>
                      <m:num>
                        <m:r>
                          <m:rPr>
                            <m:nor/>
                          </m:rPr>
                          <a:rPr lang="en-PH" sz="4400" b="0" i="0" smtClean="0">
                            <a:latin typeface="Cambria Math" panose="02040503050406030204" pitchFamily="18" charset="0"/>
                            <a:ea typeface="Cambria Math" panose="02040503050406030204" pitchFamily="18" charset="0"/>
                          </a:rPr>
                          <m:t>Rz</m:t>
                        </m:r>
                        <m:r>
                          <m:rPr>
                            <m:nor/>
                          </m:rPr>
                          <a:rPr lang="en-PH" sz="4400" b="0" i="0" smtClean="0">
                            <a:latin typeface="Cambria Math" panose="02040503050406030204" pitchFamily="18" charset="0"/>
                            <a:ea typeface="Cambria Math" panose="02040503050406030204" pitchFamily="18" charset="0"/>
                          </a:rPr>
                          <m:t> + </m:t>
                        </m:r>
                        <m:r>
                          <m:rPr>
                            <m:nor/>
                          </m:rPr>
                          <a:rPr lang="en-PH" sz="4400" b="0" i="0" smtClean="0">
                            <a:latin typeface="Cambria Math" panose="02040503050406030204" pitchFamily="18" charset="0"/>
                            <a:ea typeface="Cambria Math" panose="02040503050406030204" pitchFamily="18" charset="0"/>
                          </a:rPr>
                          <m:t>Rm</m:t>
                        </m:r>
                        <m:r>
                          <m:rPr>
                            <m:nor/>
                          </m:rPr>
                          <a:rPr lang="en-PH" sz="4400" b="0" i="0" smtClean="0">
                            <a:latin typeface="Cambria Math" panose="02040503050406030204" pitchFamily="18" charset="0"/>
                            <a:ea typeface="Cambria Math" panose="02040503050406030204" pitchFamily="18" charset="0"/>
                          </a:rPr>
                          <m:t> </m:t>
                        </m:r>
                      </m:num>
                      <m:den>
                        <m:r>
                          <m:rPr>
                            <m:nor/>
                          </m:rPr>
                          <a:rPr lang="en-PH" sz="4400" b="0" i="0" smtClean="0">
                            <a:latin typeface="Cambria Math" panose="02040503050406030204" pitchFamily="18" charset="0"/>
                            <a:ea typeface="Cambria Math" panose="02040503050406030204" pitchFamily="18" charset="0"/>
                          </a:rPr>
                          <m:t>Rz</m:t>
                        </m:r>
                        <m:r>
                          <m:rPr>
                            <m:nor/>
                          </m:rPr>
                          <a:rPr lang="en-PH" sz="4400" b="0" i="0" smtClean="0">
                            <a:latin typeface="Cambria Math" panose="02040503050406030204" pitchFamily="18" charset="0"/>
                            <a:ea typeface="Cambria Math" panose="02040503050406030204" pitchFamily="18" charset="0"/>
                          </a:rPr>
                          <m:t> + </m:t>
                        </m:r>
                        <m:r>
                          <m:rPr>
                            <m:nor/>
                          </m:rPr>
                          <a:rPr lang="en-PH" sz="4400" b="0" i="0" smtClean="0">
                            <a:latin typeface="Cambria Math" panose="02040503050406030204" pitchFamily="18" charset="0"/>
                            <a:ea typeface="Cambria Math" panose="02040503050406030204" pitchFamily="18" charset="0"/>
                          </a:rPr>
                          <m:t>Rm</m:t>
                        </m:r>
                        <m:r>
                          <m:rPr>
                            <m:nor/>
                          </m:rPr>
                          <a:rPr lang="en-PH" sz="4400" b="0" i="0" smtClean="0">
                            <a:latin typeface="Cambria Math" panose="02040503050406030204" pitchFamily="18" charset="0"/>
                            <a:ea typeface="Cambria Math" panose="02040503050406030204" pitchFamily="18" charset="0"/>
                          </a:rPr>
                          <m:t>+ </m:t>
                        </m:r>
                        <m:r>
                          <m:rPr>
                            <m:nor/>
                          </m:rPr>
                          <a:rPr lang="en-PH" sz="4400" b="0" i="0" smtClean="0">
                            <a:latin typeface="Cambria Math" panose="02040503050406030204" pitchFamily="18" charset="0"/>
                            <a:ea typeface="Cambria Math" panose="02040503050406030204" pitchFamily="18" charset="0"/>
                          </a:rPr>
                          <m:t>Rx</m:t>
                        </m:r>
                      </m:den>
                    </m:f>
                  </m:oMath>
                </a14:m>
                <a:endParaRPr lang="en-PH" sz="4400" dirty="0"/>
              </a:p>
              <a:p>
                <a:pPr marL="0" indent="0">
                  <a:buNone/>
                </a:pPr>
                <a:endParaRPr lang="en-PH" sz="4400" dirty="0"/>
              </a:p>
              <a:p>
                <a:pPr marL="0" indent="0">
                  <a:buNone/>
                </a:pPr>
                <a14:m>
                  <m:oMath xmlns:m="http://schemas.openxmlformats.org/officeDocument/2006/math">
                    <m:r>
                      <m:rPr>
                        <m:nor/>
                      </m:rPr>
                      <a:rPr lang="en-PH" sz="4400" b="0" i="0" dirty="0" smtClean="0">
                        <a:latin typeface="Times New Roman" panose="02020603050405020304" pitchFamily="18" charset="0"/>
                        <a:cs typeface="Times New Roman" panose="02020603050405020304" pitchFamily="18" charset="0"/>
                      </a:rPr>
                      <m:t>from</m:t>
                    </m:r>
                    <m:r>
                      <m:rPr>
                        <m:nor/>
                      </m:rPr>
                      <a:rPr lang="en-PH" sz="4400" b="0" i="0" dirty="0" smtClean="0">
                        <a:latin typeface="Times New Roman" panose="02020603050405020304" pitchFamily="18" charset="0"/>
                        <a:cs typeface="Times New Roman" panose="02020603050405020304" pitchFamily="18" charset="0"/>
                      </a:rPr>
                      <m:t> </m:t>
                    </m:r>
                    <m:r>
                      <m:rPr>
                        <m:nor/>
                      </m:rPr>
                      <a:rPr lang="en-PH" sz="4400" b="0" i="0" dirty="0" smtClean="0">
                        <a:latin typeface="Times New Roman" panose="02020603050405020304" pitchFamily="18" charset="0"/>
                        <a:cs typeface="Times New Roman" panose="02020603050405020304" pitchFamily="18" charset="0"/>
                      </a:rPr>
                      <m:t>eq</m:t>
                    </m:r>
                    <m:r>
                      <m:rPr>
                        <m:nor/>
                      </m:rPr>
                      <a:rPr lang="en-PH" sz="4400" b="0" i="0" dirty="0" smtClean="0">
                        <a:latin typeface="Times New Roman" panose="02020603050405020304" pitchFamily="18" charset="0"/>
                        <a:cs typeface="Times New Roman" panose="02020603050405020304" pitchFamily="18" charset="0"/>
                      </a:rPr>
                      <m:t> 1:     </m:t>
                    </m:r>
                    <m:r>
                      <m:rPr>
                        <m:nor/>
                      </m:rPr>
                      <a:rPr lang="en-PH" sz="4400" b="0" i="0" smtClean="0">
                        <a:latin typeface="Cambria Math" panose="02040503050406030204" pitchFamily="18" charset="0"/>
                        <a:ea typeface="Cambria Math" panose="02040503050406030204" pitchFamily="18" charset="0"/>
                      </a:rPr>
                      <m:t>Rz</m:t>
                    </m:r>
                  </m:oMath>
                </a14:m>
                <a:r>
                  <a:rPr lang="en-PH" sz="4400" dirty="0">
                    <a:latin typeface="Cambria Math" panose="02040503050406030204" pitchFamily="18" charset="0"/>
                    <a:ea typeface="Cambria Math" panose="02040503050406030204" pitchFamily="18" charset="0"/>
                  </a:rPr>
                  <a:t> </a:t>
                </a:r>
                <a:r>
                  <a:rPr lang="en-PH" sz="4400" dirty="0"/>
                  <a:t>= </a:t>
                </a:r>
                <a14:m>
                  <m:oMath xmlns:m="http://schemas.openxmlformats.org/officeDocument/2006/math">
                    <m:f>
                      <m:fPr>
                        <m:ctrlPr>
                          <a:rPr lang="en-PH" sz="4400" i="1">
                            <a:latin typeface="Cambria Math" panose="02040503050406030204" pitchFamily="18" charset="0"/>
                            <a:ea typeface="Cambria Math" panose="02040503050406030204" pitchFamily="18" charset="0"/>
                          </a:rPr>
                        </m:ctrlPr>
                      </m:fPr>
                      <m:num>
                        <m:r>
                          <m:rPr>
                            <m:nor/>
                          </m:rPr>
                          <a:rPr lang="en-PH" sz="4400" b="0" i="0" smtClean="0">
                            <a:latin typeface="Cambria Math" panose="02040503050406030204" pitchFamily="18" charset="0"/>
                            <a:ea typeface="Cambria Math" panose="02040503050406030204" pitchFamily="18" charset="0"/>
                          </a:rPr>
                          <m:t>E</m:t>
                        </m:r>
                      </m:num>
                      <m:den>
                        <m:r>
                          <m:rPr>
                            <m:nor/>
                          </m:rPr>
                          <a:rPr lang="en-PH" sz="4400" dirty="0" smtClean="0">
                            <a:latin typeface="Times New Roman" panose="02020603050405020304" pitchFamily="18" charset="0"/>
                            <a:cs typeface="Times New Roman" panose="02020603050405020304" pitchFamily="18" charset="0"/>
                          </a:rPr>
                          <m:t>I</m:t>
                        </m:r>
                        <m:r>
                          <m:rPr>
                            <m:nor/>
                          </m:rPr>
                          <a:rPr lang="en-PH" sz="4400" dirty="0" smtClean="0"/>
                          <m:t>fs</m:t>
                        </m:r>
                      </m:den>
                    </m:f>
                  </m:oMath>
                </a14:m>
                <a:r>
                  <a:rPr lang="en-PH" sz="4400" dirty="0"/>
                  <a:t> –</a:t>
                </a:r>
                <a14:m>
                  <m:oMath xmlns:m="http://schemas.openxmlformats.org/officeDocument/2006/math">
                    <m:r>
                      <a:rPr lang="en-PH" sz="4400" b="0" i="0" smtClean="0">
                        <a:latin typeface="Cambria Math" panose="02040503050406030204" pitchFamily="18" charset="0"/>
                        <a:ea typeface="Cambria Math" panose="02040503050406030204" pitchFamily="18" charset="0"/>
                      </a:rPr>
                      <m:t> </m:t>
                    </m:r>
                    <m:r>
                      <m:rPr>
                        <m:nor/>
                      </m:rPr>
                      <a:rPr lang="en-PH" sz="4400" b="0" i="0" smtClean="0">
                        <a:latin typeface="Cambria Math" panose="02040503050406030204" pitchFamily="18" charset="0"/>
                        <a:ea typeface="Cambria Math" panose="02040503050406030204" pitchFamily="18" charset="0"/>
                      </a:rPr>
                      <m:t>Rm</m:t>
                    </m:r>
                  </m:oMath>
                </a14:m>
                <a:endParaRPr lang="en-PH" sz="4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368300"/>
                <a:ext cx="11087100" cy="6172200"/>
              </a:xfrm>
              <a:blipFill rotWithShape="0">
                <a:blip r:embed="rId2"/>
                <a:stretch>
                  <a:fillRect l="-2970" t="-3949"/>
                </a:stretch>
              </a:blipFill>
            </p:spPr>
            <p:txBody>
              <a:bodyPr/>
              <a:lstStyle/>
              <a:p>
                <a:r>
                  <a:rPr lang="en-PH">
                    <a:noFill/>
                  </a:rPr>
                  <a:t> </a:t>
                </a:r>
              </a:p>
            </p:txBody>
          </p:sp>
        </mc:Fallback>
      </mc:AlternateContent>
    </p:spTree>
    <p:extLst>
      <p:ext uri="{BB962C8B-B14F-4D97-AF65-F5344CB8AC3E}">
        <p14:creationId xmlns:p14="http://schemas.microsoft.com/office/powerpoint/2010/main" val="27565782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dirty="0">
                <a:solidFill>
                  <a:srgbClr val="002060"/>
                </a:solidFill>
              </a:rPr>
              <a:t>Example</a:t>
            </a:r>
          </a:p>
          <a:p>
            <a:pPr marL="0" indent="0">
              <a:buNone/>
            </a:pPr>
            <a:r>
              <a:rPr lang="en-PH" sz="4400" dirty="0"/>
              <a:t>A 1 mA full scale deflection, current meter movement is to be used in an ohmmeter circuit. The meter movement has an internal resistance Rm of 100 </a:t>
            </a:r>
            <a:r>
              <a:rPr lang="el-GR" sz="4400" dirty="0"/>
              <a:t>Ω</a:t>
            </a:r>
            <a:r>
              <a:rPr lang="en-PH" sz="4400" dirty="0"/>
              <a:t>, and a 3 V battery will be used in the circuit. Mark off the meter face for reading resistance.</a:t>
            </a:r>
          </a:p>
        </p:txBody>
      </p:sp>
    </p:spTree>
    <p:extLst>
      <p:ext uri="{BB962C8B-B14F-4D97-AF65-F5344CB8AC3E}">
        <p14:creationId xmlns:p14="http://schemas.microsoft.com/office/powerpoint/2010/main" val="3621777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dirty="0">
                    <a:solidFill>
                      <a:srgbClr val="002060"/>
                    </a:solidFill>
                  </a:rPr>
                  <a:t>Given:</a:t>
                </a:r>
              </a:p>
              <a:p>
                <a:pPr marL="0" indent="0">
                  <a:buNone/>
                </a:pPr>
                <a:r>
                  <a:rPr lang="en-PH" sz="4400" dirty="0"/>
                  <a:t>I</a:t>
                </a:r>
                <a:r>
                  <a:rPr lang="en-PH" sz="3200" dirty="0"/>
                  <a:t>fs </a:t>
                </a:r>
                <a:r>
                  <a:rPr lang="en-PH" sz="4400" dirty="0"/>
                  <a:t>= 1 mA	R</a:t>
                </a:r>
                <a:r>
                  <a:rPr lang="en-PH" sz="3200" dirty="0"/>
                  <a:t>m</a:t>
                </a:r>
                <a:r>
                  <a:rPr lang="en-PH" sz="4400" dirty="0"/>
                  <a:t> = 100 </a:t>
                </a:r>
                <a:r>
                  <a:rPr lang="el-GR" sz="4400" dirty="0"/>
                  <a:t>Ω</a:t>
                </a:r>
                <a:r>
                  <a:rPr lang="en-PH" sz="4400" dirty="0"/>
                  <a:t>		E = 3 V</a:t>
                </a:r>
              </a:p>
              <a:p>
                <a:pPr marL="0" indent="0">
                  <a:buNone/>
                </a:pPr>
                <a:r>
                  <a:rPr lang="en-PH" sz="4400" dirty="0" err="1">
                    <a:solidFill>
                      <a:srgbClr val="002060"/>
                    </a:solidFill>
                  </a:rPr>
                  <a:t>Reqd</a:t>
                </a:r>
                <a:r>
                  <a:rPr lang="en-PH" sz="4400" dirty="0">
                    <a:solidFill>
                      <a:srgbClr val="002060"/>
                    </a:solidFill>
                  </a:rPr>
                  <a:t>:</a:t>
                </a:r>
              </a:p>
              <a:p>
                <a:pPr marL="0" indent="0">
                  <a:buNone/>
                </a:pPr>
                <a:r>
                  <a:rPr lang="en-PH" sz="4400" dirty="0"/>
                  <a:t>Mark off the meter face for reading resistance.</a:t>
                </a:r>
              </a:p>
              <a:p>
                <a:pPr marL="0" indent="0">
                  <a:buNone/>
                </a:pPr>
                <a:r>
                  <a:rPr lang="en-PH" sz="4400" dirty="0">
                    <a:solidFill>
                      <a:srgbClr val="002060"/>
                    </a:solidFill>
                  </a:rPr>
                  <a:t>Solution:</a:t>
                </a:r>
              </a:p>
              <a:p>
                <a:pPr marL="0" indent="0">
                  <a:buNone/>
                </a:pPr>
                <a14:m>
                  <m:oMath xmlns:m="http://schemas.openxmlformats.org/officeDocument/2006/math">
                    <m:r>
                      <m:rPr>
                        <m:nor/>
                      </m:rPr>
                      <a:rPr lang="en-PH" sz="4400" b="0" i="0" smtClean="0">
                        <a:latin typeface="Cambria Math" panose="02040503050406030204" pitchFamily="18" charset="0"/>
                        <a:ea typeface="Cambria Math" panose="02040503050406030204" pitchFamily="18" charset="0"/>
                      </a:rPr>
                      <m:t>Rz</m:t>
                    </m:r>
                  </m:oMath>
                </a14:m>
                <a:r>
                  <a:rPr lang="en-PH" sz="4400" dirty="0">
                    <a:latin typeface="Cambria Math" panose="02040503050406030204" pitchFamily="18" charset="0"/>
                    <a:ea typeface="Cambria Math" panose="02040503050406030204" pitchFamily="18" charset="0"/>
                  </a:rPr>
                  <a:t> </a:t>
                </a:r>
                <a:r>
                  <a:rPr lang="en-PH" sz="4400" dirty="0"/>
                  <a:t>= </a:t>
                </a:r>
                <a14:m>
                  <m:oMath xmlns:m="http://schemas.openxmlformats.org/officeDocument/2006/math">
                    <m:f>
                      <m:fPr>
                        <m:ctrlPr>
                          <a:rPr lang="en-PH" sz="4400" i="1">
                            <a:latin typeface="Cambria Math" panose="02040503050406030204" pitchFamily="18" charset="0"/>
                            <a:ea typeface="Cambria Math" panose="02040503050406030204" pitchFamily="18" charset="0"/>
                          </a:rPr>
                        </m:ctrlPr>
                      </m:fPr>
                      <m:num>
                        <m:r>
                          <m:rPr>
                            <m:nor/>
                          </m:rPr>
                          <a:rPr lang="en-PH" sz="4400" b="0" i="0" smtClean="0">
                            <a:latin typeface="Cambria Math" panose="02040503050406030204" pitchFamily="18" charset="0"/>
                            <a:ea typeface="Cambria Math" panose="02040503050406030204" pitchFamily="18" charset="0"/>
                          </a:rPr>
                          <m:t>E</m:t>
                        </m:r>
                      </m:num>
                      <m:den>
                        <m:r>
                          <m:rPr>
                            <m:nor/>
                          </m:rPr>
                          <a:rPr lang="en-PH" sz="4400" dirty="0" smtClean="0">
                            <a:latin typeface="Times New Roman" panose="02020603050405020304" pitchFamily="18" charset="0"/>
                            <a:cs typeface="Times New Roman" panose="02020603050405020304" pitchFamily="18" charset="0"/>
                          </a:rPr>
                          <m:t>I</m:t>
                        </m:r>
                        <m:r>
                          <m:rPr>
                            <m:nor/>
                          </m:rPr>
                          <a:rPr lang="en-PH" sz="4400" dirty="0" smtClean="0"/>
                          <m:t>fs</m:t>
                        </m:r>
                      </m:den>
                    </m:f>
                  </m:oMath>
                </a14:m>
                <a:r>
                  <a:rPr lang="en-PH" sz="4400" dirty="0"/>
                  <a:t> –</a:t>
                </a:r>
                <a14:m>
                  <m:oMath xmlns:m="http://schemas.openxmlformats.org/officeDocument/2006/math">
                    <m:r>
                      <a:rPr lang="en-PH" sz="4400" b="0" i="0" smtClean="0">
                        <a:latin typeface="Cambria Math" panose="02040503050406030204" pitchFamily="18" charset="0"/>
                        <a:ea typeface="Cambria Math" panose="02040503050406030204" pitchFamily="18" charset="0"/>
                      </a:rPr>
                      <m:t> </m:t>
                    </m:r>
                    <m:r>
                      <m:rPr>
                        <m:nor/>
                      </m:rPr>
                      <a:rPr lang="en-PH" sz="4400" b="0" i="0" smtClean="0">
                        <a:latin typeface="Cambria Math" panose="02040503050406030204" pitchFamily="18" charset="0"/>
                        <a:ea typeface="Cambria Math" panose="02040503050406030204" pitchFamily="18" charset="0"/>
                      </a:rPr>
                      <m:t>Rm</m:t>
                    </m:r>
                  </m:oMath>
                </a14:m>
                <a:r>
                  <a:rPr lang="en-PH" sz="4400" dirty="0"/>
                  <a:t> = </a:t>
                </a:r>
                <a14:m>
                  <m:oMath xmlns:m="http://schemas.openxmlformats.org/officeDocument/2006/math">
                    <m:f>
                      <m:fPr>
                        <m:ctrlPr>
                          <a:rPr lang="en-PH" sz="4400" i="1">
                            <a:latin typeface="Cambria Math" panose="02040503050406030204" pitchFamily="18" charset="0"/>
                            <a:ea typeface="Cambria Math" panose="02040503050406030204" pitchFamily="18" charset="0"/>
                          </a:rPr>
                        </m:ctrlPr>
                      </m:fPr>
                      <m:num>
                        <m:r>
                          <m:rPr>
                            <m:nor/>
                          </m:rPr>
                          <a:rPr lang="en-PH" sz="4400" b="0" i="0" smtClean="0">
                            <a:latin typeface="Cambria Math" panose="02040503050406030204" pitchFamily="18" charset="0"/>
                            <a:ea typeface="Cambria Math" panose="02040503050406030204" pitchFamily="18" charset="0"/>
                          </a:rPr>
                          <m:t>3</m:t>
                        </m:r>
                        <m:r>
                          <m:rPr>
                            <m:nor/>
                          </m:rPr>
                          <a:rPr lang="en-PH" sz="4400" b="0" i="0" smtClean="0">
                            <a:latin typeface="Cambria Math" panose="02040503050406030204" pitchFamily="18" charset="0"/>
                            <a:ea typeface="Cambria Math" panose="02040503050406030204" pitchFamily="18" charset="0"/>
                          </a:rPr>
                          <m:t>V</m:t>
                        </m:r>
                      </m:num>
                      <m:den>
                        <m:r>
                          <m:rPr>
                            <m:nor/>
                          </m:rPr>
                          <a:rPr lang="en-PH" sz="4400" b="0" i="0" dirty="0" smtClean="0">
                            <a:latin typeface="Times New Roman" panose="02020603050405020304" pitchFamily="18" charset="0"/>
                            <a:cs typeface="Times New Roman" panose="02020603050405020304" pitchFamily="18" charset="0"/>
                          </a:rPr>
                          <m:t>1 </m:t>
                        </m:r>
                        <m:r>
                          <m:rPr>
                            <m:nor/>
                          </m:rPr>
                          <a:rPr lang="en-PH" sz="4400" b="0" i="0" dirty="0" smtClean="0">
                            <a:latin typeface="Times New Roman" panose="02020603050405020304" pitchFamily="18" charset="0"/>
                            <a:cs typeface="Times New Roman" panose="02020603050405020304" pitchFamily="18" charset="0"/>
                          </a:rPr>
                          <m:t>mA</m:t>
                        </m:r>
                      </m:den>
                    </m:f>
                  </m:oMath>
                </a14:m>
                <a:r>
                  <a:rPr lang="en-PH" sz="4400" dirty="0"/>
                  <a:t> –</a:t>
                </a:r>
                <a14:m>
                  <m:oMath xmlns:m="http://schemas.openxmlformats.org/officeDocument/2006/math">
                    <m:r>
                      <m:rPr>
                        <m:nor/>
                      </m:rPr>
                      <a:rPr lang="en-PH" sz="4400" dirty="0" smtClean="0"/>
                      <m:t>100 </m:t>
                    </m:r>
                    <m:r>
                      <m:rPr>
                        <m:nor/>
                      </m:rPr>
                      <a:rPr lang="el-GR" sz="4400" dirty="0" smtClean="0"/>
                      <m:t>Ω</m:t>
                    </m:r>
                  </m:oMath>
                </a14:m>
                <a:endParaRPr lang="en-PH" sz="4400" dirty="0"/>
              </a:p>
              <a:p>
                <a:pPr marL="0" indent="0">
                  <a:buNone/>
                </a:pPr>
                <a:endParaRPr lang="en-PH" sz="4400" dirty="0"/>
              </a:p>
              <a:p>
                <a:pPr marL="0" indent="0">
                  <a:buNone/>
                </a:pPr>
                <a14:m>
                  <m:oMath xmlns:m="http://schemas.openxmlformats.org/officeDocument/2006/math">
                    <m:r>
                      <m:rPr>
                        <m:nor/>
                      </m:rPr>
                      <a:rPr lang="en-PH" sz="4400" b="0" i="0" smtClean="0">
                        <a:latin typeface="Cambria Math" panose="02040503050406030204" pitchFamily="18" charset="0"/>
                        <a:ea typeface="Cambria Math" panose="02040503050406030204" pitchFamily="18" charset="0"/>
                      </a:rPr>
                      <m:t>Rz</m:t>
                    </m:r>
                  </m:oMath>
                </a14:m>
                <a:r>
                  <a:rPr lang="en-PH" sz="4400" dirty="0">
                    <a:latin typeface="Cambria Math" panose="02040503050406030204" pitchFamily="18" charset="0"/>
                    <a:ea typeface="Cambria Math" panose="02040503050406030204" pitchFamily="18" charset="0"/>
                  </a:rPr>
                  <a:t> </a:t>
                </a:r>
                <a:r>
                  <a:rPr lang="en-PH" sz="4400" dirty="0"/>
                  <a:t>= 2.9 k</a:t>
                </a:r>
                <a14:m>
                  <m:oMath xmlns:m="http://schemas.openxmlformats.org/officeDocument/2006/math">
                    <m:r>
                      <m:rPr>
                        <m:nor/>
                      </m:rPr>
                      <a:rPr lang="el-GR" sz="4400" dirty="0" smtClean="0"/>
                      <m:t>Ω</m:t>
                    </m:r>
                  </m:oMath>
                </a14:m>
                <a:endParaRPr lang="en-PH" sz="4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368300"/>
                <a:ext cx="11087100" cy="6172200"/>
              </a:xfrm>
              <a:blipFill rotWithShape="0">
                <a:blip r:embed="rId2"/>
                <a:stretch>
                  <a:fillRect l="-2255" t="-3060" b="-4640"/>
                </a:stretch>
              </a:blipFill>
            </p:spPr>
            <p:txBody>
              <a:bodyPr/>
              <a:lstStyle/>
              <a:p>
                <a:r>
                  <a:rPr lang="en-PH">
                    <a:noFill/>
                  </a:rPr>
                  <a:t> </a:t>
                </a:r>
              </a:p>
            </p:txBody>
          </p:sp>
        </mc:Fallback>
      </mc:AlternateContent>
    </p:spTree>
    <p:extLst>
      <p:ext uri="{BB962C8B-B14F-4D97-AF65-F5344CB8AC3E}">
        <p14:creationId xmlns:p14="http://schemas.microsoft.com/office/powerpoint/2010/main" val="38328039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000" dirty="0"/>
                  <a:t>From  </a:t>
                </a:r>
                <a:r>
                  <a:rPr lang="el-GR" sz="5400" dirty="0"/>
                  <a:t>ρ</a:t>
                </a:r>
                <a:r>
                  <a:rPr lang="en-PH" sz="4400" dirty="0"/>
                  <a:t> = </a:t>
                </a:r>
                <a14:m>
                  <m:oMath xmlns:m="http://schemas.openxmlformats.org/officeDocument/2006/math">
                    <m:f>
                      <m:fPr>
                        <m:ctrlPr>
                          <a:rPr lang="en-PH" sz="4400" i="1" smtClean="0">
                            <a:latin typeface="Cambria Math" panose="02040503050406030204" pitchFamily="18" charset="0"/>
                          </a:rPr>
                        </m:ctrlPr>
                      </m:fPr>
                      <m:num>
                        <m:r>
                          <m:rPr>
                            <m:nor/>
                          </m:rPr>
                          <a:rPr lang="en-PH" sz="4400" b="0" i="0" smtClean="0">
                            <a:latin typeface="Cambria Math" panose="02040503050406030204" pitchFamily="18" charset="0"/>
                            <a:ea typeface="Cambria Math" panose="02040503050406030204" pitchFamily="18" charset="0"/>
                          </a:rPr>
                          <m:t>Rz</m:t>
                        </m:r>
                        <m:r>
                          <m:rPr>
                            <m:nor/>
                          </m:rPr>
                          <a:rPr lang="en-PH" sz="4400" b="0" i="0" smtClean="0">
                            <a:latin typeface="Cambria Math" panose="02040503050406030204" pitchFamily="18" charset="0"/>
                            <a:ea typeface="Cambria Math" panose="02040503050406030204" pitchFamily="18" charset="0"/>
                          </a:rPr>
                          <m:t> + </m:t>
                        </m:r>
                        <m:r>
                          <m:rPr>
                            <m:nor/>
                          </m:rPr>
                          <a:rPr lang="en-PH" sz="4400" b="0" i="0" smtClean="0">
                            <a:latin typeface="Cambria Math" panose="02040503050406030204" pitchFamily="18" charset="0"/>
                            <a:ea typeface="Cambria Math" panose="02040503050406030204" pitchFamily="18" charset="0"/>
                          </a:rPr>
                          <m:t>Rm</m:t>
                        </m:r>
                        <m:r>
                          <m:rPr>
                            <m:nor/>
                          </m:rPr>
                          <a:rPr lang="en-PH" sz="4400" b="0" i="0" smtClean="0">
                            <a:latin typeface="Cambria Math" panose="02040503050406030204" pitchFamily="18" charset="0"/>
                            <a:ea typeface="Cambria Math" panose="02040503050406030204" pitchFamily="18" charset="0"/>
                          </a:rPr>
                          <m:t> </m:t>
                        </m:r>
                      </m:num>
                      <m:den>
                        <m:r>
                          <m:rPr>
                            <m:nor/>
                          </m:rPr>
                          <a:rPr lang="en-PH" sz="4400" b="0" i="0" smtClean="0">
                            <a:latin typeface="Cambria Math" panose="02040503050406030204" pitchFamily="18" charset="0"/>
                            <a:ea typeface="Cambria Math" panose="02040503050406030204" pitchFamily="18" charset="0"/>
                          </a:rPr>
                          <m:t>Rz</m:t>
                        </m:r>
                        <m:r>
                          <m:rPr>
                            <m:nor/>
                          </m:rPr>
                          <a:rPr lang="en-PH" sz="4400" b="0" i="0" smtClean="0">
                            <a:latin typeface="Cambria Math" panose="02040503050406030204" pitchFamily="18" charset="0"/>
                            <a:ea typeface="Cambria Math" panose="02040503050406030204" pitchFamily="18" charset="0"/>
                          </a:rPr>
                          <m:t> + </m:t>
                        </m:r>
                        <m:r>
                          <m:rPr>
                            <m:nor/>
                          </m:rPr>
                          <a:rPr lang="en-PH" sz="4400" b="0" i="0" smtClean="0">
                            <a:latin typeface="Cambria Math" panose="02040503050406030204" pitchFamily="18" charset="0"/>
                            <a:ea typeface="Cambria Math" panose="02040503050406030204" pitchFamily="18" charset="0"/>
                          </a:rPr>
                          <m:t>Rm</m:t>
                        </m:r>
                        <m:r>
                          <m:rPr>
                            <m:nor/>
                          </m:rPr>
                          <a:rPr lang="en-PH" sz="4400" b="0" i="0" smtClean="0">
                            <a:latin typeface="Cambria Math" panose="02040503050406030204" pitchFamily="18" charset="0"/>
                            <a:ea typeface="Cambria Math" panose="02040503050406030204" pitchFamily="18" charset="0"/>
                          </a:rPr>
                          <m:t>+ </m:t>
                        </m:r>
                        <m:r>
                          <m:rPr>
                            <m:nor/>
                          </m:rPr>
                          <a:rPr lang="en-PH" sz="4400" b="0" i="0" smtClean="0">
                            <a:latin typeface="Cambria Math" panose="02040503050406030204" pitchFamily="18" charset="0"/>
                            <a:ea typeface="Cambria Math" panose="02040503050406030204" pitchFamily="18" charset="0"/>
                          </a:rPr>
                          <m:t>Rx</m:t>
                        </m:r>
                      </m:den>
                    </m:f>
                  </m:oMath>
                </a14:m>
                <a:endParaRPr lang="en-PH" sz="4400" dirty="0"/>
              </a:p>
              <a:p>
                <a:pPr marL="0" indent="0">
                  <a:buNone/>
                </a:pPr>
                <a:endParaRPr lang="en-PH" sz="4400" dirty="0"/>
              </a:p>
              <a:p>
                <a:pPr marL="0" indent="0">
                  <a:buNone/>
                </a:pPr>
                <a:r>
                  <a:rPr lang="en-PH" sz="4400" dirty="0"/>
                  <a:t>Derived R</a:t>
                </a:r>
                <a:r>
                  <a:rPr lang="en-PH" sz="3200" dirty="0"/>
                  <a:t>x</a:t>
                </a:r>
              </a:p>
              <a:p>
                <a:pPr marL="0" indent="0">
                  <a:buNone/>
                </a:pPr>
                <a:r>
                  <a:rPr lang="el-GR" sz="5400" dirty="0"/>
                  <a:t>ρ</a:t>
                </a:r>
                <a14:m>
                  <m:oMath xmlns:m="http://schemas.openxmlformats.org/officeDocument/2006/math">
                    <m:r>
                      <m:rPr>
                        <m:nor/>
                      </m:rPr>
                      <a:rPr lang="en-PH" sz="4400">
                        <a:latin typeface="Cambria Math" panose="02040503050406030204" pitchFamily="18" charset="0"/>
                        <a:ea typeface="Cambria Math" panose="02040503050406030204" pitchFamily="18" charset="0"/>
                      </a:rPr>
                      <m:t>(</m:t>
                    </m:r>
                    <m:r>
                      <m:rPr>
                        <m:nor/>
                      </m:rPr>
                      <a:rPr lang="en-PH" sz="4400" b="0" i="0" smtClean="0">
                        <a:latin typeface="Cambria Math" panose="02040503050406030204" pitchFamily="18" charset="0"/>
                        <a:ea typeface="Cambria Math" panose="02040503050406030204" pitchFamily="18" charset="0"/>
                      </a:rPr>
                      <m:t>Rz</m:t>
                    </m:r>
                    <m:r>
                      <m:rPr>
                        <m:nor/>
                      </m:rPr>
                      <a:rPr lang="en-PH" sz="4400" b="0" i="0" smtClean="0">
                        <a:latin typeface="Cambria Math" panose="02040503050406030204" pitchFamily="18" charset="0"/>
                        <a:ea typeface="Cambria Math" panose="02040503050406030204" pitchFamily="18" charset="0"/>
                      </a:rPr>
                      <m:t> + </m:t>
                    </m:r>
                    <m:r>
                      <m:rPr>
                        <m:nor/>
                      </m:rPr>
                      <a:rPr lang="en-PH" sz="4400" b="0" i="0" smtClean="0">
                        <a:latin typeface="Cambria Math" panose="02040503050406030204" pitchFamily="18" charset="0"/>
                        <a:ea typeface="Cambria Math" panose="02040503050406030204" pitchFamily="18" charset="0"/>
                      </a:rPr>
                      <m:t>Rm</m:t>
                    </m:r>
                    <m:r>
                      <m:rPr>
                        <m:nor/>
                      </m:rPr>
                      <a:rPr lang="en-PH" sz="4400" b="0" i="0" smtClean="0">
                        <a:latin typeface="Cambria Math" panose="02040503050406030204" pitchFamily="18" charset="0"/>
                        <a:ea typeface="Cambria Math" panose="02040503050406030204" pitchFamily="18" charset="0"/>
                      </a:rPr>
                      <m:t> + </m:t>
                    </m:r>
                    <m:r>
                      <m:rPr>
                        <m:nor/>
                      </m:rPr>
                      <a:rPr lang="en-PH" sz="4400" b="0" i="0" smtClean="0">
                        <a:latin typeface="Cambria Math" panose="02040503050406030204" pitchFamily="18" charset="0"/>
                        <a:ea typeface="Cambria Math" panose="02040503050406030204" pitchFamily="18" charset="0"/>
                      </a:rPr>
                      <m:t>Rx</m:t>
                    </m:r>
                    <m:r>
                      <m:rPr>
                        <m:nor/>
                      </m:rPr>
                      <a:rPr lang="en-PH" sz="4400" b="0" i="0" smtClean="0">
                        <a:latin typeface="Cambria Math" panose="02040503050406030204" pitchFamily="18" charset="0"/>
                        <a:ea typeface="Cambria Math" panose="02040503050406030204" pitchFamily="18" charset="0"/>
                      </a:rPr>
                      <m:t>)</m:t>
                    </m:r>
                    <m:r>
                      <a:rPr lang="en-PH" sz="4400" b="0" i="1" smtClean="0">
                        <a:latin typeface="Cambria Math" panose="02040503050406030204" pitchFamily="18" charset="0"/>
                        <a:ea typeface="Cambria Math" panose="02040503050406030204" pitchFamily="18" charset="0"/>
                      </a:rPr>
                      <m:t> </m:t>
                    </m:r>
                  </m:oMath>
                </a14:m>
                <a:r>
                  <a:rPr lang="en-PH" sz="4400" dirty="0"/>
                  <a:t>= </a:t>
                </a:r>
                <a14:m>
                  <m:oMath xmlns:m="http://schemas.openxmlformats.org/officeDocument/2006/math">
                    <m:r>
                      <m:rPr>
                        <m:nor/>
                      </m:rPr>
                      <a:rPr lang="en-PH" sz="4400" b="0" i="0" smtClean="0">
                        <a:latin typeface="Cambria Math" panose="02040503050406030204" pitchFamily="18" charset="0"/>
                        <a:ea typeface="Cambria Math" panose="02040503050406030204" pitchFamily="18" charset="0"/>
                      </a:rPr>
                      <m:t>Rz</m:t>
                    </m:r>
                    <m:r>
                      <m:rPr>
                        <m:nor/>
                      </m:rPr>
                      <a:rPr lang="en-PH" sz="4400" b="0" i="0" smtClean="0">
                        <a:latin typeface="Cambria Math" panose="02040503050406030204" pitchFamily="18" charset="0"/>
                        <a:ea typeface="Cambria Math" panose="02040503050406030204" pitchFamily="18" charset="0"/>
                      </a:rPr>
                      <m:t> + </m:t>
                    </m:r>
                    <m:r>
                      <m:rPr>
                        <m:nor/>
                      </m:rPr>
                      <a:rPr lang="en-PH" sz="4400" b="0" i="0" smtClean="0">
                        <a:latin typeface="Cambria Math" panose="02040503050406030204" pitchFamily="18" charset="0"/>
                        <a:ea typeface="Cambria Math" panose="02040503050406030204" pitchFamily="18" charset="0"/>
                      </a:rPr>
                      <m:t>Rm</m:t>
                    </m:r>
                    <m:r>
                      <m:rPr>
                        <m:nor/>
                      </m:rPr>
                      <a:rPr lang="en-PH" sz="4400" b="0" i="0" smtClean="0">
                        <a:latin typeface="Cambria Math" panose="02040503050406030204" pitchFamily="18" charset="0"/>
                        <a:ea typeface="Cambria Math" panose="02040503050406030204" pitchFamily="18" charset="0"/>
                      </a:rPr>
                      <m:t> </m:t>
                    </m:r>
                  </m:oMath>
                </a14:m>
                <a:endParaRPr lang="en-PH" sz="4400" b="0" dirty="0">
                  <a:ea typeface="Cambria Math" panose="02040503050406030204" pitchFamily="18" charset="0"/>
                </a:endParaRPr>
              </a:p>
              <a:p>
                <a:pPr marL="0" indent="0">
                  <a:buNone/>
                </a:pPr>
                <a14:m>
                  <m:oMath xmlns:m="http://schemas.openxmlformats.org/officeDocument/2006/math">
                    <m:r>
                      <m:rPr>
                        <m:nor/>
                      </m:rPr>
                      <a:rPr lang="en-PH" sz="4400" b="0" i="0" smtClean="0">
                        <a:latin typeface="Cambria Math" panose="02040503050406030204" pitchFamily="18" charset="0"/>
                        <a:ea typeface="Cambria Math" panose="02040503050406030204" pitchFamily="18" charset="0"/>
                      </a:rPr>
                      <m:t>Rz</m:t>
                    </m:r>
                    <m:r>
                      <m:rPr>
                        <m:nor/>
                      </m:rPr>
                      <a:rPr lang="en-PH" sz="4400" b="0" i="0" smtClean="0">
                        <a:latin typeface="Cambria Math" panose="02040503050406030204" pitchFamily="18" charset="0"/>
                        <a:ea typeface="Cambria Math" panose="02040503050406030204" pitchFamily="18" charset="0"/>
                      </a:rPr>
                      <m:t> + </m:t>
                    </m:r>
                    <m:r>
                      <m:rPr>
                        <m:nor/>
                      </m:rPr>
                      <a:rPr lang="en-PH" sz="4400" b="0" i="0" smtClean="0">
                        <a:latin typeface="Cambria Math" panose="02040503050406030204" pitchFamily="18" charset="0"/>
                        <a:ea typeface="Cambria Math" panose="02040503050406030204" pitchFamily="18" charset="0"/>
                      </a:rPr>
                      <m:t>Rm</m:t>
                    </m:r>
                    <m:r>
                      <m:rPr>
                        <m:nor/>
                      </m:rPr>
                      <a:rPr lang="en-PH" sz="4400" b="0" i="0" smtClean="0">
                        <a:latin typeface="Cambria Math" panose="02040503050406030204" pitchFamily="18" charset="0"/>
                        <a:ea typeface="Cambria Math" panose="02040503050406030204" pitchFamily="18" charset="0"/>
                      </a:rPr>
                      <m:t> + </m:t>
                    </m:r>
                    <m:r>
                      <m:rPr>
                        <m:nor/>
                      </m:rPr>
                      <a:rPr lang="en-PH" sz="4400" b="0" i="0" smtClean="0">
                        <a:latin typeface="Cambria Math" panose="02040503050406030204" pitchFamily="18" charset="0"/>
                        <a:ea typeface="Cambria Math" panose="02040503050406030204" pitchFamily="18" charset="0"/>
                      </a:rPr>
                      <m:t>Rx</m:t>
                    </m:r>
                    <m:r>
                      <a:rPr lang="en-PH" sz="4400" b="0" i="1" smtClean="0">
                        <a:latin typeface="Cambria Math" panose="02040503050406030204" pitchFamily="18" charset="0"/>
                        <a:ea typeface="Cambria Math" panose="02040503050406030204" pitchFamily="18" charset="0"/>
                      </a:rPr>
                      <m:t> </m:t>
                    </m:r>
                  </m:oMath>
                </a14:m>
                <a:r>
                  <a:rPr lang="en-PH" sz="4400" dirty="0"/>
                  <a:t>= </a:t>
                </a:r>
                <a14:m>
                  <m:oMath xmlns:m="http://schemas.openxmlformats.org/officeDocument/2006/math">
                    <m:f>
                      <m:fPr>
                        <m:ctrlPr>
                          <a:rPr lang="en-PH" sz="3600" i="1" smtClean="0">
                            <a:latin typeface="Cambria Math" panose="02040503050406030204" pitchFamily="18" charset="0"/>
                          </a:rPr>
                        </m:ctrlPr>
                      </m:fPr>
                      <m:num>
                        <m:r>
                          <m:rPr>
                            <m:nor/>
                          </m:rPr>
                          <a:rPr lang="en-PH" sz="3600" b="0" i="0" smtClean="0">
                            <a:latin typeface="Cambria Math" panose="02040503050406030204" pitchFamily="18" charset="0"/>
                            <a:ea typeface="Cambria Math" panose="02040503050406030204" pitchFamily="18" charset="0"/>
                          </a:rPr>
                          <m:t>Rz</m:t>
                        </m:r>
                        <m:r>
                          <m:rPr>
                            <m:nor/>
                          </m:rPr>
                          <a:rPr lang="en-PH" sz="3600" b="0" i="0" smtClean="0">
                            <a:latin typeface="Cambria Math" panose="02040503050406030204" pitchFamily="18" charset="0"/>
                            <a:ea typeface="Cambria Math" panose="02040503050406030204" pitchFamily="18" charset="0"/>
                          </a:rPr>
                          <m:t> + </m:t>
                        </m:r>
                        <m:r>
                          <m:rPr>
                            <m:nor/>
                          </m:rPr>
                          <a:rPr lang="en-PH" sz="3600" b="0" i="0" smtClean="0">
                            <a:latin typeface="Cambria Math" panose="02040503050406030204" pitchFamily="18" charset="0"/>
                            <a:ea typeface="Cambria Math" panose="02040503050406030204" pitchFamily="18" charset="0"/>
                          </a:rPr>
                          <m:t>Rm</m:t>
                        </m:r>
                        <m:r>
                          <m:rPr>
                            <m:nor/>
                          </m:rPr>
                          <a:rPr lang="en-PH" sz="3600" b="0" i="0" smtClean="0">
                            <a:latin typeface="Cambria Math" panose="02040503050406030204" pitchFamily="18" charset="0"/>
                            <a:ea typeface="Cambria Math" panose="02040503050406030204" pitchFamily="18" charset="0"/>
                          </a:rPr>
                          <m:t> </m:t>
                        </m:r>
                      </m:num>
                      <m:den>
                        <m:r>
                          <m:rPr>
                            <m:nor/>
                          </m:rPr>
                          <a:rPr lang="el-GR" sz="4400" dirty="0" smtClean="0"/>
                          <m:t>ρ</m:t>
                        </m:r>
                      </m:den>
                    </m:f>
                  </m:oMath>
                </a14:m>
                <a:endParaRPr lang="en-PH" sz="3600" b="0" dirty="0">
                  <a:ea typeface="Cambria Math" panose="02040503050406030204" pitchFamily="18" charset="0"/>
                </a:endParaRPr>
              </a:p>
              <a:p>
                <a:pPr marL="0" indent="0">
                  <a:buNone/>
                </a:pPr>
                <a14:m>
                  <m:oMath xmlns:m="http://schemas.openxmlformats.org/officeDocument/2006/math">
                    <m:r>
                      <m:rPr>
                        <m:nor/>
                      </m:rPr>
                      <a:rPr lang="en-PH" sz="4400" b="0" i="0" smtClean="0">
                        <a:latin typeface="Cambria Math" panose="02040503050406030204" pitchFamily="18" charset="0"/>
                        <a:ea typeface="Cambria Math" panose="02040503050406030204" pitchFamily="18" charset="0"/>
                      </a:rPr>
                      <m:t>Rx</m:t>
                    </m:r>
                    <m:r>
                      <a:rPr lang="en-PH" sz="4400" b="0" i="1" smtClean="0">
                        <a:latin typeface="Cambria Math" panose="02040503050406030204" pitchFamily="18" charset="0"/>
                        <a:ea typeface="Cambria Math" panose="02040503050406030204" pitchFamily="18" charset="0"/>
                      </a:rPr>
                      <m:t> </m:t>
                    </m:r>
                  </m:oMath>
                </a14:m>
                <a:r>
                  <a:rPr lang="en-PH" sz="4400" dirty="0"/>
                  <a:t>= </a:t>
                </a:r>
                <a14:m>
                  <m:oMath xmlns:m="http://schemas.openxmlformats.org/officeDocument/2006/math">
                    <m:f>
                      <m:fPr>
                        <m:ctrlPr>
                          <a:rPr lang="en-PH" sz="3600" i="1" smtClean="0">
                            <a:latin typeface="Cambria Math" panose="02040503050406030204" pitchFamily="18" charset="0"/>
                          </a:rPr>
                        </m:ctrlPr>
                      </m:fPr>
                      <m:num>
                        <m:r>
                          <m:rPr>
                            <m:nor/>
                          </m:rPr>
                          <a:rPr lang="en-PH" sz="3600" b="0" i="0" smtClean="0">
                            <a:latin typeface="Cambria Math" panose="02040503050406030204" pitchFamily="18" charset="0"/>
                            <a:ea typeface="Cambria Math" panose="02040503050406030204" pitchFamily="18" charset="0"/>
                          </a:rPr>
                          <m:t>Rz</m:t>
                        </m:r>
                        <m:r>
                          <m:rPr>
                            <m:nor/>
                          </m:rPr>
                          <a:rPr lang="en-PH" sz="3600" b="0" i="0" smtClean="0">
                            <a:latin typeface="Cambria Math" panose="02040503050406030204" pitchFamily="18" charset="0"/>
                            <a:ea typeface="Cambria Math" panose="02040503050406030204" pitchFamily="18" charset="0"/>
                          </a:rPr>
                          <m:t> + </m:t>
                        </m:r>
                        <m:r>
                          <m:rPr>
                            <m:nor/>
                          </m:rPr>
                          <a:rPr lang="en-PH" sz="3600" b="0" i="0" smtClean="0">
                            <a:latin typeface="Cambria Math" panose="02040503050406030204" pitchFamily="18" charset="0"/>
                            <a:ea typeface="Cambria Math" panose="02040503050406030204" pitchFamily="18" charset="0"/>
                          </a:rPr>
                          <m:t>Rm</m:t>
                        </m:r>
                        <m:r>
                          <m:rPr>
                            <m:nor/>
                          </m:rPr>
                          <a:rPr lang="en-PH" sz="3600" b="0" i="0" smtClean="0">
                            <a:latin typeface="Cambria Math" panose="02040503050406030204" pitchFamily="18" charset="0"/>
                            <a:ea typeface="Cambria Math" panose="02040503050406030204" pitchFamily="18" charset="0"/>
                          </a:rPr>
                          <m:t> </m:t>
                        </m:r>
                      </m:num>
                      <m:den>
                        <m:r>
                          <m:rPr>
                            <m:nor/>
                          </m:rPr>
                          <a:rPr lang="el-GR" sz="4400" dirty="0" smtClean="0"/>
                          <m:t>ρ</m:t>
                        </m:r>
                      </m:den>
                    </m:f>
                  </m:oMath>
                </a14:m>
                <a:r>
                  <a:rPr lang="en-PH" sz="4400" b="0" dirty="0">
                    <a:ea typeface="Cambria Math" panose="02040503050406030204" pitchFamily="18" charset="0"/>
                  </a:rPr>
                  <a:t> </a:t>
                </a:r>
                <a:r>
                  <a:rPr lang="en-PH" sz="4400" dirty="0"/>
                  <a:t>–</a:t>
                </a:r>
                <a:r>
                  <a:rPr lang="en-PH" sz="4400" b="0" dirty="0">
                    <a:ea typeface="Cambria Math" panose="02040503050406030204" pitchFamily="18" charset="0"/>
                  </a:rPr>
                  <a:t> (</a:t>
                </a:r>
                <a14:m>
                  <m:oMath xmlns:m="http://schemas.openxmlformats.org/officeDocument/2006/math">
                    <m:r>
                      <m:rPr>
                        <m:nor/>
                      </m:rPr>
                      <a:rPr lang="en-PH" sz="4400" b="0" i="0" smtClean="0">
                        <a:latin typeface="Cambria Math" panose="02040503050406030204" pitchFamily="18" charset="0"/>
                        <a:ea typeface="Cambria Math" panose="02040503050406030204" pitchFamily="18" charset="0"/>
                      </a:rPr>
                      <m:t>Rz</m:t>
                    </m:r>
                    <m:r>
                      <m:rPr>
                        <m:nor/>
                      </m:rPr>
                      <a:rPr lang="en-PH" sz="4400" b="0" i="0" smtClean="0">
                        <a:latin typeface="Cambria Math" panose="02040503050406030204" pitchFamily="18" charset="0"/>
                        <a:ea typeface="Cambria Math" panose="02040503050406030204" pitchFamily="18" charset="0"/>
                      </a:rPr>
                      <m:t> + </m:t>
                    </m:r>
                    <m:r>
                      <m:rPr>
                        <m:nor/>
                      </m:rPr>
                      <a:rPr lang="en-PH" sz="4400" b="0" i="0" smtClean="0">
                        <a:latin typeface="Cambria Math" panose="02040503050406030204" pitchFamily="18" charset="0"/>
                        <a:ea typeface="Cambria Math" panose="02040503050406030204" pitchFamily="18" charset="0"/>
                      </a:rPr>
                      <m:t>Rm</m:t>
                    </m:r>
                    <m:r>
                      <m:rPr>
                        <m:nor/>
                      </m:rPr>
                      <a:rPr lang="en-PH" sz="4400" b="0" i="0" smtClean="0">
                        <a:latin typeface="Cambria Math" panose="02040503050406030204" pitchFamily="18" charset="0"/>
                        <a:ea typeface="Cambria Math" panose="02040503050406030204" pitchFamily="18" charset="0"/>
                      </a:rPr>
                      <m:t>)</m:t>
                    </m:r>
                  </m:oMath>
                </a14:m>
                <a:endParaRPr lang="en-PH" sz="4400" b="0" dirty="0">
                  <a:ea typeface="Cambria Math" panose="02040503050406030204" pitchFamily="18" charset="0"/>
                </a:endParaRPr>
              </a:p>
              <a:p>
                <a:pPr marL="0" indent="0">
                  <a:buNone/>
                </a:pPr>
                <a:endParaRPr lang="en-PH" sz="4400" b="0" dirty="0">
                  <a:ea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368300"/>
                <a:ext cx="11087100" cy="6172200"/>
              </a:xfrm>
              <a:blipFill rotWithShape="0">
                <a:blip r:embed="rId2"/>
                <a:stretch>
                  <a:fillRect l="-2970" t="-1777"/>
                </a:stretch>
              </a:blipFill>
            </p:spPr>
            <p:txBody>
              <a:bodyPr/>
              <a:lstStyle/>
              <a:p>
                <a:r>
                  <a:rPr lang="en-PH">
                    <a:noFill/>
                  </a:rPr>
                  <a:t> </a:t>
                </a:r>
              </a:p>
            </p:txBody>
          </p:sp>
        </mc:Fallback>
      </mc:AlternateContent>
      <p:sp>
        <p:nvSpPr>
          <p:cNvPr id="4" name="Rectangle 3"/>
          <p:cNvSpPr/>
          <p:nvPr/>
        </p:nvSpPr>
        <p:spPr>
          <a:xfrm>
            <a:off x="635000" y="4749800"/>
            <a:ext cx="5930900" cy="10795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31736536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b="0" dirty="0">
                    <a:ea typeface="Cambria Math" panose="02040503050406030204" pitchFamily="18" charset="0"/>
                  </a:rPr>
                  <a:t>The value of Rx with 20% full scale deflection is:</a:t>
                </a:r>
              </a:p>
              <a:p>
                <a:pPr marL="0" indent="0">
                  <a:buNone/>
                </a:pPr>
                <a:endParaRPr lang="en-PH" sz="4400" b="0" i="0" dirty="0">
                  <a:latin typeface="Cambria Math" panose="02040503050406030204" pitchFamily="18" charset="0"/>
                  <a:ea typeface="Cambria Math" panose="02040503050406030204" pitchFamily="18" charset="0"/>
                </a:endParaRPr>
              </a:p>
              <a:p>
                <a:pPr marL="0" indent="0">
                  <a:buNone/>
                </a:pPr>
                <a14:m>
                  <m:oMath xmlns:m="http://schemas.openxmlformats.org/officeDocument/2006/math">
                    <m:r>
                      <m:rPr>
                        <m:nor/>
                      </m:rPr>
                      <a:rPr lang="en-PH" sz="4400" b="0" i="0" smtClean="0">
                        <a:latin typeface="Cambria Math" panose="02040503050406030204" pitchFamily="18" charset="0"/>
                        <a:ea typeface="Cambria Math" panose="02040503050406030204" pitchFamily="18" charset="0"/>
                      </a:rPr>
                      <m:t>Rx</m:t>
                    </m:r>
                    <m:r>
                      <a:rPr lang="en-PH" sz="4400" b="0" i="1" smtClean="0">
                        <a:latin typeface="Cambria Math" panose="02040503050406030204" pitchFamily="18" charset="0"/>
                        <a:ea typeface="Cambria Math" panose="02040503050406030204" pitchFamily="18" charset="0"/>
                      </a:rPr>
                      <m:t> </m:t>
                    </m:r>
                  </m:oMath>
                </a14:m>
                <a:r>
                  <a:rPr lang="en-PH" sz="4400" dirty="0"/>
                  <a:t>= </a:t>
                </a:r>
                <a14:m>
                  <m:oMath xmlns:m="http://schemas.openxmlformats.org/officeDocument/2006/math">
                    <m:f>
                      <m:fPr>
                        <m:ctrlPr>
                          <a:rPr lang="en-PH" sz="3600" i="1" smtClean="0">
                            <a:latin typeface="Cambria Math" panose="02040503050406030204" pitchFamily="18" charset="0"/>
                          </a:rPr>
                        </m:ctrlPr>
                      </m:fPr>
                      <m:num>
                        <m:r>
                          <m:rPr>
                            <m:nor/>
                          </m:rPr>
                          <a:rPr lang="en-PH" sz="3600" b="0" i="0" smtClean="0">
                            <a:latin typeface="Cambria Math" panose="02040503050406030204" pitchFamily="18" charset="0"/>
                            <a:ea typeface="Cambria Math" panose="02040503050406030204" pitchFamily="18" charset="0"/>
                          </a:rPr>
                          <m:t>Rz</m:t>
                        </m:r>
                        <m:r>
                          <m:rPr>
                            <m:nor/>
                          </m:rPr>
                          <a:rPr lang="en-PH" sz="3600" b="0" i="0" smtClean="0">
                            <a:latin typeface="Cambria Math" panose="02040503050406030204" pitchFamily="18" charset="0"/>
                            <a:ea typeface="Cambria Math" panose="02040503050406030204" pitchFamily="18" charset="0"/>
                          </a:rPr>
                          <m:t> + </m:t>
                        </m:r>
                        <m:r>
                          <m:rPr>
                            <m:nor/>
                          </m:rPr>
                          <a:rPr lang="en-PH" sz="3600" b="0" i="0" smtClean="0">
                            <a:latin typeface="Cambria Math" panose="02040503050406030204" pitchFamily="18" charset="0"/>
                            <a:ea typeface="Cambria Math" panose="02040503050406030204" pitchFamily="18" charset="0"/>
                          </a:rPr>
                          <m:t>Rm</m:t>
                        </m:r>
                        <m:r>
                          <m:rPr>
                            <m:nor/>
                          </m:rPr>
                          <a:rPr lang="en-PH" sz="3600" b="0" i="0" smtClean="0">
                            <a:latin typeface="Cambria Math" panose="02040503050406030204" pitchFamily="18" charset="0"/>
                            <a:ea typeface="Cambria Math" panose="02040503050406030204" pitchFamily="18" charset="0"/>
                          </a:rPr>
                          <m:t> </m:t>
                        </m:r>
                      </m:num>
                      <m:den>
                        <m:r>
                          <m:rPr>
                            <m:nor/>
                          </m:rPr>
                          <a:rPr lang="el-GR" sz="4400" dirty="0" smtClean="0"/>
                          <m:t>ρ</m:t>
                        </m:r>
                      </m:den>
                    </m:f>
                  </m:oMath>
                </a14:m>
                <a:r>
                  <a:rPr lang="en-PH" sz="4400" b="0" dirty="0">
                    <a:ea typeface="Cambria Math" panose="02040503050406030204" pitchFamily="18" charset="0"/>
                  </a:rPr>
                  <a:t> </a:t>
                </a:r>
                <a:r>
                  <a:rPr lang="en-PH" sz="4400" dirty="0"/>
                  <a:t>–</a:t>
                </a:r>
                <a:r>
                  <a:rPr lang="en-PH" sz="4400" b="0" dirty="0">
                    <a:ea typeface="Cambria Math" panose="02040503050406030204" pitchFamily="18" charset="0"/>
                  </a:rPr>
                  <a:t> (</a:t>
                </a:r>
                <a14:m>
                  <m:oMath xmlns:m="http://schemas.openxmlformats.org/officeDocument/2006/math">
                    <m:r>
                      <m:rPr>
                        <m:nor/>
                      </m:rPr>
                      <a:rPr lang="en-PH" sz="4400" b="0" i="0" smtClean="0">
                        <a:latin typeface="Cambria Math" panose="02040503050406030204" pitchFamily="18" charset="0"/>
                        <a:ea typeface="Cambria Math" panose="02040503050406030204" pitchFamily="18" charset="0"/>
                      </a:rPr>
                      <m:t>Rz</m:t>
                    </m:r>
                    <m:r>
                      <m:rPr>
                        <m:nor/>
                      </m:rPr>
                      <a:rPr lang="en-PH" sz="4400" b="0" i="0" smtClean="0">
                        <a:latin typeface="Cambria Math" panose="02040503050406030204" pitchFamily="18" charset="0"/>
                        <a:ea typeface="Cambria Math" panose="02040503050406030204" pitchFamily="18" charset="0"/>
                      </a:rPr>
                      <m:t> + </m:t>
                    </m:r>
                    <m:r>
                      <m:rPr>
                        <m:nor/>
                      </m:rPr>
                      <a:rPr lang="en-PH" sz="4400" b="0" i="0" smtClean="0">
                        <a:latin typeface="Cambria Math" panose="02040503050406030204" pitchFamily="18" charset="0"/>
                        <a:ea typeface="Cambria Math" panose="02040503050406030204" pitchFamily="18" charset="0"/>
                      </a:rPr>
                      <m:t>Rm</m:t>
                    </m:r>
                    <m:r>
                      <m:rPr>
                        <m:nor/>
                      </m:rPr>
                      <a:rPr lang="en-PH" sz="4400" b="0" i="0" smtClean="0">
                        <a:latin typeface="Cambria Math" panose="02040503050406030204" pitchFamily="18" charset="0"/>
                        <a:ea typeface="Cambria Math" panose="02040503050406030204" pitchFamily="18" charset="0"/>
                      </a:rPr>
                      <m:t>)</m:t>
                    </m:r>
                  </m:oMath>
                </a14:m>
                <a:endParaRPr lang="en-PH" sz="4400" b="0" dirty="0">
                  <a:ea typeface="Cambria Math" panose="02040503050406030204" pitchFamily="18" charset="0"/>
                </a:endParaRPr>
              </a:p>
              <a:p>
                <a:pPr marL="0" indent="0">
                  <a:buNone/>
                </a:pPr>
                <a:endParaRPr lang="en-PH" sz="4400" b="0" i="0" dirty="0">
                  <a:latin typeface="Cambria Math" panose="02040503050406030204" pitchFamily="18" charset="0"/>
                  <a:ea typeface="Cambria Math" panose="02040503050406030204" pitchFamily="18" charset="0"/>
                </a:endParaRPr>
              </a:p>
              <a:p>
                <a:pPr marL="0" indent="0">
                  <a:buNone/>
                </a:pPr>
                <a14:m>
                  <m:oMath xmlns:m="http://schemas.openxmlformats.org/officeDocument/2006/math">
                    <m:r>
                      <m:rPr>
                        <m:nor/>
                      </m:rPr>
                      <a:rPr lang="en-PH" sz="4400" b="0" i="0" smtClean="0">
                        <a:latin typeface="Cambria Math" panose="02040503050406030204" pitchFamily="18" charset="0"/>
                        <a:ea typeface="Cambria Math" panose="02040503050406030204" pitchFamily="18" charset="0"/>
                      </a:rPr>
                      <m:t>Rx</m:t>
                    </m:r>
                    <m:r>
                      <a:rPr lang="en-PH" sz="4400" b="0" i="1" smtClean="0">
                        <a:latin typeface="Cambria Math" panose="02040503050406030204" pitchFamily="18" charset="0"/>
                        <a:ea typeface="Cambria Math" panose="02040503050406030204" pitchFamily="18" charset="0"/>
                      </a:rPr>
                      <m:t> </m:t>
                    </m:r>
                  </m:oMath>
                </a14:m>
                <a:r>
                  <a:rPr lang="en-PH" sz="4400" dirty="0"/>
                  <a:t>= </a:t>
                </a:r>
                <a14:m>
                  <m:oMath xmlns:m="http://schemas.openxmlformats.org/officeDocument/2006/math">
                    <m:f>
                      <m:fPr>
                        <m:ctrlPr>
                          <a:rPr lang="en-PH" sz="3600" i="1" smtClean="0">
                            <a:latin typeface="Cambria Math" panose="02040503050406030204" pitchFamily="18" charset="0"/>
                          </a:rPr>
                        </m:ctrlPr>
                      </m:fPr>
                      <m:num>
                        <m:r>
                          <m:rPr>
                            <m:nor/>
                          </m:rPr>
                          <a:rPr lang="en-PH" sz="3600" dirty="0" smtClean="0"/>
                          <m:t>2.9 </m:t>
                        </m:r>
                        <m:r>
                          <m:rPr>
                            <m:nor/>
                          </m:rPr>
                          <a:rPr lang="en-PH" sz="3600" dirty="0" smtClean="0"/>
                          <m:t>k</m:t>
                        </m:r>
                        <m:r>
                          <m:rPr>
                            <m:nor/>
                          </m:rPr>
                          <a:rPr lang="el-GR" sz="3600" dirty="0" smtClean="0"/>
                          <m:t>Ω</m:t>
                        </m:r>
                        <m:r>
                          <m:rPr>
                            <m:nor/>
                          </m:rPr>
                          <a:rPr lang="en-PH" sz="3600" b="0" i="0" dirty="0" smtClean="0"/>
                          <m:t> </m:t>
                        </m:r>
                        <m:r>
                          <m:rPr>
                            <m:nor/>
                          </m:rPr>
                          <a:rPr lang="en-PH" sz="3600" b="0" i="0" smtClean="0">
                            <a:latin typeface="Cambria Math" panose="02040503050406030204" pitchFamily="18" charset="0"/>
                            <a:ea typeface="Cambria Math" panose="02040503050406030204" pitchFamily="18" charset="0"/>
                          </a:rPr>
                          <m:t>+</m:t>
                        </m:r>
                        <m:r>
                          <m:rPr>
                            <m:nor/>
                          </m:rPr>
                          <a:rPr lang="en-PH" sz="3600" dirty="0" smtClean="0"/>
                          <m:t>100 </m:t>
                        </m:r>
                        <m:r>
                          <m:rPr>
                            <m:nor/>
                          </m:rPr>
                          <a:rPr lang="el-GR" sz="3600" dirty="0" smtClean="0"/>
                          <m:t>Ω</m:t>
                        </m:r>
                      </m:num>
                      <m:den>
                        <m:r>
                          <m:rPr>
                            <m:nor/>
                          </m:rPr>
                          <a:rPr lang="en-PH" sz="3600" b="0" i="0" dirty="0" smtClean="0"/>
                          <m:t>0.2</m:t>
                        </m:r>
                      </m:den>
                    </m:f>
                  </m:oMath>
                </a14:m>
                <a:r>
                  <a:rPr lang="en-PH" sz="4400" b="0" dirty="0">
                    <a:ea typeface="Cambria Math" panose="02040503050406030204" pitchFamily="18" charset="0"/>
                  </a:rPr>
                  <a:t> </a:t>
                </a:r>
                <a:r>
                  <a:rPr lang="en-PH" sz="4400" dirty="0"/>
                  <a:t>–</a:t>
                </a:r>
                <a:r>
                  <a:rPr lang="en-PH" sz="4400" b="0" dirty="0">
                    <a:ea typeface="Cambria Math" panose="02040503050406030204" pitchFamily="18" charset="0"/>
                  </a:rPr>
                  <a:t> (</a:t>
                </a:r>
                <a14:m>
                  <m:oMath xmlns:m="http://schemas.openxmlformats.org/officeDocument/2006/math">
                    <m:r>
                      <m:rPr>
                        <m:nor/>
                      </m:rPr>
                      <a:rPr lang="en-PH" sz="4400" dirty="0" smtClean="0"/>
                      <m:t>2.9 </m:t>
                    </m:r>
                    <m:r>
                      <m:rPr>
                        <m:nor/>
                      </m:rPr>
                      <a:rPr lang="en-PH" sz="4400" dirty="0" smtClean="0"/>
                      <m:t>k</m:t>
                    </m:r>
                    <m:r>
                      <m:rPr>
                        <m:nor/>
                      </m:rPr>
                      <a:rPr lang="el-GR" sz="4400" dirty="0" smtClean="0"/>
                      <m:t>Ω</m:t>
                    </m:r>
                    <m:r>
                      <m:rPr>
                        <m:nor/>
                      </m:rPr>
                      <a:rPr lang="en-PH" sz="4400" b="0" i="0" dirty="0" smtClean="0"/>
                      <m:t> </m:t>
                    </m:r>
                    <m:r>
                      <m:rPr>
                        <m:nor/>
                      </m:rPr>
                      <a:rPr lang="en-PH" sz="4400" b="0" i="0" smtClean="0">
                        <a:latin typeface="Cambria Math" panose="02040503050406030204" pitchFamily="18" charset="0"/>
                        <a:ea typeface="Cambria Math" panose="02040503050406030204" pitchFamily="18" charset="0"/>
                      </a:rPr>
                      <m:t>+</m:t>
                    </m:r>
                    <m:r>
                      <m:rPr>
                        <m:nor/>
                      </m:rPr>
                      <a:rPr lang="en-PH" sz="4400" dirty="0" smtClean="0"/>
                      <m:t>100 </m:t>
                    </m:r>
                    <m:r>
                      <m:rPr>
                        <m:nor/>
                      </m:rPr>
                      <a:rPr lang="el-GR" sz="4400" dirty="0" smtClean="0"/>
                      <m:t>Ω</m:t>
                    </m:r>
                    <m:r>
                      <m:rPr>
                        <m:nor/>
                      </m:rPr>
                      <a:rPr lang="en-PH" sz="5400" b="0" i="0" smtClean="0">
                        <a:latin typeface="Cambria Math" panose="02040503050406030204" pitchFamily="18" charset="0"/>
                        <a:ea typeface="Cambria Math" panose="02040503050406030204" pitchFamily="18" charset="0"/>
                      </a:rPr>
                      <m:t>)</m:t>
                    </m:r>
                  </m:oMath>
                </a14:m>
                <a:endParaRPr lang="en-PH" sz="4400" b="0" dirty="0">
                  <a:ea typeface="Cambria Math" panose="02040503050406030204" pitchFamily="18" charset="0"/>
                </a:endParaRPr>
              </a:p>
              <a:p>
                <a:pPr marL="0" indent="0">
                  <a:buNone/>
                </a:pPr>
                <a:endParaRPr lang="en-PH" sz="4400" b="0" i="0" dirty="0">
                  <a:latin typeface="Cambria Math" panose="02040503050406030204" pitchFamily="18" charset="0"/>
                  <a:ea typeface="Cambria Math" panose="02040503050406030204" pitchFamily="18" charset="0"/>
                </a:endParaRPr>
              </a:p>
              <a:p>
                <a:pPr marL="0" indent="0">
                  <a:buNone/>
                </a:pPr>
                <a14:m>
                  <m:oMath xmlns:m="http://schemas.openxmlformats.org/officeDocument/2006/math">
                    <m:r>
                      <m:rPr>
                        <m:nor/>
                      </m:rPr>
                      <a:rPr lang="en-PH" sz="4400" b="0" i="0" smtClean="0">
                        <a:latin typeface="Cambria Math" panose="02040503050406030204" pitchFamily="18" charset="0"/>
                        <a:ea typeface="Cambria Math" panose="02040503050406030204" pitchFamily="18" charset="0"/>
                      </a:rPr>
                      <m:t>Rx</m:t>
                    </m:r>
                    <m:r>
                      <a:rPr lang="en-PH" sz="4400" b="0" i="1" smtClean="0">
                        <a:latin typeface="Cambria Math" panose="02040503050406030204" pitchFamily="18" charset="0"/>
                        <a:ea typeface="Cambria Math" panose="02040503050406030204" pitchFamily="18" charset="0"/>
                      </a:rPr>
                      <m:t> </m:t>
                    </m:r>
                  </m:oMath>
                </a14:m>
                <a:r>
                  <a:rPr lang="en-PH" sz="4400" dirty="0"/>
                  <a:t>= 12 </a:t>
                </a:r>
                <a14:m>
                  <m:oMath xmlns:m="http://schemas.openxmlformats.org/officeDocument/2006/math">
                    <m:r>
                      <m:rPr>
                        <m:nor/>
                      </m:rPr>
                      <a:rPr lang="en-PH" sz="4400" dirty="0" smtClean="0"/>
                      <m:t>k</m:t>
                    </m:r>
                    <m:r>
                      <m:rPr>
                        <m:nor/>
                      </m:rPr>
                      <a:rPr lang="el-GR" sz="4400" dirty="0" smtClean="0"/>
                      <m:t>Ω</m:t>
                    </m:r>
                  </m:oMath>
                </a14:m>
                <a:r>
                  <a:rPr lang="en-PH" sz="4400" dirty="0"/>
                  <a:t> </a:t>
                </a:r>
                <a:endParaRPr lang="en-PH" sz="4400" b="0" dirty="0">
                  <a:ea typeface="Cambria Math" panose="02040503050406030204" pitchFamily="18" charset="0"/>
                </a:endParaRPr>
              </a:p>
              <a:p>
                <a:pPr marL="0" indent="0">
                  <a:buNone/>
                </a:pPr>
                <a:endParaRPr lang="en-PH" sz="4400" b="0" dirty="0">
                  <a:ea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368300"/>
                <a:ext cx="11087100" cy="6172200"/>
              </a:xfrm>
              <a:blipFill rotWithShape="0">
                <a:blip r:embed="rId2"/>
                <a:stretch>
                  <a:fillRect l="-2255" t="-3060" r="-1430"/>
                </a:stretch>
              </a:blipFill>
            </p:spPr>
            <p:txBody>
              <a:bodyPr/>
              <a:lstStyle/>
              <a:p>
                <a:r>
                  <a:rPr lang="en-PH">
                    <a:noFill/>
                  </a:rPr>
                  <a:t> </a:t>
                </a:r>
              </a:p>
            </p:txBody>
          </p:sp>
        </mc:Fallback>
      </mc:AlternateContent>
      <p:sp>
        <p:nvSpPr>
          <p:cNvPr id="5" name="Rectangle 4"/>
          <p:cNvSpPr/>
          <p:nvPr/>
        </p:nvSpPr>
        <p:spPr>
          <a:xfrm>
            <a:off x="533400" y="5257800"/>
            <a:ext cx="2743200" cy="5715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23612476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b="0" dirty="0">
                    <a:ea typeface="Cambria Math" panose="02040503050406030204" pitchFamily="18" charset="0"/>
                  </a:rPr>
                  <a:t>The value of Rx with 40% full scale deflection is:</a:t>
                </a:r>
              </a:p>
              <a:p>
                <a:pPr marL="0" indent="0">
                  <a:buNone/>
                </a:pPr>
                <a:endParaRPr lang="en-PH" sz="4400" b="0" i="0" dirty="0">
                  <a:latin typeface="Cambria Math" panose="02040503050406030204" pitchFamily="18" charset="0"/>
                  <a:ea typeface="Cambria Math" panose="02040503050406030204" pitchFamily="18" charset="0"/>
                </a:endParaRPr>
              </a:p>
              <a:p>
                <a:pPr marL="0" indent="0">
                  <a:buNone/>
                </a:pPr>
                <a14:m>
                  <m:oMath xmlns:m="http://schemas.openxmlformats.org/officeDocument/2006/math">
                    <m:r>
                      <m:rPr>
                        <m:nor/>
                      </m:rPr>
                      <a:rPr lang="en-PH" sz="4400" b="0" i="0" smtClean="0">
                        <a:latin typeface="Cambria Math" panose="02040503050406030204" pitchFamily="18" charset="0"/>
                        <a:ea typeface="Cambria Math" panose="02040503050406030204" pitchFamily="18" charset="0"/>
                      </a:rPr>
                      <m:t>Rx</m:t>
                    </m:r>
                    <m:r>
                      <a:rPr lang="en-PH" sz="4400" b="0" i="1" smtClean="0">
                        <a:latin typeface="Cambria Math" panose="02040503050406030204" pitchFamily="18" charset="0"/>
                        <a:ea typeface="Cambria Math" panose="02040503050406030204" pitchFamily="18" charset="0"/>
                      </a:rPr>
                      <m:t> </m:t>
                    </m:r>
                  </m:oMath>
                </a14:m>
                <a:r>
                  <a:rPr lang="en-PH" sz="4400" dirty="0"/>
                  <a:t>= </a:t>
                </a:r>
                <a14:m>
                  <m:oMath xmlns:m="http://schemas.openxmlformats.org/officeDocument/2006/math">
                    <m:f>
                      <m:fPr>
                        <m:ctrlPr>
                          <a:rPr lang="en-PH" sz="3600" i="1" smtClean="0">
                            <a:latin typeface="Cambria Math" panose="02040503050406030204" pitchFamily="18" charset="0"/>
                          </a:rPr>
                        </m:ctrlPr>
                      </m:fPr>
                      <m:num>
                        <m:r>
                          <m:rPr>
                            <m:nor/>
                          </m:rPr>
                          <a:rPr lang="en-PH" sz="3600" b="0" i="0" smtClean="0">
                            <a:latin typeface="Cambria Math" panose="02040503050406030204" pitchFamily="18" charset="0"/>
                            <a:ea typeface="Cambria Math" panose="02040503050406030204" pitchFamily="18" charset="0"/>
                          </a:rPr>
                          <m:t>Rz</m:t>
                        </m:r>
                        <m:r>
                          <m:rPr>
                            <m:nor/>
                          </m:rPr>
                          <a:rPr lang="en-PH" sz="3600" b="0" i="0" smtClean="0">
                            <a:latin typeface="Cambria Math" panose="02040503050406030204" pitchFamily="18" charset="0"/>
                            <a:ea typeface="Cambria Math" panose="02040503050406030204" pitchFamily="18" charset="0"/>
                          </a:rPr>
                          <m:t> + </m:t>
                        </m:r>
                        <m:r>
                          <m:rPr>
                            <m:nor/>
                          </m:rPr>
                          <a:rPr lang="en-PH" sz="3600" b="0" i="0" smtClean="0">
                            <a:latin typeface="Cambria Math" panose="02040503050406030204" pitchFamily="18" charset="0"/>
                            <a:ea typeface="Cambria Math" panose="02040503050406030204" pitchFamily="18" charset="0"/>
                          </a:rPr>
                          <m:t>Rm</m:t>
                        </m:r>
                        <m:r>
                          <m:rPr>
                            <m:nor/>
                          </m:rPr>
                          <a:rPr lang="en-PH" sz="3600" b="0" i="0" smtClean="0">
                            <a:latin typeface="Cambria Math" panose="02040503050406030204" pitchFamily="18" charset="0"/>
                            <a:ea typeface="Cambria Math" panose="02040503050406030204" pitchFamily="18" charset="0"/>
                          </a:rPr>
                          <m:t> </m:t>
                        </m:r>
                      </m:num>
                      <m:den>
                        <m:r>
                          <m:rPr>
                            <m:nor/>
                          </m:rPr>
                          <a:rPr lang="el-GR" sz="4400" dirty="0" smtClean="0"/>
                          <m:t>ρ</m:t>
                        </m:r>
                      </m:den>
                    </m:f>
                  </m:oMath>
                </a14:m>
                <a:r>
                  <a:rPr lang="en-PH" sz="4400" b="0" dirty="0">
                    <a:ea typeface="Cambria Math" panose="02040503050406030204" pitchFamily="18" charset="0"/>
                  </a:rPr>
                  <a:t> </a:t>
                </a:r>
                <a:r>
                  <a:rPr lang="en-PH" sz="4400" dirty="0"/>
                  <a:t>–</a:t>
                </a:r>
                <a:r>
                  <a:rPr lang="en-PH" sz="4400" b="0" dirty="0">
                    <a:ea typeface="Cambria Math" panose="02040503050406030204" pitchFamily="18" charset="0"/>
                  </a:rPr>
                  <a:t> (</a:t>
                </a:r>
                <a14:m>
                  <m:oMath xmlns:m="http://schemas.openxmlformats.org/officeDocument/2006/math">
                    <m:r>
                      <m:rPr>
                        <m:nor/>
                      </m:rPr>
                      <a:rPr lang="en-PH" sz="4400" b="0" i="0" smtClean="0">
                        <a:latin typeface="Cambria Math" panose="02040503050406030204" pitchFamily="18" charset="0"/>
                        <a:ea typeface="Cambria Math" panose="02040503050406030204" pitchFamily="18" charset="0"/>
                      </a:rPr>
                      <m:t>Rz</m:t>
                    </m:r>
                    <m:r>
                      <m:rPr>
                        <m:nor/>
                      </m:rPr>
                      <a:rPr lang="en-PH" sz="4400" b="0" i="0" smtClean="0">
                        <a:latin typeface="Cambria Math" panose="02040503050406030204" pitchFamily="18" charset="0"/>
                        <a:ea typeface="Cambria Math" panose="02040503050406030204" pitchFamily="18" charset="0"/>
                      </a:rPr>
                      <m:t> + </m:t>
                    </m:r>
                    <m:r>
                      <m:rPr>
                        <m:nor/>
                      </m:rPr>
                      <a:rPr lang="en-PH" sz="4400" b="0" i="0" smtClean="0">
                        <a:latin typeface="Cambria Math" panose="02040503050406030204" pitchFamily="18" charset="0"/>
                        <a:ea typeface="Cambria Math" panose="02040503050406030204" pitchFamily="18" charset="0"/>
                      </a:rPr>
                      <m:t>Rm</m:t>
                    </m:r>
                    <m:r>
                      <m:rPr>
                        <m:nor/>
                      </m:rPr>
                      <a:rPr lang="en-PH" sz="4400" b="0" i="0" smtClean="0">
                        <a:latin typeface="Cambria Math" panose="02040503050406030204" pitchFamily="18" charset="0"/>
                        <a:ea typeface="Cambria Math" panose="02040503050406030204" pitchFamily="18" charset="0"/>
                      </a:rPr>
                      <m:t>)</m:t>
                    </m:r>
                  </m:oMath>
                </a14:m>
                <a:endParaRPr lang="en-PH" sz="4400" b="0" dirty="0">
                  <a:ea typeface="Cambria Math" panose="02040503050406030204" pitchFamily="18" charset="0"/>
                </a:endParaRPr>
              </a:p>
              <a:p>
                <a:pPr marL="0" indent="0">
                  <a:buNone/>
                </a:pPr>
                <a:endParaRPr lang="en-PH" sz="4400" b="0" i="0" dirty="0">
                  <a:latin typeface="Cambria Math" panose="02040503050406030204" pitchFamily="18" charset="0"/>
                  <a:ea typeface="Cambria Math" panose="02040503050406030204" pitchFamily="18" charset="0"/>
                </a:endParaRPr>
              </a:p>
              <a:p>
                <a:pPr marL="0" indent="0">
                  <a:buNone/>
                </a:pPr>
                <a14:m>
                  <m:oMath xmlns:m="http://schemas.openxmlformats.org/officeDocument/2006/math">
                    <m:r>
                      <m:rPr>
                        <m:nor/>
                      </m:rPr>
                      <a:rPr lang="en-PH" sz="4400" b="0" i="0" smtClean="0">
                        <a:latin typeface="Cambria Math" panose="02040503050406030204" pitchFamily="18" charset="0"/>
                        <a:ea typeface="Cambria Math" panose="02040503050406030204" pitchFamily="18" charset="0"/>
                      </a:rPr>
                      <m:t>Rx</m:t>
                    </m:r>
                    <m:r>
                      <a:rPr lang="en-PH" sz="4400" b="0" i="1" smtClean="0">
                        <a:latin typeface="Cambria Math" panose="02040503050406030204" pitchFamily="18" charset="0"/>
                        <a:ea typeface="Cambria Math" panose="02040503050406030204" pitchFamily="18" charset="0"/>
                      </a:rPr>
                      <m:t> </m:t>
                    </m:r>
                  </m:oMath>
                </a14:m>
                <a:r>
                  <a:rPr lang="en-PH" sz="4400" dirty="0"/>
                  <a:t>= </a:t>
                </a:r>
                <a14:m>
                  <m:oMath xmlns:m="http://schemas.openxmlformats.org/officeDocument/2006/math">
                    <m:f>
                      <m:fPr>
                        <m:ctrlPr>
                          <a:rPr lang="en-PH" sz="3600" i="1" smtClean="0">
                            <a:latin typeface="Cambria Math" panose="02040503050406030204" pitchFamily="18" charset="0"/>
                          </a:rPr>
                        </m:ctrlPr>
                      </m:fPr>
                      <m:num>
                        <m:r>
                          <m:rPr>
                            <m:nor/>
                          </m:rPr>
                          <a:rPr lang="en-PH" sz="3600" dirty="0" smtClean="0"/>
                          <m:t>2.9 </m:t>
                        </m:r>
                        <m:r>
                          <m:rPr>
                            <m:nor/>
                          </m:rPr>
                          <a:rPr lang="en-PH" sz="3600" dirty="0" smtClean="0"/>
                          <m:t>k</m:t>
                        </m:r>
                        <m:r>
                          <m:rPr>
                            <m:nor/>
                          </m:rPr>
                          <a:rPr lang="el-GR" sz="3600" dirty="0" smtClean="0"/>
                          <m:t>Ω</m:t>
                        </m:r>
                        <m:r>
                          <m:rPr>
                            <m:nor/>
                          </m:rPr>
                          <a:rPr lang="en-PH" sz="3600" b="0" i="0" dirty="0" smtClean="0"/>
                          <m:t> </m:t>
                        </m:r>
                        <m:r>
                          <m:rPr>
                            <m:nor/>
                          </m:rPr>
                          <a:rPr lang="en-PH" sz="3600" b="0" i="0" smtClean="0">
                            <a:latin typeface="Cambria Math" panose="02040503050406030204" pitchFamily="18" charset="0"/>
                            <a:ea typeface="Cambria Math" panose="02040503050406030204" pitchFamily="18" charset="0"/>
                          </a:rPr>
                          <m:t>+</m:t>
                        </m:r>
                        <m:r>
                          <m:rPr>
                            <m:nor/>
                          </m:rPr>
                          <a:rPr lang="en-PH" sz="3600" dirty="0" smtClean="0"/>
                          <m:t>100 </m:t>
                        </m:r>
                        <m:r>
                          <m:rPr>
                            <m:nor/>
                          </m:rPr>
                          <a:rPr lang="el-GR" sz="3600" dirty="0" smtClean="0"/>
                          <m:t>Ω</m:t>
                        </m:r>
                      </m:num>
                      <m:den>
                        <m:r>
                          <m:rPr>
                            <m:nor/>
                          </m:rPr>
                          <a:rPr lang="en-PH" sz="3600" b="0" i="0" dirty="0" smtClean="0"/>
                          <m:t>0.4</m:t>
                        </m:r>
                      </m:den>
                    </m:f>
                  </m:oMath>
                </a14:m>
                <a:r>
                  <a:rPr lang="en-PH" sz="4400" b="0" dirty="0">
                    <a:ea typeface="Cambria Math" panose="02040503050406030204" pitchFamily="18" charset="0"/>
                  </a:rPr>
                  <a:t> </a:t>
                </a:r>
                <a:r>
                  <a:rPr lang="en-PH" sz="4400" dirty="0"/>
                  <a:t>–</a:t>
                </a:r>
                <a:r>
                  <a:rPr lang="en-PH" sz="4400" b="0" dirty="0">
                    <a:ea typeface="Cambria Math" panose="02040503050406030204" pitchFamily="18" charset="0"/>
                  </a:rPr>
                  <a:t> (</a:t>
                </a:r>
                <a14:m>
                  <m:oMath xmlns:m="http://schemas.openxmlformats.org/officeDocument/2006/math">
                    <m:r>
                      <m:rPr>
                        <m:nor/>
                      </m:rPr>
                      <a:rPr lang="en-PH" sz="4400" dirty="0" smtClean="0"/>
                      <m:t>2.9 </m:t>
                    </m:r>
                    <m:r>
                      <m:rPr>
                        <m:nor/>
                      </m:rPr>
                      <a:rPr lang="en-PH" sz="4400" dirty="0" smtClean="0"/>
                      <m:t>k</m:t>
                    </m:r>
                    <m:r>
                      <m:rPr>
                        <m:nor/>
                      </m:rPr>
                      <a:rPr lang="el-GR" sz="4400" dirty="0" smtClean="0"/>
                      <m:t>Ω</m:t>
                    </m:r>
                    <m:r>
                      <m:rPr>
                        <m:nor/>
                      </m:rPr>
                      <a:rPr lang="en-PH" sz="4400" b="0" i="0" dirty="0" smtClean="0"/>
                      <m:t> </m:t>
                    </m:r>
                    <m:r>
                      <m:rPr>
                        <m:nor/>
                      </m:rPr>
                      <a:rPr lang="en-PH" sz="4400" b="0" i="0" smtClean="0">
                        <a:latin typeface="Cambria Math" panose="02040503050406030204" pitchFamily="18" charset="0"/>
                        <a:ea typeface="Cambria Math" panose="02040503050406030204" pitchFamily="18" charset="0"/>
                      </a:rPr>
                      <m:t>+</m:t>
                    </m:r>
                    <m:r>
                      <m:rPr>
                        <m:nor/>
                      </m:rPr>
                      <a:rPr lang="en-PH" sz="4400" dirty="0" smtClean="0"/>
                      <m:t>100 </m:t>
                    </m:r>
                    <m:r>
                      <m:rPr>
                        <m:nor/>
                      </m:rPr>
                      <a:rPr lang="el-GR" sz="4400" dirty="0" smtClean="0"/>
                      <m:t>Ω</m:t>
                    </m:r>
                    <m:r>
                      <m:rPr>
                        <m:nor/>
                      </m:rPr>
                      <a:rPr lang="en-PH" sz="5400" b="0" i="0" smtClean="0">
                        <a:latin typeface="Cambria Math" panose="02040503050406030204" pitchFamily="18" charset="0"/>
                        <a:ea typeface="Cambria Math" panose="02040503050406030204" pitchFamily="18" charset="0"/>
                      </a:rPr>
                      <m:t>)</m:t>
                    </m:r>
                  </m:oMath>
                </a14:m>
                <a:endParaRPr lang="en-PH" sz="4400" b="0" dirty="0">
                  <a:ea typeface="Cambria Math" panose="02040503050406030204" pitchFamily="18" charset="0"/>
                </a:endParaRPr>
              </a:p>
              <a:p>
                <a:pPr marL="0" indent="0">
                  <a:buNone/>
                </a:pPr>
                <a:endParaRPr lang="en-PH" sz="4400" b="0" i="0" dirty="0">
                  <a:latin typeface="Cambria Math" panose="02040503050406030204" pitchFamily="18" charset="0"/>
                  <a:ea typeface="Cambria Math" panose="02040503050406030204" pitchFamily="18" charset="0"/>
                </a:endParaRPr>
              </a:p>
              <a:p>
                <a:pPr marL="0" indent="0">
                  <a:buNone/>
                </a:pPr>
                <a14:m>
                  <m:oMath xmlns:m="http://schemas.openxmlformats.org/officeDocument/2006/math">
                    <m:r>
                      <m:rPr>
                        <m:nor/>
                      </m:rPr>
                      <a:rPr lang="en-PH" sz="4400" b="0" i="0" smtClean="0">
                        <a:latin typeface="Cambria Math" panose="02040503050406030204" pitchFamily="18" charset="0"/>
                        <a:ea typeface="Cambria Math" panose="02040503050406030204" pitchFamily="18" charset="0"/>
                      </a:rPr>
                      <m:t>Rx</m:t>
                    </m:r>
                    <m:r>
                      <a:rPr lang="en-PH" sz="4400" b="0" i="1" smtClean="0">
                        <a:latin typeface="Cambria Math" panose="02040503050406030204" pitchFamily="18" charset="0"/>
                        <a:ea typeface="Cambria Math" panose="02040503050406030204" pitchFamily="18" charset="0"/>
                      </a:rPr>
                      <m:t> </m:t>
                    </m:r>
                  </m:oMath>
                </a14:m>
                <a:r>
                  <a:rPr lang="en-PH" sz="4400" dirty="0"/>
                  <a:t>= 4.5 </a:t>
                </a:r>
                <a14:m>
                  <m:oMath xmlns:m="http://schemas.openxmlformats.org/officeDocument/2006/math">
                    <m:r>
                      <m:rPr>
                        <m:nor/>
                      </m:rPr>
                      <a:rPr lang="en-PH" sz="4400" dirty="0" smtClean="0"/>
                      <m:t>k</m:t>
                    </m:r>
                    <m:r>
                      <m:rPr>
                        <m:nor/>
                      </m:rPr>
                      <a:rPr lang="el-GR" sz="4400" dirty="0" smtClean="0"/>
                      <m:t>Ω</m:t>
                    </m:r>
                  </m:oMath>
                </a14:m>
                <a:r>
                  <a:rPr lang="en-PH" sz="4400" dirty="0"/>
                  <a:t> </a:t>
                </a:r>
                <a:endParaRPr lang="en-PH" sz="4400" b="0" dirty="0">
                  <a:ea typeface="Cambria Math" panose="02040503050406030204" pitchFamily="18" charset="0"/>
                </a:endParaRPr>
              </a:p>
              <a:p>
                <a:pPr marL="0" indent="0">
                  <a:buNone/>
                </a:pPr>
                <a:endParaRPr lang="en-PH" sz="4400" b="0" dirty="0">
                  <a:ea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368300"/>
                <a:ext cx="11087100" cy="6172200"/>
              </a:xfrm>
              <a:blipFill rotWithShape="0">
                <a:blip r:embed="rId2"/>
                <a:stretch>
                  <a:fillRect l="-2255" t="-3060" r="-1430"/>
                </a:stretch>
              </a:blipFill>
            </p:spPr>
            <p:txBody>
              <a:bodyPr/>
              <a:lstStyle/>
              <a:p>
                <a:r>
                  <a:rPr lang="en-PH">
                    <a:noFill/>
                  </a:rPr>
                  <a:t> </a:t>
                </a:r>
              </a:p>
            </p:txBody>
          </p:sp>
        </mc:Fallback>
      </mc:AlternateContent>
      <p:sp>
        <p:nvSpPr>
          <p:cNvPr id="5" name="Rectangle 4"/>
          <p:cNvSpPr/>
          <p:nvPr/>
        </p:nvSpPr>
        <p:spPr>
          <a:xfrm>
            <a:off x="533400" y="5257800"/>
            <a:ext cx="2743200" cy="5715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20417369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b="0" dirty="0">
                    <a:ea typeface="Cambria Math" panose="02040503050406030204" pitchFamily="18" charset="0"/>
                  </a:rPr>
                  <a:t>The value of Rx with 50% full scale deflection is:</a:t>
                </a:r>
              </a:p>
              <a:p>
                <a:pPr marL="0" indent="0">
                  <a:buNone/>
                </a:pPr>
                <a:endParaRPr lang="en-PH" sz="4400" b="0" i="0" dirty="0">
                  <a:latin typeface="Cambria Math" panose="02040503050406030204" pitchFamily="18" charset="0"/>
                  <a:ea typeface="Cambria Math" panose="02040503050406030204" pitchFamily="18" charset="0"/>
                </a:endParaRPr>
              </a:p>
              <a:p>
                <a:pPr marL="0" indent="0">
                  <a:buNone/>
                </a:pPr>
                <a14:m>
                  <m:oMath xmlns:m="http://schemas.openxmlformats.org/officeDocument/2006/math">
                    <m:r>
                      <m:rPr>
                        <m:nor/>
                      </m:rPr>
                      <a:rPr lang="en-PH" sz="4400" b="0" i="0" smtClean="0">
                        <a:latin typeface="Cambria Math" panose="02040503050406030204" pitchFamily="18" charset="0"/>
                        <a:ea typeface="Cambria Math" panose="02040503050406030204" pitchFamily="18" charset="0"/>
                      </a:rPr>
                      <m:t>Rx</m:t>
                    </m:r>
                    <m:r>
                      <a:rPr lang="en-PH" sz="4400" b="0" i="1" smtClean="0">
                        <a:latin typeface="Cambria Math" panose="02040503050406030204" pitchFamily="18" charset="0"/>
                        <a:ea typeface="Cambria Math" panose="02040503050406030204" pitchFamily="18" charset="0"/>
                      </a:rPr>
                      <m:t> </m:t>
                    </m:r>
                  </m:oMath>
                </a14:m>
                <a:r>
                  <a:rPr lang="en-PH" sz="4400" dirty="0"/>
                  <a:t>= </a:t>
                </a:r>
                <a14:m>
                  <m:oMath xmlns:m="http://schemas.openxmlformats.org/officeDocument/2006/math">
                    <m:f>
                      <m:fPr>
                        <m:ctrlPr>
                          <a:rPr lang="en-PH" sz="3600" i="1" smtClean="0">
                            <a:latin typeface="Cambria Math" panose="02040503050406030204" pitchFamily="18" charset="0"/>
                          </a:rPr>
                        </m:ctrlPr>
                      </m:fPr>
                      <m:num>
                        <m:r>
                          <m:rPr>
                            <m:nor/>
                          </m:rPr>
                          <a:rPr lang="en-PH" sz="3600" b="0" i="0" smtClean="0">
                            <a:latin typeface="Cambria Math" panose="02040503050406030204" pitchFamily="18" charset="0"/>
                            <a:ea typeface="Cambria Math" panose="02040503050406030204" pitchFamily="18" charset="0"/>
                          </a:rPr>
                          <m:t>Rz</m:t>
                        </m:r>
                        <m:r>
                          <m:rPr>
                            <m:nor/>
                          </m:rPr>
                          <a:rPr lang="en-PH" sz="3600" b="0" i="0" smtClean="0">
                            <a:latin typeface="Cambria Math" panose="02040503050406030204" pitchFamily="18" charset="0"/>
                            <a:ea typeface="Cambria Math" panose="02040503050406030204" pitchFamily="18" charset="0"/>
                          </a:rPr>
                          <m:t> + </m:t>
                        </m:r>
                        <m:r>
                          <m:rPr>
                            <m:nor/>
                          </m:rPr>
                          <a:rPr lang="en-PH" sz="3600" b="0" i="0" smtClean="0">
                            <a:latin typeface="Cambria Math" panose="02040503050406030204" pitchFamily="18" charset="0"/>
                            <a:ea typeface="Cambria Math" panose="02040503050406030204" pitchFamily="18" charset="0"/>
                          </a:rPr>
                          <m:t>Rm</m:t>
                        </m:r>
                        <m:r>
                          <m:rPr>
                            <m:nor/>
                          </m:rPr>
                          <a:rPr lang="en-PH" sz="3600" b="0" i="0" smtClean="0">
                            <a:latin typeface="Cambria Math" panose="02040503050406030204" pitchFamily="18" charset="0"/>
                            <a:ea typeface="Cambria Math" panose="02040503050406030204" pitchFamily="18" charset="0"/>
                          </a:rPr>
                          <m:t> </m:t>
                        </m:r>
                      </m:num>
                      <m:den>
                        <m:r>
                          <m:rPr>
                            <m:nor/>
                          </m:rPr>
                          <a:rPr lang="el-GR" sz="4400" dirty="0" smtClean="0"/>
                          <m:t>ρ</m:t>
                        </m:r>
                      </m:den>
                    </m:f>
                  </m:oMath>
                </a14:m>
                <a:r>
                  <a:rPr lang="en-PH" sz="4400" b="0" dirty="0">
                    <a:ea typeface="Cambria Math" panose="02040503050406030204" pitchFamily="18" charset="0"/>
                  </a:rPr>
                  <a:t> </a:t>
                </a:r>
                <a:r>
                  <a:rPr lang="en-PH" sz="4400" dirty="0"/>
                  <a:t>–</a:t>
                </a:r>
                <a:r>
                  <a:rPr lang="en-PH" sz="4400" b="0" dirty="0">
                    <a:ea typeface="Cambria Math" panose="02040503050406030204" pitchFamily="18" charset="0"/>
                  </a:rPr>
                  <a:t> (</a:t>
                </a:r>
                <a14:m>
                  <m:oMath xmlns:m="http://schemas.openxmlformats.org/officeDocument/2006/math">
                    <m:r>
                      <m:rPr>
                        <m:nor/>
                      </m:rPr>
                      <a:rPr lang="en-PH" sz="4400" b="0" i="0" smtClean="0">
                        <a:latin typeface="Cambria Math" panose="02040503050406030204" pitchFamily="18" charset="0"/>
                        <a:ea typeface="Cambria Math" panose="02040503050406030204" pitchFamily="18" charset="0"/>
                      </a:rPr>
                      <m:t>Rz</m:t>
                    </m:r>
                    <m:r>
                      <m:rPr>
                        <m:nor/>
                      </m:rPr>
                      <a:rPr lang="en-PH" sz="4400" b="0" i="0" smtClean="0">
                        <a:latin typeface="Cambria Math" panose="02040503050406030204" pitchFamily="18" charset="0"/>
                        <a:ea typeface="Cambria Math" panose="02040503050406030204" pitchFamily="18" charset="0"/>
                      </a:rPr>
                      <m:t> + </m:t>
                    </m:r>
                    <m:r>
                      <m:rPr>
                        <m:nor/>
                      </m:rPr>
                      <a:rPr lang="en-PH" sz="4400" b="0" i="0" smtClean="0">
                        <a:latin typeface="Cambria Math" panose="02040503050406030204" pitchFamily="18" charset="0"/>
                        <a:ea typeface="Cambria Math" panose="02040503050406030204" pitchFamily="18" charset="0"/>
                      </a:rPr>
                      <m:t>Rm</m:t>
                    </m:r>
                    <m:r>
                      <m:rPr>
                        <m:nor/>
                      </m:rPr>
                      <a:rPr lang="en-PH" sz="4400" b="0" i="0" smtClean="0">
                        <a:latin typeface="Cambria Math" panose="02040503050406030204" pitchFamily="18" charset="0"/>
                        <a:ea typeface="Cambria Math" panose="02040503050406030204" pitchFamily="18" charset="0"/>
                      </a:rPr>
                      <m:t>)</m:t>
                    </m:r>
                  </m:oMath>
                </a14:m>
                <a:endParaRPr lang="en-PH" sz="4400" b="0" dirty="0">
                  <a:ea typeface="Cambria Math" panose="02040503050406030204" pitchFamily="18" charset="0"/>
                </a:endParaRPr>
              </a:p>
              <a:p>
                <a:pPr marL="0" indent="0">
                  <a:buNone/>
                </a:pPr>
                <a:endParaRPr lang="en-PH" sz="4400" b="0" i="0" dirty="0">
                  <a:latin typeface="Cambria Math" panose="02040503050406030204" pitchFamily="18" charset="0"/>
                  <a:ea typeface="Cambria Math" panose="02040503050406030204" pitchFamily="18" charset="0"/>
                </a:endParaRPr>
              </a:p>
              <a:p>
                <a:pPr marL="0" indent="0">
                  <a:buNone/>
                </a:pPr>
                <a14:m>
                  <m:oMath xmlns:m="http://schemas.openxmlformats.org/officeDocument/2006/math">
                    <m:r>
                      <m:rPr>
                        <m:nor/>
                      </m:rPr>
                      <a:rPr lang="en-PH" sz="4400" b="0" i="0" smtClean="0">
                        <a:latin typeface="Cambria Math" panose="02040503050406030204" pitchFamily="18" charset="0"/>
                        <a:ea typeface="Cambria Math" panose="02040503050406030204" pitchFamily="18" charset="0"/>
                      </a:rPr>
                      <m:t>Rx</m:t>
                    </m:r>
                    <m:r>
                      <a:rPr lang="en-PH" sz="4400" b="0" i="1" smtClean="0">
                        <a:latin typeface="Cambria Math" panose="02040503050406030204" pitchFamily="18" charset="0"/>
                        <a:ea typeface="Cambria Math" panose="02040503050406030204" pitchFamily="18" charset="0"/>
                      </a:rPr>
                      <m:t> </m:t>
                    </m:r>
                  </m:oMath>
                </a14:m>
                <a:r>
                  <a:rPr lang="en-PH" sz="4400" dirty="0"/>
                  <a:t>= </a:t>
                </a:r>
                <a14:m>
                  <m:oMath xmlns:m="http://schemas.openxmlformats.org/officeDocument/2006/math">
                    <m:f>
                      <m:fPr>
                        <m:ctrlPr>
                          <a:rPr lang="en-PH" sz="3600" i="1" smtClean="0">
                            <a:latin typeface="Cambria Math" panose="02040503050406030204" pitchFamily="18" charset="0"/>
                          </a:rPr>
                        </m:ctrlPr>
                      </m:fPr>
                      <m:num>
                        <m:r>
                          <m:rPr>
                            <m:nor/>
                          </m:rPr>
                          <a:rPr lang="en-PH" sz="3600" dirty="0" smtClean="0"/>
                          <m:t>2.9 </m:t>
                        </m:r>
                        <m:r>
                          <m:rPr>
                            <m:nor/>
                          </m:rPr>
                          <a:rPr lang="en-PH" sz="3600" dirty="0" smtClean="0"/>
                          <m:t>k</m:t>
                        </m:r>
                        <m:r>
                          <m:rPr>
                            <m:nor/>
                          </m:rPr>
                          <a:rPr lang="el-GR" sz="3600" dirty="0" smtClean="0"/>
                          <m:t>Ω</m:t>
                        </m:r>
                        <m:r>
                          <m:rPr>
                            <m:nor/>
                          </m:rPr>
                          <a:rPr lang="en-PH" sz="3600" b="0" i="0" dirty="0" smtClean="0"/>
                          <m:t> </m:t>
                        </m:r>
                        <m:r>
                          <m:rPr>
                            <m:nor/>
                          </m:rPr>
                          <a:rPr lang="en-PH" sz="3600" b="0" i="0" smtClean="0">
                            <a:latin typeface="Cambria Math" panose="02040503050406030204" pitchFamily="18" charset="0"/>
                            <a:ea typeface="Cambria Math" panose="02040503050406030204" pitchFamily="18" charset="0"/>
                          </a:rPr>
                          <m:t>+</m:t>
                        </m:r>
                        <m:r>
                          <m:rPr>
                            <m:nor/>
                          </m:rPr>
                          <a:rPr lang="en-PH" sz="3600" dirty="0" smtClean="0"/>
                          <m:t>100 </m:t>
                        </m:r>
                        <m:r>
                          <m:rPr>
                            <m:nor/>
                          </m:rPr>
                          <a:rPr lang="el-GR" sz="3600" dirty="0" smtClean="0"/>
                          <m:t>Ω</m:t>
                        </m:r>
                      </m:num>
                      <m:den>
                        <m:r>
                          <m:rPr>
                            <m:nor/>
                          </m:rPr>
                          <a:rPr lang="en-PH" sz="3600" b="0" i="0" dirty="0" smtClean="0"/>
                          <m:t>0.5</m:t>
                        </m:r>
                      </m:den>
                    </m:f>
                  </m:oMath>
                </a14:m>
                <a:r>
                  <a:rPr lang="en-PH" sz="4400" b="0" dirty="0">
                    <a:ea typeface="Cambria Math" panose="02040503050406030204" pitchFamily="18" charset="0"/>
                  </a:rPr>
                  <a:t> </a:t>
                </a:r>
                <a:r>
                  <a:rPr lang="en-PH" sz="4400" dirty="0"/>
                  <a:t>–</a:t>
                </a:r>
                <a:r>
                  <a:rPr lang="en-PH" sz="4400" b="0" dirty="0">
                    <a:ea typeface="Cambria Math" panose="02040503050406030204" pitchFamily="18" charset="0"/>
                  </a:rPr>
                  <a:t> (</a:t>
                </a:r>
                <a14:m>
                  <m:oMath xmlns:m="http://schemas.openxmlformats.org/officeDocument/2006/math">
                    <m:r>
                      <m:rPr>
                        <m:nor/>
                      </m:rPr>
                      <a:rPr lang="en-PH" sz="4400" dirty="0" smtClean="0"/>
                      <m:t>2.9 </m:t>
                    </m:r>
                    <m:r>
                      <m:rPr>
                        <m:nor/>
                      </m:rPr>
                      <a:rPr lang="en-PH" sz="4400" dirty="0" smtClean="0"/>
                      <m:t>k</m:t>
                    </m:r>
                    <m:r>
                      <m:rPr>
                        <m:nor/>
                      </m:rPr>
                      <a:rPr lang="el-GR" sz="4400" dirty="0" smtClean="0"/>
                      <m:t>Ω</m:t>
                    </m:r>
                    <m:r>
                      <m:rPr>
                        <m:nor/>
                      </m:rPr>
                      <a:rPr lang="en-PH" sz="4400" b="0" i="0" dirty="0" smtClean="0"/>
                      <m:t> </m:t>
                    </m:r>
                    <m:r>
                      <m:rPr>
                        <m:nor/>
                      </m:rPr>
                      <a:rPr lang="en-PH" sz="4400" b="0" i="0" smtClean="0">
                        <a:latin typeface="Cambria Math" panose="02040503050406030204" pitchFamily="18" charset="0"/>
                        <a:ea typeface="Cambria Math" panose="02040503050406030204" pitchFamily="18" charset="0"/>
                      </a:rPr>
                      <m:t>+</m:t>
                    </m:r>
                    <m:r>
                      <m:rPr>
                        <m:nor/>
                      </m:rPr>
                      <a:rPr lang="en-PH" sz="4400" dirty="0" smtClean="0"/>
                      <m:t>100 </m:t>
                    </m:r>
                    <m:r>
                      <m:rPr>
                        <m:nor/>
                      </m:rPr>
                      <a:rPr lang="el-GR" sz="4400" dirty="0" smtClean="0"/>
                      <m:t>Ω</m:t>
                    </m:r>
                    <m:r>
                      <m:rPr>
                        <m:nor/>
                      </m:rPr>
                      <a:rPr lang="en-PH" sz="5400" b="0" i="0" smtClean="0">
                        <a:latin typeface="Cambria Math" panose="02040503050406030204" pitchFamily="18" charset="0"/>
                        <a:ea typeface="Cambria Math" panose="02040503050406030204" pitchFamily="18" charset="0"/>
                      </a:rPr>
                      <m:t>)</m:t>
                    </m:r>
                  </m:oMath>
                </a14:m>
                <a:endParaRPr lang="en-PH" sz="4400" b="0" dirty="0">
                  <a:ea typeface="Cambria Math" panose="02040503050406030204" pitchFamily="18" charset="0"/>
                </a:endParaRPr>
              </a:p>
              <a:p>
                <a:pPr marL="0" indent="0">
                  <a:buNone/>
                </a:pPr>
                <a:endParaRPr lang="en-PH" sz="4400" b="0" i="0" dirty="0">
                  <a:latin typeface="Cambria Math" panose="02040503050406030204" pitchFamily="18" charset="0"/>
                  <a:ea typeface="Cambria Math" panose="02040503050406030204" pitchFamily="18" charset="0"/>
                </a:endParaRPr>
              </a:p>
              <a:p>
                <a:pPr marL="0" indent="0">
                  <a:buNone/>
                </a:pPr>
                <a14:m>
                  <m:oMath xmlns:m="http://schemas.openxmlformats.org/officeDocument/2006/math">
                    <m:r>
                      <m:rPr>
                        <m:nor/>
                      </m:rPr>
                      <a:rPr lang="en-PH" sz="4400" b="0" i="0" smtClean="0">
                        <a:latin typeface="Cambria Math" panose="02040503050406030204" pitchFamily="18" charset="0"/>
                        <a:ea typeface="Cambria Math" panose="02040503050406030204" pitchFamily="18" charset="0"/>
                      </a:rPr>
                      <m:t>Rx</m:t>
                    </m:r>
                    <m:r>
                      <a:rPr lang="en-PH" sz="4400" b="0" i="1" smtClean="0">
                        <a:latin typeface="Cambria Math" panose="02040503050406030204" pitchFamily="18" charset="0"/>
                        <a:ea typeface="Cambria Math" panose="02040503050406030204" pitchFamily="18" charset="0"/>
                      </a:rPr>
                      <m:t> </m:t>
                    </m:r>
                  </m:oMath>
                </a14:m>
                <a:r>
                  <a:rPr lang="en-PH" sz="4400" dirty="0"/>
                  <a:t>= 3 </a:t>
                </a:r>
                <a14:m>
                  <m:oMath xmlns:m="http://schemas.openxmlformats.org/officeDocument/2006/math">
                    <m:r>
                      <m:rPr>
                        <m:nor/>
                      </m:rPr>
                      <a:rPr lang="en-PH" sz="4400" dirty="0" smtClean="0"/>
                      <m:t>k</m:t>
                    </m:r>
                    <m:r>
                      <m:rPr>
                        <m:nor/>
                      </m:rPr>
                      <a:rPr lang="el-GR" sz="4400" dirty="0" smtClean="0"/>
                      <m:t>Ω</m:t>
                    </m:r>
                  </m:oMath>
                </a14:m>
                <a:r>
                  <a:rPr lang="en-PH" sz="4400" dirty="0"/>
                  <a:t> </a:t>
                </a:r>
                <a:endParaRPr lang="en-PH" sz="4400" b="0" dirty="0">
                  <a:ea typeface="Cambria Math" panose="02040503050406030204" pitchFamily="18" charset="0"/>
                </a:endParaRPr>
              </a:p>
              <a:p>
                <a:pPr marL="0" indent="0">
                  <a:buNone/>
                </a:pPr>
                <a:endParaRPr lang="en-PH" sz="4400" b="0" dirty="0">
                  <a:ea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368300"/>
                <a:ext cx="11087100" cy="6172200"/>
              </a:xfrm>
              <a:blipFill rotWithShape="0">
                <a:blip r:embed="rId2"/>
                <a:stretch>
                  <a:fillRect l="-2255" t="-3060" r="-1430"/>
                </a:stretch>
              </a:blipFill>
            </p:spPr>
            <p:txBody>
              <a:bodyPr/>
              <a:lstStyle/>
              <a:p>
                <a:r>
                  <a:rPr lang="en-PH">
                    <a:noFill/>
                  </a:rPr>
                  <a:t> </a:t>
                </a:r>
              </a:p>
            </p:txBody>
          </p:sp>
        </mc:Fallback>
      </mc:AlternateContent>
      <p:sp>
        <p:nvSpPr>
          <p:cNvPr id="5" name="Rectangle 4"/>
          <p:cNvSpPr/>
          <p:nvPr/>
        </p:nvSpPr>
        <p:spPr>
          <a:xfrm>
            <a:off x="533400" y="5257800"/>
            <a:ext cx="2743200" cy="5715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14729824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b="0" dirty="0">
                    <a:ea typeface="Cambria Math" panose="02040503050406030204" pitchFamily="18" charset="0"/>
                  </a:rPr>
                  <a:t>The value of Rx with 75% full scale deflection is:</a:t>
                </a:r>
              </a:p>
              <a:p>
                <a:pPr marL="0" indent="0">
                  <a:buNone/>
                </a:pPr>
                <a:endParaRPr lang="en-PH" sz="4400" b="0" i="0" dirty="0">
                  <a:latin typeface="Cambria Math" panose="02040503050406030204" pitchFamily="18" charset="0"/>
                  <a:ea typeface="Cambria Math" panose="02040503050406030204" pitchFamily="18" charset="0"/>
                </a:endParaRPr>
              </a:p>
              <a:p>
                <a:pPr marL="0" indent="0">
                  <a:buNone/>
                </a:pPr>
                <a14:m>
                  <m:oMath xmlns:m="http://schemas.openxmlformats.org/officeDocument/2006/math">
                    <m:r>
                      <m:rPr>
                        <m:nor/>
                      </m:rPr>
                      <a:rPr lang="en-PH" sz="4400" b="0" i="0" smtClean="0">
                        <a:latin typeface="Cambria Math" panose="02040503050406030204" pitchFamily="18" charset="0"/>
                        <a:ea typeface="Cambria Math" panose="02040503050406030204" pitchFamily="18" charset="0"/>
                      </a:rPr>
                      <m:t>Rx</m:t>
                    </m:r>
                    <m:r>
                      <a:rPr lang="en-PH" sz="4400" b="0" i="1" smtClean="0">
                        <a:latin typeface="Cambria Math" panose="02040503050406030204" pitchFamily="18" charset="0"/>
                        <a:ea typeface="Cambria Math" panose="02040503050406030204" pitchFamily="18" charset="0"/>
                      </a:rPr>
                      <m:t> </m:t>
                    </m:r>
                  </m:oMath>
                </a14:m>
                <a:r>
                  <a:rPr lang="en-PH" sz="4400" dirty="0"/>
                  <a:t>= </a:t>
                </a:r>
                <a14:m>
                  <m:oMath xmlns:m="http://schemas.openxmlformats.org/officeDocument/2006/math">
                    <m:f>
                      <m:fPr>
                        <m:ctrlPr>
                          <a:rPr lang="en-PH" sz="3600" i="1" smtClean="0">
                            <a:latin typeface="Cambria Math" panose="02040503050406030204" pitchFamily="18" charset="0"/>
                          </a:rPr>
                        </m:ctrlPr>
                      </m:fPr>
                      <m:num>
                        <m:r>
                          <m:rPr>
                            <m:nor/>
                          </m:rPr>
                          <a:rPr lang="en-PH" sz="3600" b="0" i="0" smtClean="0">
                            <a:latin typeface="Cambria Math" panose="02040503050406030204" pitchFamily="18" charset="0"/>
                            <a:ea typeface="Cambria Math" panose="02040503050406030204" pitchFamily="18" charset="0"/>
                          </a:rPr>
                          <m:t>Rz</m:t>
                        </m:r>
                        <m:r>
                          <m:rPr>
                            <m:nor/>
                          </m:rPr>
                          <a:rPr lang="en-PH" sz="3600" b="0" i="0" smtClean="0">
                            <a:latin typeface="Cambria Math" panose="02040503050406030204" pitchFamily="18" charset="0"/>
                            <a:ea typeface="Cambria Math" panose="02040503050406030204" pitchFamily="18" charset="0"/>
                          </a:rPr>
                          <m:t> + </m:t>
                        </m:r>
                        <m:r>
                          <m:rPr>
                            <m:nor/>
                          </m:rPr>
                          <a:rPr lang="en-PH" sz="3600" b="0" i="0" smtClean="0">
                            <a:latin typeface="Cambria Math" panose="02040503050406030204" pitchFamily="18" charset="0"/>
                            <a:ea typeface="Cambria Math" panose="02040503050406030204" pitchFamily="18" charset="0"/>
                          </a:rPr>
                          <m:t>Rm</m:t>
                        </m:r>
                        <m:r>
                          <m:rPr>
                            <m:nor/>
                          </m:rPr>
                          <a:rPr lang="en-PH" sz="3600" b="0" i="0" smtClean="0">
                            <a:latin typeface="Cambria Math" panose="02040503050406030204" pitchFamily="18" charset="0"/>
                            <a:ea typeface="Cambria Math" panose="02040503050406030204" pitchFamily="18" charset="0"/>
                          </a:rPr>
                          <m:t> </m:t>
                        </m:r>
                      </m:num>
                      <m:den>
                        <m:r>
                          <m:rPr>
                            <m:nor/>
                          </m:rPr>
                          <a:rPr lang="el-GR" sz="4400" dirty="0" smtClean="0"/>
                          <m:t>ρ</m:t>
                        </m:r>
                      </m:den>
                    </m:f>
                  </m:oMath>
                </a14:m>
                <a:r>
                  <a:rPr lang="en-PH" sz="4400" b="0" dirty="0">
                    <a:ea typeface="Cambria Math" panose="02040503050406030204" pitchFamily="18" charset="0"/>
                  </a:rPr>
                  <a:t> </a:t>
                </a:r>
                <a:r>
                  <a:rPr lang="en-PH" sz="4400" dirty="0"/>
                  <a:t>–</a:t>
                </a:r>
                <a:r>
                  <a:rPr lang="en-PH" sz="4400" b="0" dirty="0">
                    <a:ea typeface="Cambria Math" panose="02040503050406030204" pitchFamily="18" charset="0"/>
                  </a:rPr>
                  <a:t> (</a:t>
                </a:r>
                <a14:m>
                  <m:oMath xmlns:m="http://schemas.openxmlformats.org/officeDocument/2006/math">
                    <m:r>
                      <m:rPr>
                        <m:nor/>
                      </m:rPr>
                      <a:rPr lang="en-PH" sz="4400" b="0" i="0" smtClean="0">
                        <a:latin typeface="Cambria Math" panose="02040503050406030204" pitchFamily="18" charset="0"/>
                        <a:ea typeface="Cambria Math" panose="02040503050406030204" pitchFamily="18" charset="0"/>
                      </a:rPr>
                      <m:t>Rz</m:t>
                    </m:r>
                    <m:r>
                      <m:rPr>
                        <m:nor/>
                      </m:rPr>
                      <a:rPr lang="en-PH" sz="4400" b="0" i="0" smtClean="0">
                        <a:latin typeface="Cambria Math" panose="02040503050406030204" pitchFamily="18" charset="0"/>
                        <a:ea typeface="Cambria Math" panose="02040503050406030204" pitchFamily="18" charset="0"/>
                      </a:rPr>
                      <m:t> + </m:t>
                    </m:r>
                    <m:r>
                      <m:rPr>
                        <m:nor/>
                      </m:rPr>
                      <a:rPr lang="en-PH" sz="4400" b="0" i="0" smtClean="0">
                        <a:latin typeface="Cambria Math" panose="02040503050406030204" pitchFamily="18" charset="0"/>
                        <a:ea typeface="Cambria Math" panose="02040503050406030204" pitchFamily="18" charset="0"/>
                      </a:rPr>
                      <m:t>Rm</m:t>
                    </m:r>
                    <m:r>
                      <m:rPr>
                        <m:nor/>
                      </m:rPr>
                      <a:rPr lang="en-PH" sz="4400" b="0" i="0" smtClean="0">
                        <a:latin typeface="Cambria Math" panose="02040503050406030204" pitchFamily="18" charset="0"/>
                        <a:ea typeface="Cambria Math" panose="02040503050406030204" pitchFamily="18" charset="0"/>
                      </a:rPr>
                      <m:t>)</m:t>
                    </m:r>
                  </m:oMath>
                </a14:m>
                <a:endParaRPr lang="en-PH" sz="4400" b="0" dirty="0">
                  <a:ea typeface="Cambria Math" panose="02040503050406030204" pitchFamily="18" charset="0"/>
                </a:endParaRPr>
              </a:p>
              <a:p>
                <a:pPr marL="0" indent="0">
                  <a:buNone/>
                </a:pPr>
                <a:endParaRPr lang="en-PH" sz="4400" b="0" i="0" dirty="0">
                  <a:latin typeface="Cambria Math" panose="02040503050406030204" pitchFamily="18" charset="0"/>
                  <a:ea typeface="Cambria Math" panose="02040503050406030204" pitchFamily="18" charset="0"/>
                </a:endParaRPr>
              </a:p>
              <a:p>
                <a:pPr marL="0" indent="0">
                  <a:buNone/>
                </a:pPr>
                <a14:m>
                  <m:oMath xmlns:m="http://schemas.openxmlformats.org/officeDocument/2006/math">
                    <m:r>
                      <m:rPr>
                        <m:nor/>
                      </m:rPr>
                      <a:rPr lang="en-PH" sz="4400" b="0" i="0" smtClean="0">
                        <a:latin typeface="Cambria Math" panose="02040503050406030204" pitchFamily="18" charset="0"/>
                        <a:ea typeface="Cambria Math" panose="02040503050406030204" pitchFamily="18" charset="0"/>
                      </a:rPr>
                      <m:t>Rx</m:t>
                    </m:r>
                    <m:r>
                      <a:rPr lang="en-PH" sz="4400" b="0" i="1" smtClean="0">
                        <a:latin typeface="Cambria Math" panose="02040503050406030204" pitchFamily="18" charset="0"/>
                        <a:ea typeface="Cambria Math" panose="02040503050406030204" pitchFamily="18" charset="0"/>
                      </a:rPr>
                      <m:t> </m:t>
                    </m:r>
                  </m:oMath>
                </a14:m>
                <a:r>
                  <a:rPr lang="en-PH" sz="4400" dirty="0"/>
                  <a:t>= </a:t>
                </a:r>
                <a14:m>
                  <m:oMath xmlns:m="http://schemas.openxmlformats.org/officeDocument/2006/math">
                    <m:f>
                      <m:fPr>
                        <m:ctrlPr>
                          <a:rPr lang="en-PH" sz="3600" i="1" smtClean="0">
                            <a:latin typeface="Cambria Math" panose="02040503050406030204" pitchFamily="18" charset="0"/>
                          </a:rPr>
                        </m:ctrlPr>
                      </m:fPr>
                      <m:num>
                        <m:r>
                          <m:rPr>
                            <m:nor/>
                          </m:rPr>
                          <a:rPr lang="en-PH" sz="3600" dirty="0" smtClean="0"/>
                          <m:t>2.9 </m:t>
                        </m:r>
                        <m:r>
                          <m:rPr>
                            <m:nor/>
                          </m:rPr>
                          <a:rPr lang="en-PH" sz="3600" dirty="0" smtClean="0"/>
                          <m:t>k</m:t>
                        </m:r>
                        <m:r>
                          <m:rPr>
                            <m:nor/>
                          </m:rPr>
                          <a:rPr lang="el-GR" sz="3600" dirty="0" smtClean="0"/>
                          <m:t>Ω</m:t>
                        </m:r>
                        <m:r>
                          <m:rPr>
                            <m:nor/>
                          </m:rPr>
                          <a:rPr lang="en-PH" sz="3600" b="0" i="0" dirty="0" smtClean="0"/>
                          <m:t> </m:t>
                        </m:r>
                        <m:r>
                          <m:rPr>
                            <m:nor/>
                          </m:rPr>
                          <a:rPr lang="en-PH" sz="3600" b="0" i="0" smtClean="0">
                            <a:latin typeface="Cambria Math" panose="02040503050406030204" pitchFamily="18" charset="0"/>
                            <a:ea typeface="Cambria Math" panose="02040503050406030204" pitchFamily="18" charset="0"/>
                          </a:rPr>
                          <m:t>+</m:t>
                        </m:r>
                        <m:r>
                          <m:rPr>
                            <m:nor/>
                          </m:rPr>
                          <a:rPr lang="en-PH" sz="3600" dirty="0" smtClean="0"/>
                          <m:t>100 </m:t>
                        </m:r>
                        <m:r>
                          <m:rPr>
                            <m:nor/>
                          </m:rPr>
                          <a:rPr lang="el-GR" sz="3600" dirty="0" smtClean="0"/>
                          <m:t>Ω</m:t>
                        </m:r>
                      </m:num>
                      <m:den>
                        <m:r>
                          <m:rPr>
                            <m:nor/>
                          </m:rPr>
                          <a:rPr lang="en-PH" sz="3600" b="0" i="0" dirty="0" smtClean="0"/>
                          <m:t>0.75</m:t>
                        </m:r>
                      </m:den>
                    </m:f>
                  </m:oMath>
                </a14:m>
                <a:r>
                  <a:rPr lang="en-PH" sz="4400" b="0" dirty="0">
                    <a:ea typeface="Cambria Math" panose="02040503050406030204" pitchFamily="18" charset="0"/>
                  </a:rPr>
                  <a:t> </a:t>
                </a:r>
                <a:r>
                  <a:rPr lang="en-PH" sz="4400" dirty="0"/>
                  <a:t>–</a:t>
                </a:r>
                <a:r>
                  <a:rPr lang="en-PH" sz="4400" b="0" dirty="0">
                    <a:ea typeface="Cambria Math" panose="02040503050406030204" pitchFamily="18" charset="0"/>
                  </a:rPr>
                  <a:t> (</a:t>
                </a:r>
                <a14:m>
                  <m:oMath xmlns:m="http://schemas.openxmlformats.org/officeDocument/2006/math">
                    <m:r>
                      <m:rPr>
                        <m:nor/>
                      </m:rPr>
                      <a:rPr lang="en-PH" sz="4400" dirty="0" smtClean="0"/>
                      <m:t>2.9 </m:t>
                    </m:r>
                    <m:r>
                      <m:rPr>
                        <m:nor/>
                      </m:rPr>
                      <a:rPr lang="en-PH" sz="4400" dirty="0" smtClean="0"/>
                      <m:t>k</m:t>
                    </m:r>
                    <m:r>
                      <m:rPr>
                        <m:nor/>
                      </m:rPr>
                      <a:rPr lang="el-GR" sz="4400" dirty="0" smtClean="0"/>
                      <m:t>Ω</m:t>
                    </m:r>
                    <m:r>
                      <m:rPr>
                        <m:nor/>
                      </m:rPr>
                      <a:rPr lang="en-PH" sz="4400" b="0" i="0" dirty="0" smtClean="0"/>
                      <m:t> </m:t>
                    </m:r>
                    <m:r>
                      <m:rPr>
                        <m:nor/>
                      </m:rPr>
                      <a:rPr lang="en-PH" sz="4400" b="0" i="0" smtClean="0">
                        <a:latin typeface="Cambria Math" panose="02040503050406030204" pitchFamily="18" charset="0"/>
                        <a:ea typeface="Cambria Math" panose="02040503050406030204" pitchFamily="18" charset="0"/>
                      </a:rPr>
                      <m:t>+</m:t>
                    </m:r>
                    <m:r>
                      <m:rPr>
                        <m:nor/>
                      </m:rPr>
                      <a:rPr lang="en-PH" sz="4400" dirty="0" smtClean="0"/>
                      <m:t>100 </m:t>
                    </m:r>
                    <m:r>
                      <m:rPr>
                        <m:nor/>
                      </m:rPr>
                      <a:rPr lang="el-GR" sz="4400" dirty="0" smtClean="0"/>
                      <m:t>Ω</m:t>
                    </m:r>
                    <m:r>
                      <m:rPr>
                        <m:nor/>
                      </m:rPr>
                      <a:rPr lang="en-PH" sz="5400" b="0" i="0" smtClean="0">
                        <a:latin typeface="Cambria Math" panose="02040503050406030204" pitchFamily="18" charset="0"/>
                        <a:ea typeface="Cambria Math" panose="02040503050406030204" pitchFamily="18" charset="0"/>
                      </a:rPr>
                      <m:t>)</m:t>
                    </m:r>
                  </m:oMath>
                </a14:m>
                <a:endParaRPr lang="en-PH" sz="4400" b="0" dirty="0">
                  <a:ea typeface="Cambria Math" panose="02040503050406030204" pitchFamily="18" charset="0"/>
                </a:endParaRPr>
              </a:p>
              <a:p>
                <a:pPr marL="0" indent="0">
                  <a:buNone/>
                </a:pPr>
                <a:endParaRPr lang="en-PH" sz="4400" b="0" i="0" dirty="0">
                  <a:latin typeface="Cambria Math" panose="02040503050406030204" pitchFamily="18" charset="0"/>
                  <a:ea typeface="Cambria Math" panose="02040503050406030204" pitchFamily="18" charset="0"/>
                </a:endParaRPr>
              </a:p>
              <a:p>
                <a:pPr marL="0" indent="0">
                  <a:buNone/>
                </a:pPr>
                <a14:m>
                  <m:oMath xmlns:m="http://schemas.openxmlformats.org/officeDocument/2006/math">
                    <m:r>
                      <m:rPr>
                        <m:nor/>
                      </m:rPr>
                      <a:rPr lang="en-PH" sz="4400" b="0" i="0" smtClean="0">
                        <a:latin typeface="Cambria Math" panose="02040503050406030204" pitchFamily="18" charset="0"/>
                        <a:ea typeface="Cambria Math" panose="02040503050406030204" pitchFamily="18" charset="0"/>
                      </a:rPr>
                      <m:t>Rx</m:t>
                    </m:r>
                    <m:r>
                      <a:rPr lang="en-PH" sz="4400" b="0" i="1" smtClean="0">
                        <a:latin typeface="Cambria Math" panose="02040503050406030204" pitchFamily="18" charset="0"/>
                        <a:ea typeface="Cambria Math" panose="02040503050406030204" pitchFamily="18" charset="0"/>
                      </a:rPr>
                      <m:t> </m:t>
                    </m:r>
                  </m:oMath>
                </a14:m>
                <a:r>
                  <a:rPr lang="en-PH" sz="4400" dirty="0"/>
                  <a:t>= 1 </a:t>
                </a:r>
                <a14:m>
                  <m:oMath xmlns:m="http://schemas.openxmlformats.org/officeDocument/2006/math">
                    <m:r>
                      <m:rPr>
                        <m:nor/>
                      </m:rPr>
                      <a:rPr lang="en-PH" sz="4400" dirty="0" smtClean="0"/>
                      <m:t>k</m:t>
                    </m:r>
                    <m:r>
                      <m:rPr>
                        <m:nor/>
                      </m:rPr>
                      <a:rPr lang="el-GR" sz="4400" dirty="0" smtClean="0"/>
                      <m:t>Ω</m:t>
                    </m:r>
                  </m:oMath>
                </a14:m>
                <a:r>
                  <a:rPr lang="en-PH" sz="4400" dirty="0"/>
                  <a:t> </a:t>
                </a:r>
                <a:endParaRPr lang="en-PH" sz="4400" b="0" dirty="0">
                  <a:ea typeface="Cambria Math" panose="02040503050406030204" pitchFamily="18" charset="0"/>
                </a:endParaRPr>
              </a:p>
              <a:p>
                <a:pPr marL="0" indent="0">
                  <a:buNone/>
                </a:pPr>
                <a:endParaRPr lang="en-PH" sz="4400" b="0" dirty="0">
                  <a:ea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368300"/>
                <a:ext cx="11087100" cy="6172200"/>
              </a:xfrm>
              <a:blipFill rotWithShape="0">
                <a:blip r:embed="rId2"/>
                <a:stretch>
                  <a:fillRect l="-2255" t="-3060" r="-1430"/>
                </a:stretch>
              </a:blipFill>
            </p:spPr>
            <p:txBody>
              <a:bodyPr/>
              <a:lstStyle/>
              <a:p>
                <a:r>
                  <a:rPr lang="en-PH">
                    <a:noFill/>
                  </a:rPr>
                  <a:t> </a:t>
                </a:r>
              </a:p>
            </p:txBody>
          </p:sp>
        </mc:Fallback>
      </mc:AlternateContent>
      <p:sp>
        <p:nvSpPr>
          <p:cNvPr id="5" name="Rectangle 4"/>
          <p:cNvSpPr/>
          <p:nvPr/>
        </p:nvSpPr>
        <p:spPr>
          <a:xfrm>
            <a:off x="533400" y="5257800"/>
            <a:ext cx="2743200" cy="5715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30221968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b="0" dirty="0">
                <a:ea typeface="Cambria Math" panose="02040503050406030204" pitchFamily="18" charset="0"/>
              </a:rPr>
              <a:t>Tabulated value for the Ohmmeter scale</a:t>
            </a:r>
          </a:p>
        </p:txBody>
      </p:sp>
      <p:pic>
        <p:nvPicPr>
          <p:cNvPr id="7" name="Picture 6"/>
          <p:cNvPicPr>
            <a:picLocks noChangeAspect="1"/>
          </p:cNvPicPr>
          <p:nvPr/>
        </p:nvPicPr>
        <p:blipFill>
          <a:blip r:embed="rId2"/>
          <a:stretch>
            <a:fillRect/>
          </a:stretch>
        </p:blipFill>
        <p:spPr>
          <a:xfrm>
            <a:off x="2765126" y="1666081"/>
            <a:ext cx="5900482" cy="3881438"/>
          </a:xfrm>
          <a:prstGeom prst="rect">
            <a:avLst/>
          </a:prstGeom>
        </p:spPr>
      </p:pic>
    </p:spTree>
    <p:extLst>
      <p:ext uri="{BB962C8B-B14F-4D97-AF65-F5344CB8AC3E}">
        <p14:creationId xmlns:p14="http://schemas.microsoft.com/office/powerpoint/2010/main" val="28113142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b="0" dirty="0">
                <a:ea typeface="Cambria Math" panose="02040503050406030204" pitchFamily="18" charset="0"/>
              </a:rPr>
              <a:t>	In Ammeters the lower the meter resistance the better. Ideal Ammeters will have zero internal resistance.</a:t>
            </a:r>
          </a:p>
          <a:p>
            <a:pPr marL="0" indent="0">
              <a:buNone/>
            </a:pPr>
            <a:r>
              <a:rPr lang="en-PH" sz="2000" b="0" dirty="0">
                <a:ea typeface="Cambria Math" panose="02040503050406030204" pitchFamily="18" charset="0"/>
              </a:rPr>
              <a:t> </a:t>
            </a:r>
          </a:p>
          <a:p>
            <a:pPr marL="0" indent="0">
              <a:buNone/>
            </a:pPr>
            <a:r>
              <a:rPr lang="en-PH" sz="4400" dirty="0">
                <a:ea typeface="Cambria Math" panose="02040503050406030204" pitchFamily="18" charset="0"/>
              </a:rPr>
              <a:t>	In Voltmeters the higher the meter resistance the better. Ideal Voltmeters will have infinite internal resistance.</a:t>
            </a:r>
          </a:p>
          <a:p>
            <a:pPr marL="0" indent="0">
              <a:buNone/>
            </a:pPr>
            <a:r>
              <a:rPr lang="en-PH" sz="2000" dirty="0">
                <a:ea typeface="Cambria Math" panose="02040503050406030204" pitchFamily="18" charset="0"/>
              </a:rPr>
              <a:t> </a:t>
            </a:r>
          </a:p>
          <a:p>
            <a:pPr marL="0" indent="0">
              <a:buNone/>
            </a:pPr>
            <a:r>
              <a:rPr lang="en-PH" sz="4400" b="0" dirty="0">
                <a:ea typeface="Cambria Math" panose="02040503050406030204" pitchFamily="18" charset="0"/>
              </a:rPr>
              <a:t>	In Ohmmeters the meter internal resistance is not a big factor for accuracy, it is the battery.</a:t>
            </a:r>
          </a:p>
        </p:txBody>
      </p:sp>
    </p:spTree>
    <p:extLst>
      <p:ext uri="{BB962C8B-B14F-4D97-AF65-F5344CB8AC3E}">
        <p14:creationId xmlns:p14="http://schemas.microsoft.com/office/powerpoint/2010/main" val="25012527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b="0" dirty="0">
                <a:ea typeface="Cambria Math" panose="02040503050406030204" pitchFamily="18" charset="0"/>
              </a:rPr>
              <a:t>	Errors in Ammeter reading is due to insertion effects.</a:t>
            </a:r>
          </a:p>
          <a:p>
            <a:pPr marL="0" indent="0">
              <a:buNone/>
            </a:pPr>
            <a:endParaRPr lang="en-PH" sz="4400" b="0" dirty="0">
              <a:ea typeface="Cambria Math" panose="02040503050406030204" pitchFamily="18" charset="0"/>
            </a:endParaRPr>
          </a:p>
          <a:p>
            <a:pPr marL="0" indent="0">
              <a:buNone/>
            </a:pPr>
            <a:r>
              <a:rPr lang="en-PH" sz="4400" dirty="0">
                <a:ea typeface="Cambria Math" panose="02040503050406030204" pitchFamily="18" charset="0"/>
              </a:rPr>
              <a:t>	Errors in Voltmeter reading is due to loading effects.</a:t>
            </a:r>
          </a:p>
          <a:p>
            <a:pPr marL="0" indent="0">
              <a:buNone/>
            </a:pPr>
            <a:br>
              <a:rPr lang="en-PH" sz="4400" dirty="0">
                <a:ea typeface="Cambria Math" panose="02040503050406030204" pitchFamily="18" charset="0"/>
              </a:rPr>
            </a:br>
            <a:r>
              <a:rPr lang="en-PH" sz="4400" dirty="0">
                <a:ea typeface="Cambria Math" panose="02040503050406030204" pitchFamily="18" charset="0"/>
              </a:rPr>
              <a:t>	Errors in Ohmmeter reading is usually due to battery voltage decay.</a:t>
            </a:r>
          </a:p>
        </p:txBody>
      </p:sp>
    </p:spTree>
    <p:extLst>
      <p:ext uri="{BB962C8B-B14F-4D97-AF65-F5344CB8AC3E}">
        <p14:creationId xmlns:p14="http://schemas.microsoft.com/office/powerpoint/2010/main" val="3874236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rmAutofit/>
          </a:bodyPr>
          <a:lstStyle/>
          <a:p>
            <a:pPr marL="0" indent="0">
              <a:buNone/>
            </a:pPr>
            <a:r>
              <a:rPr lang="en-PH" sz="4400" b="0" dirty="0">
                <a:ea typeface="Cambria Math" panose="02040503050406030204" pitchFamily="18" charset="0"/>
              </a:rPr>
              <a:t>	The basic D’Arsonval  meter movement is a current sensitive device capable of directly measuring only very small currents. Large current can be measured by adding shunts. </a:t>
            </a:r>
          </a:p>
          <a:p>
            <a:pPr marL="0" indent="0">
              <a:buNone/>
            </a:pPr>
            <a:r>
              <a:rPr lang="en-PH" sz="4400" dirty="0">
                <a:ea typeface="Cambria Math" panose="02040503050406030204" pitchFamily="18" charset="0"/>
              </a:rPr>
              <a:t>	Voltages can be measured by adding multipliers.</a:t>
            </a:r>
          </a:p>
          <a:p>
            <a:pPr marL="0" indent="0">
              <a:buNone/>
            </a:pPr>
            <a:r>
              <a:rPr lang="en-PH" sz="4400" b="0" dirty="0">
                <a:ea typeface="Cambria Math" panose="02040503050406030204" pitchFamily="18" charset="0"/>
              </a:rPr>
              <a:t>	Resistance can be measured by adding a battery and a resistance network.</a:t>
            </a:r>
          </a:p>
          <a:p>
            <a:pPr marL="0" indent="0">
              <a:buNone/>
            </a:pPr>
            <a:r>
              <a:rPr lang="en-PH" sz="4400" dirty="0">
                <a:ea typeface="Cambria Math" panose="02040503050406030204" pitchFamily="18" charset="0"/>
              </a:rPr>
              <a:t>	</a:t>
            </a:r>
          </a:p>
        </p:txBody>
      </p:sp>
      <mc:AlternateContent xmlns:mc="http://schemas.openxmlformats.org/markup-compatibility/2006" xmlns:a14="http://schemas.microsoft.com/office/drawing/2010/main">
        <mc:Choice Requires="a14">
          <p:sp>
            <p:nvSpPr>
              <p:cNvPr id="2" name="Rectangle 1"/>
              <p:cNvSpPr/>
              <p:nvPr/>
            </p:nvSpPr>
            <p:spPr>
              <a:xfrm>
                <a:off x="5929127" y="3244334"/>
                <a:ext cx="33374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nor/>
                        </m:rPr>
                        <a:rPr lang="en-PH">
                          <a:latin typeface="Cambria Math" panose="02040503050406030204" pitchFamily="18" charset="0"/>
                          <a:ea typeface="Cambria Math" panose="02040503050406030204" pitchFamily="18" charset="0"/>
                        </a:rPr>
                        <m:t>(</m:t>
                      </m:r>
                    </m:oMath>
                  </m:oMathPara>
                </a14:m>
                <a:endParaRPr lang="en-PH" dirty="0"/>
              </a:p>
            </p:txBody>
          </p:sp>
        </mc:Choice>
        <mc:Fallback xmlns="">
          <p:sp>
            <p:nvSpPr>
              <p:cNvPr id="2" name="Rectangle 1"/>
              <p:cNvSpPr>
                <a:spLocks noRot="1" noChangeAspect="1" noMove="1" noResize="1" noEditPoints="1" noAdjustHandles="1" noChangeArrowheads="1" noChangeShapeType="1" noTextEdit="1"/>
              </p:cNvSpPr>
              <p:nvPr/>
            </p:nvSpPr>
            <p:spPr>
              <a:xfrm>
                <a:off x="5929127" y="3244334"/>
                <a:ext cx="333746" cy="369332"/>
              </a:xfrm>
              <a:prstGeom prst="rect">
                <a:avLst/>
              </a:prstGeom>
              <a:blipFill rotWithShape="0">
                <a:blip r:embed="rId2"/>
                <a:stretch>
                  <a:fillRect b="-13115"/>
                </a:stretch>
              </a:blipFill>
            </p:spPr>
            <p:txBody>
              <a:bodyPr/>
              <a:lstStyle/>
              <a:p>
                <a:r>
                  <a:rPr lang="en-PH">
                    <a:noFill/>
                  </a:rPr>
                  <a:t> </a:t>
                </a:r>
              </a:p>
            </p:txBody>
          </p:sp>
        </mc:Fallback>
      </mc:AlternateContent>
    </p:spTree>
    <p:extLst>
      <p:ext uri="{BB962C8B-B14F-4D97-AF65-F5344CB8AC3E}">
        <p14:creationId xmlns:p14="http://schemas.microsoft.com/office/powerpoint/2010/main" val="12070730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1081</TotalTime>
  <Words>2060</Words>
  <Application>Microsoft Office PowerPoint</Application>
  <PresentationFormat>Widescreen</PresentationFormat>
  <Paragraphs>268</Paragraphs>
  <Slides>48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Arial</vt:lpstr>
      <vt:lpstr>Calibri</vt:lpstr>
      <vt:lpstr>Calibri Light</vt:lpstr>
      <vt:lpstr>Cambria Math</vt:lpstr>
      <vt:lpstr>Times New Roman</vt:lpstr>
      <vt:lpstr>Office Theme</vt:lpstr>
      <vt:lpstr>DIRECT CURRENT METERS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CPE 10 FUNDAMENTALS OF MIXED SIGNALS AND SENSORS</dc:title>
  <dc:creator>gb</dc:creator>
  <cp:lastModifiedBy>Ralph Monsour Delima</cp:lastModifiedBy>
  <cp:revision>71</cp:revision>
  <dcterms:created xsi:type="dcterms:W3CDTF">2022-12-04T13:42:57Z</dcterms:created>
  <dcterms:modified xsi:type="dcterms:W3CDTF">2024-11-05T00:52:06Z</dcterms:modified>
</cp:coreProperties>
</file>